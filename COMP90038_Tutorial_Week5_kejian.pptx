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64" r:id="rId9"/>
    <p:sldId id="265" r:id="rId10"/>
    <p:sldId id="266" r:id="rId11"/>
    <p:sldId id="269" r:id="rId12"/>
    <p:sldId id="270" r:id="rId13"/>
    <p:sldId id="271" r:id="rId14"/>
    <p:sldId id="272" r:id="rId15"/>
    <p:sldId id="273" r:id="rId16"/>
    <p:sldId id="274" r:id="rId17"/>
    <p:sldId id="275" r:id="rId18"/>
    <p:sldId id="276" r:id="rId19"/>
    <p:sldId id="277"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706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housekeeping (1 min).
Frame the session: two brute-force problems first, then the bulk of the hour on graphs and traversal.
Flag up front that the worksheet has more questions than we can cover — Q25/26 and Q31/32 are in the appendix of these slides and worked solutions are on the LMS.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Set expectations about coverage so nobody panics about the un-covered questions.
Timing target: brute force done by the 17-minute mark, or you will run out of road on Q28, which is the one that actually shows up in the exam format.
If the room is already comfortable with brute force, cut Q24 to 2 minutes and bank the time for BFS/DFS.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10 seconds. The picture is the point: every element either goes in the subset or it does not, so the candidate space doubles with each element.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Read the problem, then give the room 60–90 seconds to sketch an approach in pairs before you reveal anything.
The example on the right is deliberately small — walk down it out loud so students see 'enumerate then test' concretely.
If someone proposes a dynamic-programming or greedy answer: acknowledge it, but the question explicitly asks for exhaustive search. Greedy is wrong here anyway — good chance to say 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Write the Powerset recursion on the whiteboard with S = {1,2,3} if the room looks unsure — {} → {{}} → {{},{3}} → {{},{3},{2},{2,3}} → eight sets. That trace usually lands it.
Point out this is a general pattern: 'decide one element, recurse on the rest' generates permutations and combinations too.
Any correct enumeration is acceptable in the exam — a bit-mask loop over 0…2ⁿ−1 is equally fine and some students will offer it. Say 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Drive the 'candidates × cost per candidate' formula — it reappears in Q25 and Q26 verbatim.
The right-hand card is the pedagogical point of the slide: students who answer O(2ⁿ) have not thought about the sum. Both answers can be defended, but only if the reasoning is stated.
Optional aside if you have a strong group: meet-in-the-middle gets subset-sum to O(2^(n/2)) — not examinable, but it shows brute force is not the end of the story.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total for Q24 — it is short because the work was done in Q23.
Ask the class for the target before showing it: 'what should each half sum to?' Someone will say total/2 quickly.
Two subtleties worth a sentence each: (1) the odd-sum early exit, (2) SubsetSum returning True gives us S′, and the other half is just S \ S′ — no extra work.
Name what we just did: a REDUCTION. Partition is at least as easy as subset-sum. This idea comes back in the complexity lectures late in semester.
Complexity is unchanged: O(n · 2ⁿ), plus O(n) for the initial sum.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10 seconds. Amber = the node we are at, teal = already visited, dark = not yet reached. That colour convention is used on every traversal slide that follows, so name it here once.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fast. Do not lecture this — ask the room to define two or three of them and only fill in the gaps.
The tree line is worth pausing on: 'connected + acyclic + undirected' is exactly the definition Q30 is testing, and |V| − 1 edges is a handy sanity check when students draw DFS/BFS trees later.
Rooted-tree terms (parent, child, leaf, ancestor, descendant, depth, height) are assumed knowledge from the lectures — mention them only if someone asks.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one-line takeaway: matrices favour edge lookups, lists favour neighbour scans — and traversal is all neighbour scans, which is why the list version is faster.
The 'keep each list sorted' bullet matters for today: Q27 and Q28 both say resolve ties alphabetically, and that is only well defined because the lists are in order.
If someone asks about weighted graphs: store the weight in the matrix cell instead of 1, or store (neighbour, weight) pairs in the list. Comes up in week 6 with MSTs.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 deliberately quick, it is a warm-up for Q28.
Draw the graph on the whiteboard live rather than just showing it: read row a, get b and c, and so on. Point out the symmetry means you only need the upper triangle.
The back edges (a–c and c–e) are worth naming: every non-tree edge in an undirected DFS connects a node to one of its ancestors. That is exactly the fact Q30's algorithm is fumbling.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to set up — 12 min for the whole of Q28.
Have students copy this graph into their notes before you move on; they will need it for the DFS and BFS by hand.
Count degrees together as a check: a has 4, b has 3, d has 3, c/e/f/g have 2 each = 18 = 2|E|, so 9 edges. Nice callback to the cost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Build the first two rows of the matrix with the class, then let them finish and just show the answer — mechanical work does not need to happen at the front of the room.
Sanity checks to say aloud: the matrix is symmetric, the diagonal is zero, row sums equal degrees, and the list entries total 2|E|.
Common slip: forgetting an edge in one direction of the matrix. The symmetry check catches it immediately.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and this is the slide to slow down on. Ideally run the trace on the whiteboard and use these steps only to check.
Two things students get wrong: (1) they push every neighbour at once like the Wikipedia version of DFS — this algorithm pushes exactly one and re-examines u next iteration; (2) they report the pop order as the reverse of the push order, which is only true when the stack empties once. Here it drains twice, so the orders are f d b e g c a, not e g c f d b a.
Ask why a is popped last: it is the only node that still had an unvisited neighbour after the first drain.
The (pushed → popped) numbers match the pair notation used in the official sample answers.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Emphasise the tree is not part of the graph — it is a record of how the traversal moved.
The 'back edges only go to ancestors' property is the key structural fact about undirected DFS, and it is exactly what a correct cycle test exploits. Flag it now; you will call back to it on the Q30 fix slide.
Check with the room: 6 tree edges + 3 back edges = 9 = |E|. Nothing is missing.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Run it on the whiteboard: write the queue contents left to right and cross items off the front.
The payoff line: BFS visit order groups nodes by distance from the start, so BFS gives shortest paths in an unweighted graph. DFS gives no such guarantee. That is the reason both algorithms exist.
Dashed lines here are cross edges (b–d, d–f, e–g) — in BFS on an undirected graph, non-tree edges join nodes on the same level or on adjacent levels, never across three or more. Optional detail; mention only if the group is quick.
If a student pushed all four of a's neighbours before dequeuing a: that is the same result here, and worth acknowledging as an equivalent formulation.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Note this is the recursive DFS from lectures, not the explicit-stack Traversal — both are fine, and it is worth saying they are the same algorithm.
Ask what breaks if you use this on a DIRECTED graph: you get nodes reachable from v, which is not the same as a component. Strongly connected components need a different algorithm (Kosaraju / Tarjan) — not examinable here, but a good pointer.
BFS works identically; nothing in the argument depends on stack versus queue.
Complexity is unchanged: O(|V| + |E|) with adjacency lists, because the outer loop touches each node once.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 this slide, then 3 on the next. Do NOT reveal the counterexample — give the room 90 seconds with the three hints and let someone find it. It is very findable.
If they are stuck, the unlocking question is: in an adjacency list, how many times does the single edge between a and b appear? Answer: twice, once in each list.
Note the count variable is a red herring — it is never used for anything except being non-zero.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six steps slowly — step 5 is the whole answer and students should be able to state it in their own words afterwards.
One-sentence version to leave them with: the algorithm mistakes the edge it came in on for a cycle.
Note this is a counterexample, which is all the question asks for. You do not need to characterise every graph on which it fails — one is enough to prove incorrectness. Good exam technique point.
The same bug fires on ANY graph with at least one edge, so it always returns True — the algorithm is useless rather than merely occasionally wrong.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4"/>
        </a:solidFill>
        <a:effectLst/>
      </p:bgPr>
    </p:bg>
    <p:spTree>
      <p:nvGrpSpPr>
        <p:cNvPr id="1" name=""/>
        <p:cNvGrpSpPr/>
        <p:nvPr/>
      </p:nvGrpSpPr>
      <p:grpSpPr>
        <a:xfrm>
          <a:off x="0" y="0"/>
          <a:ext cx="0" cy="0"/>
          <a:chOff x="0" y="0"/>
          <a:chExt cx="0" cy="0"/>
        </a:xfrm>
      </p:grpSpPr>
      <p:sp>
        <p:nvSpPr>
          <p:cNvPr id="2" name="Shape 0"/>
          <p:cNvSpPr/>
          <p:nvPr/>
        </p:nvSpPr>
        <p:spPr>
          <a:xfrm flipV="1">
            <a:off x="9646920" y="1325880"/>
            <a:ext cx="1188720" cy="548640"/>
          </a:xfrm>
          <a:prstGeom prst="line">
            <a:avLst/>
          </a:prstGeom>
          <a:noFill/>
          <a:ln w="25400">
            <a:solidFill>
              <a:srgbClr val="2E6470"/>
            </a:solidFill>
            <a:prstDash val="solid"/>
          </a:ln>
        </p:spPr>
        <p:txBody>
          <a:bodyPr/>
          <a:lstStyle/>
          <a:p>
            <a:endParaRPr lang="en-US"/>
          </a:p>
        </p:txBody>
      </p:sp>
      <p:sp>
        <p:nvSpPr>
          <p:cNvPr id="3" name="Shape 1"/>
          <p:cNvSpPr/>
          <p:nvPr/>
        </p:nvSpPr>
        <p:spPr>
          <a:xfrm>
            <a:off x="10835640" y="1325880"/>
            <a:ext cx="640080" cy="1051560"/>
          </a:xfrm>
          <a:prstGeom prst="line">
            <a:avLst/>
          </a:prstGeom>
          <a:noFill/>
          <a:ln w="25400">
            <a:solidFill>
              <a:srgbClr val="2E6470"/>
            </a:solidFill>
            <a:prstDash val="solid"/>
          </a:ln>
        </p:spPr>
        <p:txBody>
          <a:bodyPr/>
          <a:lstStyle/>
          <a:p>
            <a:endParaRPr lang="en-US"/>
          </a:p>
        </p:txBody>
      </p:sp>
      <p:sp>
        <p:nvSpPr>
          <p:cNvPr id="4" name="Shape 2"/>
          <p:cNvSpPr/>
          <p:nvPr/>
        </p:nvSpPr>
        <p:spPr>
          <a:xfrm flipV="1">
            <a:off x="10332720" y="2377440"/>
            <a:ext cx="1143000" cy="502920"/>
          </a:xfrm>
          <a:prstGeom prst="line">
            <a:avLst/>
          </a:prstGeom>
          <a:noFill/>
          <a:ln w="25400">
            <a:solidFill>
              <a:srgbClr val="2E6470"/>
            </a:solidFill>
            <a:prstDash val="solid"/>
          </a:ln>
        </p:spPr>
        <p:txBody>
          <a:bodyPr/>
          <a:lstStyle/>
          <a:p>
            <a:endParaRPr lang="en-US"/>
          </a:p>
        </p:txBody>
      </p:sp>
      <p:sp>
        <p:nvSpPr>
          <p:cNvPr id="5" name="Shape 3"/>
          <p:cNvSpPr/>
          <p:nvPr/>
        </p:nvSpPr>
        <p:spPr>
          <a:xfrm>
            <a:off x="9646920" y="1874520"/>
            <a:ext cx="685800" cy="1005840"/>
          </a:xfrm>
          <a:prstGeom prst="line">
            <a:avLst/>
          </a:prstGeom>
          <a:noFill/>
          <a:ln w="25400">
            <a:solidFill>
              <a:srgbClr val="2E6470"/>
            </a:solidFill>
            <a:prstDash val="solid"/>
          </a:ln>
        </p:spPr>
        <p:txBody>
          <a:bodyPr/>
          <a:lstStyle/>
          <a:p>
            <a:endParaRPr lang="en-US"/>
          </a:p>
        </p:txBody>
      </p:sp>
      <p:sp>
        <p:nvSpPr>
          <p:cNvPr id="6" name="Shape 4"/>
          <p:cNvSpPr/>
          <p:nvPr/>
        </p:nvSpPr>
        <p:spPr>
          <a:xfrm flipV="1">
            <a:off x="9098280" y="1874520"/>
            <a:ext cx="548640" cy="1188720"/>
          </a:xfrm>
          <a:prstGeom prst="line">
            <a:avLst/>
          </a:prstGeom>
          <a:noFill/>
          <a:ln w="25400">
            <a:solidFill>
              <a:srgbClr val="2E6470"/>
            </a:solidFill>
            <a:prstDash val="solid"/>
          </a:ln>
        </p:spPr>
        <p:txBody>
          <a:bodyPr/>
          <a:lstStyle/>
          <a:p>
            <a:endParaRPr lang="en-US"/>
          </a:p>
        </p:txBody>
      </p:sp>
      <p:sp>
        <p:nvSpPr>
          <p:cNvPr id="7" name="Shape 5"/>
          <p:cNvSpPr/>
          <p:nvPr/>
        </p:nvSpPr>
        <p:spPr>
          <a:xfrm flipV="1">
            <a:off x="9098280" y="2880360"/>
            <a:ext cx="1234440" cy="182880"/>
          </a:xfrm>
          <a:prstGeom prst="line">
            <a:avLst/>
          </a:prstGeom>
          <a:noFill/>
          <a:ln w="25400">
            <a:solidFill>
              <a:srgbClr val="2E6470"/>
            </a:solidFill>
            <a:prstDash val="solid"/>
          </a:ln>
        </p:spPr>
        <p:txBody>
          <a:bodyPr/>
          <a:lstStyle/>
          <a:p>
            <a:endParaRPr lang="en-US"/>
          </a:p>
        </p:txBody>
      </p:sp>
      <p:sp>
        <p:nvSpPr>
          <p:cNvPr id="8" name="Shape 6"/>
          <p:cNvSpPr/>
          <p:nvPr/>
        </p:nvSpPr>
        <p:spPr>
          <a:xfrm>
            <a:off x="9372600" y="1600200"/>
            <a:ext cx="548640" cy="548640"/>
          </a:xfrm>
          <a:prstGeom prst="ellipse">
            <a:avLst/>
          </a:prstGeom>
          <a:solidFill>
            <a:srgbClr val="2A9D8F"/>
          </a:solidFill>
          <a:ln w="22225">
            <a:solidFill>
              <a:srgbClr val="2A9D8F"/>
            </a:solidFill>
            <a:prstDash val="solid"/>
          </a:ln>
        </p:spPr>
        <p:txBody>
          <a:bodyPr/>
          <a:lstStyle/>
          <a:p>
            <a:endParaRPr lang="en-US"/>
          </a:p>
        </p:txBody>
      </p:sp>
      <p:sp>
        <p:nvSpPr>
          <p:cNvPr id="9" name="Text 7"/>
          <p:cNvSpPr/>
          <p:nvPr/>
        </p:nvSpPr>
        <p:spPr>
          <a:xfrm>
            <a:off x="9372600" y="1600200"/>
            <a:ext cx="548640" cy="548640"/>
          </a:xfrm>
          <a:prstGeom prst="rect">
            <a:avLst/>
          </a:prstGeom>
          <a:noFill/>
          <a:ln/>
        </p:spPr>
        <p:txBody>
          <a:bodyPr wrap="square" lIns="0" tIns="0" rIns="0" bIns="0" rtlCol="0" anchor="ctr"/>
          <a:lstStyle/>
          <a:p>
            <a:pPr marL="0" indent="0" algn="ctr">
              <a:buNone/>
            </a:pPr>
            <a:endParaRPr lang="en-US" sz="1350" dirty="0"/>
          </a:p>
        </p:txBody>
      </p:sp>
      <p:sp>
        <p:nvSpPr>
          <p:cNvPr id="10" name="Shape 8"/>
          <p:cNvSpPr/>
          <p:nvPr/>
        </p:nvSpPr>
        <p:spPr>
          <a:xfrm>
            <a:off x="10561320" y="1051560"/>
            <a:ext cx="548640" cy="548640"/>
          </a:xfrm>
          <a:prstGeom prst="ellipse">
            <a:avLst/>
          </a:prstGeom>
          <a:solidFill>
            <a:srgbClr val="2A9D8F"/>
          </a:solidFill>
          <a:ln w="22225">
            <a:solidFill>
              <a:srgbClr val="2A9D8F"/>
            </a:solidFill>
            <a:prstDash val="solid"/>
          </a:ln>
        </p:spPr>
        <p:txBody>
          <a:bodyPr/>
          <a:lstStyle/>
          <a:p>
            <a:endParaRPr lang="en-US"/>
          </a:p>
        </p:txBody>
      </p:sp>
      <p:sp>
        <p:nvSpPr>
          <p:cNvPr id="11" name="Text 9"/>
          <p:cNvSpPr/>
          <p:nvPr/>
        </p:nvSpPr>
        <p:spPr>
          <a:xfrm>
            <a:off x="10561320" y="1051560"/>
            <a:ext cx="548640" cy="548640"/>
          </a:xfrm>
          <a:prstGeom prst="rect">
            <a:avLst/>
          </a:prstGeom>
          <a:noFill/>
          <a:ln/>
        </p:spPr>
        <p:txBody>
          <a:bodyPr wrap="square" lIns="0" tIns="0" rIns="0" bIns="0" rtlCol="0" anchor="ctr"/>
          <a:lstStyle/>
          <a:p>
            <a:pPr marL="0" indent="0" algn="ctr">
              <a:buNone/>
            </a:pPr>
            <a:endParaRPr lang="en-US" sz="1350" dirty="0"/>
          </a:p>
        </p:txBody>
      </p:sp>
      <p:sp>
        <p:nvSpPr>
          <p:cNvPr id="12" name="Shape 10"/>
          <p:cNvSpPr/>
          <p:nvPr/>
        </p:nvSpPr>
        <p:spPr>
          <a:xfrm>
            <a:off x="11201400" y="2103120"/>
            <a:ext cx="548640" cy="548640"/>
          </a:xfrm>
          <a:prstGeom prst="ellipse">
            <a:avLst/>
          </a:prstGeom>
          <a:solidFill>
            <a:srgbClr val="2A9D8F"/>
          </a:solidFill>
          <a:ln w="22225">
            <a:solidFill>
              <a:srgbClr val="2A9D8F"/>
            </a:solidFill>
            <a:prstDash val="solid"/>
          </a:ln>
        </p:spPr>
        <p:txBody>
          <a:bodyPr/>
          <a:lstStyle/>
          <a:p>
            <a:endParaRPr lang="en-US"/>
          </a:p>
        </p:txBody>
      </p:sp>
      <p:sp>
        <p:nvSpPr>
          <p:cNvPr id="13" name="Text 11"/>
          <p:cNvSpPr/>
          <p:nvPr/>
        </p:nvSpPr>
        <p:spPr>
          <a:xfrm>
            <a:off x="11201400" y="2103120"/>
            <a:ext cx="548640" cy="548640"/>
          </a:xfrm>
          <a:prstGeom prst="rect">
            <a:avLst/>
          </a:prstGeom>
          <a:noFill/>
          <a:ln/>
        </p:spPr>
        <p:txBody>
          <a:bodyPr wrap="square" lIns="0" tIns="0" rIns="0" bIns="0" rtlCol="0" anchor="ctr"/>
          <a:lstStyle/>
          <a:p>
            <a:pPr marL="0" indent="0" algn="ctr">
              <a:buNone/>
            </a:pPr>
            <a:endParaRPr lang="en-US" sz="1350" dirty="0"/>
          </a:p>
        </p:txBody>
      </p:sp>
      <p:sp>
        <p:nvSpPr>
          <p:cNvPr id="14" name="Shape 12"/>
          <p:cNvSpPr/>
          <p:nvPr/>
        </p:nvSpPr>
        <p:spPr>
          <a:xfrm>
            <a:off x="10058400" y="2606040"/>
            <a:ext cx="548640" cy="548640"/>
          </a:xfrm>
          <a:prstGeom prst="ellipse">
            <a:avLst/>
          </a:prstGeom>
          <a:solidFill>
            <a:srgbClr val="16505C"/>
          </a:solidFill>
          <a:ln w="22225">
            <a:solidFill>
              <a:srgbClr val="2E6470"/>
            </a:solidFill>
            <a:prstDash val="solid"/>
          </a:ln>
        </p:spPr>
        <p:txBody>
          <a:bodyPr/>
          <a:lstStyle/>
          <a:p>
            <a:endParaRPr lang="en-US"/>
          </a:p>
        </p:txBody>
      </p:sp>
      <p:sp>
        <p:nvSpPr>
          <p:cNvPr id="15" name="Text 13"/>
          <p:cNvSpPr/>
          <p:nvPr/>
        </p:nvSpPr>
        <p:spPr>
          <a:xfrm>
            <a:off x="10058400" y="2606040"/>
            <a:ext cx="548640" cy="548640"/>
          </a:xfrm>
          <a:prstGeom prst="rect">
            <a:avLst/>
          </a:prstGeom>
          <a:noFill/>
          <a:ln/>
        </p:spPr>
        <p:txBody>
          <a:bodyPr wrap="square" lIns="0" tIns="0" rIns="0" bIns="0" rtlCol="0" anchor="ctr"/>
          <a:lstStyle/>
          <a:p>
            <a:pPr marL="0" indent="0" algn="ctr">
              <a:buNone/>
            </a:pPr>
            <a:endParaRPr lang="en-US" sz="1350" dirty="0"/>
          </a:p>
        </p:txBody>
      </p:sp>
      <p:sp>
        <p:nvSpPr>
          <p:cNvPr id="16" name="Shape 14"/>
          <p:cNvSpPr/>
          <p:nvPr/>
        </p:nvSpPr>
        <p:spPr>
          <a:xfrm>
            <a:off x="8823960" y="2788920"/>
            <a:ext cx="548640" cy="548640"/>
          </a:xfrm>
          <a:prstGeom prst="ellipse">
            <a:avLst/>
          </a:prstGeom>
          <a:solidFill>
            <a:srgbClr val="16505C"/>
          </a:solidFill>
          <a:ln w="22225">
            <a:solidFill>
              <a:srgbClr val="2E6470"/>
            </a:solidFill>
            <a:prstDash val="solid"/>
          </a:ln>
        </p:spPr>
        <p:txBody>
          <a:bodyPr/>
          <a:lstStyle/>
          <a:p>
            <a:endParaRPr lang="en-US"/>
          </a:p>
        </p:txBody>
      </p:sp>
      <p:sp>
        <p:nvSpPr>
          <p:cNvPr id="17" name="Text 15"/>
          <p:cNvSpPr/>
          <p:nvPr/>
        </p:nvSpPr>
        <p:spPr>
          <a:xfrm>
            <a:off x="8823960" y="2788920"/>
            <a:ext cx="548640" cy="548640"/>
          </a:xfrm>
          <a:prstGeom prst="rect">
            <a:avLst/>
          </a:prstGeom>
          <a:noFill/>
          <a:ln/>
        </p:spPr>
        <p:txBody>
          <a:bodyPr wrap="square" lIns="0" tIns="0" rIns="0" bIns="0" rtlCol="0" anchor="ctr"/>
          <a:lstStyle/>
          <a:p>
            <a:pPr marL="0" indent="0" algn="ctr">
              <a:buNone/>
            </a:pPr>
            <a:endParaRPr lang="en-US" sz="1350" dirty="0"/>
          </a:p>
        </p:txBody>
      </p:sp>
      <p:sp>
        <p:nvSpPr>
          <p:cNvPr id="18" name="Text 16"/>
          <p:cNvSpPr/>
          <p:nvPr/>
        </p:nvSpPr>
        <p:spPr>
          <a:xfrm>
            <a:off x="822960" y="1965960"/>
            <a:ext cx="7315200" cy="365760"/>
          </a:xfrm>
          <a:prstGeom prst="rect">
            <a:avLst/>
          </a:prstGeom>
          <a:noFill/>
          <a:ln/>
        </p:spPr>
        <p:txBody>
          <a:bodyPr wrap="square" lIns="0" tIns="0" rIns="0" bIns="0"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Tutorial 5</a:t>
            </a:r>
            <a:endParaRPr lang="en-US" sz="1400" dirty="0"/>
          </a:p>
        </p:txBody>
      </p:sp>
      <p:sp>
        <p:nvSpPr>
          <p:cNvPr id="19" name="Text 17"/>
          <p:cNvSpPr/>
          <p:nvPr/>
        </p:nvSpPr>
        <p:spPr>
          <a:xfrm>
            <a:off x="822960" y="2423160"/>
            <a:ext cx="7863840" cy="1737360"/>
          </a:xfrm>
          <a:prstGeom prst="rect">
            <a:avLst/>
          </a:prstGeom>
          <a:noFill/>
          <a:ln/>
        </p:spPr>
        <p:txBody>
          <a:bodyPr wrap="square" lIns="0" tIns="0" rIns="0" bIns="0" rtlCol="0" anchor="t"/>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Brute Force,</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Graphs &amp; Traversal</a:t>
            </a:r>
            <a:endParaRPr lang="en-US" sz="4400" dirty="0"/>
          </a:p>
        </p:txBody>
      </p:sp>
      <p:sp>
        <p:nvSpPr>
          <p:cNvPr id="20" name="Text 18"/>
          <p:cNvSpPr/>
          <p:nvPr/>
        </p:nvSpPr>
        <p:spPr>
          <a:xfrm>
            <a:off x="822960" y="4297680"/>
            <a:ext cx="8229600" cy="320040"/>
          </a:xfrm>
          <a:prstGeom prst="rect">
            <a:avLst/>
          </a:prstGeom>
          <a:noFill/>
          <a:ln/>
        </p:spPr>
        <p:txBody>
          <a:bodyPr wrap="square" lIns="0" tIns="0" rIns="0" bIns="0" rtlCol="0" anchor="ctr"/>
          <a:lstStyle/>
          <a:p>
            <a:pPr marL="0" indent="0">
              <a:buNone/>
            </a:pPr>
            <a:r>
              <a:rPr lang="en-US" sz="1400" dirty="0">
                <a:solidFill>
                  <a:srgbClr val="AFCACD"/>
                </a:solidFill>
                <a:latin typeface="Calibri" pitchFamily="34" charset="0"/>
                <a:ea typeface="Calibri" pitchFamily="34" charset="-122"/>
                <a:cs typeface="Calibri" pitchFamily="34" charset="-120"/>
              </a:rPr>
              <a:t>COMP90038 Algorithms and Complexity  ·  24–28 August 2026</a:t>
            </a:r>
            <a:endParaRPr lang="en-US" sz="1400" dirty="0"/>
          </a:p>
        </p:txBody>
      </p:sp>
      <p:sp>
        <p:nvSpPr>
          <p:cNvPr id="21" name="Text 19"/>
          <p:cNvSpPr/>
          <p:nvPr/>
        </p:nvSpPr>
        <p:spPr>
          <a:xfrm>
            <a:off x="822960" y="4681728"/>
            <a:ext cx="8229600" cy="320040"/>
          </a:xfrm>
          <a:prstGeom prst="rect">
            <a:avLst/>
          </a:prstGeom>
          <a:noFill/>
          <a:ln/>
        </p:spPr>
        <p:txBody>
          <a:bodyPr wrap="square" lIns="0" tIns="0" rIns="0" bIns="0" rtlCol="0" anchor="ctr"/>
          <a:lstStyle/>
          <a:p>
            <a:pPr marL="0" indent="0">
              <a:buNone/>
            </a:pPr>
            <a:r>
              <a:rPr lang="en-US" sz="1300" dirty="0">
                <a:solidFill>
                  <a:srgbClr val="7FA5AB"/>
                </a:solidFill>
                <a:latin typeface="Calibri" pitchFamily="34" charset="0"/>
                <a:ea typeface="Calibri" pitchFamily="34" charset="-122"/>
                <a:cs typeface="Calibri" pitchFamily="34" charset="-120"/>
              </a:rPr>
              <a:t>Exercises 23, 24, 27, 28, 29, 30</a:t>
            </a:r>
            <a:endParaRPr lang="en-US" sz="1300" dirty="0"/>
          </a:p>
        </p:txBody>
      </p:sp>
      <p:sp>
        <p:nvSpPr>
          <p:cNvPr id="22" name="Text 20"/>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7FA5AB"/>
                </a:solidFill>
                <a:latin typeface="Calibri" pitchFamily="34" charset="0"/>
                <a:ea typeface="Calibri" pitchFamily="34" charset="-122"/>
                <a:cs typeface="Calibri" pitchFamily="34" charset="-120"/>
              </a:rPr>
              <a:t>COMP90038  ·  Algorithms and Complexity  ·  Week 5</a:t>
            </a:r>
            <a:endParaRPr lang="en-US" sz="900" dirty="0"/>
          </a:p>
        </p:txBody>
      </p:sp>
      <p:sp>
        <p:nvSpPr>
          <p:cNvPr id="23" name="Text 21"/>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7FA5A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W5</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Plan for today</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The worksheet has 10 questions — we will not get through all of them, and that is fine.</a:t>
            </a:r>
            <a:endParaRPr lang="en-US" sz="1300" dirty="0"/>
          </a:p>
        </p:txBody>
      </p:sp>
      <p:sp>
        <p:nvSpPr>
          <p:cNvPr id="6" name="Shape 4"/>
          <p:cNvSpPr/>
          <p:nvPr/>
        </p:nvSpPr>
        <p:spPr>
          <a:xfrm>
            <a:off x="640080" y="1600200"/>
            <a:ext cx="3337560" cy="2834640"/>
          </a:xfrm>
          <a:prstGeom prst="roundRect">
            <a:avLst>
              <a:gd name="adj" fmla="val 1935"/>
            </a:avLst>
          </a:prstGeom>
          <a:solidFill>
            <a:srgbClr val="F6F9F8"/>
          </a:solidFill>
          <a:ln w="12700">
            <a:solidFill>
              <a:srgbClr val="D3E0DD"/>
            </a:solidFill>
            <a:prstDash val="solid"/>
          </a:ln>
        </p:spPr>
        <p:txBody>
          <a:bodyPr/>
          <a:lstStyle/>
          <a:p>
            <a:endParaRPr lang="en-US"/>
          </a:p>
        </p:txBody>
      </p:sp>
      <p:sp>
        <p:nvSpPr>
          <p:cNvPr id="7" name="Shape 5"/>
          <p:cNvSpPr/>
          <p:nvPr/>
        </p:nvSpPr>
        <p:spPr>
          <a:xfrm>
            <a:off x="932688" y="1874520"/>
            <a:ext cx="384048" cy="384048"/>
          </a:xfrm>
          <a:prstGeom prst="ellipse">
            <a:avLst/>
          </a:prstGeom>
          <a:solidFill>
            <a:srgbClr val="E8A33D"/>
          </a:solidFill>
          <a:ln w="12700">
            <a:solidFill>
              <a:srgbClr val="E8A33D"/>
            </a:solidFill>
            <a:prstDash val="solid"/>
          </a:ln>
        </p:spPr>
        <p:txBody>
          <a:bodyPr/>
          <a:lstStyle/>
          <a:p>
            <a:endParaRPr lang="en-US"/>
          </a:p>
        </p:txBody>
      </p:sp>
      <p:sp>
        <p:nvSpPr>
          <p:cNvPr id="8" name="Text 6"/>
          <p:cNvSpPr/>
          <p:nvPr/>
        </p:nvSpPr>
        <p:spPr>
          <a:xfrm>
            <a:off x="93268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481328" y="1847088"/>
            <a:ext cx="2286000" cy="438912"/>
          </a:xfrm>
          <a:prstGeom prst="rect">
            <a:avLst/>
          </a:prstGeom>
          <a:noFill/>
          <a:ln/>
        </p:spPr>
        <p:txBody>
          <a:bodyPr wrap="square" lIns="0" tIns="0" rIns="0" bIns="0" rtlCol="0" anchor="ctr"/>
          <a:lstStyle/>
          <a:p>
            <a:pPr marL="0" indent="0">
              <a:buNone/>
            </a:pPr>
            <a:r>
              <a:rPr lang="en-US" sz="1700" b="1" dirty="0">
                <a:solidFill>
                  <a:srgbClr val="13232B"/>
                </a:solidFill>
                <a:latin typeface="Cambria" pitchFamily="34" charset="0"/>
                <a:ea typeface="Cambria" pitchFamily="34" charset="-122"/>
                <a:cs typeface="Cambria" pitchFamily="34" charset="-120"/>
              </a:rPr>
              <a:t>Brute force</a:t>
            </a:r>
            <a:endParaRPr lang="en-US" sz="1700" dirty="0"/>
          </a:p>
        </p:txBody>
      </p:sp>
      <p:sp>
        <p:nvSpPr>
          <p:cNvPr id="10" name="Text 8"/>
          <p:cNvSpPr/>
          <p:nvPr/>
        </p:nvSpPr>
        <p:spPr>
          <a:xfrm>
            <a:off x="932688" y="2450592"/>
            <a:ext cx="2743200" cy="274320"/>
          </a:xfrm>
          <a:prstGeom prst="rect">
            <a:avLst/>
          </a:prstGeom>
          <a:noFill/>
          <a:ln/>
        </p:spPr>
        <p:txBody>
          <a:bodyPr wrap="square" lIns="0" tIns="0" rIns="0" bIns="0" rtlCol="0" anchor="ctr"/>
          <a:lstStyle/>
          <a:p>
            <a:pPr marL="0" indent="0">
              <a:buNone/>
            </a:pPr>
            <a:r>
              <a:rPr lang="en-US" sz="1250" b="1" kern="0" spc="80" dirty="0">
                <a:solidFill>
                  <a:srgbClr val="E8A33D"/>
                </a:solidFill>
                <a:latin typeface="Calibri" pitchFamily="34" charset="0"/>
                <a:ea typeface="Calibri" pitchFamily="34" charset="-122"/>
                <a:cs typeface="Calibri" pitchFamily="34" charset="-120"/>
              </a:rPr>
              <a:t>Q23  ·  Q24</a:t>
            </a:r>
            <a:endParaRPr lang="en-US" sz="1250" dirty="0"/>
          </a:p>
        </p:txBody>
      </p:sp>
      <p:sp>
        <p:nvSpPr>
          <p:cNvPr id="11" name="Text 9"/>
          <p:cNvSpPr/>
          <p:nvPr/>
        </p:nvSpPr>
        <p:spPr>
          <a:xfrm>
            <a:off x="932688" y="2816352"/>
            <a:ext cx="2761488" cy="822960"/>
          </a:xfrm>
          <a:prstGeom prst="rect">
            <a:avLst/>
          </a:prstGeom>
          <a:noFill/>
          <a:ln/>
        </p:spPr>
        <p:txBody>
          <a:bodyPr wrap="square" lIns="0" tIns="0" rIns="0" bIns="0" rtlCol="0" anchor="t"/>
          <a:lstStyle/>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Subset-sum, then reduce</a:t>
            </a:r>
            <a:endParaRPr lang="en-US" sz="1300" dirty="0"/>
          </a:p>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the partition problem to it.</a:t>
            </a:r>
            <a:endParaRPr lang="en-US" sz="1300" dirty="0"/>
          </a:p>
        </p:txBody>
      </p:sp>
      <p:sp>
        <p:nvSpPr>
          <p:cNvPr id="12" name="Text 10"/>
          <p:cNvSpPr/>
          <p:nvPr/>
        </p:nvSpPr>
        <p:spPr>
          <a:xfrm>
            <a:off x="932688" y="3840480"/>
            <a:ext cx="2743200" cy="292608"/>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~15 min</a:t>
            </a:r>
            <a:endParaRPr lang="en-US" sz="1150" dirty="0"/>
          </a:p>
        </p:txBody>
      </p:sp>
      <p:sp>
        <p:nvSpPr>
          <p:cNvPr id="13" name="Shape 11"/>
          <p:cNvSpPr/>
          <p:nvPr/>
        </p:nvSpPr>
        <p:spPr>
          <a:xfrm>
            <a:off x="4343400" y="1600200"/>
            <a:ext cx="3337560" cy="2834640"/>
          </a:xfrm>
          <a:prstGeom prst="roundRect">
            <a:avLst>
              <a:gd name="adj" fmla="val 1935"/>
            </a:avLst>
          </a:prstGeom>
          <a:solidFill>
            <a:srgbClr val="F6F9F8"/>
          </a:solidFill>
          <a:ln w="12700">
            <a:solidFill>
              <a:srgbClr val="D3E0DD"/>
            </a:solidFill>
            <a:prstDash val="solid"/>
          </a:ln>
        </p:spPr>
        <p:txBody>
          <a:bodyPr/>
          <a:lstStyle/>
          <a:p>
            <a:endParaRPr lang="en-US"/>
          </a:p>
        </p:txBody>
      </p:sp>
      <p:sp>
        <p:nvSpPr>
          <p:cNvPr id="14" name="Shape 12"/>
          <p:cNvSpPr/>
          <p:nvPr/>
        </p:nvSpPr>
        <p:spPr>
          <a:xfrm>
            <a:off x="4636008" y="1874520"/>
            <a:ext cx="384048" cy="384048"/>
          </a:xfrm>
          <a:prstGeom prst="ellipse">
            <a:avLst/>
          </a:prstGeom>
          <a:solidFill>
            <a:srgbClr val="2A9D8F"/>
          </a:solidFill>
          <a:ln w="12700">
            <a:solidFill>
              <a:srgbClr val="2A9D8F"/>
            </a:solidFill>
            <a:prstDash val="solid"/>
          </a:ln>
        </p:spPr>
        <p:txBody>
          <a:bodyPr/>
          <a:lstStyle/>
          <a:p>
            <a:endParaRPr lang="en-US"/>
          </a:p>
        </p:txBody>
      </p:sp>
      <p:sp>
        <p:nvSpPr>
          <p:cNvPr id="15" name="Text 13"/>
          <p:cNvSpPr/>
          <p:nvPr/>
        </p:nvSpPr>
        <p:spPr>
          <a:xfrm>
            <a:off x="463600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5184648" y="1847088"/>
            <a:ext cx="2286000" cy="438912"/>
          </a:xfrm>
          <a:prstGeom prst="rect">
            <a:avLst/>
          </a:prstGeom>
          <a:noFill/>
          <a:ln/>
        </p:spPr>
        <p:txBody>
          <a:bodyPr wrap="square" lIns="0" tIns="0" rIns="0" bIns="0" rtlCol="0" anchor="ctr"/>
          <a:lstStyle/>
          <a:p>
            <a:pPr marL="0" indent="0">
              <a:buNone/>
            </a:pPr>
            <a:r>
              <a:rPr lang="en-US" sz="1700" b="1" dirty="0">
                <a:solidFill>
                  <a:srgbClr val="13232B"/>
                </a:solidFill>
                <a:latin typeface="Cambria" pitchFamily="34" charset="0"/>
                <a:ea typeface="Cambria" pitchFamily="34" charset="-122"/>
                <a:cs typeface="Cambria" pitchFamily="34" charset="-120"/>
              </a:rPr>
              <a:t>Graphs &amp; traversal</a:t>
            </a:r>
            <a:endParaRPr lang="en-US" sz="1700" dirty="0"/>
          </a:p>
        </p:txBody>
      </p:sp>
      <p:sp>
        <p:nvSpPr>
          <p:cNvPr id="17" name="Text 15"/>
          <p:cNvSpPr/>
          <p:nvPr/>
        </p:nvSpPr>
        <p:spPr>
          <a:xfrm>
            <a:off x="4636008" y="2450592"/>
            <a:ext cx="2743200" cy="274320"/>
          </a:xfrm>
          <a:prstGeom prst="rect">
            <a:avLst/>
          </a:prstGeom>
          <a:noFill/>
          <a:ln/>
        </p:spPr>
        <p:txBody>
          <a:bodyPr wrap="square" lIns="0" tIns="0" rIns="0" bIns="0" rtlCol="0" anchor="ctr"/>
          <a:lstStyle/>
          <a:p>
            <a:pPr marL="0" indent="0">
              <a:buNone/>
            </a:pPr>
            <a:r>
              <a:rPr lang="en-US" sz="1250" b="1" kern="0" spc="80" dirty="0">
                <a:solidFill>
                  <a:srgbClr val="2A9D8F"/>
                </a:solidFill>
                <a:latin typeface="Calibri" pitchFamily="34" charset="0"/>
                <a:ea typeface="Calibri" pitchFamily="34" charset="-122"/>
                <a:cs typeface="Calibri" pitchFamily="34" charset="-120"/>
              </a:rPr>
              <a:t>Q27  ·  Q28</a:t>
            </a:r>
            <a:endParaRPr lang="en-US" sz="1250" dirty="0"/>
          </a:p>
        </p:txBody>
      </p:sp>
      <p:sp>
        <p:nvSpPr>
          <p:cNvPr id="18" name="Text 16"/>
          <p:cNvSpPr/>
          <p:nvPr/>
        </p:nvSpPr>
        <p:spPr>
          <a:xfrm>
            <a:off x="4636008" y="2816352"/>
            <a:ext cx="2761488" cy="822960"/>
          </a:xfrm>
          <a:prstGeom prst="rect">
            <a:avLst/>
          </a:prstGeom>
          <a:noFill/>
          <a:ln/>
        </p:spPr>
        <p:txBody>
          <a:bodyPr wrap="square" lIns="0" tIns="0" rIns="0" bIns="0" rtlCol="0" anchor="t"/>
          <a:lstStyle/>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Representations, plus DFS</a:t>
            </a:r>
            <a:endParaRPr lang="en-US" sz="1300" dirty="0"/>
          </a:p>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and BFS run by hand.</a:t>
            </a:r>
            <a:endParaRPr lang="en-US" sz="1300" dirty="0"/>
          </a:p>
        </p:txBody>
      </p:sp>
      <p:sp>
        <p:nvSpPr>
          <p:cNvPr id="19" name="Text 17"/>
          <p:cNvSpPr/>
          <p:nvPr/>
        </p:nvSpPr>
        <p:spPr>
          <a:xfrm>
            <a:off x="4636008" y="3840480"/>
            <a:ext cx="2743200" cy="292608"/>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~22 min</a:t>
            </a:r>
            <a:endParaRPr lang="en-US" sz="1150" dirty="0"/>
          </a:p>
        </p:txBody>
      </p:sp>
      <p:sp>
        <p:nvSpPr>
          <p:cNvPr id="20" name="Shape 18"/>
          <p:cNvSpPr/>
          <p:nvPr/>
        </p:nvSpPr>
        <p:spPr>
          <a:xfrm>
            <a:off x="8046720" y="1600200"/>
            <a:ext cx="3337560" cy="2834640"/>
          </a:xfrm>
          <a:prstGeom prst="roundRect">
            <a:avLst>
              <a:gd name="adj" fmla="val 1935"/>
            </a:avLst>
          </a:prstGeom>
          <a:solidFill>
            <a:srgbClr val="F6F9F8"/>
          </a:solidFill>
          <a:ln w="12700">
            <a:solidFill>
              <a:srgbClr val="D3E0DD"/>
            </a:solidFill>
            <a:prstDash val="solid"/>
          </a:ln>
        </p:spPr>
        <p:txBody>
          <a:bodyPr/>
          <a:lstStyle/>
          <a:p>
            <a:endParaRPr lang="en-US"/>
          </a:p>
        </p:txBody>
      </p:sp>
      <p:sp>
        <p:nvSpPr>
          <p:cNvPr id="21" name="Shape 19"/>
          <p:cNvSpPr/>
          <p:nvPr/>
        </p:nvSpPr>
        <p:spPr>
          <a:xfrm>
            <a:off x="8339328" y="1874520"/>
            <a:ext cx="384048" cy="384048"/>
          </a:xfrm>
          <a:prstGeom prst="ellipse">
            <a:avLst/>
          </a:prstGeom>
          <a:solidFill>
            <a:srgbClr val="0B3B44"/>
          </a:solidFill>
          <a:ln w="12700">
            <a:solidFill>
              <a:srgbClr val="0B3B44"/>
            </a:solidFill>
            <a:prstDash val="solid"/>
          </a:ln>
        </p:spPr>
        <p:txBody>
          <a:bodyPr/>
          <a:lstStyle/>
          <a:p>
            <a:endParaRPr lang="en-US"/>
          </a:p>
        </p:txBody>
      </p:sp>
      <p:sp>
        <p:nvSpPr>
          <p:cNvPr id="22" name="Text 20"/>
          <p:cNvSpPr/>
          <p:nvPr/>
        </p:nvSpPr>
        <p:spPr>
          <a:xfrm>
            <a:off x="833932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887968" y="1847088"/>
            <a:ext cx="2286000" cy="438912"/>
          </a:xfrm>
          <a:prstGeom prst="rect">
            <a:avLst/>
          </a:prstGeom>
          <a:noFill/>
          <a:ln/>
        </p:spPr>
        <p:txBody>
          <a:bodyPr wrap="square" lIns="0" tIns="0" rIns="0" bIns="0" rtlCol="0" anchor="ctr"/>
          <a:lstStyle/>
          <a:p>
            <a:pPr marL="0" indent="0">
              <a:buNone/>
            </a:pPr>
            <a:r>
              <a:rPr lang="en-US" sz="1700" b="1" dirty="0">
                <a:solidFill>
                  <a:srgbClr val="13232B"/>
                </a:solidFill>
                <a:latin typeface="Cambria" pitchFamily="34" charset="0"/>
                <a:ea typeface="Cambria" pitchFamily="34" charset="-122"/>
                <a:cs typeface="Cambria" pitchFamily="34" charset="-120"/>
              </a:rPr>
              <a:t>Adapting the algorithm</a:t>
            </a:r>
            <a:endParaRPr lang="en-US" sz="1700" dirty="0"/>
          </a:p>
        </p:txBody>
      </p:sp>
      <p:sp>
        <p:nvSpPr>
          <p:cNvPr id="24" name="Text 22"/>
          <p:cNvSpPr/>
          <p:nvPr/>
        </p:nvSpPr>
        <p:spPr>
          <a:xfrm>
            <a:off x="8339328" y="2450592"/>
            <a:ext cx="2743200" cy="274320"/>
          </a:xfrm>
          <a:prstGeom prst="rect">
            <a:avLst/>
          </a:prstGeom>
          <a:noFill/>
          <a:ln/>
        </p:spPr>
        <p:txBody>
          <a:bodyPr wrap="square" lIns="0" tIns="0" rIns="0" bIns="0" rtlCol="0" anchor="ctr"/>
          <a:lstStyle/>
          <a:p>
            <a:pPr marL="0" indent="0">
              <a:buNone/>
            </a:pPr>
            <a:r>
              <a:rPr lang="en-US" sz="1250" b="1" kern="0" spc="80" dirty="0">
                <a:solidFill>
                  <a:srgbClr val="0B3B44"/>
                </a:solidFill>
                <a:latin typeface="Calibri" pitchFamily="34" charset="0"/>
                <a:ea typeface="Calibri" pitchFamily="34" charset="-122"/>
                <a:cs typeface="Calibri" pitchFamily="34" charset="-120"/>
              </a:rPr>
              <a:t>Q29  ·  Q30</a:t>
            </a:r>
            <a:endParaRPr lang="en-US" sz="1250" dirty="0"/>
          </a:p>
        </p:txBody>
      </p:sp>
      <p:sp>
        <p:nvSpPr>
          <p:cNvPr id="25" name="Text 23"/>
          <p:cNvSpPr/>
          <p:nvPr/>
        </p:nvSpPr>
        <p:spPr>
          <a:xfrm>
            <a:off x="8339328" y="2816352"/>
            <a:ext cx="2761488" cy="822960"/>
          </a:xfrm>
          <a:prstGeom prst="rect">
            <a:avLst/>
          </a:prstGeom>
          <a:noFill/>
          <a:ln/>
        </p:spPr>
        <p:txBody>
          <a:bodyPr wrap="square" lIns="0" tIns="0" rIns="0" bIns="0" rtlCol="0" anchor="t"/>
          <a:lstStyle/>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Connected components, and</a:t>
            </a:r>
            <a:endParaRPr lang="en-US" sz="1300" dirty="0"/>
          </a:p>
          <a:p>
            <a:pPr marL="0" indent="0">
              <a:lnSpc>
                <a:spcPts val="1800"/>
              </a:lnSpc>
              <a:buNone/>
            </a:pPr>
            <a:r>
              <a:rPr lang="en-US" sz="1300" dirty="0">
                <a:solidFill>
                  <a:srgbClr val="13232B"/>
                </a:solidFill>
                <a:latin typeface="Calibri" pitchFamily="34" charset="0"/>
                <a:ea typeface="Calibri" pitchFamily="34" charset="-122"/>
                <a:cs typeface="Calibri" pitchFamily="34" charset="-120"/>
              </a:rPr>
              <a:t>finding the bug in Cyclic.</a:t>
            </a:r>
            <a:endParaRPr lang="en-US" sz="1300" dirty="0"/>
          </a:p>
        </p:txBody>
      </p:sp>
      <p:sp>
        <p:nvSpPr>
          <p:cNvPr id="26" name="Text 24"/>
          <p:cNvSpPr/>
          <p:nvPr/>
        </p:nvSpPr>
        <p:spPr>
          <a:xfrm>
            <a:off x="8339328" y="3840480"/>
            <a:ext cx="2743200" cy="292608"/>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~12 min</a:t>
            </a:r>
            <a:endParaRPr lang="en-US" sz="1150" dirty="0"/>
          </a:p>
        </p:txBody>
      </p:sp>
      <p:sp>
        <p:nvSpPr>
          <p:cNvPr id="27" name="Shape 25"/>
          <p:cNvSpPr/>
          <p:nvPr/>
        </p:nvSpPr>
        <p:spPr>
          <a:xfrm>
            <a:off x="640080" y="4709160"/>
            <a:ext cx="10927080" cy="960120"/>
          </a:xfrm>
          <a:prstGeom prst="roundRect">
            <a:avLst>
              <a:gd name="adj" fmla="val 5714"/>
            </a:avLst>
          </a:prstGeom>
          <a:solidFill>
            <a:srgbClr val="EDF4F3"/>
          </a:solidFill>
          <a:ln w="12700">
            <a:solidFill>
              <a:srgbClr val="EDF4F3"/>
            </a:solidFill>
            <a:prstDash val="solid"/>
          </a:ln>
        </p:spPr>
        <p:txBody>
          <a:bodyPr/>
          <a:lstStyle/>
          <a:p>
            <a:endParaRPr lang="en-US"/>
          </a:p>
        </p:txBody>
      </p:sp>
      <p:sp>
        <p:nvSpPr>
          <p:cNvPr id="28" name="Text 26"/>
          <p:cNvSpPr/>
          <p:nvPr/>
        </p:nvSpPr>
        <p:spPr>
          <a:xfrm>
            <a:off x="914400" y="4709160"/>
            <a:ext cx="10378440" cy="960120"/>
          </a:xfrm>
          <a:prstGeom prst="rect">
            <a:avLst/>
          </a:prstGeom>
          <a:noFill/>
          <a:ln/>
        </p:spPr>
        <p:txBody>
          <a:bodyPr wrap="square" lIns="0" tIns="0" rIns="0" bIns="0" rtlCol="0" anchor="ctr"/>
          <a:lstStyle/>
          <a:p>
            <a:pPr marL="0" indent="0">
              <a:lnSpc>
                <a:spcPts val="1800"/>
              </a:lnSpc>
              <a:buNone/>
            </a:pPr>
            <a:r>
              <a:rPr lang="en-US" sz="1300" b="1" dirty="0">
                <a:solidFill>
                  <a:srgbClr val="0B3B44"/>
                </a:solidFill>
                <a:latin typeface="Calibri" pitchFamily="34" charset="0"/>
                <a:ea typeface="Calibri" pitchFamily="34" charset="-122"/>
                <a:cs typeface="Calibri" pitchFamily="34" charset="-120"/>
              </a:rPr>
              <a:t>Not covered live:  </a:t>
            </a:r>
            <a:r>
              <a:rPr lang="en-US" sz="1300" dirty="0">
                <a:solidFill>
                  <a:srgbClr val="13232B"/>
                </a:solidFill>
                <a:latin typeface="Calibri" pitchFamily="34" charset="0"/>
                <a:ea typeface="Calibri" pitchFamily="34" charset="-122"/>
                <a:cs typeface="Calibri" pitchFamily="34" charset="-120"/>
              </a:rPr>
              <a:t>Q25 &amp; Q26 (clique / triangles) are the same brute-force pattern as Q23; Q31 &amp; Q32 are optional. All four are in the appendix at the end of this deck — worked solutions are on the LMS, and I am happy to go through any of them after the tutorial.</a:t>
            </a:r>
            <a:endParaRPr lang="en-US" sz="1300" dirty="0"/>
          </a:p>
        </p:txBody>
      </p:sp>
      <p:sp>
        <p:nvSpPr>
          <p:cNvPr id="29" name="Text 27"/>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30" name="Text 28"/>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B44"/>
        </a:solidFill>
        <a:effectLst/>
      </p:bgPr>
    </p:bg>
    <p:spTree>
      <p:nvGrpSpPr>
        <p:cNvPr id="1" name=""/>
        <p:cNvGrpSpPr/>
        <p:nvPr/>
      </p:nvGrpSpPr>
      <p:grpSpPr>
        <a:xfrm>
          <a:off x="0" y="0"/>
          <a:ext cx="0" cy="0"/>
          <a:chOff x="0" y="0"/>
          <a:chExt cx="0" cy="0"/>
        </a:xfrm>
      </p:grpSpPr>
      <p:sp>
        <p:nvSpPr>
          <p:cNvPr id="2" name="Text 0"/>
          <p:cNvSpPr/>
          <p:nvPr/>
        </p:nvSpPr>
        <p:spPr>
          <a:xfrm>
            <a:off x="822960" y="2240280"/>
            <a:ext cx="5486400" cy="365760"/>
          </a:xfrm>
          <a:prstGeom prst="rect">
            <a:avLst/>
          </a:prstGeom>
          <a:noFill/>
          <a:ln/>
        </p:spPr>
        <p:txBody>
          <a:bodyPr wrap="square" lIns="0" tIns="0" rIns="0" bIns="0"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Part 1</a:t>
            </a:r>
            <a:endParaRPr lang="en-US" sz="1400" dirty="0"/>
          </a:p>
        </p:txBody>
      </p:sp>
      <p:sp>
        <p:nvSpPr>
          <p:cNvPr id="3" name="Text 1"/>
          <p:cNvSpPr/>
          <p:nvPr/>
        </p:nvSpPr>
        <p:spPr>
          <a:xfrm>
            <a:off x="822960" y="2697480"/>
            <a:ext cx="6949440" cy="155448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Brute-force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problem solving</a:t>
            </a:r>
            <a:endParaRPr lang="en-US" sz="4000" dirty="0"/>
          </a:p>
        </p:txBody>
      </p:sp>
      <p:sp>
        <p:nvSpPr>
          <p:cNvPr id="4" name="Text 2"/>
          <p:cNvSpPr/>
          <p:nvPr/>
        </p:nvSpPr>
        <p:spPr>
          <a:xfrm>
            <a:off x="822960" y="4343400"/>
            <a:ext cx="6400800" cy="320040"/>
          </a:xfrm>
          <a:prstGeom prst="rect">
            <a:avLst/>
          </a:prstGeom>
          <a:noFill/>
          <a:ln/>
        </p:spPr>
        <p:txBody>
          <a:bodyPr wrap="square" lIns="0" tIns="0" rIns="0" bIns="0" rtlCol="0" anchor="ctr"/>
          <a:lstStyle/>
          <a:p>
            <a:pPr marL="0" indent="0">
              <a:buNone/>
            </a:pPr>
            <a:r>
              <a:rPr lang="en-US" sz="1400" dirty="0">
                <a:solidFill>
                  <a:srgbClr val="AFCACD"/>
                </a:solidFill>
                <a:latin typeface="Calibri" pitchFamily="34" charset="0"/>
                <a:ea typeface="Calibri" pitchFamily="34" charset="-122"/>
                <a:cs typeface="Calibri" pitchFamily="34" charset="-120"/>
              </a:rPr>
              <a:t>Exercises 23 and 24</a:t>
            </a:r>
            <a:endParaRPr lang="en-US" sz="1400" dirty="0"/>
          </a:p>
        </p:txBody>
      </p:sp>
      <p:sp>
        <p:nvSpPr>
          <p:cNvPr id="5" name="Shape 3"/>
          <p:cNvSpPr/>
          <p:nvPr/>
        </p:nvSpPr>
        <p:spPr>
          <a:xfrm flipV="1">
            <a:off x="9052560" y="1737360"/>
            <a:ext cx="914400" cy="1005840"/>
          </a:xfrm>
          <a:prstGeom prst="line">
            <a:avLst/>
          </a:prstGeom>
          <a:noFill/>
          <a:ln w="25400">
            <a:solidFill>
              <a:srgbClr val="2E6470"/>
            </a:solidFill>
            <a:prstDash val="solid"/>
          </a:ln>
        </p:spPr>
        <p:txBody>
          <a:bodyPr/>
          <a:lstStyle/>
          <a:p>
            <a:endParaRPr lang="en-US"/>
          </a:p>
        </p:txBody>
      </p:sp>
      <p:sp>
        <p:nvSpPr>
          <p:cNvPr id="6" name="Shape 4"/>
          <p:cNvSpPr/>
          <p:nvPr/>
        </p:nvSpPr>
        <p:spPr>
          <a:xfrm>
            <a:off x="9966960" y="1737360"/>
            <a:ext cx="914400" cy="1005840"/>
          </a:xfrm>
          <a:prstGeom prst="line">
            <a:avLst/>
          </a:prstGeom>
          <a:noFill/>
          <a:ln w="25400">
            <a:solidFill>
              <a:srgbClr val="2E6470"/>
            </a:solidFill>
            <a:prstDash val="solid"/>
          </a:ln>
        </p:spPr>
        <p:txBody>
          <a:bodyPr/>
          <a:lstStyle/>
          <a:p>
            <a:endParaRPr lang="en-US"/>
          </a:p>
        </p:txBody>
      </p:sp>
      <p:sp>
        <p:nvSpPr>
          <p:cNvPr id="7" name="Shape 5"/>
          <p:cNvSpPr/>
          <p:nvPr/>
        </p:nvSpPr>
        <p:spPr>
          <a:xfrm flipV="1">
            <a:off x="8549640" y="2743200"/>
            <a:ext cx="502920" cy="1097280"/>
          </a:xfrm>
          <a:prstGeom prst="line">
            <a:avLst/>
          </a:prstGeom>
          <a:noFill/>
          <a:ln w="25400">
            <a:solidFill>
              <a:srgbClr val="2E6470"/>
            </a:solidFill>
            <a:prstDash val="solid"/>
          </a:ln>
        </p:spPr>
        <p:txBody>
          <a:bodyPr/>
          <a:lstStyle/>
          <a:p>
            <a:endParaRPr lang="en-US"/>
          </a:p>
        </p:txBody>
      </p:sp>
      <p:sp>
        <p:nvSpPr>
          <p:cNvPr id="8" name="Shape 6"/>
          <p:cNvSpPr/>
          <p:nvPr/>
        </p:nvSpPr>
        <p:spPr>
          <a:xfrm>
            <a:off x="9052560" y="2743200"/>
            <a:ext cx="502920" cy="1097280"/>
          </a:xfrm>
          <a:prstGeom prst="line">
            <a:avLst/>
          </a:prstGeom>
          <a:noFill/>
          <a:ln w="25400">
            <a:solidFill>
              <a:srgbClr val="2E6470"/>
            </a:solidFill>
            <a:prstDash val="solid"/>
          </a:ln>
        </p:spPr>
        <p:txBody>
          <a:bodyPr/>
          <a:lstStyle/>
          <a:p>
            <a:endParaRPr lang="en-US"/>
          </a:p>
        </p:txBody>
      </p:sp>
      <p:sp>
        <p:nvSpPr>
          <p:cNvPr id="9" name="Shape 7"/>
          <p:cNvSpPr/>
          <p:nvPr/>
        </p:nvSpPr>
        <p:spPr>
          <a:xfrm flipV="1">
            <a:off x="10378440" y="2743200"/>
            <a:ext cx="502920" cy="1097280"/>
          </a:xfrm>
          <a:prstGeom prst="line">
            <a:avLst/>
          </a:prstGeom>
          <a:noFill/>
          <a:ln w="25400">
            <a:solidFill>
              <a:srgbClr val="2E6470"/>
            </a:solidFill>
            <a:prstDash val="solid"/>
          </a:ln>
        </p:spPr>
        <p:txBody>
          <a:bodyPr/>
          <a:lstStyle/>
          <a:p>
            <a:endParaRPr lang="en-US"/>
          </a:p>
        </p:txBody>
      </p:sp>
      <p:sp>
        <p:nvSpPr>
          <p:cNvPr id="10" name="Shape 8"/>
          <p:cNvSpPr/>
          <p:nvPr/>
        </p:nvSpPr>
        <p:spPr>
          <a:xfrm>
            <a:off x="10881360" y="2743200"/>
            <a:ext cx="502920" cy="1097280"/>
          </a:xfrm>
          <a:prstGeom prst="line">
            <a:avLst/>
          </a:prstGeom>
          <a:noFill/>
          <a:ln w="25400">
            <a:solidFill>
              <a:srgbClr val="2E6470"/>
            </a:solidFill>
            <a:prstDash val="solid"/>
          </a:ln>
        </p:spPr>
        <p:txBody>
          <a:bodyPr/>
          <a:lstStyle/>
          <a:p>
            <a:endParaRPr lang="en-US"/>
          </a:p>
        </p:txBody>
      </p:sp>
      <p:sp>
        <p:nvSpPr>
          <p:cNvPr id="11" name="Shape 9"/>
          <p:cNvSpPr/>
          <p:nvPr/>
        </p:nvSpPr>
        <p:spPr>
          <a:xfrm>
            <a:off x="9692640" y="1463040"/>
            <a:ext cx="548640" cy="548640"/>
          </a:xfrm>
          <a:prstGeom prst="ellipse">
            <a:avLst/>
          </a:prstGeom>
          <a:solidFill>
            <a:srgbClr val="E8A33D"/>
          </a:solidFill>
          <a:ln w="22225">
            <a:solidFill>
              <a:srgbClr val="E8A33D"/>
            </a:solidFill>
            <a:prstDash val="solid"/>
          </a:ln>
        </p:spPr>
        <p:txBody>
          <a:bodyPr/>
          <a:lstStyle/>
          <a:p>
            <a:endParaRPr lang="en-US"/>
          </a:p>
        </p:txBody>
      </p:sp>
      <p:sp>
        <p:nvSpPr>
          <p:cNvPr id="12" name="Text 10"/>
          <p:cNvSpPr/>
          <p:nvPr/>
        </p:nvSpPr>
        <p:spPr>
          <a:xfrm>
            <a:off x="9692640" y="1463040"/>
            <a:ext cx="548640" cy="548640"/>
          </a:xfrm>
          <a:prstGeom prst="rect">
            <a:avLst/>
          </a:prstGeom>
          <a:noFill/>
          <a:ln/>
        </p:spPr>
        <p:txBody>
          <a:bodyPr wrap="square" lIns="0" tIns="0" rIns="0" bIns="0" rtlCol="0" anchor="ctr"/>
          <a:lstStyle/>
          <a:p>
            <a:pPr marL="0" indent="0" algn="ctr">
              <a:buNone/>
            </a:pPr>
            <a:endParaRPr lang="en-US" sz="1350" dirty="0"/>
          </a:p>
        </p:txBody>
      </p:sp>
      <p:sp>
        <p:nvSpPr>
          <p:cNvPr id="13" name="Shape 11"/>
          <p:cNvSpPr/>
          <p:nvPr/>
        </p:nvSpPr>
        <p:spPr>
          <a:xfrm>
            <a:off x="8778240" y="2468880"/>
            <a:ext cx="548640" cy="548640"/>
          </a:xfrm>
          <a:prstGeom prst="ellipse">
            <a:avLst/>
          </a:prstGeom>
          <a:solidFill>
            <a:srgbClr val="16505C"/>
          </a:solidFill>
          <a:ln w="22225">
            <a:solidFill>
              <a:srgbClr val="2E6470"/>
            </a:solidFill>
            <a:prstDash val="solid"/>
          </a:ln>
        </p:spPr>
        <p:txBody>
          <a:bodyPr/>
          <a:lstStyle/>
          <a:p>
            <a:endParaRPr lang="en-US"/>
          </a:p>
        </p:txBody>
      </p:sp>
      <p:sp>
        <p:nvSpPr>
          <p:cNvPr id="14" name="Text 12"/>
          <p:cNvSpPr/>
          <p:nvPr/>
        </p:nvSpPr>
        <p:spPr>
          <a:xfrm>
            <a:off x="8778240" y="2468880"/>
            <a:ext cx="548640" cy="548640"/>
          </a:xfrm>
          <a:prstGeom prst="rect">
            <a:avLst/>
          </a:prstGeom>
          <a:noFill/>
          <a:ln/>
        </p:spPr>
        <p:txBody>
          <a:bodyPr wrap="square" lIns="0" tIns="0" rIns="0" bIns="0" rtlCol="0" anchor="ctr"/>
          <a:lstStyle/>
          <a:p>
            <a:pPr marL="0" indent="0" algn="ctr">
              <a:buNone/>
            </a:pPr>
            <a:endParaRPr lang="en-US" sz="1350" dirty="0"/>
          </a:p>
        </p:txBody>
      </p:sp>
      <p:sp>
        <p:nvSpPr>
          <p:cNvPr id="15" name="Shape 13"/>
          <p:cNvSpPr/>
          <p:nvPr/>
        </p:nvSpPr>
        <p:spPr>
          <a:xfrm>
            <a:off x="10607040" y="2468880"/>
            <a:ext cx="548640" cy="548640"/>
          </a:xfrm>
          <a:prstGeom prst="ellipse">
            <a:avLst/>
          </a:prstGeom>
          <a:solidFill>
            <a:srgbClr val="16505C"/>
          </a:solidFill>
          <a:ln w="22225">
            <a:solidFill>
              <a:srgbClr val="2E6470"/>
            </a:solidFill>
            <a:prstDash val="solid"/>
          </a:ln>
        </p:spPr>
        <p:txBody>
          <a:bodyPr/>
          <a:lstStyle/>
          <a:p>
            <a:endParaRPr lang="en-US"/>
          </a:p>
        </p:txBody>
      </p:sp>
      <p:sp>
        <p:nvSpPr>
          <p:cNvPr id="16" name="Text 14"/>
          <p:cNvSpPr/>
          <p:nvPr/>
        </p:nvSpPr>
        <p:spPr>
          <a:xfrm>
            <a:off x="10607040" y="2468880"/>
            <a:ext cx="548640" cy="548640"/>
          </a:xfrm>
          <a:prstGeom prst="rect">
            <a:avLst/>
          </a:prstGeom>
          <a:noFill/>
          <a:ln/>
        </p:spPr>
        <p:txBody>
          <a:bodyPr wrap="square" lIns="0" tIns="0" rIns="0" bIns="0" rtlCol="0" anchor="ctr"/>
          <a:lstStyle/>
          <a:p>
            <a:pPr marL="0" indent="0" algn="ctr">
              <a:buNone/>
            </a:pPr>
            <a:endParaRPr lang="en-US" sz="1350" dirty="0"/>
          </a:p>
        </p:txBody>
      </p:sp>
      <p:sp>
        <p:nvSpPr>
          <p:cNvPr id="17" name="Shape 15"/>
          <p:cNvSpPr/>
          <p:nvPr/>
        </p:nvSpPr>
        <p:spPr>
          <a:xfrm>
            <a:off x="8275320" y="3566160"/>
            <a:ext cx="548640" cy="548640"/>
          </a:xfrm>
          <a:prstGeom prst="ellipse">
            <a:avLst/>
          </a:prstGeom>
          <a:solidFill>
            <a:srgbClr val="16505C"/>
          </a:solidFill>
          <a:ln w="22225">
            <a:solidFill>
              <a:srgbClr val="2E6470"/>
            </a:solidFill>
            <a:prstDash val="solid"/>
          </a:ln>
        </p:spPr>
        <p:txBody>
          <a:bodyPr/>
          <a:lstStyle/>
          <a:p>
            <a:endParaRPr lang="en-US"/>
          </a:p>
        </p:txBody>
      </p:sp>
      <p:sp>
        <p:nvSpPr>
          <p:cNvPr id="18" name="Text 16"/>
          <p:cNvSpPr/>
          <p:nvPr/>
        </p:nvSpPr>
        <p:spPr>
          <a:xfrm>
            <a:off x="8275320" y="3566160"/>
            <a:ext cx="548640" cy="548640"/>
          </a:xfrm>
          <a:prstGeom prst="rect">
            <a:avLst/>
          </a:prstGeom>
          <a:noFill/>
          <a:ln/>
        </p:spPr>
        <p:txBody>
          <a:bodyPr wrap="square" lIns="0" tIns="0" rIns="0" bIns="0" rtlCol="0" anchor="ctr"/>
          <a:lstStyle/>
          <a:p>
            <a:pPr marL="0" indent="0" algn="ctr">
              <a:buNone/>
            </a:pPr>
            <a:endParaRPr lang="en-US" sz="1350" dirty="0"/>
          </a:p>
        </p:txBody>
      </p:sp>
      <p:sp>
        <p:nvSpPr>
          <p:cNvPr id="19" name="Shape 17"/>
          <p:cNvSpPr/>
          <p:nvPr/>
        </p:nvSpPr>
        <p:spPr>
          <a:xfrm>
            <a:off x="9281160" y="3566160"/>
            <a:ext cx="548640" cy="548640"/>
          </a:xfrm>
          <a:prstGeom prst="ellipse">
            <a:avLst/>
          </a:prstGeom>
          <a:solidFill>
            <a:srgbClr val="16505C"/>
          </a:solidFill>
          <a:ln w="22225">
            <a:solidFill>
              <a:srgbClr val="2E6470"/>
            </a:solidFill>
            <a:prstDash val="solid"/>
          </a:ln>
        </p:spPr>
        <p:txBody>
          <a:bodyPr/>
          <a:lstStyle/>
          <a:p>
            <a:endParaRPr lang="en-US"/>
          </a:p>
        </p:txBody>
      </p:sp>
      <p:sp>
        <p:nvSpPr>
          <p:cNvPr id="20" name="Text 18"/>
          <p:cNvSpPr/>
          <p:nvPr/>
        </p:nvSpPr>
        <p:spPr>
          <a:xfrm>
            <a:off x="9281160" y="3566160"/>
            <a:ext cx="548640" cy="548640"/>
          </a:xfrm>
          <a:prstGeom prst="rect">
            <a:avLst/>
          </a:prstGeom>
          <a:noFill/>
          <a:ln/>
        </p:spPr>
        <p:txBody>
          <a:bodyPr wrap="square" lIns="0" tIns="0" rIns="0" bIns="0" rtlCol="0" anchor="ctr"/>
          <a:lstStyle/>
          <a:p>
            <a:pPr marL="0" indent="0" algn="ctr">
              <a:buNone/>
            </a:pPr>
            <a:endParaRPr lang="en-US" sz="1350" dirty="0"/>
          </a:p>
        </p:txBody>
      </p:sp>
      <p:sp>
        <p:nvSpPr>
          <p:cNvPr id="21" name="Shape 19"/>
          <p:cNvSpPr/>
          <p:nvPr/>
        </p:nvSpPr>
        <p:spPr>
          <a:xfrm>
            <a:off x="10104120" y="3566160"/>
            <a:ext cx="548640" cy="548640"/>
          </a:xfrm>
          <a:prstGeom prst="ellipse">
            <a:avLst/>
          </a:prstGeom>
          <a:solidFill>
            <a:srgbClr val="16505C"/>
          </a:solidFill>
          <a:ln w="22225">
            <a:solidFill>
              <a:srgbClr val="2E6470"/>
            </a:solidFill>
            <a:prstDash val="solid"/>
          </a:ln>
        </p:spPr>
        <p:txBody>
          <a:bodyPr/>
          <a:lstStyle/>
          <a:p>
            <a:endParaRPr lang="en-US"/>
          </a:p>
        </p:txBody>
      </p:sp>
      <p:sp>
        <p:nvSpPr>
          <p:cNvPr id="22" name="Text 20"/>
          <p:cNvSpPr/>
          <p:nvPr/>
        </p:nvSpPr>
        <p:spPr>
          <a:xfrm>
            <a:off x="10104120" y="3566160"/>
            <a:ext cx="548640" cy="548640"/>
          </a:xfrm>
          <a:prstGeom prst="rect">
            <a:avLst/>
          </a:prstGeom>
          <a:noFill/>
          <a:ln/>
        </p:spPr>
        <p:txBody>
          <a:bodyPr wrap="square" lIns="0" tIns="0" rIns="0" bIns="0" rtlCol="0" anchor="ctr"/>
          <a:lstStyle/>
          <a:p>
            <a:pPr marL="0" indent="0" algn="ctr">
              <a:buNone/>
            </a:pPr>
            <a:endParaRPr lang="en-US" sz="1350" dirty="0"/>
          </a:p>
        </p:txBody>
      </p:sp>
      <p:sp>
        <p:nvSpPr>
          <p:cNvPr id="23" name="Shape 21"/>
          <p:cNvSpPr/>
          <p:nvPr/>
        </p:nvSpPr>
        <p:spPr>
          <a:xfrm>
            <a:off x="11109960" y="3566160"/>
            <a:ext cx="548640" cy="548640"/>
          </a:xfrm>
          <a:prstGeom prst="ellipse">
            <a:avLst/>
          </a:prstGeom>
          <a:solidFill>
            <a:srgbClr val="16505C"/>
          </a:solidFill>
          <a:ln w="22225">
            <a:solidFill>
              <a:srgbClr val="2E6470"/>
            </a:solidFill>
            <a:prstDash val="solid"/>
          </a:ln>
        </p:spPr>
        <p:txBody>
          <a:bodyPr/>
          <a:lstStyle/>
          <a:p>
            <a:endParaRPr lang="en-US"/>
          </a:p>
        </p:txBody>
      </p:sp>
      <p:sp>
        <p:nvSpPr>
          <p:cNvPr id="24" name="Text 22"/>
          <p:cNvSpPr/>
          <p:nvPr/>
        </p:nvSpPr>
        <p:spPr>
          <a:xfrm>
            <a:off x="11109960" y="3566160"/>
            <a:ext cx="548640" cy="548640"/>
          </a:xfrm>
          <a:prstGeom prst="rect">
            <a:avLst/>
          </a:prstGeom>
          <a:noFill/>
          <a:ln/>
        </p:spPr>
        <p:txBody>
          <a:bodyPr wrap="square" lIns="0" tIns="0" rIns="0" bIns="0" rtlCol="0" anchor="ctr"/>
          <a:lstStyle/>
          <a:p>
            <a:pPr marL="0" indent="0" algn="ctr">
              <a:buNone/>
            </a:pPr>
            <a:endParaRPr lang="en-US" sz="1350" dirty="0"/>
          </a:p>
        </p:txBody>
      </p:sp>
      <p:sp>
        <p:nvSpPr>
          <p:cNvPr id="25" name="Text 23"/>
          <p:cNvSpPr/>
          <p:nvPr/>
        </p:nvSpPr>
        <p:spPr>
          <a:xfrm>
            <a:off x="8412480" y="4343400"/>
            <a:ext cx="3108960" cy="320040"/>
          </a:xfrm>
          <a:prstGeom prst="rect">
            <a:avLst/>
          </a:prstGeom>
          <a:noFill/>
          <a:ln/>
        </p:spPr>
        <p:txBody>
          <a:bodyPr wrap="square" lIns="0" tIns="0" rIns="0" bIns="0" rtlCol="0" anchor="ctr"/>
          <a:lstStyle/>
          <a:p>
            <a:pPr marL="0" indent="0" algn="ctr">
              <a:buNone/>
            </a:pPr>
            <a:r>
              <a:rPr lang="en-US" sz="1300" i="1" dirty="0">
                <a:solidFill>
                  <a:srgbClr val="7FA5AB"/>
                </a:solidFill>
                <a:latin typeface="Calibri" pitchFamily="34" charset="0"/>
                <a:ea typeface="Calibri" pitchFamily="34" charset="-122"/>
                <a:cs typeface="Calibri" pitchFamily="34" charset="-120"/>
              </a:rPr>
              <a:t>2</a:t>
            </a:r>
            <a:r>
              <a:rPr lang="en-US" sz="1300" i="1" baseline="30000" dirty="0">
                <a:solidFill>
                  <a:srgbClr val="7FA5AB"/>
                </a:solidFill>
                <a:latin typeface="Calibri" pitchFamily="34" charset="0"/>
                <a:ea typeface="Calibri" pitchFamily="34" charset="-122"/>
                <a:cs typeface="Calibri" pitchFamily="34" charset="-120"/>
              </a:rPr>
              <a:t>n</a:t>
            </a:r>
            <a:r>
              <a:rPr lang="en-US" sz="1300" i="1" dirty="0">
                <a:solidFill>
                  <a:srgbClr val="7FA5AB"/>
                </a:solidFill>
                <a:latin typeface="Calibri" pitchFamily="34" charset="0"/>
                <a:ea typeface="Calibri" pitchFamily="34" charset="-122"/>
                <a:cs typeface="Calibri" pitchFamily="34" charset="-120"/>
              </a:rPr>
              <a:t>  candidates</a:t>
            </a:r>
            <a:endParaRPr lang="en-US" sz="1300" dirty="0"/>
          </a:p>
        </p:txBody>
      </p:sp>
      <p:sp>
        <p:nvSpPr>
          <p:cNvPr id="26" name="Text 24"/>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7FA5AB"/>
                </a:solidFill>
                <a:latin typeface="Calibri" pitchFamily="34" charset="0"/>
                <a:ea typeface="Calibri" pitchFamily="34" charset="-122"/>
                <a:cs typeface="Calibri" pitchFamily="34" charset="-120"/>
              </a:rPr>
              <a:t>COMP90038  ·  Algorithms and Complexity  ·  Week 5</a:t>
            </a:r>
            <a:endParaRPr lang="en-US" sz="900" dirty="0"/>
          </a:p>
        </p:txBody>
      </p:sp>
      <p:sp>
        <p:nvSpPr>
          <p:cNvPr id="27" name="Text 25"/>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7FA5A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Subset-sum</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Design an exhaustive-search algorithm, then give its complexity.</a:t>
            </a:r>
            <a:endParaRPr lang="en-US" sz="1300" dirty="0"/>
          </a:p>
        </p:txBody>
      </p:sp>
      <p:sp>
        <p:nvSpPr>
          <p:cNvPr id="6" name="Shape 4"/>
          <p:cNvSpPr/>
          <p:nvPr/>
        </p:nvSpPr>
        <p:spPr>
          <a:xfrm>
            <a:off x="640080" y="1645920"/>
            <a:ext cx="6492240" cy="1463040"/>
          </a:xfrm>
          <a:prstGeom prst="roundRect">
            <a:avLst>
              <a:gd name="adj" fmla="val 3750"/>
            </a:avLst>
          </a:prstGeom>
          <a:solidFill>
            <a:srgbClr val="EDF4F3"/>
          </a:solidFill>
          <a:ln w="12700">
            <a:solidFill>
              <a:srgbClr val="EDF4F3"/>
            </a:solidFill>
            <a:prstDash val="solid"/>
          </a:ln>
        </p:spPr>
        <p:txBody>
          <a:bodyPr/>
          <a:lstStyle/>
          <a:p>
            <a:endParaRPr lang="en-US"/>
          </a:p>
        </p:txBody>
      </p:sp>
      <p:sp>
        <p:nvSpPr>
          <p:cNvPr id="7" name="Text 5"/>
          <p:cNvSpPr/>
          <p:nvPr/>
        </p:nvSpPr>
        <p:spPr>
          <a:xfrm>
            <a:off x="914400" y="1645920"/>
            <a:ext cx="5943600" cy="1463040"/>
          </a:xfrm>
          <a:prstGeom prst="rect">
            <a:avLst/>
          </a:prstGeom>
          <a:noFill/>
          <a:ln/>
        </p:spPr>
        <p:txBody>
          <a:bodyPr wrap="square" lIns="0" tIns="0" rIns="0" bIns="0" rtlCol="0" anchor="ctr"/>
          <a:lstStyle/>
          <a:p>
            <a:pPr marL="0" indent="0">
              <a:lnSpc>
                <a:spcPts val="2400"/>
              </a:lnSpc>
              <a:buNone/>
            </a:pPr>
            <a:r>
              <a:rPr lang="en-US" sz="1500" dirty="0">
                <a:solidFill>
                  <a:srgbClr val="13232B"/>
                </a:solidFill>
                <a:latin typeface="Calibri" pitchFamily="34" charset="0"/>
                <a:ea typeface="Calibri" pitchFamily="34" charset="-122"/>
                <a:cs typeface="Calibri" pitchFamily="34" charset="-120"/>
              </a:rPr>
              <a:t>Given </a:t>
            </a:r>
            <a:r>
              <a:rPr lang="en-US" sz="1500" b="1" dirty="0">
                <a:solidFill>
                  <a:srgbClr val="13232B"/>
                </a:solidFill>
                <a:latin typeface="Calibri" pitchFamily="34" charset="0"/>
                <a:ea typeface="Calibri" pitchFamily="34" charset="-122"/>
                <a:cs typeface="Calibri" pitchFamily="34" charset="-120"/>
              </a:rPr>
              <a:t>a set S of positive integers</a:t>
            </a:r>
            <a:r>
              <a:rPr lang="en-US" sz="1500" dirty="0">
                <a:solidFill>
                  <a:srgbClr val="13232B"/>
                </a:solidFill>
                <a:latin typeface="Calibri" pitchFamily="34" charset="0"/>
                <a:ea typeface="Calibri" pitchFamily="34" charset="-122"/>
                <a:cs typeface="Calibri" pitchFamily="34" charset="-120"/>
              </a:rPr>
              <a:t> and a positive integer </a:t>
            </a:r>
            <a:r>
              <a:rPr lang="en-US" sz="1500" b="1" i="1" dirty="0">
                <a:solidFill>
                  <a:srgbClr val="13232B"/>
                </a:solidFill>
                <a:latin typeface="Calibri" pitchFamily="34" charset="0"/>
                <a:ea typeface="Calibri" pitchFamily="34" charset="-122"/>
                <a:cs typeface="Calibri" pitchFamily="34" charset="-120"/>
              </a:rPr>
              <a:t>t</a:t>
            </a:r>
            <a:r>
              <a:rPr lang="en-US" sz="1500" dirty="0">
                <a:solidFill>
                  <a:srgbClr val="13232B"/>
                </a:solidFill>
                <a:latin typeface="Calibri" pitchFamily="34" charset="0"/>
                <a:ea typeface="Calibri" pitchFamily="34" charset="-122"/>
                <a:cs typeface="Calibri" pitchFamily="34" charset="-120"/>
              </a:rPr>
              <a:t>, find a subset S′ ⊆ S such that ∑S′ = t, or determine that no such subset exists.</a:t>
            </a:r>
            <a:endParaRPr lang="en-US" sz="1500" dirty="0"/>
          </a:p>
        </p:txBody>
      </p:sp>
      <p:sp>
        <p:nvSpPr>
          <p:cNvPr id="8" name="Text 6"/>
          <p:cNvSpPr/>
          <p:nvPr/>
        </p:nvSpPr>
        <p:spPr>
          <a:xfrm>
            <a:off x="640080" y="3337560"/>
            <a:ext cx="6400800" cy="310896"/>
          </a:xfrm>
          <a:prstGeom prst="rect">
            <a:avLst/>
          </a:prstGeom>
          <a:noFill/>
          <a:ln/>
        </p:spPr>
        <p:txBody>
          <a:bodyPr wrap="square" lIns="0" tIns="0" rIns="0" bIns="0" rtlCol="0" anchor="ctr"/>
          <a:lstStyle/>
          <a:p>
            <a:pPr marL="0" indent="0">
              <a:buNone/>
            </a:pPr>
            <a:r>
              <a:rPr lang="en-US" sz="1200" b="1" kern="0" spc="80" dirty="0">
                <a:solidFill>
                  <a:srgbClr val="0B3B44"/>
                </a:solidFill>
                <a:latin typeface="Calibri" pitchFamily="34" charset="0"/>
                <a:ea typeface="Calibri" pitchFamily="34" charset="-122"/>
                <a:cs typeface="Calibri" pitchFamily="34" charset="-120"/>
              </a:rPr>
              <a:t>Two things to work out</a:t>
            </a:r>
            <a:endParaRPr lang="en-US" sz="1200" dirty="0"/>
          </a:p>
        </p:txBody>
      </p:sp>
      <p:sp>
        <p:nvSpPr>
          <p:cNvPr id="9" name="Text 7"/>
          <p:cNvSpPr/>
          <p:nvPr/>
        </p:nvSpPr>
        <p:spPr>
          <a:xfrm>
            <a:off x="658368" y="3703320"/>
            <a:ext cx="6492240" cy="19202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3232B"/>
                </a:solidFill>
                <a:latin typeface="Calibri" pitchFamily="34" charset="0"/>
                <a:ea typeface="Calibri" pitchFamily="34" charset="-122"/>
                <a:cs typeface="Calibri" pitchFamily="34" charset="-120"/>
              </a:rPr>
              <a:t>How do we enumerate every subset of S — systematically, with no repeats and nothing missed?</a:t>
            </a:r>
            <a:endParaRPr lang="en-US" sz="1400" dirty="0"/>
          </a:p>
          <a:p>
            <a:pPr marL="203200" indent="-203200">
              <a:spcAft>
                <a:spcPts val="800"/>
              </a:spcAft>
              <a:buSzPct val="100000"/>
              <a:buChar char="●"/>
            </a:pPr>
            <a:r>
              <a:rPr lang="en-US" sz="1400" dirty="0">
                <a:solidFill>
                  <a:srgbClr val="13232B"/>
                </a:solidFill>
                <a:latin typeface="Calibri" pitchFamily="34" charset="0"/>
                <a:ea typeface="Calibri" pitchFamily="34" charset="-122"/>
                <a:cs typeface="Calibri" pitchFamily="34" charset="-120"/>
              </a:rPr>
              <a:t>How expensive is one test? Summing a subset is not free.</a:t>
            </a:r>
            <a:endParaRPr lang="en-US" sz="1400" dirty="0"/>
          </a:p>
          <a:p>
            <a:pPr marL="203200" indent="-203200">
              <a:spcAft>
                <a:spcPts val="800"/>
              </a:spcAft>
              <a:buSzPct val="100000"/>
              <a:buChar char="●"/>
            </a:pPr>
            <a:r>
              <a:rPr lang="en-US" sz="1400" dirty="0">
                <a:solidFill>
                  <a:srgbClr val="13232B"/>
                </a:solidFill>
                <a:latin typeface="Calibri" pitchFamily="34" charset="0"/>
                <a:ea typeface="Calibri" pitchFamily="34" charset="-122"/>
                <a:cs typeface="Calibri" pitchFamily="34" charset="-120"/>
              </a:rPr>
              <a:t>Assume addition is O(1), as the question tells us.</a:t>
            </a:r>
            <a:endParaRPr lang="en-US" sz="1400" dirty="0"/>
          </a:p>
        </p:txBody>
      </p:sp>
      <p:sp>
        <p:nvSpPr>
          <p:cNvPr id="10" name="Shape 8"/>
          <p:cNvSpPr/>
          <p:nvPr/>
        </p:nvSpPr>
        <p:spPr>
          <a:xfrm>
            <a:off x="7452360" y="1645920"/>
            <a:ext cx="4114800" cy="3977640"/>
          </a:xfrm>
          <a:prstGeom prst="roundRect">
            <a:avLst>
              <a:gd name="adj" fmla="val 1379"/>
            </a:avLst>
          </a:prstGeom>
          <a:solidFill>
            <a:srgbClr val="F6F9F8"/>
          </a:solidFill>
          <a:ln w="12700">
            <a:solidFill>
              <a:srgbClr val="D3E0DD"/>
            </a:solidFill>
            <a:prstDash val="solid"/>
          </a:ln>
        </p:spPr>
        <p:txBody>
          <a:bodyPr/>
          <a:lstStyle/>
          <a:p>
            <a:endParaRPr lang="en-US"/>
          </a:p>
        </p:txBody>
      </p:sp>
      <p:sp>
        <p:nvSpPr>
          <p:cNvPr id="11" name="Text 9"/>
          <p:cNvSpPr/>
          <p:nvPr/>
        </p:nvSpPr>
        <p:spPr>
          <a:xfrm>
            <a:off x="7726680" y="1847088"/>
            <a:ext cx="3566160" cy="292608"/>
          </a:xfrm>
          <a:prstGeom prst="rect">
            <a:avLst/>
          </a:prstGeom>
          <a:noFill/>
          <a:ln/>
        </p:spPr>
        <p:txBody>
          <a:bodyPr wrap="square" lIns="0" tIns="0" rIns="0" bIns="0" rtlCol="0" anchor="ctr"/>
          <a:lstStyle/>
          <a:p>
            <a:pPr marL="0" indent="0">
              <a:buNone/>
            </a:pPr>
            <a:r>
              <a:rPr lang="en-US" sz="1200" b="1" kern="0" spc="80" dirty="0">
                <a:solidFill>
                  <a:srgbClr val="0B3B44"/>
                </a:solidFill>
                <a:latin typeface="Calibri" pitchFamily="34" charset="0"/>
                <a:ea typeface="Calibri" pitchFamily="34" charset="-122"/>
                <a:cs typeface="Calibri" pitchFamily="34" charset="-120"/>
              </a:rPr>
              <a:t>Worked example</a:t>
            </a:r>
            <a:endParaRPr lang="en-US" sz="1200" dirty="0"/>
          </a:p>
        </p:txBody>
      </p:sp>
      <p:sp>
        <p:nvSpPr>
          <p:cNvPr id="12" name="Text 10"/>
          <p:cNvSpPr/>
          <p:nvPr/>
        </p:nvSpPr>
        <p:spPr>
          <a:xfrm>
            <a:off x="7726680" y="2212848"/>
            <a:ext cx="3566160" cy="292608"/>
          </a:xfrm>
          <a:prstGeom prst="rect">
            <a:avLst/>
          </a:prstGeom>
          <a:noFill/>
          <a:ln/>
        </p:spPr>
        <p:txBody>
          <a:bodyPr wrap="square" lIns="0" tIns="0" rIns="0" bIns="0" rtlCol="0" anchor="ctr"/>
          <a:lstStyle/>
          <a:p>
            <a:pPr marL="0" indent="0">
              <a:buNone/>
            </a:pPr>
            <a:r>
              <a:rPr lang="en-US" sz="1300" dirty="0">
                <a:solidFill>
                  <a:srgbClr val="13232B"/>
                </a:solidFill>
                <a:latin typeface="Courier New" pitchFamily="34" charset="0"/>
                <a:ea typeface="Courier New" pitchFamily="34" charset="-122"/>
                <a:cs typeface="Courier New" pitchFamily="34" charset="-120"/>
              </a:rPr>
              <a:t>S = { 3, 5, 8, 11 },   t = 16</a:t>
            </a:r>
            <a:endParaRPr lang="en-US" sz="1300" dirty="0"/>
          </a:p>
        </p:txBody>
      </p:sp>
      <p:sp>
        <p:nvSpPr>
          <p:cNvPr id="13" name="Text 11"/>
          <p:cNvSpPr/>
          <p:nvPr/>
        </p:nvSpPr>
        <p:spPr>
          <a:xfrm>
            <a:off x="7726680" y="267004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a:t>
            </a:r>
            <a:endParaRPr lang="en-US" sz="1200" dirty="0"/>
          </a:p>
        </p:txBody>
      </p:sp>
      <p:sp>
        <p:nvSpPr>
          <p:cNvPr id="14" name="Text 12"/>
          <p:cNvSpPr/>
          <p:nvPr/>
        </p:nvSpPr>
        <p:spPr>
          <a:xfrm>
            <a:off x="9326880" y="267004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0</a:t>
            </a:r>
            <a:endParaRPr lang="en-US" sz="1200" dirty="0"/>
          </a:p>
        </p:txBody>
      </p:sp>
      <p:sp>
        <p:nvSpPr>
          <p:cNvPr id="15" name="Text 13"/>
          <p:cNvSpPr/>
          <p:nvPr/>
        </p:nvSpPr>
        <p:spPr>
          <a:xfrm>
            <a:off x="7726680" y="303580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{3}</a:t>
            </a:r>
            <a:endParaRPr lang="en-US" sz="1200" dirty="0"/>
          </a:p>
        </p:txBody>
      </p:sp>
      <p:sp>
        <p:nvSpPr>
          <p:cNvPr id="16" name="Text 14"/>
          <p:cNvSpPr/>
          <p:nvPr/>
        </p:nvSpPr>
        <p:spPr>
          <a:xfrm>
            <a:off x="9326880" y="303580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3</a:t>
            </a:r>
            <a:endParaRPr lang="en-US" sz="1200" dirty="0"/>
          </a:p>
        </p:txBody>
      </p:sp>
      <p:sp>
        <p:nvSpPr>
          <p:cNvPr id="17" name="Text 15"/>
          <p:cNvSpPr/>
          <p:nvPr/>
        </p:nvSpPr>
        <p:spPr>
          <a:xfrm>
            <a:off x="7726680" y="340156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{5}</a:t>
            </a:r>
            <a:endParaRPr lang="en-US" sz="1200" dirty="0"/>
          </a:p>
        </p:txBody>
      </p:sp>
      <p:sp>
        <p:nvSpPr>
          <p:cNvPr id="18" name="Text 16"/>
          <p:cNvSpPr/>
          <p:nvPr/>
        </p:nvSpPr>
        <p:spPr>
          <a:xfrm>
            <a:off x="9326880" y="340156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5</a:t>
            </a:r>
            <a:endParaRPr lang="en-US" sz="1200" dirty="0"/>
          </a:p>
        </p:txBody>
      </p:sp>
      <p:sp>
        <p:nvSpPr>
          <p:cNvPr id="19" name="Text 17"/>
          <p:cNvSpPr/>
          <p:nvPr/>
        </p:nvSpPr>
        <p:spPr>
          <a:xfrm>
            <a:off x="7726680" y="376732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{3,5}</a:t>
            </a:r>
            <a:endParaRPr lang="en-US" sz="1200" dirty="0"/>
          </a:p>
        </p:txBody>
      </p:sp>
      <p:sp>
        <p:nvSpPr>
          <p:cNvPr id="20" name="Text 18"/>
          <p:cNvSpPr/>
          <p:nvPr/>
        </p:nvSpPr>
        <p:spPr>
          <a:xfrm>
            <a:off x="9326880" y="376732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8</a:t>
            </a:r>
            <a:endParaRPr lang="en-US" sz="1200" dirty="0"/>
          </a:p>
        </p:txBody>
      </p:sp>
      <p:sp>
        <p:nvSpPr>
          <p:cNvPr id="21" name="Text 19"/>
          <p:cNvSpPr/>
          <p:nvPr/>
        </p:nvSpPr>
        <p:spPr>
          <a:xfrm>
            <a:off x="7726680" y="413308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{8}</a:t>
            </a:r>
            <a:endParaRPr lang="en-US" sz="1200" dirty="0"/>
          </a:p>
        </p:txBody>
      </p:sp>
      <p:sp>
        <p:nvSpPr>
          <p:cNvPr id="22" name="Text 20"/>
          <p:cNvSpPr/>
          <p:nvPr/>
        </p:nvSpPr>
        <p:spPr>
          <a:xfrm>
            <a:off x="9326880" y="413308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8</a:t>
            </a:r>
            <a:endParaRPr lang="en-US" sz="1200" dirty="0"/>
          </a:p>
        </p:txBody>
      </p:sp>
      <p:sp>
        <p:nvSpPr>
          <p:cNvPr id="23" name="Text 21"/>
          <p:cNvSpPr/>
          <p:nvPr/>
        </p:nvSpPr>
        <p:spPr>
          <a:xfrm>
            <a:off x="7726680" y="449884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{3,8}</a:t>
            </a:r>
            <a:endParaRPr lang="en-US" sz="1200" dirty="0"/>
          </a:p>
        </p:txBody>
      </p:sp>
      <p:sp>
        <p:nvSpPr>
          <p:cNvPr id="24" name="Text 22"/>
          <p:cNvSpPr/>
          <p:nvPr/>
        </p:nvSpPr>
        <p:spPr>
          <a:xfrm>
            <a:off x="9326880" y="449884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11</a:t>
            </a:r>
            <a:endParaRPr lang="en-US" sz="1200" dirty="0"/>
          </a:p>
        </p:txBody>
      </p:sp>
      <p:sp>
        <p:nvSpPr>
          <p:cNvPr id="25" name="Text 23"/>
          <p:cNvSpPr/>
          <p:nvPr/>
        </p:nvSpPr>
        <p:spPr>
          <a:xfrm>
            <a:off x="7726680" y="4864608"/>
            <a:ext cx="155448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{5,8}</a:t>
            </a:r>
            <a:endParaRPr lang="en-US" sz="1200" dirty="0"/>
          </a:p>
        </p:txBody>
      </p:sp>
      <p:sp>
        <p:nvSpPr>
          <p:cNvPr id="26" name="Text 24"/>
          <p:cNvSpPr/>
          <p:nvPr/>
        </p:nvSpPr>
        <p:spPr>
          <a:xfrm>
            <a:off x="9326880" y="4864608"/>
            <a:ext cx="1005840" cy="310896"/>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 = 13</a:t>
            </a:r>
            <a:endParaRPr lang="en-US" sz="1200" dirty="0"/>
          </a:p>
        </p:txBody>
      </p:sp>
      <p:sp>
        <p:nvSpPr>
          <p:cNvPr id="27" name="Text 25"/>
          <p:cNvSpPr/>
          <p:nvPr/>
        </p:nvSpPr>
        <p:spPr>
          <a:xfrm>
            <a:off x="7726680" y="5230368"/>
            <a:ext cx="1554480" cy="310896"/>
          </a:xfrm>
          <a:prstGeom prst="rect">
            <a:avLst/>
          </a:prstGeom>
          <a:noFill/>
          <a:ln/>
        </p:spPr>
        <p:txBody>
          <a:bodyPr wrap="square" lIns="0" tIns="0" rIns="0" bIns="0" rtlCol="0" anchor="ctr"/>
          <a:lstStyle/>
          <a:p>
            <a:pPr marL="0" indent="0">
              <a:buNone/>
            </a:pPr>
            <a:r>
              <a:rPr lang="en-US" sz="1200" b="1" dirty="0">
                <a:solidFill>
                  <a:srgbClr val="2A9D8F"/>
                </a:solidFill>
                <a:latin typeface="Courier New" pitchFamily="34" charset="0"/>
                <a:ea typeface="Courier New" pitchFamily="34" charset="-122"/>
                <a:cs typeface="Courier New" pitchFamily="34" charset="-120"/>
              </a:rPr>
              <a:t>{3,5,8}</a:t>
            </a:r>
            <a:endParaRPr lang="en-US" sz="1200" dirty="0"/>
          </a:p>
        </p:txBody>
      </p:sp>
      <p:sp>
        <p:nvSpPr>
          <p:cNvPr id="28" name="Text 26"/>
          <p:cNvSpPr/>
          <p:nvPr/>
        </p:nvSpPr>
        <p:spPr>
          <a:xfrm>
            <a:off x="9326880" y="5230368"/>
            <a:ext cx="1005840" cy="310896"/>
          </a:xfrm>
          <a:prstGeom prst="rect">
            <a:avLst/>
          </a:prstGeom>
          <a:noFill/>
          <a:ln/>
        </p:spPr>
        <p:txBody>
          <a:bodyPr wrap="square" lIns="0" tIns="0" rIns="0" bIns="0" rtlCol="0" anchor="ctr"/>
          <a:lstStyle/>
          <a:p>
            <a:pPr marL="0" indent="0">
              <a:buNone/>
            </a:pPr>
            <a:r>
              <a:rPr lang="en-US" sz="1200" b="1" dirty="0">
                <a:solidFill>
                  <a:srgbClr val="2A9D8F"/>
                </a:solidFill>
                <a:latin typeface="Courier New" pitchFamily="34" charset="0"/>
                <a:ea typeface="Courier New" pitchFamily="34" charset="-122"/>
                <a:cs typeface="Courier New" pitchFamily="34" charset="-120"/>
              </a:rPr>
              <a:t>∑ = 16</a:t>
            </a:r>
            <a:endParaRPr lang="en-US" sz="1200" dirty="0"/>
          </a:p>
        </p:txBody>
      </p:sp>
      <p:sp>
        <p:nvSpPr>
          <p:cNvPr id="29" name="Text 27"/>
          <p:cNvSpPr/>
          <p:nvPr/>
        </p:nvSpPr>
        <p:spPr>
          <a:xfrm>
            <a:off x="10378440" y="5230368"/>
            <a:ext cx="914400" cy="310896"/>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 hit</a:t>
            </a:r>
            <a:endParaRPr lang="en-US" sz="1200" dirty="0"/>
          </a:p>
        </p:txBody>
      </p:sp>
      <p:sp>
        <p:nvSpPr>
          <p:cNvPr id="30" name="Text 28"/>
          <p:cNvSpPr/>
          <p:nvPr/>
        </p:nvSpPr>
        <p:spPr>
          <a:xfrm>
            <a:off x="7726680" y="5650992"/>
            <a:ext cx="3566160" cy="274320"/>
          </a:xfrm>
          <a:prstGeom prst="rect">
            <a:avLst/>
          </a:prstGeom>
          <a:noFill/>
          <a:ln/>
        </p:spPr>
        <p:txBody>
          <a:bodyPr wrap="square" lIns="0" tIns="0" rIns="0" bIns="0" rtlCol="0" anchor="ctr"/>
          <a:lstStyle/>
          <a:p>
            <a:pPr marL="0" indent="0">
              <a:buNone/>
            </a:pPr>
            <a:r>
              <a:rPr lang="en-US" sz="1100" i="1" dirty="0">
                <a:solidFill>
                  <a:srgbClr val="63797F"/>
                </a:solidFill>
                <a:latin typeface="Calibri" pitchFamily="34" charset="0"/>
                <a:ea typeface="Calibri" pitchFamily="34" charset="-122"/>
                <a:cs typeface="Calibri" pitchFamily="34" charset="-120"/>
              </a:rPr>
              <a:t>…8 of the 16 subsets checked before we get lucky.</a:t>
            </a:r>
            <a:endParaRPr lang="en-US" sz="1100" dirty="0"/>
          </a:p>
        </p:txBody>
      </p:sp>
      <p:sp>
        <p:nvSpPr>
          <p:cNvPr id="31" name="Text 29"/>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32" name="Text 30"/>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Solution: enumerate, then test</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The outer algorithm is trivial once we can generate the powerset.</a:t>
            </a:r>
            <a:endParaRPr lang="en-US" sz="1300" dirty="0"/>
          </a:p>
        </p:txBody>
      </p:sp>
      <p:sp>
        <p:nvSpPr>
          <p:cNvPr id="6" name="Shape 4"/>
          <p:cNvSpPr/>
          <p:nvPr/>
        </p:nvSpPr>
        <p:spPr>
          <a:xfrm>
            <a:off x="640080" y="1572768"/>
            <a:ext cx="5349240" cy="1783080"/>
          </a:xfrm>
          <a:prstGeom prst="roundRect">
            <a:avLst>
              <a:gd name="adj" fmla="val 3077"/>
            </a:avLst>
          </a:prstGeom>
          <a:solidFill>
            <a:srgbClr val="F6F9F8"/>
          </a:solidFill>
          <a:ln w="12700">
            <a:solidFill>
              <a:srgbClr val="D3E0DD"/>
            </a:solidFill>
            <a:prstDash val="solid"/>
          </a:ln>
        </p:spPr>
        <p:txBody>
          <a:bodyPr/>
          <a:lstStyle/>
          <a:p>
            <a:endParaRPr lang="en-US"/>
          </a:p>
        </p:txBody>
      </p:sp>
      <p:sp>
        <p:nvSpPr>
          <p:cNvPr id="7" name="Text 5"/>
          <p:cNvSpPr/>
          <p:nvPr/>
        </p:nvSpPr>
        <p:spPr>
          <a:xfrm>
            <a:off x="841248" y="1737360"/>
            <a:ext cx="4946904" cy="237744"/>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THE ALGORITHM</a:t>
            </a:r>
            <a:endParaRPr lang="en-US" sz="1150" dirty="0"/>
          </a:p>
        </p:txBody>
      </p:sp>
      <p:sp>
        <p:nvSpPr>
          <p:cNvPr id="8" name="Text 6"/>
          <p:cNvSpPr/>
          <p:nvPr/>
        </p:nvSpPr>
        <p:spPr>
          <a:xfrm>
            <a:off x="841248" y="2048256"/>
            <a:ext cx="4946904" cy="1143000"/>
          </a:xfrm>
          <a:prstGeom prst="rect">
            <a:avLst/>
          </a:prstGeom>
          <a:noFill/>
          <a:ln/>
        </p:spPr>
        <p:txBody>
          <a:bodyPr wrap="square" lIns="0" tIns="0" rIns="0" bIns="0" rtlCol="0" anchor="t"/>
          <a:lstStyle/>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function SubsetSum(S, t)</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for each S′ in Powerset(S) do</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if ∑S′ = t then</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return True</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return False</a:t>
            </a:r>
            <a:endParaRPr lang="en-US" sz="1200" dirty="0"/>
          </a:p>
        </p:txBody>
      </p:sp>
      <p:sp>
        <p:nvSpPr>
          <p:cNvPr id="9" name="Shape 7"/>
          <p:cNvSpPr/>
          <p:nvPr/>
        </p:nvSpPr>
        <p:spPr>
          <a:xfrm>
            <a:off x="640080" y="3520440"/>
            <a:ext cx="5349240" cy="2468880"/>
          </a:xfrm>
          <a:prstGeom prst="roundRect">
            <a:avLst>
              <a:gd name="adj" fmla="val 2222"/>
            </a:avLst>
          </a:prstGeom>
          <a:solidFill>
            <a:srgbClr val="F6F9F8"/>
          </a:solidFill>
          <a:ln w="12700">
            <a:solidFill>
              <a:srgbClr val="D3E0DD"/>
            </a:solidFill>
            <a:prstDash val="solid"/>
          </a:ln>
        </p:spPr>
        <p:txBody>
          <a:bodyPr/>
          <a:lstStyle/>
          <a:p>
            <a:endParaRPr lang="en-US"/>
          </a:p>
        </p:txBody>
      </p:sp>
      <p:sp>
        <p:nvSpPr>
          <p:cNvPr id="10" name="Text 8"/>
          <p:cNvSpPr/>
          <p:nvPr/>
        </p:nvSpPr>
        <p:spPr>
          <a:xfrm>
            <a:off x="841248" y="3685032"/>
            <a:ext cx="4946904" cy="237744"/>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GENERATING THE POWERSET</a:t>
            </a:r>
            <a:endParaRPr lang="en-US" sz="1150" dirty="0"/>
          </a:p>
        </p:txBody>
      </p:sp>
      <p:sp>
        <p:nvSpPr>
          <p:cNvPr id="11" name="Text 9"/>
          <p:cNvSpPr/>
          <p:nvPr/>
        </p:nvSpPr>
        <p:spPr>
          <a:xfrm>
            <a:off x="841248" y="3995928"/>
            <a:ext cx="4946904" cy="1828800"/>
          </a:xfrm>
          <a:prstGeom prst="rect">
            <a:avLst/>
          </a:prstGeom>
          <a:noFill/>
          <a:ln/>
        </p:spPr>
        <p:txBody>
          <a:bodyPr wrap="square" lIns="0" tIns="0" rIns="0" bIns="0" rtlCol="0" anchor="t"/>
          <a:lstStyle/>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function Powerset(S)</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if S = ∅ then</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return { ∅ }</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else</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x  ← some element of S</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S′ ← S \ {x}</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P  ← Powerset(S′)</a:t>
            </a:r>
            <a:endParaRPr lang="en-US" sz="1200" dirty="0"/>
          </a:p>
          <a:p>
            <a:pPr marL="0" indent="0">
              <a:lnSpc>
                <a:spcPts val="1700"/>
              </a:lnSpc>
              <a:buNone/>
            </a:pPr>
            <a:r>
              <a:rPr lang="en-US" sz="1200" dirty="0">
                <a:solidFill>
                  <a:srgbClr val="13232B"/>
                </a:solidFill>
                <a:latin typeface="Courier New" pitchFamily="34" charset="0"/>
                <a:ea typeface="Courier New" pitchFamily="34" charset="-122"/>
                <a:cs typeface="Courier New" pitchFamily="34" charset="-120"/>
              </a:rPr>
              <a:t>        return P ∪ { s ∪ {x} | s ∈ P }</a:t>
            </a:r>
            <a:endParaRPr lang="en-US" sz="1200" dirty="0"/>
          </a:p>
        </p:txBody>
      </p:sp>
      <p:sp>
        <p:nvSpPr>
          <p:cNvPr id="12" name="Text 10"/>
          <p:cNvSpPr/>
          <p:nvPr/>
        </p:nvSpPr>
        <p:spPr>
          <a:xfrm>
            <a:off x="6355080" y="1600200"/>
            <a:ext cx="5212080" cy="310896"/>
          </a:xfrm>
          <a:prstGeom prst="rect">
            <a:avLst/>
          </a:prstGeom>
          <a:noFill/>
          <a:ln/>
        </p:spPr>
        <p:txBody>
          <a:bodyPr wrap="square" lIns="0" tIns="0" rIns="0" bIns="0" rtlCol="0" anchor="ctr"/>
          <a:lstStyle/>
          <a:p>
            <a:pPr marL="0" indent="0">
              <a:buNone/>
            </a:pPr>
            <a:r>
              <a:rPr lang="en-US" sz="1200" b="1" kern="0" spc="80" dirty="0">
                <a:solidFill>
                  <a:srgbClr val="0B3B44"/>
                </a:solidFill>
                <a:latin typeface="Calibri" pitchFamily="34" charset="0"/>
                <a:ea typeface="Calibri" pitchFamily="34" charset="-122"/>
                <a:cs typeface="Calibri" pitchFamily="34" charset="-120"/>
              </a:rPr>
              <a:t>The recursive idea</a:t>
            </a:r>
            <a:endParaRPr lang="en-US" sz="1200" dirty="0"/>
          </a:p>
        </p:txBody>
      </p:sp>
      <p:sp>
        <p:nvSpPr>
          <p:cNvPr id="13" name="Text 11"/>
          <p:cNvSpPr/>
          <p:nvPr/>
        </p:nvSpPr>
        <p:spPr>
          <a:xfrm>
            <a:off x="6355080" y="1965960"/>
            <a:ext cx="5212080" cy="777240"/>
          </a:xfrm>
          <a:prstGeom prst="rect">
            <a:avLst/>
          </a:prstGeom>
          <a:noFill/>
          <a:ln/>
        </p:spPr>
        <p:txBody>
          <a:bodyPr wrap="square" lIns="0" tIns="0" rIns="0" bIns="0" rtlCol="0" anchor="t"/>
          <a:lstStyle/>
          <a:p>
            <a:pPr marL="0" indent="0">
              <a:lnSpc>
                <a:spcPts val="1900"/>
              </a:lnSpc>
              <a:buNone/>
            </a:pPr>
            <a:r>
              <a:rPr lang="en-US" sz="1350" dirty="0">
                <a:solidFill>
                  <a:srgbClr val="13232B"/>
                </a:solidFill>
                <a:latin typeface="Calibri" pitchFamily="34" charset="0"/>
                <a:ea typeface="Calibri" pitchFamily="34" charset="-122"/>
                <a:cs typeface="Calibri" pitchFamily="34" charset="-120"/>
              </a:rPr>
              <a:t>Pick any element x. Every subset of S either contains x or it does not — so build all subsets of S \ {x}, then take each one twice: once as-is, and once with x added.</a:t>
            </a:r>
            <a:endParaRPr lang="en-US" sz="1350" dirty="0"/>
          </a:p>
        </p:txBody>
      </p:sp>
      <p:sp>
        <p:nvSpPr>
          <p:cNvPr id="14" name="Shape 12"/>
          <p:cNvSpPr/>
          <p:nvPr/>
        </p:nvSpPr>
        <p:spPr>
          <a:xfrm>
            <a:off x="6355080" y="2880360"/>
            <a:ext cx="5212080" cy="2743200"/>
          </a:xfrm>
          <a:prstGeom prst="roundRect">
            <a:avLst>
              <a:gd name="adj" fmla="val 2000"/>
            </a:avLst>
          </a:prstGeom>
          <a:solidFill>
            <a:srgbClr val="EDF4F3"/>
          </a:solidFill>
          <a:ln w="12700">
            <a:solidFill>
              <a:srgbClr val="EDF4F3"/>
            </a:solidFill>
            <a:prstDash val="solid"/>
          </a:ln>
        </p:spPr>
        <p:txBody>
          <a:bodyPr/>
          <a:lstStyle/>
          <a:p>
            <a:endParaRPr lang="en-US"/>
          </a:p>
        </p:txBody>
      </p:sp>
      <p:sp>
        <p:nvSpPr>
          <p:cNvPr id="15" name="Text 13"/>
          <p:cNvSpPr/>
          <p:nvPr/>
        </p:nvSpPr>
        <p:spPr>
          <a:xfrm>
            <a:off x="6629400" y="3063240"/>
            <a:ext cx="4663440" cy="274320"/>
          </a:xfrm>
          <a:prstGeom prst="rect">
            <a:avLst/>
          </a:prstGeom>
          <a:noFill/>
          <a:ln/>
        </p:spPr>
        <p:txBody>
          <a:bodyPr wrap="square" lIns="0" tIns="0" rIns="0" bIns="0" rtlCol="0" anchor="ctr"/>
          <a:lstStyle/>
          <a:p>
            <a:pPr marL="0" indent="0">
              <a:buNone/>
            </a:pPr>
            <a:r>
              <a:rPr lang="en-US" sz="1250" b="1" dirty="0">
                <a:solidFill>
                  <a:srgbClr val="0B3B44"/>
                </a:solidFill>
                <a:latin typeface="Courier New" pitchFamily="34" charset="0"/>
                <a:ea typeface="Courier New" pitchFamily="34" charset="-122"/>
                <a:cs typeface="Courier New" pitchFamily="34" charset="-120"/>
              </a:rPr>
              <a:t>S = {x} ∪ S′</a:t>
            </a:r>
            <a:endParaRPr lang="en-US" sz="1250" dirty="0"/>
          </a:p>
        </p:txBody>
      </p:sp>
      <p:sp>
        <p:nvSpPr>
          <p:cNvPr id="16" name="Shape 14"/>
          <p:cNvSpPr/>
          <p:nvPr/>
        </p:nvSpPr>
        <p:spPr>
          <a:xfrm flipV="1">
            <a:off x="7818120" y="3566160"/>
            <a:ext cx="1143000" cy="411480"/>
          </a:xfrm>
          <a:prstGeom prst="line">
            <a:avLst/>
          </a:prstGeom>
          <a:noFill/>
          <a:ln w="25400">
            <a:solidFill>
              <a:srgbClr val="2A9D8F"/>
            </a:solidFill>
            <a:prstDash val="solid"/>
          </a:ln>
        </p:spPr>
        <p:txBody>
          <a:bodyPr/>
          <a:lstStyle/>
          <a:p>
            <a:endParaRPr lang="en-US"/>
          </a:p>
        </p:txBody>
      </p:sp>
      <p:sp>
        <p:nvSpPr>
          <p:cNvPr id="17" name="Shape 15"/>
          <p:cNvSpPr/>
          <p:nvPr/>
        </p:nvSpPr>
        <p:spPr>
          <a:xfrm>
            <a:off x="8961120" y="3566160"/>
            <a:ext cx="1143000" cy="411480"/>
          </a:xfrm>
          <a:prstGeom prst="line">
            <a:avLst/>
          </a:prstGeom>
          <a:noFill/>
          <a:ln w="25400">
            <a:solidFill>
              <a:srgbClr val="E8A33D"/>
            </a:solidFill>
            <a:prstDash val="solid"/>
          </a:ln>
        </p:spPr>
        <p:txBody>
          <a:bodyPr/>
          <a:lstStyle/>
          <a:p>
            <a:endParaRPr lang="en-US"/>
          </a:p>
        </p:txBody>
      </p:sp>
      <p:sp>
        <p:nvSpPr>
          <p:cNvPr id="18" name="Shape 16"/>
          <p:cNvSpPr/>
          <p:nvPr/>
        </p:nvSpPr>
        <p:spPr>
          <a:xfrm>
            <a:off x="8851392" y="3456432"/>
            <a:ext cx="219456" cy="219456"/>
          </a:xfrm>
          <a:prstGeom prst="ellipse">
            <a:avLst/>
          </a:prstGeom>
          <a:solidFill>
            <a:srgbClr val="0B3B44"/>
          </a:solidFill>
          <a:ln w="12700">
            <a:solidFill>
              <a:srgbClr val="0B3B44"/>
            </a:solidFill>
            <a:prstDash val="solid"/>
          </a:ln>
        </p:spPr>
        <p:txBody>
          <a:bodyPr/>
          <a:lstStyle/>
          <a:p>
            <a:endParaRPr lang="en-US"/>
          </a:p>
        </p:txBody>
      </p:sp>
      <p:sp>
        <p:nvSpPr>
          <p:cNvPr id="19" name="Shape 17"/>
          <p:cNvSpPr/>
          <p:nvPr/>
        </p:nvSpPr>
        <p:spPr>
          <a:xfrm>
            <a:off x="6766560" y="3721608"/>
            <a:ext cx="2103120" cy="512064"/>
          </a:xfrm>
          <a:prstGeom prst="roundRect">
            <a:avLst>
              <a:gd name="adj" fmla="val 14286"/>
            </a:avLst>
          </a:prstGeom>
          <a:solidFill>
            <a:srgbClr val="2A9D8F"/>
          </a:solidFill>
          <a:ln w="12700">
            <a:solidFill>
              <a:srgbClr val="2A9D8F"/>
            </a:solidFill>
            <a:prstDash val="solid"/>
          </a:ln>
        </p:spPr>
        <p:txBody>
          <a:bodyPr/>
          <a:lstStyle/>
          <a:p>
            <a:endParaRPr lang="en-US"/>
          </a:p>
        </p:txBody>
      </p:sp>
      <p:sp>
        <p:nvSpPr>
          <p:cNvPr id="20" name="Text 18"/>
          <p:cNvSpPr/>
          <p:nvPr/>
        </p:nvSpPr>
        <p:spPr>
          <a:xfrm>
            <a:off x="6766560" y="3721608"/>
            <a:ext cx="2103120"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without x</a:t>
            </a:r>
            <a:endParaRPr lang="en-US" sz="1250" dirty="0"/>
          </a:p>
        </p:txBody>
      </p:sp>
      <p:sp>
        <p:nvSpPr>
          <p:cNvPr id="21" name="Shape 19"/>
          <p:cNvSpPr/>
          <p:nvPr/>
        </p:nvSpPr>
        <p:spPr>
          <a:xfrm>
            <a:off x="9052560" y="3721608"/>
            <a:ext cx="2103120" cy="512064"/>
          </a:xfrm>
          <a:prstGeom prst="roundRect">
            <a:avLst>
              <a:gd name="adj" fmla="val 14286"/>
            </a:avLst>
          </a:prstGeom>
          <a:solidFill>
            <a:srgbClr val="E8A33D"/>
          </a:solidFill>
          <a:ln w="12700">
            <a:solidFill>
              <a:srgbClr val="E8A33D"/>
            </a:solidFill>
            <a:prstDash val="solid"/>
          </a:ln>
        </p:spPr>
        <p:txBody>
          <a:bodyPr/>
          <a:lstStyle/>
          <a:p>
            <a:endParaRPr lang="en-US"/>
          </a:p>
        </p:txBody>
      </p:sp>
      <p:sp>
        <p:nvSpPr>
          <p:cNvPr id="22" name="Text 20"/>
          <p:cNvSpPr/>
          <p:nvPr/>
        </p:nvSpPr>
        <p:spPr>
          <a:xfrm>
            <a:off x="9052560" y="3721608"/>
            <a:ext cx="2103120" cy="512064"/>
          </a:xfrm>
          <a:prstGeom prst="rect">
            <a:avLst/>
          </a:prstGeom>
          <a:noFill/>
          <a:ln/>
        </p:spPr>
        <p:txBody>
          <a:bodyPr wrap="square" lIns="0" tIns="0" rIns="0" bIns="0" rtlCol="0" anchor="ctr"/>
          <a:lstStyle/>
          <a:p>
            <a:pPr marL="0" indent="0" algn="ctr">
              <a:buNone/>
            </a:pPr>
            <a:r>
              <a:rPr lang="en-US" sz="1250" b="1" dirty="0">
                <a:solidFill>
                  <a:srgbClr val="13232B"/>
                </a:solidFill>
                <a:latin typeface="Calibri" pitchFamily="34" charset="0"/>
                <a:ea typeface="Calibri" pitchFamily="34" charset="-122"/>
                <a:cs typeface="Calibri" pitchFamily="34" charset="-120"/>
              </a:rPr>
              <a:t>with x</a:t>
            </a:r>
            <a:endParaRPr lang="en-US" sz="1250" dirty="0"/>
          </a:p>
        </p:txBody>
      </p:sp>
      <p:sp>
        <p:nvSpPr>
          <p:cNvPr id="23" name="Text 21"/>
          <p:cNvSpPr/>
          <p:nvPr/>
        </p:nvSpPr>
        <p:spPr>
          <a:xfrm>
            <a:off x="6766560" y="4315968"/>
            <a:ext cx="2103120" cy="274320"/>
          </a:xfrm>
          <a:prstGeom prst="rect">
            <a:avLst/>
          </a:prstGeom>
          <a:noFill/>
          <a:ln/>
        </p:spPr>
        <p:txBody>
          <a:bodyPr wrap="square" lIns="0" tIns="0" rIns="0" bIns="0" rtlCol="0" anchor="ctr"/>
          <a:lstStyle/>
          <a:p>
            <a:pPr marL="0" indent="0" algn="ctr">
              <a:buNone/>
            </a:pPr>
            <a:r>
              <a:rPr lang="en-US" sz="1200" dirty="0">
                <a:solidFill>
                  <a:srgbClr val="63797F"/>
                </a:solidFill>
                <a:latin typeface="Courier New" pitchFamily="34" charset="0"/>
                <a:ea typeface="Courier New" pitchFamily="34" charset="-122"/>
                <a:cs typeface="Courier New" pitchFamily="34" charset="-120"/>
              </a:rPr>
              <a:t>P</a:t>
            </a:r>
            <a:endParaRPr lang="en-US" sz="1200" dirty="0"/>
          </a:p>
        </p:txBody>
      </p:sp>
      <p:sp>
        <p:nvSpPr>
          <p:cNvPr id="24" name="Text 22"/>
          <p:cNvSpPr/>
          <p:nvPr/>
        </p:nvSpPr>
        <p:spPr>
          <a:xfrm>
            <a:off x="9052560" y="4315968"/>
            <a:ext cx="2103120" cy="274320"/>
          </a:xfrm>
          <a:prstGeom prst="rect">
            <a:avLst/>
          </a:prstGeom>
          <a:noFill/>
          <a:ln/>
        </p:spPr>
        <p:txBody>
          <a:bodyPr wrap="square" lIns="0" tIns="0" rIns="0" bIns="0" rtlCol="0" anchor="ctr"/>
          <a:lstStyle/>
          <a:p>
            <a:pPr marL="0" indent="0" algn="ctr">
              <a:buNone/>
            </a:pPr>
            <a:r>
              <a:rPr lang="en-US" sz="1100" dirty="0">
                <a:solidFill>
                  <a:srgbClr val="63797F"/>
                </a:solidFill>
                <a:latin typeface="Courier New" pitchFamily="34" charset="0"/>
                <a:ea typeface="Courier New" pitchFamily="34" charset="-122"/>
                <a:cs typeface="Courier New" pitchFamily="34" charset="-120"/>
              </a:rPr>
              <a:t>{ s ∪ {x} | s ∈ P }</a:t>
            </a:r>
            <a:endParaRPr lang="en-US" sz="1100" dirty="0"/>
          </a:p>
        </p:txBody>
      </p:sp>
      <p:sp>
        <p:nvSpPr>
          <p:cNvPr id="25" name="Text 23"/>
          <p:cNvSpPr/>
          <p:nvPr/>
        </p:nvSpPr>
        <p:spPr>
          <a:xfrm>
            <a:off x="6629400" y="4800600"/>
            <a:ext cx="4663440" cy="640080"/>
          </a:xfrm>
          <a:prstGeom prst="rect">
            <a:avLst/>
          </a:prstGeom>
          <a:noFill/>
          <a:ln/>
        </p:spPr>
        <p:txBody>
          <a:bodyPr wrap="square" lIns="0" tIns="0" rIns="0" bIns="0" rtlCol="0" anchor="t"/>
          <a:lstStyle/>
          <a:p>
            <a:pPr marL="0" indent="0">
              <a:lnSpc>
                <a:spcPts val="1700"/>
              </a:lnSpc>
              <a:buNone/>
            </a:pPr>
            <a:r>
              <a:rPr lang="en-US" sz="1250" i="1" dirty="0">
                <a:solidFill>
                  <a:srgbClr val="13232B"/>
                </a:solidFill>
                <a:latin typeface="Calibri" pitchFamily="34" charset="0"/>
                <a:ea typeface="Calibri" pitchFamily="34" charset="-122"/>
                <a:cs typeface="Calibri" pitchFamily="34" charset="-120"/>
              </a:rPr>
              <a:t>Each level of recursion doubles the collection — which is exactly why there are 2</a:t>
            </a:r>
            <a:r>
              <a:rPr lang="en-US" sz="1250" i="1" baseline="30000" dirty="0">
                <a:solidFill>
                  <a:srgbClr val="13232B"/>
                </a:solidFill>
                <a:latin typeface="Calibri" pitchFamily="34" charset="0"/>
                <a:ea typeface="Calibri" pitchFamily="34" charset="-122"/>
                <a:cs typeface="Calibri" pitchFamily="34" charset="-120"/>
              </a:rPr>
              <a:t>n</a:t>
            </a:r>
            <a:r>
              <a:rPr lang="en-US" sz="1250" i="1" dirty="0">
                <a:solidFill>
                  <a:srgbClr val="13232B"/>
                </a:solidFill>
                <a:latin typeface="Calibri" pitchFamily="34" charset="0"/>
                <a:ea typeface="Calibri" pitchFamily="34" charset="-122"/>
                <a:cs typeface="Calibri" pitchFamily="34" charset="-120"/>
              </a:rPr>
              <a:t> subsets.</a:t>
            </a:r>
            <a:endParaRPr lang="en-US" sz="1250" dirty="0"/>
          </a:p>
        </p:txBody>
      </p:sp>
      <p:sp>
        <p:nvSpPr>
          <p:cNvPr id="26" name="Text 24"/>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27" name="Text 25"/>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Complexity</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Number of candidates × cost per candidate.</a:t>
            </a:r>
            <a:endParaRPr lang="en-US" sz="1300" dirty="0"/>
          </a:p>
        </p:txBody>
      </p:sp>
      <p:sp>
        <p:nvSpPr>
          <p:cNvPr id="6" name="Text 4"/>
          <p:cNvSpPr/>
          <p:nvPr/>
        </p:nvSpPr>
        <p:spPr>
          <a:xfrm>
            <a:off x="822960" y="1965960"/>
            <a:ext cx="2926080" cy="685800"/>
          </a:xfrm>
          <a:prstGeom prst="rect">
            <a:avLst/>
          </a:prstGeom>
          <a:noFill/>
          <a:ln/>
        </p:spPr>
        <p:txBody>
          <a:bodyPr wrap="square" lIns="0" tIns="0" rIns="0" bIns="0" rtlCol="0" anchor="ctr"/>
          <a:lstStyle/>
          <a:p>
            <a:pPr marL="0" indent="0" algn="ctr">
              <a:buNone/>
            </a:pPr>
            <a:r>
              <a:rPr lang="en-US" sz="3400" b="1" dirty="0">
                <a:solidFill>
                  <a:srgbClr val="0B3B44"/>
                </a:solidFill>
                <a:latin typeface="Cambria" pitchFamily="34" charset="0"/>
                <a:ea typeface="Cambria" pitchFamily="34" charset="-122"/>
                <a:cs typeface="Cambria" pitchFamily="34" charset="-120"/>
              </a:rPr>
              <a:t>2</a:t>
            </a:r>
            <a:r>
              <a:rPr lang="en-US" sz="3400" b="1" baseline="30000" dirty="0">
                <a:solidFill>
                  <a:srgbClr val="0B3B44"/>
                </a:solidFill>
                <a:latin typeface="Cambria" pitchFamily="34" charset="0"/>
                <a:ea typeface="Cambria" pitchFamily="34" charset="-122"/>
                <a:cs typeface="Cambria" pitchFamily="34" charset="-120"/>
              </a:rPr>
              <a:t>n</a:t>
            </a:r>
            <a:endParaRPr lang="en-US" sz="3400" dirty="0"/>
          </a:p>
        </p:txBody>
      </p:sp>
      <p:sp>
        <p:nvSpPr>
          <p:cNvPr id="7" name="Text 5"/>
          <p:cNvSpPr/>
          <p:nvPr/>
        </p:nvSpPr>
        <p:spPr>
          <a:xfrm>
            <a:off x="822960" y="2624328"/>
            <a:ext cx="2926080" cy="457200"/>
          </a:xfrm>
          <a:prstGeom prst="rect">
            <a:avLst/>
          </a:prstGeom>
          <a:noFill/>
          <a:ln/>
        </p:spPr>
        <p:txBody>
          <a:bodyPr wrap="square" lIns="0" tIns="0" rIns="0" bIns="0" rtlCol="0" anchor="t"/>
          <a:lstStyle/>
          <a:p>
            <a:pPr marL="0" indent="0" algn="ctr">
              <a:buNone/>
            </a:pPr>
            <a:r>
              <a:rPr lang="en-US" sz="1200" dirty="0">
                <a:solidFill>
                  <a:srgbClr val="63797F"/>
                </a:solidFill>
                <a:latin typeface="Calibri" pitchFamily="34" charset="0"/>
                <a:ea typeface="Calibri" pitchFamily="34" charset="-122"/>
                <a:cs typeface="Calibri" pitchFamily="34" charset="-120"/>
              </a:rPr>
              <a:t>subsets of an n-element set</a:t>
            </a:r>
            <a:endParaRPr lang="en-US" sz="1200" dirty="0"/>
          </a:p>
          <a:p>
            <a:pPr marL="0" indent="0" algn="ctr">
              <a:buNone/>
            </a:pPr>
            <a:r>
              <a:rPr lang="en-US" sz="1200" dirty="0">
                <a:solidFill>
                  <a:srgbClr val="63797F"/>
                </a:solidFill>
                <a:latin typeface="Calibri" pitchFamily="34" charset="0"/>
                <a:ea typeface="Calibri" pitchFamily="34" charset="-122"/>
                <a:cs typeface="Calibri" pitchFamily="34" charset="-120"/>
              </a:rPr>
              <a:t>(each element: in or out)</a:t>
            </a:r>
            <a:endParaRPr lang="en-US" sz="1200" dirty="0"/>
          </a:p>
        </p:txBody>
      </p:sp>
      <p:sp>
        <p:nvSpPr>
          <p:cNvPr id="8" name="Text 6"/>
          <p:cNvSpPr/>
          <p:nvPr/>
        </p:nvSpPr>
        <p:spPr>
          <a:xfrm>
            <a:off x="3886200" y="2057400"/>
            <a:ext cx="640080" cy="548640"/>
          </a:xfrm>
          <a:prstGeom prst="rect">
            <a:avLst/>
          </a:prstGeom>
          <a:noFill/>
          <a:ln/>
        </p:spPr>
        <p:txBody>
          <a:bodyPr wrap="square" lIns="0" tIns="0" rIns="0" bIns="0" rtlCol="0" anchor="ctr"/>
          <a:lstStyle/>
          <a:p>
            <a:pPr marL="0" indent="0" algn="ctr">
              <a:buNone/>
            </a:pPr>
            <a:r>
              <a:rPr lang="en-US" sz="2800" b="1" dirty="0">
                <a:solidFill>
                  <a:srgbClr val="63797F"/>
                </a:solidFill>
                <a:latin typeface="Cambria" pitchFamily="34" charset="0"/>
                <a:ea typeface="Cambria" pitchFamily="34" charset="-122"/>
                <a:cs typeface="Cambria" pitchFamily="34" charset="-120"/>
              </a:rPr>
              <a:t>×</a:t>
            </a:r>
            <a:endParaRPr lang="en-US" sz="2800" dirty="0"/>
          </a:p>
        </p:txBody>
      </p:sp>
      <p:sp>
        <p:nvSpPr>
          <p:cNvPr id="9" name="Text 7"/>
          <p:cNvSpPr/>
          <p:nvPr/>
        </p:nvSpPr>
        <p:spPr>
          <a:xfrm>
            <a:off x="4617720" y="1965960"/>
            <a:ext cx="2926080" cy="685800"/>
          </a:xfrm>
          <a:prstGeom prst="rect">
            <a:avLst/>
          </a:prstGeom>
          <a:noFill/>
          <a:ln/>
        </p:spPr>
        <p:txBody>
          <a:bodyPr wrap="square" lIns="0" tIns="0" rIns="0" bIns="0" rtlCol="0" anchor="ctr"/>
          <a:lstStyle/>
          <a:p>
            <a:pPr marL="0" indent="0" algn="ctr">
              <a:buNone/>
            </a:pPr>
            <a:r>
              <a:rPr lang="en-US" sz="3400" b="1" dirty="0">
                <a:solidFill>
                  <a:srgbClr val="2A9D8F"/>
                </a:solidFill>
                <a:latin typeface="Cambria" pitchFamily="34" charset="0"/>
                <a:ea typeface="Cambria" pitchFamily="34" charset="-122"/>
                <a:cs typeface="Cambria" pitchFamily="34" charset="-120"/>
              </a:rPr>
              <a:t>O(n)</a:t>
            </a:r>
            <a:endParaRPr lang="en-US" sz="3400" dirty="0"/>
          </a:p>
        </p:txBody>
      </p:sp>
      <p:sp>
        <p:nvSpPr>
          <p:cNvPr id="10" name="Text 8"/>
          <p:cNvSpPr/>
          <p:nvPr/>
        </p:nvSpPr>
        <p:spPr>
          <a:xfrm>
            <a:off x="4617720" y="2624328"/>
            <a:ext cx="2926080" cy="457200"/>
          </a:xfrm>
          <a:prstGeom prst="rect">
            <a:avLst/>
          </a:prstGeom>
          <a:noFill/>
          <a:ln/>
        </p:spPr>
        <p:txBody>
          <a:bodyPr wrap="square" lIns="0" tIns="0" rIns="0" bIns="0" rtlCol="0" anchor="t"/>
          <a:lstStyle/>
          <a:p>
            <a:pPr marL="0" indent="0" algn="ctr">
              <a:buNone/>
            </a:pPr>
            <a:r>
              <a:rPr lang="en-US" sz="1200" dirty="0">
                <a:solidFill>
                  <a:srgbClr val="63797F"/>
                </a:solidFill>
                <a:latin typeface="Calibri" pitchFamily="34" charset="0"/>
                <a:ea typeface="Calibri" pitchFamily="34" charset="-122"/>
                <a:cs typeface="Calibri" pitchFamily="34" charset="-120"/>
              </a:rPr>
              <a:t>to add up the elements of</a:t>
            </a:r>
            <a:endParaRPr lang="en-US" sz="1200" dirty="0"/>
          </a:p>
          <a:p>
            <a:pPr marL="0" indent="0" algn="ctr">
              <a:buNone/>
            </a:pPr>
            <a:r>
              <a:rPr lang="en-US" sz="1200" dirty="0">
                <a:solidFill>
                  <a:srgbClr val="63797F"/>
                </a:solidFill>
                <a:latin typeface="Calibri" pitchFamily="34" charset="0"/>
                <a:ea typeface="Calibri" pitchFamily="34" charset="-122"/>
                <a:cs typeface="Calibri" pitchFamily="34" charset="-120"/>
              </a:rPr>
              <a:t>one subset (addition is O(1))</a:t>
            </a:r>
            <a:endParaRPr lang="en-US" sz="1200" dirty="0"/>
          </a:p>
        </p:txBody>
      </p:sp>
      <p:sp>
        <p:nvSpPr>
          <p:cNvPr id="11" name="Text 9"/>
          <p:cNvSpPr/>
          <p:nvPr/>
        </p:nvSpPr>
        <p:spPr>
          <a:xfrm>
            <a:off x="7680960" y="2057400"/>
            <a:ext cx="640080" cy="548640"/>
          </a:xfrm>
          <a:prstGeom prst="rect">
            <a:avLst/>
          </a:prstGeom>
          <a:noFill/>
          <a:ln/>
        </p:spPr>
        <p:txBody>
          <a:bodyPr wrap="square" lIns="0" tIns="0" rIns="0" bIns="0" rtlCol="0" anchor="ctr"/>
          <a:lstStyle/>
          <a:p>
            <a:pPr marL="0" indent="0" algn="ctr">
              <a:buNone/>
            </a:pPr>
            <a:r>
              <a:rPr lang="en-US" sz="2800" b="1" dirty="0">
                <a:solidFill>
                  <a:srgbClr val="63797F"/>
                </a:solidFill>
                <a:latin typeface="Cambria" pitchFamily="34" charset="0"/>
                <a:ea typeface="Cambria" pitchFamily="34" charset="-122"/>
                <a:cs typeface="Cambria" pitchFamily="34" charset="-120"/>
              </a:rPr>
              <a:t>=</a:t>
            </a:r>
            <a:endParaRPr lang="en-US" sz="2800" dirty="0"/>
          </a:p>
        </p:txBody>
      </p:sp>
      <p:sp>
        <p:nvSpPr>
          <p:cNvPr id="12" name="Shape 10"/>
          <p:cNvSpPr/>
          <p:nvPr/>
        </p:nvSpPr>
        <p:spPr>
          <a:xfrm>
            <a:off x="8412480" y="1783080"/>
            <a:ext cx="3154680" cy="1554480"/>
          </a:xfrm>
          <a:prstGeom prst="roundRect">
            <a:avLst>
              <a:gd name="adj" fmla="val 3529"/>
            </a:avLst>
          </a:prstGeom>
          <a:solidFill>
            <a:srgbClr val="0B3B44"/>
          </a:solidFill>
          <a:ln w="12700">
            <a:solidFill>
              <a:srgbClr val="0B3B44"/>
            </a:solidFill>
            <a:prstDash val="solid"/>
          </a:ln>
        </p:spPr>
        <p:txBody>
          <a:bodyPr/>
          <a:lstStyle/>
          <a:p>
            <a:endParaRPr lang="en-US"/>
          </a:p>
        </p:txBody>
      </p:sp>
      <p:sp>
        <p:nvSpPr>
          <p:cNvPr id="13" name="Text 11"/>
          <p:cNvSpPr/>
          <p:nvPr/>
        </p:nvSpPr>
        <p:spPr>
          <a:xfrm>
            <a:off x="8412480" y="1874520"/>
            <a:ext cx="315468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O(n · 2</a:t>
            </a:r>
            <a:r>
              <a:rPr lang="en-US" sz="3200" b="1" baseline="30000" dirty="0">
                <a:solidFill>
                  <a:srgbClr val="FFFFFF"/>
                </a:solidFill>
                <a:latin typeface="Cambria" pitchFamily="34" charset="0"/>
                <a:ea typeface="Cambria" pitchFamily="34" charset="-122"/>
                <a:cs typeface="Cambria" pitchFamily="34" charset="-120"/>
              </a:rPr>
              <a:t>n</a:t>
            </a: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14" name="Text 12"/>
          <p:cNvSpPr/>
          <p:nvPr/>
        </p:nvSpPr>
        <p:spPr>
          <a:xfrm>
            <a:off x="8412480" y="2633472"/>
            <a:ext cx="3154680" cy="365760"/>
          </a:xfrm>
          <a:prstGeom prst="rect">
            <a:avLst/>
          </a:prstGeom>
          <a:noFill/>
          <a:ln/>
        </p:spPr>
        <p:txBody>
          <a:bodyPr wrap="square" lIns="0" tIns="0" rIns="0" bIns="0" rtlCol="0" anchor="ctr"/>
          <a:lstStyle/>
          <a:p>
            <a:pPr marL="0" indent="0" algn="ctr">
              <a:buNone/>
            </a:pPr>
            <a:r>
              <a:rPr lang="en-US" sz="1200" dirty="0">
                <a:solidFill>
                  <a:srgbClr val="AFCACD"/>
                </a:solidFill>
                <a:latin typeface="Calibri" pitchFamily="34" charset="0"/>
                <a:ea typeface="Calibri" pitchFamily="34" charset="-122"/>
                <a:cs typeface="Calibri" pitchFamily="34" charset="-120"/>
              </a:rPr>
              <a:t>brute-force subset-sum</a:t>
            </a:r>
            <a:endParaRPr lang="en-US" sz="1200" dirty="0"/>
          </a:p>
        </p:txBody>
      </p:sp>
      <p:sp>
        <p:nvSpPr>
          <p:cNvPr id="18" name="Shape 16"/>
          <p:cNvSpPr/>
          <p:nvPr/>
        </p:nvSpPr>
        <p:spPr>
          <a:xfrm>
            <a:off x="1298448" y="3790188"/>
            <a:ext cx="7114032" cy="1828800"/>
          </a:xfrm>
          <a:prstGeom prst="roundRect">
            <a:avLst>
              <a:gd name="adj" fmla="val 3000"/>
            </a:avLst>
          </a:prstGeom>
          <a:solidFill>
            <a:srgbClr val="EDF4F3"/>
          </a:solidFill>
          <a:ln w="12700">
            <a:solidFill>
              <a:srgbClr val="EDF4F3"/>
            </a:solidFill>
            <a:prstDash val="solid"/>
          </a:ln>
        </p:spPr>
        <p:txBody>
          <a:bodyPr/>
          <a:lstStyle/>
          <a:p>
            <a:endParaRPr lang="en-US"/>
          </a:p>
        </p:txBody>
      </p:sp>
      <p:sp>
        <p:nvSpPr>
          <p:cNvPr id="19" name="Text 17"/>
          <p:cNvSpPr/>
          <p:nvPr/>
        </p:nvSpPr>
        <p:spPr>
          <a:xfrm>
            <a:off x="1572768" y="3973068"/>
            <a:ext cx="4846320" cy="292608"/>
          </a:xfrm>
          <a:prstGeom prst="rect">
            <a:avLst/>
          </a:prstGeom>
          <a:noFill/>
          <a:ln/>
        </p:spPr>
        <p:txBody>
          <a:bodyPr wrap="square" lIns="0" tIns="0" rIns="0" bIns="0" rtlCol="0" anchor="ctr"/>
          <a:lstStyle/>
          <a:p>
            <a:pPr marL="0" indent="0">
              <a:buNone/>
            </a:pPr>
            <a:r>
              <a:rPr lang="en-US" sz="1400" b="1" kern="0" spc="80" dirty="0">
                <a:solidFill>
                  <a:srgbClr val="C1465A"/>
                </a:solidFill>
                <a:latin typeface="Calibri" pitchFamily="34" charset="0"/>
                <a:ea typeface="Calibri" pitchFamily="34" charset="-122"/>
                <a:cs typeface="Calibri" pitchFamily="34" charset="-120"/>
              </a:rPr>
              <a:t>Why not just O(2</a:t>
            </a:r>
            <a:r>
              <a:rPr lang="en-US" sz="1400" b="1" kern="0" spc="80" baseline="30000" dirty="0">
                <a:solidFill>
                  <a:srgbClr val="C1465A"/>
                </a:solidFill>
                <a:latin typeface="Calibri" pitchFamily="34" charset="0"/>
                <a:ea typeface="Calibri" pitchFamily="34" charset="-122"/>
                <a:cs typeface="Calibri" pitchFamily="34" charset="-120"/>
              </a:rPr>
              <a:t>n</a:t>
            </a:r>
            <a:r>
              <a:rPr lang="en-US" sz="1400" b="1" kern="0" spc="80" dirty="0">
                <a:solidFill>
                  <a:srgbClr val="C1465A"/>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572768" y="4413504"/>
            <a:ext cx="6321552" cy="1143000"/>
          </a:xfrm>
          <a:prstGeom prst="rect">
            <a:avLst/>
          </a:prstGeom>
          <a:noFill/>
          <a:ln/>
        </p:spPr>
        <p:txBody>
          <a:bodyPr wrap="square" lIns="0" tIns="0" rIns="0" bIns="0" rtlCol="0" anchor="t"/>
          <a:lstStyle/>
          <a:p>
            <a:pPr marL="0" indent="0">
              <a:lnSpc>
                <a:spcPts val="1700"/>
              </a:lnSpc>
              <a:buNone/>
            </a:pPr>
            <a:r>
              <a:rPr lang="en-US" sz="1400" dirty="0">
                <a:solidFill>
                  <a:srgbClr val="13232B"/>
                </a:solidFill>
                <a:latin typeface="Calibri" pitchFamily="34" charset="0"/>
                <a:ea typeface="Calibri" pitchFamily="34" charset="-122"/>
                <a:cs typeface="Calibri" pitchFamily="34" charset="-120"/>
              </a:rPr>
              <a:t>Because </a:t>
            </a:r>
            <a:r>
              <a:rPr lang="en-US" sz="1400" b="1" dirty="0">
                <a:solidFill>
                  <a:srgbClr val="13232B"/>
                </a:solidFill>
                <a:latin typeface="Calibri" pitchFamily="34" charset="0"/>
                <a:ea typeface="Calibri" pitchFamily="34" charset="-122"/>
                <a:cs typeface="Calibri" pitchFamily="34" charset="-120"/>
              </a:rPr>
              <a:t>∑S′ is not a constant-time operation on a subset — it is a loop over up to n elements</a:t>
            </a:r>
            <a:r>
              <a:rPr lang="en-US" sz="1400" dirty="0">
                <a:solidFill>
                  <a:srgbClr val="13232B"/>
                </a:solidFill>
                <a:latin typeface="Calibri" pitchFamily="34" charset="0"/>
                <a:ea typeface="Calibri" pitchFamily="34" charset="-122"/>
                <a:cs typeface="Calibri" pitchFamily="34" charset="-120"/>
              </a:rPr>
              <a:t>. </a:t>
            </a:r>
          </a:p>
          <a:p>
            <a:pPr marL="0" indent="0">
              <a:lnSpc>
                <a:spcPts val="1700"/>
              </a:lnSpc>
              <a:buNone/>
            </a:pPr>
            <a:endParaRPr lang="en-US" sz="1400" dirty="0">
              <a:solidFill>
                <a:srgbClr val="13232B"/>
              </a:solidFill>
              <a:latin typeface="Calibri" pitchFamily="34" charset="0"/>
              <a:ea typeface="Calibri" pitchFamily="34" charset="-122"/>
              <a:cs typeface="Calibri" pitchFamily="34" charset="-120"/>
            </a:endParaRPr>
          </a:p>
          <a:p>
            <a:pPr marL="0" indent="0">
              <a:lnSpc>
                <a:spcPts val="1700"/>
              </a:lnSpc>
              <a:buNone/>
            </a:pPr>
            <a:r>
              <a:rPr lang="en-US" sz="1400" dirty="0">
                <a:solidFill>
                  <a:srgbClr val="13232B"/>
                </a:solidFill>
                <a:latin typeface="Calibri" pitchFamily="34" charset="0"/>
                <a:ea typeface="Calibri" pitchFamily="34" charset="-122"/>
                <a:cs typeface="Calibri" pitchFamily="34" charset="-120"/>
              </a:rPr>
              <a:t>If you carry a running sum through the recursion you can genuinely reach O(2</a:t>
            </a:r>
            <a:r>
              <a:rPr lang="en-US" sz="1400" baseline="30000" dirty="0">
                <a:solidFill>
                  <a:srgbClr val="13232B"/>
                </a:solidFill>
                <a:latin typeface="Calibri" pitchFamily="34" charset="0"/>
                <a:ea typeface="Calibri" pitchFamily="34" charset="-122"/>
                <a:cs typeface="Calibri" pitchFamily="34" charset="-120"/>
              </a:rPr>
              <a:t>n</a:t>
            </a:r>
            <a:r>
              <a:rPr lang="en-US" sz="1400" dirty="0">
                <a:solidFill>
                  <a:srgbClr val="13232B"/>
                </a:solidFill>
                <a:latin typeface="Calibri" pitchFamily="34" charset="0"/>
                <a:ea typeface="Calibri" pitchFamily="34" charset="-122"/>
                <a:cs typeface="Calibri" pitchFamily="34" charset="-120"/>
              </a:rPr>
              <a:t>)</a:t>
            </a:r>
            <a:r>
              <a:rPr lang="en-AU" sz="1400" dirty="0">
                <a:solidFill>
                  <a:srgbClr val="13232B"/>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22" name="Text 20"/>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24</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Partition</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Do not design a new algorithm — reuse the one we already have.</a:t>
            </a:r>
            <a:endParaRPr lang="en-US" sz="1300" dirty="0"/>
          </a:p>
        </p:txBody>
      </p:sp>
      <p:sp>
        <p:nvSpPr>
          <p:cNvPr id="6" name="Shape 4"/>
          <p:cNvSpPr/>
          <p:nvPr/>
        </p:nvSpPr>
        <p:spPr>
          <a:xfrm>
            <a:off x="640080" y="1627632"/>
            <a:ext cx="10927080" cy="1051560"/>
          </a:xfrm>
          <a:prstGeom prst="roundRect">
            <a:avLst>
              <a:gd name="adj" fmla="val 5217"/>
            </a:avLst>
          </a:prstGeom>
          <a:solidFill>
            <a:srgbClr val="EDF4F3"/>
          </a:solidFill>
          <a:ln w="12700">
            <a:solidFill>
              <a:srgbClr val="EDF4F3"/>
            </a:solidFill>
            <a:prstDash val="solid"/>
          </a:ln>
        </p:spPr>
        <p:txBody>
          <a:bodyPr/>
          <a:lstStyle/>
          <a:p>
            <a:endParaRPr lang="en-US"/>
          </a:p>
        </p:txBody>
      </p:sp>
      <p:sp>
        <p:nvSpPr>
          <p:cNvPr id="7" name="Text 5"/>
          <p:cNvSpPr/>
          <p:nvPr/>
        </p:nvSpPr>
        <p:spPr>
          <a:xfrm>
            <a:off x="914400" y="1627632"/>
            <a:ext cx="10378440" cy="1051560"/>
          </a:xfrm>
          <a:prstGeom prst="rect">
            <a:avLst/>
          </a:prstGeom>
          <a:noFill/>
          <a:ln/>
        </p:spPr>
        <p:txBody>
          <a:bodyPr wrap="square" lIns="0" tIns="0" rIns="0" bIns="0" rtlCol="0" anchor="ctr"/>
          <a:lstStyle/>
          <a:p>
            <a:pPr marL="0" indent="0">
              <a:lnSpc>
                <a:spcPts val="2200"/>
              </a:lnSpc>
              <a:buNone/>
            </a:pPr>
            <a:r>
              <a:rPr lang="en-US" sz="1500" dirty="0">
                <a:solidFill>
                  <a:srgbClr val="13232B"/>
                </a:solidFill>
                <a:latin typeface="Calibri" pitchFamily="34" charset="0"/>
                <a:ea typeface="Calibri" pitchFamily="34" charset="-122"/>
                <a:cs typeface="Calibri" pitchFamily="34" charset="-120"/>
              </a:rPr>
              <a:t>Given n positive integers, split them into two disjoint subsets with equal sums, or determine that no such partition exists. Show that this reduces to subset-sum.</a:t>
            </a:r>
            <a:endParaRPr lang="en-US" sz="1500" dirty="0"/>
          </a:p>
        </p:txBody>
      </p:sp>
      <p:sp>
        <p:nvSpPr>
          <p:cNvPr id="8" name="Text 6"/>
          <p:cNvSpPr/>
          <p:nvPr/>
        </p:nvSpPr>
        <p:spPr>
          <a:xfrm>
            <a:off x="640080" y="2926080"/>
            <a:ext cx="5486400" cy="310896"/>
          </a:xfrm>
          <a:prstGeom prst="rect">
            <a:avLst/>
          </a:prstGeom>
          <a:noFill/>
          <a:ln/>
        </p:spPr>
        <p:txBody>
          <a:bodyPr wrap="square" lIns="0" tIns="0" rIns="0" bIns="0" rtlCol="0" anchor="ctr"/>
          <a:lstStyle/>
          <a:p>
            <a:pPr marL="0" indent="0">
              <a:buNone/>
            </a:pPr>
            <a:r>
              <a:rPr lang="en-US" sz="1200" b="1" kern="0" spc="80" dirty="0">
                <a:solidFill>
                  <a:srgbClr val="0B3B44"/>
                </a:solidFill>
                <a:latin typeface="Calibri" pitchFamily="34" charset="0"/>
                <a:ea typeface="Calibri" pitchFamily="34" charset="-122"/>
                <a:cs typeface="Calibri" pitchFamily="34" charset="-120"/>
              </a:rPr>
              <a:t>The key observation</a:t>
            </a:r>
            <a:endParaRPr lang="en-US" sz="1200" dirty="0"/>
          </a:p>
        </p:txBody>
      </p:sp>
      <p:sp>
        <p:nvSpPr>
          <p:cNvPr id="9" name="Text 7"/>
          <p:cNvSpPr/>
          <p:nvPr/>
        </p:nvSpPr>
        <p:spPr>
          <a:xfrm>
            <a:off x="640080" y="3291840"/>
            <a:ext cx="5349240" cy="914400"/>
          </a:xfrm>
          <a:prstGeom prst="rect">
            <a:avLst/>
          </a:prstGeom>
          <a:noFill/>
          <a:ln/>
        </p:spPr>
        <p:txBody>
          <a:bodyPr wrap="square" lIns="0" tIns="0" rIns="0" bIns="0" rtlCol="0" anchor="t"/>
          <a:lstStyle/>
          <a:p>
            <a:pPr marL="0" indent="0">
              <a:lnSpc>
                <a:spcPts val="2000"/>
              </a:lnSpc>
              <a:buNone/>
            </a:pPr>
            <a:r>
              <a:rPr lang="en-US" sz="1400" dirty="0">
                <a:solidFill>
                  <a:srgbClr val="13232B"/>
                </a:solidFill>
                <a:latin typeface="Calibri" pitchFamily="34" charset="0"/>
                <a:ea typeface="Calibri" pitchFamily="34" charset="-122"/>
                <a:cs typeface="Calibri" pitchFamily="34" charset="-120"/>
              </a:rPr>
              <a:t>If the two halves have equal sums and together they use every element, then </a:t>
            </a:r>
            <a:r>
              <a:rPr lang="en-US" sz="1400" b="1" dirty="0">
                <a:solidFill>
                  <a:srgbClr val="13232B"/>
                </a:solidFill>
                <a:latin typeface="Calibri" pitchFamily="34" charset="0"/>
                <a:ea typeface="Calibri" pitchFamily="34" charset="-122"/>
                <a:cs typeface="Calibri" pitchFamily="34" charset="-120"/>
              </a:rPr>
              <a:t>each half must sum to exactly half of the total</a:t>
            </a:r>
            <a:r>
              <a:rPr lang="en-US" sz="1400" dirty="0">
                <a:solidFill>
                  <a:srgbClr val="13232B"/>
                </a:solidFill>
                <a:latin typeface="Calibri" pitchFamily="34" charset="0"/>
                <a:ea typeface="Calibri" pitchFamily="34" charset="-122"/>
                <a:cs typeface="Calibri" pitchFamily="34" charset="-120"/>
              </a:rPr>
              <a:t>. So there is only ever one target worth looking for.</a:t>
            </a:r>
            <a:endParaRPr lang="en-US" sz="1400" dirty="0"/>
          </a:p>
        </p:txBody>
      </p:sp>
      <p:sp>
        <p:nvSpPr>
          <p:cNvPr id="10" name="Shape 8"/>
          <p:cNvSpPr/>
          <p:nvPr/>
        </p:nvSpPr>
        <p:spPr>
          <a:xfrm>
            <a:off x="640080" y="4434840"/>
            <a:ext cx="5349240" cy="475488"/>
          </a:xfrm>
          <a:prstGeom prst="roundRect">
            <a:avLst>
              <a:gd name="adj" fmla="val 15385"/>
            </a:avLst>
          </a:prstGeom>
          <a:solidFill>
            <a:srgbClr val="0B3B44"/>
          </a:solidFill>
          <a:ln w="12700">
            <a:solidFill>
              <a:srgbClr val="0B3B44"/>
            </a:solidFill>
            <a:prstDash val="solid"/>
          </a:ln>
        </p:spPr>
        <p:txBody>
          <a:bodyPr/>
          <a:lstStyle/>
          <a:p>
            <a:endParaRPr lang="en-US"/>
          </a:p>
        </p:txBody>
      </p:sp>
      <p:sp>
        <p:nvSpPr>
          <p:cNvPr id="11" name="Text 9"/>
          <p:cNvSpPr/>
          <p:nvPr/>
        </p:nvSpPr>
        <p:spPr>
          <a:xfrm>
            <a:off x="640080" y="4434840"/>
            <a:ext cx="53492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  =  total</a:t>
            </a:r>
            <a:endParaRPr lang="en-US" sz="1300" dirty="0"/>
          </a:p>
        </p:txBody>
      </p:sp>
      <p:sp>
        <p:nvSpPr>
          <p:cNvPr id="12" name="Shape 10"/>
          <p:cNvSpPr/>
          <p:nvPr/>
        </p:nvSpPr>
        <p:spPr>
          <a:xfrm flipV="1">
            <a:off x="1691640" y="4910328"/>
            <a:ext cx="320040" cy="438912"/>
          </a:xfrm>
          <a:prstGeom prst="line">
            <a:avLst/>
          </a:prstGeom>
          <a:noFill/>
          <a:ln w="19050">
            <a:solidFill>
              <a:srgbClr val="63797F"/>
            </a:solidFill>
            <a:prstDash val="solid"/>
          </a:ln>
        </p:spPr>
        <p:txBody>
          <a:bodyPr/>
          <a:lstStyle/>
          <a:p>
            <a:endParaRPr lang="en-US"/>
          </a:p>
        </p:txBody>
      </p:sp>
      <p:sp>
        <p:nvSpPr>
          <p:cNvPr id="13" name="Shape 11"/>
          <p:cNvSpPr/>
          <p:nvPr/>
        </p:nvSpPr>
        <p:spPr>
          <a:xfrm>
            <a:off x="4617720" y="4910328"/>
            <a:ext cx="320040" cy="438912"/>
          </a:xfrm>
          <a:prstGeom prst="line">
            <a:avLst/>
          </a:prstGeom>
          <a:noFill/>
          <a:ln w="19050">
            <a:solidFill>
              <a:srgbClr val="63797F"/>
            </a:solidFill>
            <a:prstDash val="solid"/>
          </a:ln>
        </p:spPr>
        <p:txBody>
          <a:bodyPr/>
          <a:lstStyle/>
          <a:p>
            <a:endParaRPr lang="en-US"/>
          </a:p>
        </p:txBody>
      </p:sp>
      <p:sp>
        <p:nvSpPr>
          <p:cNvPr id="14" name="Shape 12"/>
          <p:cNvSpPr/>
          <p:nvPr/>
        </p:nvSpPr>
        <p:spPr>
          <a:xfrm>
            <a:off x="640080" y="5349240"/>
            <a:ext cx="2606040" cy="457200"/>
          </a:xfrm>
          <a:prstGeom prst="roundRect">
            <a:avLst>
              <a:gd name="adj" fmla="val 16000"/>
            </a:avLst>
          </a:prstGeom>
          <a:solidFill>
            <a:srgbClr val="2A9D8F"/>
          </a:solidFill>
          <a:ln w="12700">
            <a:solidFill>
              <a:srgbClr val="2A9D8F"/>
            </a:solidFill>
            <a:prstDash val="solid"/>
          </a:ln>
        </p:spPr>
        <p:txBody>
          <a:bodyPr/>
          <a:lstStyle/>
          <a:p>
            <a:endParaRPr lang="en-US"/>
          </a:p>
        </p:txBody>
      </p:sp>
      <p:sp>
        <p:nvSpPr>
          <p:cNvPr id="15" name="Text 13"/>
          <p:cNvSpPr/>
          <p:nvPr/>
        </p:nvSpPr>
        <p:spPr>
          <a:xfrm>
            <a:off x="640080" y="5349240"/>
            <a:ext cx="26060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  →  total / 2</a:t>
            </a:r>
            <a:endParaRPr lang="en-US" sz="1250" dirty="0"/>
          </a:p>
        </p:txBody>
      </p:sp>
      <p:sp>
        <p:nvSpPr>
          <p:cNvPr id="16" name="Shape 14"/>
          <p:cNvSpPr/>
          <p:nvPr/>
        </p:nvSpPr>
        <p:spPr>
          <a:xfrm>
            <a:off x="3383280" y="5349240"/>
            <a:ext cx="2606040" cy="457200"/>
          </a:xfrm>
          <a:prstGeom prst="roundRect">
            <a:avLst>
              <a:gd name="adj" fmla="val 16000"/>
            </a:avLst>
          </a:prstGeom>
          <a:solidFill>
            <a:srgbClr val="E8A33D"/>
          </a:solidFill>
          <a:ln w="12700">
            <a:solidFill>
              <a:srgbClr val="E8A33D"/>
            </a:solidFill>
            <a:prstDash val="solid"/>
          </a:ln>
        </p:spPr>
        <p:txBody>
          <a:bodyPr/>
          <a:lstStyle/>
          <a:p>
            <a:endParaRPr lang="en-US"/>
          </a:p>
        </p:txBody>
      </p:sp>
      <p:sp>
        <p:nvSpPr>
          <p:cNvPr id="17" name="Text 15"/>
          <p:cNvSpPr/>
          <p:nvPr/>
        </p:nvSpPr>
        <p:spPr>
          <a:xfrm>
            <a:off x="3383280" y="5349240"/>
            <a:ext cx="2606040" cy="457200"/>
          </a:xfrm>
          <a:prstGeom prst="rect">
            <a:avLst/>
          </a:prstGeom>
          <a:noFill/>
          <a:ln/>
        </p:spPr>
        <p:txBody>
          <a:bodyPr wrap="square" lIns="0" tIns="0" rIns="0" bIns="0" rtlCol="0" anchor="ctr"/>
          <a:lstStyle/>
          <a:p>
            <a:pPr marL="0" indent="0" algn="ctr">
              <a:buNone/>
            </a:pPr>
            <a:r>
              <a:rPr lang="en-US" sz="1250" b="1" dirty="0">
                <a:solidFill>
                  <a:srgbClr val="13232B"/>
                </a:solidFill>
                <a:latin typeface="Calibri" pitchFamily="34" charset="0"/>
                <a:ea typeface="Calibri" pitchFamily="34" charset="-122"/>
                <a:cs typeface="Calibri" pitchFamily="34" charset="-120"/>
              </a:rPr>
              <a:t>S \ S′  →  total / 2</a:t>
            </a:r>
            <a:endParaRPr lang="en-US" sz="1250" dirty="0"/>
          </a:p>
        </p:txBody>
      </p:sp>
      <p:sp>
        <p:nvSpPr>
          <p:cNvPr id="18" name="Shape 16"/>
          <p:cNvSpPr/>
          <p:nvPr/>
        </p:nvSpPr>
        <p:spPr>
          <a:xfrm>
            <a:off x="6355080" y="2926080"/>
            <a:ext cx="5212080" cy="1783080"/>
          </a:xfrm>
          <a:prstGeom prst="roundRect">
            <a:avLst>
              <a:gd name="adj" fmla="val 3077"/>
            </a:avLst>
          </a:prstGeom>
          <a:solidFill>
            <a:srgbClr val="F6F9F8"/>
          </a:solidFill>
          <a:ln w="12700">
            <a:solidFill>
              <a:srgbClr val="D3E0DD"/>
            </a:solidFill>
            <a:prstDash val="solid"/>
          </a:ln>
        </p:spPr>
        <p:txBody>
          <a:bodyPr/>
          <a:lstStyle/>
          <a:p>
            <a:endParaRPr lang="en-US"/>
          </a:p>
        </p:txBody>
      </p:sp>
      <p:sp>
        <p:nvSpPr>
          <p:cNvPr id="19" name="Text 17"/>
          <p:cNvSpPr/>
          <p:nvPr/>
        </p:nvSpPr>
        <p:spPr>
          <a:xfrm>
            <a:off x="6556248" y="3090672"/>
            <a:ext cx="4809744" cy="237744"/>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THE WHOLE ANSWER</a:t>
            </a:r>
            <a:endParaRPr lang="en-US" sz="1150" dirty="0"/>
          </a:p>
        </p:txBody>
      </p:sp>
      <p:sp>
        <p:nvSpPr>
          <p:cNvPr id="20" name="Text 18"/>
          <p:cNvSpPr/>
          <p:nvPr/>
        </p:nvSpPr>
        <p:spPr>
          <a:xfrm>
            <a:off x="6556248" y="3401568"/>
            <a:ext cx="4809744" cy="1143000"/>
          </a:xfrm>
          <a:prstGeom prst="rect">
            <a:avLst/>
          </a:prstGeom>
          <a:noFill/>
          <a:ln/>
        </p:spPr>
        <p:txBody>
          <a:bodyPr wrap="square" lIns="0" tIns="0" rIns="0" bIns="0" rtlCol="0" anchor="t"/>
          <a:lstStyle/>
          <a:p>
            <a:pPr marL="0" indent="0">
              <a:lnSpc>
                <a:spcPts val="1800"/>
              </a:lnSpc>
              <a:buNone/>
            </a:pPr>
            <a:r>
              <a:rPr lang="en-US" sz="1250" dirty="0">
                <a:solidFill>
                  <a:srgbClr val="13232B"/>
                </a:solidFill>
                <a:latin typeface="Courier New" pitchFamily="34" charset="0"/>
                <a:ea typeface="Courier New" pitchFamily="34" charset="-122"/>
                <a:cs typeface="Courier New" pitchFamily="34" charset="-120"/>
              </a:rPr>
              <a:t>function HasPartition(S)</a:t>
            </a:r>
            <a:endParaRPr lang="en-US" sz="1250" dirty="0"/>
          </a:p>
          <a:p>
            <a:pPr marL="0" indent="0">
              <a:lnSpc>
                <a:spcPts val="1800"/>
              </a:lnSpc>
              <a:buNone/>
            </a:pPr>
            <a:r>
              <a:rPr lang="en-US" sz="1250" dirty="0">
                <a:solidFill>
                  <a:srgbClr val="13232B"/>
                </a:solidFill>
                <a:latin typeface="Courier New" pitchFamily="34" charset="0"/>
                <a:ea typeface="Courier New" pitchFamily="34" charset="-122"/>
                <a:cs typeface="Courier New" pitchFamily="34" charset="-120"/>
              </a:rPr>
              <a:t>    sum ← ∑S</a:t>
            </a:r>
            <a:endParaRPr lang="en-US" sz="1250" dirty="0"/>
          </a:p>
          <a:p>
            <a:pPr marL="0" indent="0">
              <a:lnSpc>
                <a:spcPts val="1800"/>
              </a:lnSpc>
              <a:buNone/>
            </a:pPr>
            <a:r>
              <a:rPr lang="en-US" sz="1250" dirty="0">
                <a:solidFill>
                  <a:srgbClr val="13232B"/>
                </a:solidFill>
                <a:latin typeface="Courier New" pitchFamily="34" charset="0"/>
                <a:ea typeface="Courier New" pitchFamily="34" charset="-122"/>
                <a:cs typeface="Courier New" pitchFamily="34" charset="-120"/>
              </a:rPr>
              <a:t>    if sum is odd then</a:t>
            </a:r>
            <a:endParaRPr lang="en-US" sz="1250" dirty="0"/>
          </a:p>
          <a:p>
            <a:pPr marL="0" indent="0">
              <a:lnSpc>
                <a:spcPts val="1800"/>
              </a:lnSpc>
              <a:buNone/>
            </a:pPr>
            <a:r>
              <a:rPr lang="en-US" sz="1250" dirty="0">
                <a:solidFill>
                  <a:srgbClr val="13232B"/>
                </a:solidFill>
                <a:latin typeface="Courier New" pitchFamily="34" charset="0"/>
                <a:ea typeface="Courier New" pitchFamily="34" charset="-122"/>
                <a:cs typeface="Courier New" pitchFamily="34" charset="-120"/>
              </a:rPr>
              <a:t>        return False</a:t>
            </a:r>
            <a:endParaRPr lang="en-US" sz="1250" dirty="0"/>
          </a:p>
          <a:p>
            <a:pPr marL="0" indent="0">
              <a:lnSpc>
                <a:spcPts val="1800"/>
              </a:lnSpc>
              <a:buNone/>
            </a:pPr>
            <a:r>
              <a:rPr lang="en-US" sz="1250" dirty="0">
                <a:solidFill>
                  <a:srgbClr val="13232B"/>
                </a:solidFill>
                <a:latin typeface="Courier New" pitchFamily="34" charset="0"/>
                <a:ea typeface="Courier New" pitchFamily="34" charset="-122"/>
                <a:cs typeface="Courier New" pitchFamily="34" charset="-120"/>
              </a:rPr>
              <a:t>    return SubsetSum(S, sum/2)</a:t>
            </a:r>
            <a:endParaRPr lang="en-US" sz="1250" dirty="0"/>
          </a:p>
        </p:txBody>
      </p:sp>
      <p:sp>
        <p:nvSpPr>
          <p:cNvPr id="21" name="Shape 19"/>
          <p:cNvSpPr/>
          <p:nvPr/>
        </p:nvSpPr>
        <p:spPr>
          <a:xfrm>
            <a:off x="6355080" y="4937760"/>
            <a:ext cx="5212080" cy="868680"/>
          </a:xfrm>
          <a:prstGeom prst="roundRect">
            <a:avLst>
              <a:gd name="adj" fmla="val 6316"/>
            </a:avLst>
          </a:prstGeom>
          <a:solidFill>
            <a:srgbClr val="EDF4F3"/>
          </a:solidFill>
          <a:ln w="12700">
            <a:solidFill>
              <a:srgbClr val="EDF4F3"/>
            </a:solidFill>
            <a:prstDash val="solid"/>
          </a:ln>
        </p:spPr>
        <p:txBody>
          <a:bodyPr/>
          <a:lstStyle/>
          <a:p>
            <a:endParaRPr lang="en-US"/>
          </a:p>
        </p:txBody>
      </p:sp>
      <p:sp>
        <p:nvSpPr>
          <p:cNvPr id="22" name="Text 20"/>
          <p:cNvSpPr/>
          <p:nvPr/>
        </p:nvSpPr>
        <p:spPr>
          <a:xfrm>
            <a:off x="6629400" y="4937760"/>
            <a:ext cx="4663440" cy="868680"/>
          </a:xfrm>
          <a:prstGeom prst="rect">
            <a:avLst/>
          </a:prstGeom>
          <a:noFill/>
          <a:ln/>
        </p:spPr>
        <p:txBody>
          <a:bodyPr wrap="square" lIns="0" tIns="0" rIns="0" bIns="0" rtlCol="0" anchor="ctr"/>
          <a:lstStyle/>
          <a:p>
            <a:pPr marL="0" indent="0">
              <a:lnSpc>
                <a:spcPts val="1700"/>
              </a:lnSpc>
              <a:buNone/>
            </a:pPr>
            <a:r>
              <a:rPr lang="en-US" sz="1250" b="1" dirty="0">
                <a:solidFill>
                  <a:srgbClr val="C1465A"/>
                </a:solidFill>
                <a:latin typeface="Calibri" pitchFamily="34" charset="0"/>
                <a:ea typeface="Calibri" pitchFamily="34" charset="-122"/>
                <a:cs typeface="Calibri" pitchFamily="34" charset="-120"/>
              </a:rPr>
              <a:t>Why the odd check?  </a:t>
            </a:r>
            <a:r>
              <a:rPr lang="en-US" sz="1250" dirty="0">
                <a:solidFill>
                  <a:srgbClr val="13232B"/>
                </a:solidFill>
                <a:latin typeface="Calibri" pitchFamily="34" charset="0"/>
                <a:ea typeface="Calibri" pitchFamily="34" charset="-122"/>
                <a:cs typeface="Calibri" pitchFamily="34" charset="-120"/>
              </a:rPr>
              <a:t>An odd total cannot be split into two equal integer halves, so we can reject immediately — and sum/2 is not an integer anyway.</a:t>
            </a:r>
            <a:endParaRPr lang="en-US" sz="1250" dirty="0"/>
          </a:p>
        </p:txBody>
      </p:sp>
      <p:sp>
        <p:nvSpPr>
          <p:cNvPr id="23" name="Text 21"/>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24" name="Text 22"/>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3B44"/>
        </a:solidFill>
        <a:effectLst/>
      </p:bgPr>
    </p:bg>
    <p:spTree>
      <p:nvGrpSpPr>
        <p:cNvPr id="1" name=""/>
        <p:cNvGrpSpPr/>
        <p:nvPr/>
      </p:nvGrpSpPr>
      <p:grpSpPr>
        <a:xfrm>
          <a:off x="0" y="0"/>
          <a:ext cx="0" cy="0"/>
          <a:chOff x="0" y="0"/>
          <a:chExt cx="0" cy="0"/>
        </a:xfrm>
      </p:grpSpPr>
      <p:sp>
        <p:nvSpPr>
          <p:cNvPr id="2" name="Text 0"/>
          <p:cNvSpPr/>
          <p:nvPr/>
        </p:nvSpPr>
        <p:spPr>
          <a:xfrm>
            <a:off x="822960" y="2240280"/>
            <a:ext cx="5486400" cy="365760"/>
          </a:xfrm>
          <a:prstGeom prst="rect">
            <a:avLst/>
          </a:prstGeom>
          <a:noFill/>
          <a:ln/>
        </p:spPr>
        <p:txBody>
          <a:bodyPr wrap="square" lIns="0" tIns="0" rIns="0" bIns="0"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Part 2</a:t>
            </a:r>
            <a:endParaRPr lang="en-US" sz="1400" dirty="0"/>
          </a:p>
        </p:txBody>
      </p:sp>
      <p:sp>
        <p:nvSpPr>
          <p:cNvPr id="3" name="Text 1"/>
          <p:cNvSpPr/>
          <p:nvPr/>
        </p:nvSpPr>
        <p:spPr>
          <a:xfrm>
            <a:off x="822960" y="2697480"/>
            <a:ext cx="7132320" cy="155448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Graphs, and</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walking over them</a:t>
            </a:r>
            <a:endParaRPr lang="en-US" sz="4000" dirty="0"/>
          </a:p>
        </p:txBody>
      </p:sp>
      <p:sp>
        <p:nvSpPr>
          <p:cNvPr id="4" name="Text 2"/>
          <p:cNvSpPr/>
          <p:nvPr/>
        </p:nvSpPr>
        <p:spPr>
          <a:xfrm>
            <a:off x="822960" y="4343400"/>
            <a:ext cx="6400800" cy="320040"/>
          </a:xfrm>
          <a:prstGeom prst="rect">
            <a:avLst/>
          </a:prstGeom>
          <a:noFill/>
          <a:ln/>
        </p:spPr>
        <p:txBody>
          <a:bodyPr wrap="square" lIns="0" tIns="0" rIns="0" bIns="0" rtlCol="0" anchor="ctr"/>
          <a:lstStyle/>
          <a:p>
            <a:pPr marL="0" indent="0">
              <a:buNone/>
            </a:pPr>
            <a:r>
              <a:rPr lang="en-US" sz="1400" dirty="0">
                <a:solidFill>
                  <a:srgbClr val="AFCACD"/>
                </a:solidFill>
                <a:latin typeface="Calibri" pitchFamily="34" charset="0"/>
                <a:ea typeface="Calibri" pitchFamily="34" charset="-122"/>
                <a:cs typeface="Calibri" pitchFamily="34" charset="-120"/>
              </a:rPr>
              <a:t>Exercises 27, 28, 29 and 30</a:t>
            </a:r>
            <a:endParaRPr lang="en-US" sz="1400" dirty="0"/>
          </a:p>
        </p:txBody>
      </p:sp>
      <p:sp>
        <p:nvSpPr>
          <p:cNvPr id="5" name="Shape 3"/>
          <p:cNvSpPr/>
          <p:nvPr/>
        </p:nvSpPr>
        <p:spPr>
          <a:xfrm>
            <a:off x="9509760" y="1600200"/>
            <a:ext cx="1371600" cy="548640"/>
          </a:xfrm>
          <a:prstGeom prst="line">
            <a:avLst/>
          </a:prstGeom>
          <a:noFill/>
          <a:ln w="25400">
            <a:solidFill>
              <a:srgbClr val="2E6470"/>
            </a:solidFill>
            <a:prstDash val="solid"/>
          </a:ln>
        </p:spPr>
        <p:txBody>
          <a:bodyPr/>
          <a:lstStyle/>
          <a:p>
            <a:endParaRPr lang="en-US"/>
          </a:p>
        </p:txBody>
      </p:sp>
      <p:sp>
        <p:nvSpPr>
          <p:cNvPr id="6" name="Shape 4"/>
          <p:cNvSpPr/>
          <p:nvPr/>
        </p:nvSpPr>
        <p:spPr>
          <a:xfrm flipV="1">
            <a:off x="9006840" y="1600200"/>
            <a:ext cx="502920" cy="1280160"/>
          </a:xfrm>
          <a:prstGeom prst="line">
            <a:avLst/>
          </a:prstGeom>
          <a:noFill/>
          <a:ln w="25400">
            <a:solidFill>
              <a:srgbClr val="2E6470"/>
            </a:solidFill>
            <a:prstDash val="solid"/>
          </a:ln>
        </p:spPr>
        <p:txBody>
          <a:bodyPr/>
          <a:lstStyle/>
          <a:p>
            <a:endParaRPr lang="en-US"/>
          </a:p>
        </p:txBody>
      </p:sp>
      <p:sp>
        <p:nvSpPr>
          <p:cNvPr id="7" name="Shape 5"/>
          <p:cNvSpPr/>
          <p:nvPr/>
        </p:nvSpPr>
        <p:spPr>
          <a:xfrm>
            <a:off x="9509760" y="1600200"/>
            <a:ext cx="777240" cy="1828800"/>
          </a:xfrm>
          <a:prstGeom prst="line">
            <a:avLst/>
          </a:prstGeom>
          <a:noFill/>
          <a:ln w="25400">
            <a:solidFill>
              <a:srgbClr val="2E6470"/>
            </a:solidFill>
            <a:prstDash val="solid"/>
          </a:ln>
        </p:spPr>
        <p:txBody>
          <a:bodyPr/>
          <a:lstStyle/>
          <a:p>
            <a:endParaRPr lang="en-US"/>
          </a:p>
        </p:txBody>
      </p:sp>
      <p:sp>
        <p:nvSpPr>
          <p:cNvPr id="8" name="Shape 6"/>
          <p:cNvSpPr/>
          <p:nvPr/>
        </p:nvSpPr>
        <p:spPr>
          <a:xfrm flipV="1">
            <a:off x="10287000" y="2148840"/>
            <a:ext cx="594360" cy="1280160"/>
          </a:xfrm>
          <a:prstGeom prst="line">
            <a:avLst/>
          </a:prstGeom>
          <a:noFill/>
          <a:ln w="25400">
            <a:solidFill>
              <a:srgbClr val="2E6470"/>
            </a:solidFill>
            <a:prstDash val="solid"/>
          </a:ln>
        </p:spPr>
        <p:txBody>
          <a:bodyPr/>
          <a:lstStyle/>
          <a:p>
            <a:endParaRPr lang="en-US"/>
          </a:p>
        </p:txBody>
      </p:sp>
      <p:sp>
        <p:nvSpPr>
          <p:cNvPr id="9" name="Shape 7"/>
          <p:cNvSpPr/>
          <p:nvPr/>
        </p:nvSpPr>
        <p:spPr>
          <a:xfrm>
            <a:off x="9006840" y="2880360"/>
            <a:ext cx="182880" cy="1325880"/>
          </a:xfrm>
          <a:prstGeom prst="line">
            <a:avLst/>
          </a:prstGeom>
          <a:noFill/>
          <a:ln w="25400">
            <a:solidFill>
              <a:srgbClr val="2E6470"/>
            </a:solidFill>
            <a:prstDash val="solid"/>
          </a:ln>
        </p:spPr>
        <p:txBody>
          <a:bodyPr/>
          <a:lstStyle/>
          <a:p>
            <a:endParaRPr lang="en-US"/>
          </a:p>
        </p:txBody>
      </p:sp>
      <p:sp>
        <p:nvSpPr>
          <p:cNvPr id="10" name="Shape 8"/>
          <p:cNvSpPr/>
          <p:nvPr/>
        </p:nvSpPr>
        <p:spPr>
          <a:xfrm>
            <a:off x="10287000" y="3429000"/>
            <a:ext cx="1234440" cy="548640"/>
          </a:xfrm>
          <a:prstGeom prst="line">
            <a:avLst/>
          </a:prstGeom>
          <a:noFill/>
          <a:ln w="25400">
            <a:solidFill>
              <a:srgbClr val="2E6470"/>
            </a:solidFill>
            <a:prstDash val="solid"/>
          </a:ln>
        </p:spPr>
        <p:txBody>
          <a:bodyPr/>
          <a:lstStyle/>
          <a:p>
            <a:endParaRPr lang="en-US"/>
          </a:p>
        </p:txBody>
      </p:sp>
      <p:sp>
        <p:nvSpPr>
          <p:cNvPr id="11" name="Shape 9"/>
          <p:cNvSpPr/>
          <p:nvPr/>
        </p:nvSpPr>
        <p:spPr>
          <a:xfrm flipV="1">
            <a:off x="9189720" y="3429000"/>
            <a:ext cx="1097280" cy="777240"/>
          </a:xfrm>
          <a:prstGeom prst="line">
            <a:avLst/>
          </a:prstGeom>
          <a:noFill/>
          <a:ln w="25400">
            <a:solidFill>
              <a:srgbClr val="2E6470"/>
            </a:solidFill>
            <a:prstDash val="solid"/>
          </a:ln>
        </p:spPr>
        <p:txBody>
          <a:bodyPr/>
          <a:lstStyle/>
          <a:p>
            <a:endParaRPr lang="en-US"/>
          </a:p>
        </p:txBody>
      </p:sp>
      <p:sp>
        <p:nvSpPr>
          <p:cNvPr id="12" name="Shape 10"/>
          <p:cNvSpPr/>
          <p:nvPr/>
        </p:nvSpPr>
        <p:spPr>
          <a:xfrm>
            <a:off x="9235440" y="1325880"/>
            <a:ext cx="548640" cy="548640"/>
          </a:xfrm>
          <a:prstGeom prst="ellipse">
            <a:avLst/>
          </a:prstGeom>
          <a:solidFill>
            <a:srgbClr val="E8A33D"/>
          </a:solidFill>
          <a:ln w="22225">
            <a:solidFill>
              <a:srgbClr val="E8A33D"/>
            </a:solidFill>
            <a:prstDash val="solid"/>
          </a:ln>
        </p:spPr>
        <p:txBody>
          <a:bodyPr/>
          <a:lstStyle/>
          <a:p>
            <a:endParaRPr lang="en-US"/>
          </a:p>
        </p:txBody>
      </p:sp>
      <p:sp>
        <p:nvSpPr>
          <p:cNvPr id="13" name="Text 11"/>
          <p:cNvSpPr/>
          <p:nvPr/>
        </p:nvSpPr>
        <p:spPr>
          <a:xfrm>
            <a:off x="9235440" y="1325880"/>
            <a:ext cx="548640" cy="548640"/>
          </a:xfrm>
          <a:prstGeom prst="rect">
            <a:avLst/>
          </a:prstGeom>
          <a:noFill/>
          <a:ln/>
        </p:spPr>
        <p:txBody>
          <a:bodyPr wrap="square" lIns="0" tIns="0" rIns="0" bIns="0" rtlCol="0" anchor="ctr"/>
          <a:lstStyle/>
          <a:p>
            <a:pPr marL="0" indent="0" algn="ctr">
              <a:buNone/>
            </a:pPr>
            <a:endParaRPr lang="en-US" sz="1350" dirty="0"/>
          </a:p>
        </p:txBody>
      </p:sp>
      <p:sp>
        <p:nvSpPr>
          <p:cNvPr id="14" name="Shape 12"/>
          <p:cNvSpPr/>
          <p:nvPr/>
        </p:nvSpPr>
        <p:spPr>
          <a:xfrm>
            <a:off x="10607040" y="1874520"/>
            <a:ext cx="548640" cy="548640"/>
          </a:xfrm>
          <a:prstGeom prst="ellipse">
            <a:avLst/>
          </a:prstGeom>
          <a:solidFill>
            <a:srgbClr val="2A9D8F"/>
          </a:solidFill>
          <a:ln w="22225">
            <a:solidFill>
              <a:srgbClr val="2A9D8F"/>
            </a:solidFill>
            <a:prstDash val="solid"/>
          </a:ln>
        </p:spPr>
        <p:txBody>
          <a:bodyPr/>
          <a:lstStyle/>
          <a:p>
            <a:endParaRPr lang="en-US"/>
          </a:p>
        </p:txBody>
      </p:sp>
      <p:sp>
        <p:nvSpPr>
          <p:cNvPr id="15" name="Text 13"/>
          <p:cNvSpPr/>
          <p:nvPr/>
        </p:nvSpPr>
        <p:spPr>
          <a:xfrm>
            <a:off x="10607040" y="1874520"/>
            <a:ext cx="548640" cy="548640"/>
          </a:xfrm>
          <a:prstGeom prst="rect">
            <a:avLst/>
          </a:prstGeom>
          <a:noFill/>
          <a:ln/>
        </p:spPr>
        <p:txBody>
          <a:bodyPr wrap="square" lIns="0" tIns="0" rIns="0" bIns="0" rtlCol="0" anchor="ctr"/>
          <a:lstStyle/>
          <a:p>
            <a:pPr marL="0" indent="0" algn="ctr">
              <a:buNone/>
            </a:pPr>
            <a:endParaRPr lang="en-US" sz="1350" dirty="0"/>
          </a:p>
        </p:txBody>
      </p:sp>
      <p:sp>
        <p:nvSpPr>
          <p:cNvPr id="16" name="Shape 14"/>
          <p:cNvSpPr/>
          <p:nvPr/>
        </p:nvSpPr>
        <p:spPr>
          <a:xfrm>
            <a:off x="8732520" y="2606040"/>
            <a:ext cx="548640" cy="548640"/>
          </a:xfrm>
          <a:prstGeom prst="ellipse">
            <a:avLst/>
          </a:prstGeom>
          <a:solidFill>
            <a:srgbClr val="2A9D8F"/>
          </a:solidFill>
          <a:ln w="22225">
            <a:solidFill>
              <a:srgbClr val="2A9D8F"/>
            </a:solidFill>
            <a:prstDash val="solid"/>
          </a:ln>
        </p:spPr>
        <p:txBody>
          <a:bodyPr/>
          <a:lstStyle/>
          <a:p>
            <a:endParaRPr lang="en-US"/>
          </a:p>
        </p:txBody>
      </p:sp>
      <p:sp>
        <p:nvSpPr>
          <p:cNvPr id="17" name="Text 15"/>
          <p:cNvSpPr/>
          <p:nvPr/>
        </p:nvSpPr>
        <p:spPr>
          <a:xfrm>
            <a:off x="8732520" y="2606040"/>
            <a:ext cx="548640" cy="548640"/>
          </a:xfrm>
          <a:prstGeom prst="rect">
            <a:avLst/>
          </a:prstGeom>
          <a:noFill/>
          <a:ln/>
        </p:spPr>
        <p:txBody>
          <a:bodyPr wrap="square" lIns="0" tIns="0" rIns="0" bIns="0" rtlCol="0" anchor="ctr"/>
          <a:lstStyle/>
          <a:p>
            <a:pPr marL="0" indent="0" algn="ctr">
              <a:buNone/>
            </a:pPr>
            <a:endParaRPr lang="en-US" sz="1350" dirty="0"/>
          </a:p>
        </p:txBody>
      </p:sp>
      <p:sp>
        <p:nvSpPr>
          <p:cNvPr id="18" name="Shape 16"/>
          <p:cNvSpPr/>
          <p:nvPr/>
        </p:nvSpPr>
        <p:spPr>
          <a:xfrm>
            <a:off x="10012680" y="3154680"/>
            <a:ext cx="548640" cy="548640"/>
          </a:xfrm>
          <a:prstGeom prst="ellipse">
            <a:avLst/>
          </a:prstGeom>
          <a:solidFill>
            <a:srgbClr val="2A9D8F"/>
          </a:solidFill>
          <a:ln w="22225">
            <a:solidFill>
              <a:srgbClr val="2A9D8F"/>
            </a:solidFill>
            <a:prstDash val="solid"/>
          </a:ln>
        </p:spPr>
        <p:txBody>
          <a:bodyPr/>
          <a:lstStyle/>
          <a:p>
            <a:endParaRPr lang="en-US"/>
          </a:p>
        </p:txBody>
      </p:sp>
      <p:sp>
        <p:nvSpPr>
          <p:cNvPr id="19" name="Text 17"/>
          <p:cNvSpPr/>
          <p:nvPr/>
        </p:nvSpPr>
        <p:spPr>
          <a:xfrm>
            <a:off x="10012680" y="3154680"/>
            <a:ext cx="548640" cy="548640"/>
          </a:xfrm>
          <a:prstGeom prst="rect">
            <a:avLst/>
          </a:prstGeom>
          <a:noFill/>
          <a:ln/>
        </p:spPr>
        <p:txBody>
          <a:bodyPr wrap="square" lIns="0" tIns="0" rIns="0" bIns="0" rtlCol="0" anchor="ctr"/>
          <a:lstStyle/>
          <a:p>
            <a:pPr marL="0" indent="0" algn="ctr">
              <a:buNone/>
            </a:pPr>
            <a:endParaRPr lang="en-US" sz="1350" dirty="0"/>
          </a:p>
        </p:txBody>
      </p:sp>
      <p:sp>
        <p:nvSpPr>
          <p:cNvPr id="20" name="Shape 18"/>
          <p:cNvSpPr/>
          <p:nvPr/>
        </p:nvSpPr>
        <p:spPr>
          <a:xfrm>
            <a:off x="11247120" y="3703320"/>
            <a:ext cx="548640" cy="548640"/>
          </a:xfrm>
          <a:prstGeom prst="ellipse">
            <a:avLst/>
          </a:prstGeom>
          <a:solidFill>
            <a:srgbClr val="16505C"/>
          </a:solidFill>
          <a:ln w="22225">
            <a:solidFill>
              <a:srgbClr val="2E6470"/>
            </a:solidFill>
            <a:prstDash val="solid"/>
          </a:ln>
        </p:spPr>
        <p:txBody>
          <a:bodyPr/>
          <a:lstStyle/>
          <a:p>
            <a:endParaRPr lang="en-US"/>
          </a:p>
        </p:txBody>
      </p:sp>
      <p:sp>
        <p:nvSpPr>
          <p:cNvPr id="21" name="Text 19"/>
          <p:cNvSpPr/>
          <p:nvPr/>
        </p:nvSpPr>
        <p:spPr>
          <a:xfrm>
            <a:off x="11247120" y="3703320"/>
            <a:ext cx="548640" cy="548640"/>
          </a:xfrm>
          <a:prstGeom prst="rect">
            <a:avLst/>
          </a:prstGeom>
          <a:noFill/>
          <a:ln/>
        </p:spPr>
        <p:txBody>
          <a:bodyPr wrap="square" lIns="0" tIns="0" rIns="0" bIns="0" rtlCol="0" anchor="ctr"/>
          <a:lstStyle/>
          <a:p>
            <a:pPr marL="0" indent="0" algn="ctr">
              <a:buNone/>
            </a:pPr>
            <a:endParaRPr lang="en-US" sz="1350" dirty="0"/>
          </a:p>
        </p:txBody>
      </p:sp>
      <p:sp>
        <p:nvSpPr>
          <p:cNvPr id="22" name="Shape 20"/>
          <p:cNvSpPr/>
          <p:nvPr/>
        </p:nvSpPr>
        <p:spPr>
          <a:xfrm>
            <a:off x="8915400" y="3931920"/>
            <a:ext cx="548640" cy="548640"/>
          </a:xfrm>
          <a:prstGeom prst="ellipse">
            <a:avLst/>
          </a:prstGeom>
          <a:solidFill>
            <a:srgbClr val="16505C"/>
          </a:solidFill>
          <a:ln w="22225">
            <a:solidFill>
              <a:srgbClr val="2E6470"/>
            </a:solidFill>
            <a:prstDash val="solid"/>
          </a:ln>
        </p:spPr>
        <p:txBody>
          <a:bodyPr/>
          <a:lstStyle/>
          <a:p>
            <a:endParaRPr lang="en-US"/>
          </a:p>
        </p:txBody>
      </p:sp>
      <p:sp>
        <p:nvSpPr>
          <p:cNvPr id="23" name="Text 21"/>
          <p:cNvSpPr/>
          <p:nvPr/>
        </p:nvSpPr>
        <p:spPr>
          <a:xfrm>
            <a:off x="8915400" y="3931920"/>
            <a:ext cx="548640" cy="548640"/>
          </a:xfrm>
          <a:prstGeom prst="rect">
            <a:avLst/>
          </a:prstGeom>
          <a:noFill/>
          <a:ln/>
        </p:spPr>
        <p:txBody>
          <a:bodyPr wrap="square" lIns="0" tIns="0" rIns="0" bIns="0" rtlCol="0" anchor="ctr"/>
          <a:lstStyle/>
          <a:p>
            <a:pPr marL="0" indent="0" algn="ctr">
              <a:buNone/>
            </a:pPr>
            <a:endParaRPr lang="en-US" sz="1350" dirty="0"/>
          </a:p>
        </p:txBody>
      </p:sp>
      <p:sp>
        <p:nvSpPr>
          <p:cNvPr id="24" name="Text 22"/>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7FA5AB"/>
                </a:solidFill>
                <a:latin typeface="Calibri" pitchFamily="34" charset="0"/>
                <a:ea typeface="Calibri" pitchFamily="34" charset="-122"/>
                <a:cs typeface="Calibri" pitchFamily="34" charset="-120"/>
              </a:rPr>
              <a:t>COMP90038  ·  Algorithms and Complexity  ·  Week 5</a:t>
            </a:r>
            <a:endParaRPr lang="en-US" sz="900" dirty="0"/>
          </a:p>
        </p:txBody>
      </p:sp>
      <p:sp>
        <p:nvSpPr>
          <p:cNvPr id="25" name="Text 23"/>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7FA5A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Vocabulary check</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G = ⟨V, E⟩ — V is a set of nodes, E ⊆ V × V is a set of edges.</a:t>
            </a:r>
            <a:endParaRPr lang="en-US" sz="1300" dirty="0"/>
          </a:p>
        </p:txBody>
      </p:sp>
      <p:sp>
        <p:nvSpPr>
          <p:cNvPr id="6" name="Shape 4"/>
          <p:cNvSpPr/>
          <p:nvPr/>
        </p:nvSpPr>
        <p:spPr>
          <a:xfrm>
            <a:off x="640080" y="1572768"/>
            <a:ext cx="5349240" cy="941832"/>
          </a:xfrm>
          <a:prstGeom prst="roundRect">
            <a:avLst>
              <a:gd name="adj" fmla="val 5825"/>
            </a:avLst>
          </a:prstGeom>
          <a:solidFill>
            <a:srgbClr val="F6F9F8"/>
          </a:solidFill>
          <a:ln w="12700">
            <a:solidFill>
              <a:srgbClr val="D3E0DD"/>
            </a:solidFill>
            <a:prstDash val="solid"/>
          </a:ln>
        </p:spPr>
        <p:txBody>
          <a:bodyPr/>
          <a:lstStyle/>
          <a:p>
            <a:endParaRPr lang="en-US"/>
          </a:p>
        </p:txBody>
      </p:sp>
      <p:sp>
        <p:nvSpPr>
          <p:cNvPr id="7" name="Text 5"/>
          <p:cNvSpPr/>
          <p:nvPr/>
        </p:nvSpPr>
        <p:spPr>
          <a:xfrm>
            <a:off x="896112" y="1691640"/>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adjacent</a:t>
            </a:r>
            <a:endParaRPr lang="en-US" sz="1300" dirty="0"/>
          </a:p>
        </p:txBody>
      </p:sp>
      <p:sp>
        <p:nvSpPr>
          <p:cNvPr id="8" name="Text 6"/>
          <p:cNvSpPr/>
          <p:nvPr/>
        </p:nvSpPr>
        <p:spPr>
          <a:xfrm>
            <a:off x="896112" y="1984248"/>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Two vertices joined by an edge.</a:t>
            </a:r>
            <a:endParaRPr lang="en-US" sz="1200" dirty="0"/>
          </a:p>
        </p:txBody>
      </p:sp>
      <p:sp>
        <p:nvSpPr>
          <p:cNvPr id="9" name="Shape 7"/>
          <p:cNvSpPr/>
          <p:nvPr/>
        </p:nvSpPr>
        <p:spPr>
          <a:xfrm>
            <a:off x="6217920" y="1572768"/>
            <a:ext cx="5349240" cy="941832"/>
          </a:xfrm>
          <a:prstGeom prst="roundRect">
            <a:avLst>
              <a:gd name="adj" fmla="val 5825"/>
            </a:avLst>
          </a:prstGeom>
          <a:solidFill>
            <a:srgbClr val="F6F9F8"/>
          </a:solidFill>
          <a:ln w="12700">
            <a:solidFill>
              <a:srgbClr val="D3E0DD"/>
            </a:solidFill>
            <a:prstDash val="solid"/>
          </a:ln>
        </p:spPr>
        <p:txBody>
          <a:bodyPr/>
          <a:lstStyle/>
          <a:p>
            <a:endParaRPr lang="en-US"/>
          </a:p>
        </p:txBody>
      </p:sp>
      <p:sp>
        <p:nvSpPr>
          <p:cNvPr id="10" name="Text 8"/>
          <p:cNvSpPr/>
          <p:nvPr/>
        </p:nvSpPr>
        <p:spPr>
          <a:xfrm>
            <a:off x="6473952" y="1691640"/>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degree</a:t>
            </a:r>
            <a:endParaRPr lang="en-US" sz="1300" dirty="0"/>
          </a:p>
        </p:txBody>
      </p:sp>
      <p:sp>
        <p:nvSpPr>
          <p:cNvPr id="11" name="Text 9"/>
          <p:cNvSpPr/>
          <p:nvPr/>
        </p:nvSpPr>
        <p:spPr>
          <a:xfrm>
            <a:off x="6473952" y="1984248"/>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Number of edges attached to a node.</a:t>
            </a:r>
            <a:endParaRPr lang="en-US" sz="1200" dirty="0"/>
          </a:p>
        </p:txBody>
      </p:sp>
      <p:sp>
        <p:nvSpPr>
          <p:cNvPr id="12" name="Shape 10"/>
          <p:cNvSpPr/>
          <p:nvPr/>
        </p:nvSpPr>
        <p:spPr>
          <a:xfrm>
            <a:off x="640080" y="2651760"/>
            <a:ext cx="5349240" cy="941832"/>
          </a:xfrm>
          <a:prstGeom prst="roundRect">
            <a:avLst>
              <a:gd name="adj" fmla="val 5825"/>
            </a:avLst>
          </a:prstGeom>
          <a:solidFill>
            <a:srgbClr val="EDF4F3"/>
          </a:solidFill>
          <a:ln w="12700">
            <a:solidFill>
              <a:srgbClr val="EDF4F3"/>
            </a:solidFill>
            <a:prstDash val="solid"/>
          </a:ln>
        </p:spPr>
        <p:txBody>
          <a:bodyPr/>
          <a:lstStyle/>
          <a:p>
            <a:endParaRPr lang="en-US"/>
          </a:p>
        </p:txBody>
      </p:sp>
      <p:sp>
        <p:nvSpPr>
          <p:cNvPr id="13" name="Text 11"/>
          <p:cNvSpPr/>
          <p:nvPr/>
        </p:nvSpPr>
        <p:spPr>
          <a:xfrm>
            <a:off x="896112" y="2770632"/>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path</a:t>
            </a:r>
            <a:endParaRPr lang="en-US" sz="1300" dirty="0"/>
          </a:p>
        </p:txBody>
      </p:sp>
      <p:sp>
        <p:nvSpPr>
          <p:cNvPr id="14" name="Text 12"/>
          <p:cNvSpPr/>
          <p:nvPr/>
        </p:nvSpPr>
        <p:spPr>
          <a:xfrm>
            <a:off x="896112" y="3063240"/>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A sequence of nodes you can walk across.</a:t>
            </a:r>
            <a:endParaRPr lang="en-US" sz="1200" dirty="0"/>
          </a:p>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Its length is the number of edges.</a:t>
            </a:r>
            <a:endParaRPr lang="en-US" sz="1200" dirty="0"/>
          </a:p>
        </p:txBody>
      </p:sp>
      <p:sp>
        <p:nvSpPr>
          <p:cNvPr id="15" name="Shape 13"/>
          <p:cNvSpPr/>
          <p:nvPr/>
        </p:nvSpPr>
        <p:spPr>
          <a:xfrm>
            <a:off x="6217920" y="2651760"/>
            <a:ext cx="5349240" cy="941832"/>
          </a:xfrm>
          <a:prstGeom prst="roundRect">
            <a:avLst>
              <a:gd name="adj" fmla="val 5825"/>
            </a:avLst>
          </a:prstGeom>
          <a:solidFill>
            <a:srgbClr val="EDF4F3"/>
          </a:solidFill>
          <a:ln w="12700">
            <a:solidFill>
              <a:srgbClr val="EDF4F3"/>
            </a:solidFill>
            <a:prstDash val="solid"/>
          </a:ln>
        </p:spPr>
        <p:txBody>
          <a:bodyPr/>
          <a:lstStyle/>
          <a:p>
            <a:endParaRPr lang="en-US"/>
          </a:p>
        </p:txBody>
      </p:sp>
      <p:sp>
        <p:nvSpPr>
          <p:cNvPr id="16" name="Text 14"/>
          <p:cNvSpPr/>
          <p:nvPr/>
        </p:nvSpPr>
        <p:spPr>
          <a:xfrm>
            <a:off x="6473952" y="2770632"/>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simple path</a:t>
            </a:r>
            <a:endParaRPr lang="en-US" sz="1300" dirty="0"/>
          </a:p>
        </p:txBody>
      </p:sp>
      <p:sp>
        <p:nvSpPr>
          <p:cNvPr id="17" name="Text 15"/>
          <p:cNvSpPr/>
          <p:nvPr/>
        </p:nvSpPr>
        <p:spPr>
          <a:xfrm>
            <a:off x="6473952" y="3063240"/>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A path that visits no node twice.</a:t>
            </a:r>
            <a:endParaRPr lang="en-US" sz="1200" dirty="0"/>
          </a:p>
        </p:txBody>
      </p:sp>
      <p:sp>
        <p:nvSpPr>
          <p:cNvPr id="18" name="Shape 16"/>
          <p:cNvSpPr/>
          <p:nvPr/>
        </p:nvSpPr>
        <p:spPr>
          <a:xfrm>
            <a:off x="640080" y="3730752"/>
            <a:ext cx="5349240" cy="941832"/>
          </a:xfrm>
          <a:prstGeom prst="roundRect">
            <a:avLst>
              <a:gd name="adj" fmla="val 5825"/>
            </a:avLst>
          </a:prstGeom>
          <a:solidFill>
            <a:srgbClr val="F6F9F8"/>
          </a:solidFill>
          <a:ln w="12700">
            <a:solidFill>
              <a:srgbClr val="D3E0DD"/>
            </a:solidFill>
            <a:prstDash val="solid"/>
          </a:ln>
        </p:spPr>
        <p:txBody>
          <a:bodyPr/>
          <a:lstStyle/>
          <a:p>
            <a:endParaRPr lang="en-US"/>
          </a:p>
        </p:txBody>
      </p:sp>
      <p:sp>
        <p:nvSpPr>
          <p:cNvPr id="19" name="Text 17"/>
          <p:cNvSpPr/>
          <p:nvPr/>
        </p:nvSpPr>
        <p:spPr>
          <a:xfrm>
            <a:off x="896112" y="3849624"/>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cycle</a:t>
            </a:r>
            <a:endParaRPr lang="en-US" sz="1300" dirty="0"/>
          </a:p>
        </p:txBody>
      </p:sp>
      <p:sp>
        <p:nvSpPr>
          <p:cNvPr id="20" name="Text 18"/>
          <p:cNvSpPr/>
          <p:nvPr/>
        </p:nvSpPr>
        <p:spPr>
          <a:xfrm>
            <a:off x="896112" y="4142232"/>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A path back to its start that never</a:t>
            </a:r>
            <a:endParaRPr lang="en-US" sz="1200" dirty="0"/>
          </a:p>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re-uses an edge to get there.</a:t>
            </a:r>
            <a:endParaRPr lang="en-US" sz="1200" dirty="0"/>
          </a:p>
        </p:txBody>
      </p:sp>
      <p:sp>
        <p:nvSpPr>
          <p:cNvPr id="21" name="Shape 19"/>
          <p:cNvSpPr/>
          <p:nvPr/>
        </p:nvSpPr>
        <p:spPr>
          <a:xfrm>
            <a:off x="6217920" y="3730752"/>
            <a:ext cx="5349240" cy="941832"/>
          </a:xfrm>
          <a:prstGeom prst="roundRect">
            <a:avLst>
              <a:gd name="adj" fmla="val 5825"/>
            </a:avLst>
          </a:prstGeom>
          <a:solidFill>
            <a:srgbClr val="F6F9F8"/>
          </a:solidFill>
          <a:ln w="12700">
            <a:solidFill>
              <a:srgbClr val="D3E0DD"/>
            </a:solidFill>
            <a:prstDash val="solid"/>
          </a:ln>
        </p:spPr>
        <p:txBody>
          <a:bodyPr/>
          <a:lstStyle/>
          <a:p>
            <a:endParaRPr lang="en-US"/>
          </a:p>
        </p:txBody>
      </p:sp>
      <p:sp>
        <p:nvSpPr>
          <p:cNvPr id="22" name="Text 20"/>
          <p:cNvSpPr/>
          <p:nvPr/>
        </p:nvSpPr>
        <p:spPr>
          <a:xfrm>
            <a:off x="6473952" y="3849624"/>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connected</a:t>
            </a:r>
            <a:endParaRPr lang="en-US" sz="1300" dirty="0"/>
          </a:p>
        </p:txBody>
      </p:sp>
      <p:sp>
        <p:nvSpPr>
          <p:cNvPr id="23" name="Text 21"/>
          <p:cNvSpPr/>
          <p:nvPr/>
        </p:nvSpPr>
        <p:spPr>
          <a:xfrm>
            <a:off x="6473952" y="4142232"/>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Every node reachable from every other.</a:t>
            </a:r>
            <a:endParaRPr lang="en-US" sz="1200" dirty="0"/>
          </a:p>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Otherwise: disconnected.</a:t>
            </a:r>
            <a:endParaRPr lang="en-US" sz="1200" dirty="0"/>
          </a:p>
        </p:txBody>
      </p:sp>
      <p:sp>
        <p:nvSpPr>
          <p:cNvPr id="24" name="Shape 22"/>
          <p:cNvSpPr/>
          <p:nvPr/>
        </p:nvSpPr>
        <p:spPr>
          <a:xfrm>
            <a:off x="640080" y="4809744"/>
            <a:ext cx="5349240" cy="941832"/>
          </a:xfrm>
          <a:prstGeom prst="roundRect">
            <a:avLst>
              <a:gd name="adj" fmla="val 5825"/>
            </a:avLst>
          </a:prstGeom>
          <a:solidFill>
            <a:srgbClr val="EDF4F3"/>
          </a:solidFill>
          <a:ln w="12700">
            <a:solidFill>
              <a:srgbClr val="EDF4F3"/>
            </a:solidFill>
            <a:prstDash val="solid"/>
          </a:ln>
        </p:spPr>
        <p:txBody>
          <a:bodyPr/>
          <a:lstStyle/>
          <a:p>
            <a:endParaRPr lang="en-US"/>
          </a:p>
        </p:txBody>
      </p:sp>
      <p:sp>
        <p:nvSpPr>
          <p:cNvPr id="25" name="Text 23"/>
          <p:cNvSpPr/>
          <p:nvPr/>
        </p:nvSpPr>
        <p:spPr>
          <a:xfrm>
            <a:off x="896112" y="4928616"/>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dense / sparse</a:t>
            </a:r>
            <a:endParaRPr lang="en-US" sz="1300" dirty="0"/>
          </a:p>
        </p:txBody>
      </p:sp>
      <p:sp>
        <p:nvSpPr>
          <p:cNvPr id="26" name="Text 24"/>
          <p:cNvSpPr/>
          <p:nvPr/>
        </p:nvSpPr>
        <p:spPr>
          <a:xfrm>
            <a:off x="896112" y="5221224"/>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|E| close to |V|² versus |E| close to |V|.</a:t>
            </a:r>
            <a:endParaRPr lang="en-US" sz="1200" dirty="0"/>
          </a:p>
        </p:txBody>
      </p:sp>
      <p:sp>
        <p:nvSpPr>
          <p:cNvPr id="27" name="Shape 25"/>
          <p:cNvSpPr/>
          <p:nvPr/>
        </p:nvSpPr>
        <p:spPr>
          <a:xfrm>
            <a:off x="6217920" y="4809744"/>
            <a:ext cx="5349240" cy="941832"/>
          </a:xfrm>
          <a:prstGeom prst="roundRect">
            <a:avLst>
              <a:gd name="adj" fmla="val 5825"/>
            </a:avLst>
          </a:prstGeom>
          <a:solidFill>
            <a:srgbClr val="EDF4F3"/>
          </a:solidFill>
          <a:ln w="12700">
            <a:solidFill>
              <a:srgbClr val="EDF4F3"/>
            </a:solidFill>
            <a:prstDash val="solid"/>
          </a:ln>
        </p:spPr>
        <p:txBody>
          <a:bodyPr/>
          <a:lstStyle/>
          <a:p>
            <a:endParaRPr lang="en-US"/>
          </a:p>
        </p:txBody>
      </p:sp>
      <p:sp>
        <p:nvSpPr>
          <p:cNvPr id="28" name="Text 26"/>
          <p:cNvSpPr/>
          <p:nvPr/>
        </p:nvSpPr>
        <p:spPr>
          <a:xfrm>
            <a:off x="6473952" y="4928616"/>
            <a:ext cx="1828800" cy="292608"/>
          </a:xfrm>
          <a:prstGeom prst="rect">
            <a:avLst/>
          </a:prstGeom>
          <a:noFill/>
          <a:ln/>
        </p:spPr>
        <p:txBody>
          <a:bodyPr wrap="square" lIns="0" tIns="0" rIns="0" bIns="0" rtlCol="0" anchor="ctr"/>
          <a:lstStyle/>
          <a:p>
            <a:pPr marL="0" indent="0">
              <a:buNone/>
            </a:pPr>
            <a:r>
              <a:rPr lang="en-US" sz="1300" b="1" dirty="0">
                <a:solidFill>
                  <a:srgbClr val="0B3B44"/>
                </a:solidFill>
                <a:latin typeface="Calibri" pitchFamily="34" charset="0"/>
                <a:ea typeface="Calibri" pitchFamily="34" charset="-122"/>
                <a:cs typeface="Calibri" pitchFamily="34" charset="-120"/>
              </a:rPr>
              <a:t>tree</a:t>
            </a:r>
            <a:endParaRPr lang="en-US" sz="1300" dirty="0"/>
          </a:p>
        </p:txBody>
      </p:sp>
      <p:sp>
        <p:nvSpPr>
          <p:cNvPr id="29" name="Text 27"/>
          <p:cNvSpPr/>
          <p:nvPr/>
        </p:nvSpPr>
        <p:spPr>
          <a:xfrm>
            <a:off x="6473952" y="5221224"/>
            <a:ext cx="4846320" cy="457200"/>
          </a:xfrm>
          <a:prstGeom prst="rect">
            <a:avLst/>
          </a:prstGeom>
          <a:noFill/>
          <a:ln/>
        </p:spPr>
        <p:txBody>
          <a:bodyPr wrap="square" lIns="0" tIns="0" rIns="0" bIns="0" rtlCol="0" anchor="t"/>
          <a:lstStyle/>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Connected, undirected and acyclic.</a:t>
            </a:r>
            <a:endParaRPr lang="en-US" sz="1200" dirty="0"/>
          </a:p>
          <a:p>
            <a:pPr marL="0" indent="0">
              <a:lnSpc>
                <a:spcPts val="1500"/>
              </a:lnSpc>
              <a:buNone/>
            </a:pPr>
            <a:r>
              <a:rPr lang="en-US" sz="1200" dirty="0">
                <a:solidFill>
                  <a:srgbClr val="13232B"/>
                </a:solidFill>
                <a:latin typeface="Calibri" pitchFamily="34" charset="0"/>
                <a:ea typeface="Calibri" pitchFamily="34" charset="-122"/>
                <a:cs typeface="Calibri" pitchFamily="34" charset="-120"/>
              </a:rPr>
              <a:t>Exactly |V| − 1 edges.</a:t>
            </a:r>
            <a:endParaRPr lang="en-US" sz="1200" dirty="0"/>
          </a:p>
        </p:txBody>
      </p:sp>
      <p:sp>
        <p:nvSpPr>
          <p:cNvPr id="30" name="Text 28"/>
          <p:cNvSpPr/>
          <p:nvPr/>
        </p:nvSpPr>
        <p:spPr>
          <a:xfrm>
            <a:off x="658368" y="5870448"/>
            <a:ext cx="10881360" cy="320040"/>
          </a:xfrm>
          <a:prstGeom prst="rect">
            <a:avLst/>
          </a:prstGeom>
          <a:noFill/>
          <a:ln/>
        </p:spPr>
        <p:txBody>
          <a:bodyPr wrap="square" lIns="0" tIns="0" rIns="0" bIns="0" rtlCol="0" anchor="ctr"/>
          <a:lstStyle/>
          <a:p>
            <a:pPr marL="0" indent="0">
              <a:buNone/>
            </a:pPr>
            <a:r>
              <a:rPr lang="en-US" sz="1200" i="1" dirty="0">
                <a:solidFill>
                  <a:srgbClr val="63797F"/>
                </a:solidFill>
                <a:latin typeface="Calibri" pitchFamily="34" charset="0"/>
                <a:ea typeface="Calibri" pitchFamily="34" charset="-122"/>
                <a:cs typeface="Calibri" pitchFamily="34" charset="-120"/>
              </a:rPr>
              <a:t>Also: directed vs undirected, weighted vs unweighted, cyclic vs acyclic. Q27–Q30 all use simple, undirected, unweighted graphs.</a:t>
            </a:r>
            <a:endParaRPr lang="en-US" sz="1200" dirty="0"/>
          </a:p>
        </p:txBody>
      </p:sp>
      <p:sp>
        <p:nvSpPr>
          <p:cNvPr id="31" name="Text 29"/>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32" name="Text 30"/>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Two ways to store a graph</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The choice drives the complexity of everything you do afterwards.</a:t>
            </a:r>
            <a:endParaRPr lang="en-US" sz="1300" dirty="0"/>
          </a:p>
        </p:txBody>
      </p:sp>
      <p:sp>
        <p:nvSpPr>
          <p:cNvPr id="6" name="Shape 4"/>
          <p:cNvSpPr/>
          <p:nvPr/>
        </p:nvSpPr>
        <p:spPr>
          <a:xfrm>
            <a:off x="640080" y="1572768"/>
            <a:ext cx="5349240" cy="3657600"/>
          </a:xfrm>
          <a:prstGeom prst="roundRect">
            <a:avLst>
              <a:gd name="adj" fmla="val 1500"/>
            </a:avLst>
          </a:prstGeom>
          <a:solidFill>
            <a:srgbClr val="F6F9F8"/>
          </a:solidFill>
          <a:ln w="12700">
            <a:solidFill>
              <a:srgbClr val="D3E0DD"/>
            </a:solidFill>
            <a:prstDash val="solid"/>
          </a:ln>
        </p:spPr>
        <p:txBody>
          <a:bodyPr/>
          <a:lstStyle/>
          <a:p>
            <a:endParaRPr lang="en-US"/>
          </a:p>
        </p:txBody>
      </p:sp>
      <p:sp>
        <p:nvSpPr>
          <p:cNvPr id="7" name="Text 5"/>
          <p:cNvSpPr/>
          <p:nvPr/>
        </p:nvSpPr>
        <p:spPr>
          <a:xfrm>
            <a:off x="914400" y="1783080"/>
            <a:ext cx="4846320" cy="329184"/>
          </a:xfrm>
          <a:prstGeom prst="rect">
            <a:avLst/>
          </a:prstGeom>
          <a:noFill/>
          <a:ln/>
        </p:spPr>
        <p:txBody>
          <a:bodyPr wrap="square" lIns="0" tIns="0" rIns="0" bIns="0" rtlCol="0" anchor="ctr"/>
          <a:lstStyle/>
          <a:p>
            <a:pPr marL="0" indent="0">
              <a:buNone/>
            </a:pPr>
            <a:r>
              <a:rPr lang="en-US" sz="1800" b="1" dirty="0">
                <a:solidFill>
                  <a:srgbClr val="0B3B44"/>
                </a:solidFill>
                <a:latin typeface="Cambria" pitchFamily="34" charset="0"/>
                <a:ea typeface="Cambria" pitchFamily="34" charset="-122"/>
                <a:cs typeface="Cambria" pitchFamily="34" charset="-120"/>
              </a:rPr>
              <a:t>Adjacency matrix</a:t>
            </a:r>
            <a:endParaRPr lang="en-US" sz="1800" dirty="0"/>
          </a:p>
        </p:txBody>
      </p:sp>
      <p:sp>
        <p:nvSpPr>
          <p:cNvPr id="8" name="Text 6"/>
          <p:cNvSpPr/>
          <p:nvPr/>
        </p:nvSpPr>
        <p:spPr>
          <a:xfrm>
            <a:off x="914400" y="2148840"/>
            <a:ext cx="4846320" cy="310896"/>
          </a:xfrm>
          <a:prstGeom prst="rect">
            <a:avLst/>
          </a:prstGeom>
          <a:noFill/>
          <a:ln/>
        </p:spPr>
        <p:txBody>
          <a:bodyPr wrap="square" lIns="0" tIns="0" rIns="0" bIns="0" rtlCol="0" anchor="ctr"/>
          <a:lstStyle/>
          <a:p>
            <a:pPr marL="0" indent="0">
              <a:buNone/>
            </a:pPr>
            <a:r>
              <a:rPr lang="en-US" sz="1250" dirty="0">
                <a:solidFill>
                  <a:srgbClr val="63797F"/>
                </a:solidFill>
                <a:latin typeface="Calibri" pitchFamily="34" charset="0"/>
                <a:ea typeface="Calibri" pitchFamily="34" charset="-122"/>
                <a:cs typeface="Calibri" pitchFamily="34" charset="-120"/>
              </a:rPr>
              <a:t>A |V| × |V| grid; entry [u][v] is 1 when the edge exists.</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14400" y="2560320"/>
          <a:ext cx="2194560" cy="1097280"/>
        </p:xfrm>
        <a:graphic>
          <a:graphicData uri="http://schemas.openxmlformats.org/drawingml/2006/table">
            <a:tbl>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74320">
                <a:tc>
                  <a:txBody>
                    <a:bodyPr/>
                    <a:lstStyle/>
                    <a:p>
                      <a:pPr marL="0" indent="0" algn="ctr">
                        <a:buNone/>
                      </a:pP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c</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extLst>
                  <a:ext uri="{0D108BD9-81ED-4DB2-BD59-A6C34878D82A}">
                    <a16:rowId xmlns:a16="http://schemas.microsoft.com/office/drawing/2014/main" val="10000"/>
                  </a:ext>
                </a:extLst>
              </a:tr>
              <a:tr h="274320">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c</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p:nvPr/>
        </p:nvSpPr>
        <p:spPr>
          <a:xfrm>
            <a:off x="914400" y="3913632"/>
            <a:ext cx="4846320" cy="1143000"/>
          </a:xfrm>
          <a:prstGeom prst="rect">
            <a:avLst/>
          </a:prstGeom>
          <a:noFill/>
          <a:ln/>
        </p:spPr>
        <p:txBody>
          <a:bodyPr wrap="square" lIns="0" tIns="0" rIns="0" bIns="0" rtlCol="0" anchor="t"/>
          <a:lstStyle/>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Space: Θ(|V|²), even for a sparse graph.</a:t>
            </a:r>
            <a:endParaRPr lang="en-US" sz="1250" dirty="0"/>
          </a:p>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Is (u,v) an edge? — O(1). </a:t>
            </a:r>
          </a:p>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Visit all neighbours of u? — O(|V|), even if u has one neighbour.</a:t>
            </a:r>
            <a:endParaRPr lang="en-US" sz="1250" dirty="0"/>
          </a:p>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Undirected ⇒ symmetric about the diagonal.</a:t>
            </a:r>
            <a:endParaRPr lang="en-US" sz="1250" dirty="0"/>
          </a:p>
        </p:txBody>
      </p:sp>
      <p:sp>
        <p:nvSpPr>
          <p:cNvPr id="11" name="Shape 8"/>
          <p:cNvSpPr/>
          <p:nvPr/>
        </p:nvSpPr>
        <p:spPr>
          <a:xfrm>
            <a:off x="6217920" y="1572768"/>
            <a:ext cx="5349240" cy="3657600"/>
          </a:xfrm>
          <a:prstGeom prst="roundRect">
            <a:avLst>
              <a:gd name="adj" fmla="val 1500"/>
            </a:avLst>
          </a:prstGeom>
          <a:solidFill>
            <a:srgbClr val="EDF4F3"/>
          </a:solidFill>
          <a:ln w="12700">
            <a:solidFill>
              <a:srgbClr val="EDF4F3"/>
            </a:solidFill>
            <a:prstDash val="solid"/>
          </a:ln>
        </p:spPr>
        <p:txBody>
          <a:bodyPr/>
          <a:lstStyle/>
          <a:p>
            <a:endParaRPr lang="en-US"/>
          </a:p>
        </p:txBody>
      </p:sp>
      <p:sp>
        <p:nvSpPr>
          <p:cNvPr id="9" name="Text 9"/>
          <p:cNvSpPr/>
          <p:nvPr/>
        </p:nvSpPr>
        <p:spPr>
          <a:xfrm>
            <a:off x="6492240" y="1783080"/>
            <a:ext cx="4846320" cy="329184"/>
          </a:xfrm>
          <a:prstGeom prst="rect">
            <a:avLst/>
          </a:prstGeom>
          <a:noFill/>
          <a:ln/>
        </p:spPr>
        <p:txBody>
          <a:bodyPr wrap="square" lIns="0" tIns="0" rIns="0" bIns="0" rtlCol="0" anchor="ctr"/>
          <a:lstStyle/>
          <a:p>
            <a:pPr marL="0" indent="0">
              <a:buNone/>
            </a:pPr>
            <a:r>
              <a:rPr lang="en-US" sz="1800" b="1" dirty="0">
                <a:solidFill>
                  <a:srgbClr val="0B3B44"/>
                </a:solidFill>
                <a:latin typeface="Cambria" pitchFamily="34" charset="0"/>
                <a:ea typeface="Cambria" pitchFamily="34" charset="-122"/>
                <a:cs typeface="Cambria" pitchFamily="34" charset="-120"/>
              </a:rPr>
              <a:t>Adjacency list</a:t>
            </a:r>
            <a:endParaRPr lang="en-US" sz="1800" dirty="0"/>
          </a:p>
        </p:txBody>
      </p:sp>
      <p:sp>
        <p:nvSpPr>
          <p:cNvPr id="13" name="Text 10"/>
          <p:cNvSpPr/>
          <p:nvPr/>
        </p:nvSpPr>
        <p:spPr>
          <a:xfrm>
            <a:off x="6492240" y="2148840"/>
            <a:ext cx="4846320" cy="310896"/>
          </a:xfrm>
          <a:prstGeom prst="rect">
            <a:avLst/>
          </a:prstGeom>
          <a:noFill/>
          <a:ln/>
        </p:spPr>
        <p:txBody>
          <a:bodyPr wrap="square" lIns="0" tIns="0" rIns="0" bIns="0" rtlCol="0" anchor="ctr"/>
          <a:lstStyle/>
          <a:p>
            <a:pPr marL="0" indent="0">
              <a:buNone/>
            </a:pPr>
            <a:r>
              <a:rPr lang="en-US" sz="1250" dirty="0">
                <a:solidFill>
                  <a:srgbClr val="63797F"/>
                </a:solidFill>
                <a:latin typeface="Calibri" pitchFamily="34" charset="0"/>
                <a:ea typeface="Calibri" pitchFamily="34" charset="-122"/>
                <a:cs typeface="Calibri" pitchFamily="34" charset="-120"/>
              </a:rPr>
              <a:t>For each node, a list of its neighbours.</a:t>
            </a:r>
            <a:endParaRPr lang="en-US" sz="1250" dirty="0"/>
          </a:p>
        </p:txBody>
      </p:sp>
      <p:sp>
        <p:nvSpPr>
          <p:cNvPr id="14" name="Shape 11"/>
          <p:cNvSpPr/>
          <p:nvPr/>
        </p:nvSpPr>
        <p:spPr>
          <a:xfrm>
            <a:off x="6492240" y="2560320"/>
            <a:ext cx="2651760" cy="1170432"/>
          </a:xfrm>
          <a:prstGeom prst="roundRect">
            <a:avLst>
              <a:gd name="adj" fmla="val 4688"/>
            </a:avLst>
          </a:prstGeom>
          <a:solidFill>
            <a:srgbClr val="FFFFFF"/>
          </a:solidFill>
          <a:ln w="12700">
            <a:solidFill>
              <a:srgbClr val="D3E0DD"/>
            </a:solidFill>
            <a:prstDash val="solid"/>
          </a:ln>
        </p:spPr>
        <p:txBody>
          <a:bodyPr/>
          <a:lstStyle/>
          <a:p>
            <a:endParaRPr lang="en-US"/>
          </a:p>
        </p:txBody>
      </p:sp>
      <p:sp>
        <p:nvSpPr>
          <p:cNvPr id="15" name="Text 12"/>
          <p:cNvSpPr/>
          <p:nvPr/>
        </p:nvSpPr>
        <p:spPr>
          <a:xfrm>
            <a:off x="6675120" y="2651760"/>
            <a:ext cx="2377440" cy="1005840"/>
          </a:xfrm>
          <a:prstGeom prst="rect">
            <a:avLst/>
          </a:prstGeom>
          <a:noFill/>
          <a:ln/>
        </p:spPr>
        <p:txBody>
          <a:bodyPr wrap="square" lIns="0" tIns="0" rIns="0" bIns="0" rtlCol="0" anchor="ctr"/>
          <a:lstStyle/>
          <a:p>
            <a:pPr marL="0" indent="0">
              <a:lnSpc>
                <a:spcPts val="1600"/>
              </a:lnSpc>
              <a:buNone/>
            </a:pPr>
            <a:r>
              <a:rPr lang="en-US" sz="1200" dirty="0">
                <a:solidFill>
                  <a:srgbClr val="13232B"/>
                </a:solidFill>
                <a:latin typeface="Courier New" pitchFamily="34" charset="0"/>
                <a:ea typeface="Courier New" pitchFamily="34" charset="-122"/>
                <a:cs typeface="Courier New" pitchFamily="34" charset="-120"/>
              </a:rPr>
              <a:t>a → b → c</a:t>
            </a:r>
            <a:endParaRPr lang="en-US" sz="1200" dirty="0"/>
          </a:p>
          <a:p>
            <a:pPr marL="0" indent="0">
              <a:lnSpc>
                <a:spcPts val="1600"/>
              </a:lnSpc>
              <a:buNone/>
            </a:pPr>
            <a:r>
              <a:rPr lang="en-US" sz="1200" dirty="0">
                <a:solidFill>
                  <a:srgbClr val="13232B"/>
                </a:solidFill>
                <a:latin typeface="Courier New" pitchFamily="34" charset="0"/>
                <a:ea typeface="Courier New" pitchFamily="34" charset="-122"/>
                <a:cs typeface="Courier New" pitchFamily="34" charset="-120"/>
              </a:rPr>
              <a:t>b → a → c</a:t>
            </a:r>
            <a:endParaRPr lang="en-US" sz="1200" dirty="0"/>
          </a:p>
          <a:p>
            <a:pPr marL="0" indent="0">
              <a:lnSpc>
                <a:spcPts val="1600"/>
              </a:lnSpc>
              <a:buNone/>
            </a:pPr>
            <a:r>
              <a:rPr lang="en-US" sz="1200" dirty="0">
                <a:solidFill>
                  <a:srgbClr val="13232B"/>
                </a:solidFill>
                <a:latin typeface="Courier New" pitchFamily="34" charset="0"/>
                <a:ea typeface="Courier New" pitchFamily="34" charset="-122"/>
                <a:cs typeface="Courier New" pitchFamily="34" charset="-120"/>
              </a:rPr>
              <a:t>c → a → b</a:t>
            </a:r>
            <a:endParaRPr lang="en-US" sz="1200" dirty="0"/>
          </a:p>
        </p:txBody>
      </p:sp>
      <p:sp>
        <p:nvSpPr>
          <p:cNvPr id="16" name="Text 13"/>
          <p:cNvSpPr/>
          <p:nvPr/>
        </p:nvSpPr>
        <p:spPr>
          <a:xfrm>
            <a:off x="6492240" y="3913632"/>
            <a:ext cx="4846320" cy="1170432"/>
          </a:xfrm>
          <a:prstGeom prst="rect">
            <a:avLst/>
          </a:prstGeom>
          <a:noFill/>
          <a:ln/>
        </p:spPr>
        <p:txBody>
          <a:bodyPr wrap="square" lIns="0" tIns="0" rIns="0" bIns="0" rtlCol="0" anchor="t"/>
          <a:lstStyle/>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Space: Θ(|V| + |E|).</a:t>
            </a:r>
            <a:endParaRPr lang="en-US" sz="1250" dirty="0"/>
          </a:p>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Is (u,v) an edge? — O(degree(u)).</a:t>
            </a:r>
            <a:endParaRPr lang="en-US" sz="1250" dirty="0"/>
          </a:p>
          <a:p>
            <a:pPr marL="203200" indent="-203200">
              <a:spcAft>
                <a:spcPts val="500"/>
              </a:spcAft>
              <a:buSzPct val="100000"/>
              <a:buChar char="●"/>
            </a:pPr>
            <a:r>
              <a:rPr lang="en-US" sz="1250" dirty="0">
                <a:solidFill>
                  <a:srgbClr val="13232B"/>
                </a:solidFill>
                <a:latin typeface="Calibri" pitchFamily="34" charset="0"/>
                <a:ea typeface="Calibri" pitchFamily="34" charset="-122"/>
                <a:cs typeface="Calibri" pitchFamily="34" charset="-120"/>
              </a:rPr>
              <a:t>Visit all neighbours of u? — O(degree(u)).</a:t>
            </a:r>
            <a:endParaRPr lang="en-US" sz="1250" dirty="0"/>
          </a:p>
        </p:txBody>
      </p:sp>
      <p:sp>
        <p:nvSpPr>
          <p:cNvPr id="17" name="Shape 14"/>
          <p:cNvSpPr/>
          <p:nvPr/>
        </p:nvSpPr>
        <p:spPr>
          <a:xfrm>
            <a:off x="640080" y="5413248"/>
            <a:ext cx="10927080" cy="713232"/>
          </a:xfrm>
          <a:prstGeom prst="roundRect">
            <a:avLst>
              <a:gd name="adj" fmla="val 7692"/>
            </a:avLst>
          </a:prstGeom>
          <a:solidFill>
            <a:srgbClr val="0B3B44"/>
          </a:solidFill>
          <a:ln w="12700">
            <a:solidFill>
              <a:srgbClr val="0B3B44"/>
            </a:solidFill>
            <a:prstDash val="solid"/>
          </a:ln>
        </p:spPr>
        <p:txBody>
          <a:bodyPr/>
          <a:lstStyle/>
          <a:p>
            <a:endParaRPr lang="en-US"/>
          </a:p>
        </p:txBody>
      </p:sp>
      <p:sp>
        <p:nvSpPr>
          <p:cNvPr id="18" name="Text 15"/>
          <p:cNvSpPr/>
          <p:nvPr/>
        </p:nvSpPr>
        <p:spPr>
          <a:xfrm>
            <a:off x="914400" y="5413248"/>
            <a:ext cx="10378440" cy="713232"/>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Traversal is nothing but neighbour scans</a:t>
            </a:r>
            <a:r>
              <a:rPr lang="en-US" sz="1300" dirty="0">
                <a:solidFill>
                  <a:srgbClr val="FFFFFF"/>
                </a:solidFill>
                <a:latin typeface="Calibri" pitchFamily="34" charset="0"/>
                <a:ea typeface="Calibri" pitchFamily="34" charset="-122"/>
                <a:cs typeface="Calibri" pitchFamily="34" charset="-120"/>
              </a:rPr>
              <a:t> — which is exactly why the adjacency-list version of DFS and BFS is the faster one.</a:t>
            </a:r>
            <a:endParaRPr lang="en-US" sz="1300" dirty="0"/>
          </a:p>
        </p:txBody>
      </p:sp>
      <p:sp>
        <p:nvSpPr>
          <p:cNvPr id="19" name="Text 16"/>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20" name="Text 17"/>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27</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Warm-up: matrix → picture → DFS</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Read the matrix row by row; each 1 above the diagonal is one edge.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2743200" cy="1755648"/>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tblGrid>
              <a:tr h="292608">
                <a:tc>
                  <a:txBody>
                    <a:bodyPr/>
                    <a:lstStyle/>
                    <a:p>
                      <a:pPr marL="0" indent="0" algn="ctr">
                        <a:buNone/>
                      </a:pP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c</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d</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e</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extLst>
                  <a:ext uri="{0D108BD9-81ED-4DB2-BD59-A6C34878D82A}">
                    <a16:rowId xmlns:a16="http://schemas.microsoft.com/office/drawing/2014/main" val="10000"/>
                  </a:ext>
                </a:extLst>
              </a:tr>
              <a:tr h="292608">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a</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b</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c</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d</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ctr">
                        <a:buNone/>
                      </a:pPr>
                      <a:r>
                        <a:rPr lang="en-US" sz="1200" b="1" i="1" dirty="0">
                          <a:solidFill>
                            <a:srgbClr val="0B3B44"/>
                          </a:solidFill>
                          <a:latin typeface="Courier New" pitchFamily="34" charset="0"/>
                          <a:ea typeface="Courier New" pitchFamily="34" charset="-122"/>
                          <a:cs typeface="Courier New" pitchFamily="34" charset="-120"/>
                        </a:rPr>
                        <a:t>e</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A9D8F"/>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B9C7C9"/>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685800" y="3794760"/>
            <a:ext cx="2926080" cy="292608"/>
          </a:xfrm>
          <a:prstGeom prst="rect">
            <a:avLst/>
          </a:prstGeom>
          <a:noFill/>
          <a:ln/>
        </p:spPr>
        <p:txBody>
          <a:bodyPr wrap="square" lIns="0" tIns="0" rIns="0" bIns="0" rtlCol="0" anchor="ctr"/>
          <a:lstStyle/>
          <a:p>
            <a:pPr marL="0" indent="0">
              <a:buNone/>
            </a:pPr>
            <a:r>
              <a:rPr lang="en-US" sz="1150" dirty="0">
                <a:solidFill>
                  <a:srgbClr val="63797F"/>
                </a:solidFill>
                <a:latin typeface="Courier New" pitchFamily="34" charset="0"/>
                <a:ea typeface="Courier New" pitchFamily="34" charset="-122"/>
                <a:cs typeface="Courier New" pitchFamily="34" charset="-120"/>
              </a:rPr>
              <a:t>6 edges:  ab, ac, bc, cd, ce, de</a:t>
            </a:r>
            <a:endParaRPr lang="en-US" sz="1150" dirty="0"/>
          </a:p>
        </p:txBody>
      </p:sp>
      <p:sp>
        <p:nvSpPr>
          <p:cNvPr id="8" name="Shape 5"/>
          <p:cNvSpPr/>
          <p:nvPr/>
        </p:nvSpPr>
        <p:spPr>
          <a:xfrm>
            <a:off x="4251960" y="1600200"/>
            <a:ext cx="3840480" cy="4114800"/>
          </a:xfrm>
          <a:prstGeom prst="roundRect">
            <a:avLst>
              <a:gd name="adj" fmla="val 1429"/>
            </a:avLst>
          </a:prstGeom>
          <a:solidFill>
            <a:srgbClr val="F6F9F8"/>
          </a:solidFill>
          <a:ln w="12700">
            <a:solidFill>
              <a:srgbClr val="D3E0DD"/>
            </a:solidFill>
            <a:prstDash val="solid"/>
          </a:ln>
        </p:spPr>
        <p:txBody>
          <a:bodyPr/>
          <a:lstStyle/>
          <a:p>
            <a:endParaRPr lang="en-US"/>
          </a:p>
        </p:txBody>
      </p:sp>
      <p:sp>
        <p:nvSpPr>
          <p:cNvPr id="9" name="Text 6"/>
          <p:cNvSpPr/>
          <p:nvPr/>
        </p:nvSpPr>
        <p:spPr>
          <a:xfrm>
            <a:off x="4526280" y="1737360"/>
            <a:ext cx="329184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THE GRAPH</a:t>
            </a:r>
            <a:endParaRPr lang="en-US" sz="1150" dirty="0"/>
          </a:p>
        </p:txBody>
      </p:sp>
      <p:sp>
        <p:nvSpPr>
          <p:cNvPr id="10" name="Shape 7"/>
          <p:cNvSpPr/>
          <p:nvPr/>
        </p:nvSpPr>
        <p:spPr>
          <a:xfrm>
            <a:off x="4846320" y="2615184"/>
            <a:ext cx="0" cy="2103120"/>
          </a:xfrm>
          <a:prstGeom prst="line">
            <a:avLst/>
          </a:prstGeom>
          <a:noFill/>
          <a:ln w="22225">
            <a:solidFill>
              <a:srgbClr val="9DB3B7"/>
            </a:solidFill>
            <a:prstDash val="solid"/>
          </a:ln>
        </p:spPr>
        <p:txBody>
          <a:bodyPr/>
          <a:lstStyle/>
          <a:p>
            <a:endParaRPr lang="en-US"/>
          </a:p>
        </p:txBody>
      </p:sp>
      <p:sp>
        <p:nvSpPr>
          <p:cNvPr id="11" name="Shape 8"/>
          <p:cNvSpPr/>
          <p:nvPr/>
        </p:nvSpPr>
        <p:spPr>
          <a:xfrm>
            <a:off x="4846320" y="2615184"/>
            <a:ext cx="1188720" cy="1051560"/>
          </a:xfrm>
          <a:prstGeom prst="line">
            <a:avLst/>
          </a:prstGeom>
          <a:noFill/>
          <a:ln w="22225">
            <a:solidFill>
              <a:srgbClr val="9DB3B7"/>
            </a:solidFill>
            <a:prstDash val="solid"/>
          </a:ln>
        </p:spPr>
        <p:txBody>
          <a:bodyPr/>
          <a:lstStyle/>
          <a:p>
            <a:endParaRPr lang="en-US"/>
          </a:p>
        </p:txBody>
      </p:sp>
      <p:sp>
        <p:nvSpPr>
          <p:cNvPr id="12" name="Shape 9"/>
          <p:cNvSpPr/>
          <p:nvPr/>
        </p:nvSpPr>
        <p:spPr>
          <a:xfrm flipV="1">
            <a:off x="4846320" y="3666744"/>
            <a:ext cx="1188720" cy="1051560"/>
          </a:xfrm>
          <a:prstGeom prst="line">
            <a:avLst/>
          </a:prstGeom>
          <a:noFill/>
          <a:ln w="22225">
            <a:solidFill>
              <a:srgbClr val="9DB3B7"/>
            </a:solidFill>
            <a:prstDash val="solid"/>
          </a:ln>
        </p:spPr>
        <p:txBody>
          <a:bodyPr/>
          <a:lstStyle/>
          <a:p>
            <a:endParaRPr lang="en-US"/>
          </a:p>
        </p:txBody>
      </p:sp>
      <p:sp>
        <p:nvSpPr>
          <p:cNvPr id="13" name="Shape 10"/>
          <p:cNvSpPr/>
          <p:nvPr/>
        </p:nvSpPr>
        <p:spPr>
          <a:xfrm flipV="1">
            <a:off x="6035040" y="2615184"/>
            <a:ext cx="1188720" cy="1051560"/>
          </a:xfrm>
          <a:prstGeom prst="line">
            <a:avLst/>
          </a:prstGeom>
          <a:noFill/>
          <a:ln w="22225">
            <a:solidFill>
              <a:srgbClr val="9DB3B7"/>
            </a:solidFill>
            <a:prstDash val="solid"/>
          </a:ln>
        </p:spPr>
        <p:txBody>
          <a:bodyPr/>
          <a:lstStyle/>
          <a:p>
            <a:endParaRPr lang="en-US"/>
          </a:p>
        </p:txBody>
      </p:sp>
      <p:sp>
        <p:nvSpPr>
          <p:cNvPr id="14" name="Shape 11"/>
          <p:cNvSpPr/>
          <p:nvPr/>
        </p:nvSpPr>
        <p:spPr>
          <a:xfrm>
            <a:off x="6035040" y="3666744"/>
            <a:ext cx="1188720" cy="1051560"/>
          </a:xfrm>
          <a:prstGeom prst="line">
            <a:avLst/>
          </a:prstGeom>
          <a:noFill/>
          <a:ln w="22225">
            <a:solidFill>
              <a:srgbClr val="9DB3B7"/>
            </a:solidFill>
            <a:prstDash val="solid"/>
          </a:ln>
        </p:spPr>
        <p:txBody>
          <a:bodyPr/>
          <a:lstStyle/>
          <a:p>
            <a:endParaRPr lang="en-US"/>
          </a:p>
        </p:txBody>
      </p:sp>
      <p:sp>
        <p:nvSpPr>
          <p:cNvPr id="6" name="Shape 12"/>
          <p:cNvSpPr/>
          <p:nvPr/>
        </p:nvSpPr>
        <p:spPr>
          <a:xfrm>
            <a:off x="7223760" y="2615184"/>
            <a:ext cx="0" cy="2103120"/>
          </a:xfrm>
          <a:prstGeom prst="line">
            <a:avLst/>
          </a:prstGeom>
          <a:noFill/>
          <a:ln w="22225">
            <a:solidFill>
              <a:srgbClr val="9DB3B7"/>
            </a:solidFill>
            <a:prstDash val="solid"/>
          </a:ln>
        </p:spPr>
        <p:txBody>
          <a:bodyPr/>
          <a:lstStyle/>
          <a:p>
            <a:endParaRPr lang="en-US"/>
          </a:p>
        </p:txBody>
      </p:sp>
      <p:sp>
        <p:nvSpPr>
          <p:cNvPr id="16" name="Shape 13"/>
          <p:cNvSpPr/>
          <p:nvPr/>
        </p:nvSpPr>
        <p:spPr>
          <a:xfrm>
            <a:off x="4572000" y="2340864"/>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17" name="Text 14"/>
          <p:cNvSpPr/>
          <p:nvPr/>
        </p:nvSpPr>
        <p:spPr>
          <a:xfrm>
            <a:off x="4572000" y="2340864"/>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a</a:t>
            </a:r>
            <a:endParaRPr lang="en-US" sz="1350" dirty="0"/>
          </a:p>
        </p:txBody>
      </p:sp>
      <p:sp>
        <p:nvSpPr>
          <p:cNvPr id="18" name="Shape 15"/>
          <p:cNvSpPr/>
          <p:nvPr/>
        </p:nvSpPr>
        <p:spPr>
          <a:xfrm>
            <a:off x="6949440" y="2340864"/>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19" name="Text 16"/>
          <p:cNvSpPr/>
          <p:nvPr/>
        </p:nvSpPr>
        <p:spPr>
          <a:xfrm>
            <a:off x="6949440" y="2340864"/>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d</a:t>
            </a:r>
            <a:endParaRPr lang="en-US" sz="1350" dirty="0"/>
          </a:p>
        </p:txBody>
      </p:sp>
      <p:sp>
        <p:nvSpPr>
          <p:cNvPr id="20" name="Shape 17"/>
          <p:cNvSpPr/>
          <p:nvPr/>
        </p:nvSpPr>
        <p:spPr>
          <a:xfrm>
            <a:off x="5760720" y="3392424"/>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1" name="Text 18"/>
          <p:cNvSpPr/>
          <p:nvPr/>
        </p:nvSpPr>
        <p:spPr>
          <a:xfrm>
            <a:off x="5760720" y="3392424"/>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c</a:t>
            </a:r>
            <a:endParaRPr lang="en-US" sz="1350" dirty="0"/>
          </a:p>
        </p:txBody>
      </p:sp>
      <p:sp>
        <p:nvSpPr>
          <p:cNvPr id="22" name="Shape 19"/>
          <p:cNvSpPr/>
          <p:nvPr/>
        </p:nvSpPr>
        <p:spPr>
          <a:xfrm>
            <a:off x="4572000" y="4443984"/>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3" name="Text 20"/>
          <p:cNvSpPr/>
          <p:nvPr/>
        </p:nvSpPr>
        <p:spPr>
          <a:xfrm>
            <a:off x="4572000" y="4443984"/>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b</a:t>
            </a:r>
            <a:endParaRPr lang="en-US" sz="1350" dirty="0"/>
          </a:p>
        </p:txBody>
      </p:sp>
      <p:sp>
        <p:nvSpPr>
          <p:cNvPr id="24" name="Shape 21"/>
          <p:cNvSpPr/>
          <p:nvPr/>
        </p:nvSpPr>
        <p:spPr>
          <a:xfrm>
            <a:off x="6949440" y="4443984"/>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5" name="Text 22"/>
          <p:cNvSpPr/>
          <p:nvPr/>
        </p:nvSpPr>
        <p:spPr>
          <a:xfrm>
            <a:off x="6949440" y="4443984"/>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e</a:t>
            </a:r>
            <a:endParaRPr lang="en-US" sz="1350" dirty="0"/>
          </a:p>
        </p:txBody>
      </p:sp>
      <p:sp>
        <p:nvSpPr>
          <p:cNvPr id="26" name="Shape 23"/>
          <p:cNvSpPr/>
          <p:nvPr/>
        </p:nvSpPr>
        <p:spPr>
          <a:xfrm>
            <a:off x="8275320" y="1600200"/>
            <a:ext cx="3291840" cy="4114800"/>
          </a:xfrm>
          <a:prstGeom prst="roundRect">
            <a:avLst>
              <a:gd name="adj" fmla="val 1667"/>
            </a:avLst>
          </a:prstGeom>
          <a:solidFill>
            <a:srgbClr val="EDF4F3"/>
          </a:solidFill>
          <a:ln w="12700">
            <a:solidFill>
              <a:srgbClr val="EDF4F3"/>
            </a:solidFill>
            <a:prstDash val="solid"/>
          </a:ln>
        </p:spPr>
        <p:txBody>
          <a:bodyPr/>
          <a:lstStyle/>
          <a:p>
            <a:endParaRPr lang="en-US"/>
          </a:p>
        </p:txBody>
      </p:sp>
      <p:sp>
        <p:nvSpPr>
          <p:cNvPr id="27" name="Text 24"/>
          <p:cNvSpPr/>
          <p:nvPr/>
        </p:nvSpPr>
        <p:spPr>
          <a:xfrm>
            <a:off x="8549640" y="1737360"/>
            <a:ext cx="274320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DFS TREE FROM a</a:t>
            </a:r>
            <a:endParaRPr lang="en-US" sz="1150" dirty="0"/>
          </a:p>
        </p:txBody>
      </p:sp>
      <p:sp>
        <p:nvSpPr>
          <p:cNvPr id="44" name="Text 41"/>
          <p:cNvSpPr/>
          <p:nvPr/>
        </p:nvSpPr>
        <p:spPr>
          <a:xfrm>
            <a:off x="8275320" y="5797296"/>
            <a:ext cx="3291840" cy="256032"/>
          </a:xfrm>
          <a:prstGeom prst="rect">
            <a:avLst/>
          </a:prstGeom>
          <a:noFill/>
          <a:ln/>
        </p:spPr>
        <p:txBody>
          <a:bodyPr wrap="square" lIns="0" tIns="0" rIns="0" bIns="0" rtlCol="0" anchor="ctr"/>
          <a:lstStyle/>
          <a:p>
            <a:pPr marL="0" indent="0">
              <a:buNone/>
            </a:pPr>
            <a:r>
              <a:rPr lang="en-US" sz="1050" i="1" dirty="0">
                <a:solidFill>
                  <a:srgbClr val="C1465A"/>
                </a:solidFill>
                <a:latin typeface="Calibri" pitchFamily="34" charset="0"/>
                <a:ea typeface="Calibri" pitchFamily="34" charset="-122"/>
                <a:cs typeface="Calibri" pitchFamily="34" charset="-120"/>
              </a:rPr>
              <a:t>dashed = back edges (not in the tree)</a:t>
            </a:r>
            <a:endParaRPr lang="en-US" sz="1050" dirty="0"/>
          </a:p>
        </p:txBody>
      </p:sp>
      <p:sp>
        <p:nvSpPr>
          <p:cNvPr id="45" name="Text 42"/>
          <p:cNvSpPr/>
          <p:nvPr/>
        </p:nvSpPr>
        <p:spPr>
          <a:xfrm>
            <a:off x="685800" y="4297680"/>
            <a:ext cx="3291840" cy="320040"/>
          </a:xfrm>
          <a:prstGeom prst="rect">
            <a:avLst/>
          </a:prstGeom>
          <a:noFill/>
          <a:ln/>
        </p:spPr>
        <p:txBody>
          <a:bodyPr wrap="square" lIns="0" tIns="0" rIns="0" bIns="0" rtlCol="0" anchor="ctr"/>
          <a:lstStyle/>
          <a:p>
            <a:pPr marL="0" indent="0">
              <a:buNone/>
            </a:pPr>
            <a:r>
              <a:rPr lang="en-US" sz="1350" b="1" dirty="0">
                <a:solidFill>
                  <a:srgbClr val="0B3B44"/>
                </a:solidFill>
                <a:latin typeface="Calibri" pitchFamily="34" charset="0"/>
                <a:ea typeface="Calibri" pitchFamily="34" charset="-122"/>
                <a:cs typeface="Calibri" pitchFamily="34" charset="-120"/>
              </a:rPr>
              <a:t>Visit order:  </a:t>
            </a:r>
            <a:r>
              <a:rPr lang="en-US" sz="1350" b="1" dirty="0">
                <a:solidFill>
                  <a:srgbClr val="13232B"/>
                </a:solidFill>
                <a:latin typeface="Courier New" pitchFamily="34" charset="0"/>
                <a:ea typeface="Courier New" pitchFamily="34" charset="-122"/>
                <a:cs typeface="Courier New" pitchFamily="34" charset="-120"/>
              </a:rPr>
              <a:t>a, b, c, d, e</a:t>
            </a:r>
            <a:endParaRPr lang="en-US" sz="1350" dirty="0"/>
          </a:p>
        </p:txBody>
      </p:sp>
      <p:sp>
        <p:nvSpPr>
          <p:cNvPr id="46" name="Text 43"/>
          <p:cNvSpPr/>
          <p:nvPr/>
        </p:nvSpPr>
        <p:spPr>
          <a:xfrm>
            <a:off x="685800" y="4709160"/>
            <a:ext cx="3291840" cy="1005840"/>
          </a:xfrm>
          <a:prstGeom prst="rect">
            <a:avLst/>
          </a:prstGeom>
          <a:noFill/>
          <a:ln/>
        </p:spPr>
        <p:txBody>
          <a:bodyPr wrap="square" lIns="0" tIns="0" rIns="0" bIns="0" rtlCol="0" anchor="t"/>
          <a:lstStyle/>
          <a:p>
            <a:pPr marL="0" indent="0">
              <a:lnSpc>
                <a:spcPts val="1600"/>
              </a:lnSpc>
              <a:buNone/>
            </a:pPr>
            <a:r>
              <a:rPr lang="en-US" sz="1200" dirty="0">
                <a:solidFill>
                  <a:srgbClr val="63797F"/>
                </a:solidFill>
                <a:latin typeface="Calibri" pitchFamily="34" charset="0"/>
                <a:ea typeface="Calibri" pitchFamily="34" charset="-122"/>
                <a:cs typeface="Calibri" pitchFamily="34" charset="-120"/>
              </a:rPr>
              <a:t>From a, alphabetical order sends us to b. From b the only new node is c; from c it is d; from d it is e. One long chain.</a:t>
            </a:r>
            <a:endParaRPr lang="en-US" sz="1200" dirty="0"/>
          </a:p>
        </p:txBody>
      </p:sp>
      <p:sp>
        <p:nvSpPr>
          <p:cNvPr id="47" name="Text 44"/>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48" name="Text 45"/>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14</a:t>
            </a:r>
            <a:endParaRPr lang="en-US" sz="900" dirty="0"/>
          </a:p>
        </p:txBody>
      </p:sp>
      <p:pic>
        <p:nvPicPr>
          <p:cNvPr id="49" name="Picture 48">
            <a:extLst>
              <a:ext uri="{FF2B5EF4-FFF2-40B4-BE49-F238E27FC236}">
                <a16:creationId xmlns:a16="http://schemas.microsoft.com/office/drawing/2014/main" id="{4652B0FB-7C40-4960-BC3A-FD6E3159EEDA}"/>
              </a:ext>
            </a:extLst>
          </p:cNvPr>
          <p:cNvPicPr>
            <a:picLocks noChangeAspect="1"/>
          </p:cNvPicPr>
          <p:nvPr/>
        </p:nvPicPr>
        <p:blipFill>
          <a:blip r:embed="rId3"/>
          <a:stretch>
            <a:fillRect/>
          </a:stretch>
        </p:blipFill>
        <p:spPr>
          <a:xfrm>
            <a:off x="9025890" y="2136394"/>
            <a:ext cx="1790700" cy="3441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28</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main event</a:t>
            </a:r>
            <a:endParaRPr lang="en-US" sz="2700" dirty="0"/>
          </a:p>
        </p:txBody>
      </p:sp>
      <p:sp>
        <p:nvSpPr>
          <p:cNvPr id="6" name="Shape 4"/>
          <p:cNvSpPr/>
          <p:nvPr/>
        </p:nvSpPr>
        <p:spPr>
          <a:xfrm>
            <a:off x="640080" y="1600200"/>
            <a:ext cx="8778240" cy="4114800"/>
          </a:xfrm>
          <a:prstGeom prst="roundRect">
            <a:avLst>
              <a:gd name="adj" fmla="val 1333"/>
            </a:avLst>
          </a:prstGeom>
          <a:solidFill>
            <a:srgbClr val="F6F9F8"/>
          </a:solidFill>
          <a:ln w="12700">
            <a:solidFill>
              <a:srgbClr val="D3E0DD"/>
            </a:solidFill>
            <a:prstDash val="solid"/>
          </a:ln>
        </p:spPr>
        <p:txBody>
          <a:bodyPr/>
          <a:lstStyle/>
          <a:p>
            <a:endParaRPr lang="en-US"/>
          </a:p>
        </p:txBody>
      </p:sp>
      <p:sp>
        <p:nvSpPr>
          <p:cNvPr id="7" name="Shape 5"/>
          <p:cNvSpPr/>
          <p:nvPr/>
        </p:nvSpPr>
        <p:spPr>
          <a:xfrm>
            <a:off x="2606040" y="2468880"/>
            <a:ext cx="1920240" cy="0"/>
          </a:xfrm>
          <a:prstGeom prst="line">
            <a:avLst/>
          </a:prstGeom>
          <a:noFill/>
          <a:ln w="25400">
            <a:solidFill>
              <a:srgbClr val="9DB3B7"/>
            </a:solidFill>
            <a:prstDash val="solid"/>
          </a:ln>
        </p:spPr>
        <p:txBody>
          <a:bodyPr/>
          <a:lstStyle/>
          <a:p>
            <a:endParaRPr lang="en-US"/>
          </a:p>
        </p:txBody>
      </p:sp>
      <p:sp>
        <p:nvSpPr>
          <p:cNvPr id="8" name="Shape 6"/>
          <p:cNvSpPr/>
          <p:nvPr/>
        </p:nvSpPr>
        <p:spPr>
          <a:xfrm>
            <a:off x="6446520" y="2468880"/>
            <a:ext cx="1920240" cy="0"/>
          </a:xfrm>
          <a:prstGeom prst="line">
            <a:avLst/>
          </a:prstGeom>
          <a:noFill/>
          <a:ln w="25400">
            <a:solidFill>
              <a:srgbClr val="9DB3B7"/>
            </a:solidFill>
            <a:prstDash val="solid"/>
          </a:ln>
        </p:spPr>
        <p:txBody>
          <a:bodyPr/>
          <a:lstStyle/>
          <a:p>
            <a:endParaRPr lang="en-US"/>
          </a:p>
        </p:txBody>
      </p:sp>
      <p:sp>
        <p:nvSpPr>
          <p:cNvPr id="9" name="Shape 7"/>
          <p:cNvSpPr/>
          <p:nvPr/>
        </p:nvSpPr>
        <p:spPr>
          <a:xfrm>
            <a:off x="2606040" y="2468880"/>
            <a:ext cx="960120" cy="1965960"/>
          </a:xfrm>
          <a:prstGeom prst="line">
            <a:avLst/>
          </a:prstGeom>
          <a:noFill/>
          <a:ln w="25400">
            <a:solidFill>
              <a:srgbClr val="9DB3B7"/>
            </a:solidFill>
            <a:prstDash val="solid"/>
          </a:ln>
        </p:spPr>
        <p:txBody>
          <a:bodyPr/>
          <a:lstStyle/>
          <a:p>
            <a:endParaRPr lang="en-US"/>
          </a:p>
        </p:txBody>
      </p:sp>
      <p:sp>
        <p:nvSpPr>
          <p:cNvPr id="10" name="Shape 8"/>
          <p:cNvSpPr/>
          <p:nvPr/>
        </p:nvSpPr>
        <p:spPr>
          <a:xfrm flipV="1">
            <a:off x="3566160" y="2468880"/>
            <a:ext cx="960120" cy="1965960"/>
          </a:xfrm>
          <a:prstGeom prst="line">
            <a:avLst/>
          </a:prstGeom>
          <a:noFill/>
          <a:ln w="25400">
            <a:solidFill>
              <a:srgbClr val="9DB3B7"/>
            </a:solidFill>
            <a:prstDash val="solid"/>
          </a:ln>
        </p:spPr>
        <p:txBody>
          <a:bodyPr/>
          <a:lstStyle/>
          <a:p>
            <a:endParaRPr lang="en-US"/>
          </a:p>
        </p:txBody>
      </p:sp>
      <p:sp>
        <p:nvSpPr>
          <p:cNvPr id="11" name="Shape 9"/>
          <p:cNvSpPr/>
          <p:nvPr/>
        </p:nvSpPr>
        <p:spPr>
          <a:xfrm>
            <a:off x="4526280" y="2468880"/>
            <a:ext cx="960120" cy="1965960"/>
          </a:xfrm>
          <a:prstGeom prst="line">
            <a:avLst/>
          </a:prstGeom>
          <a:noFill/>
          <a:ln w="25400">
            <a:solidFill>
              <a:srgbClr val="9DB3B7"/>
            </a:solidFill>
            <a:prstDash val="solid"/>
          </a:ln>
        </p:spPr>
        <p:txBody>
          <a:bodyPr/>
          <a:lstStyle/>
          <a:p>
            <a:endParaRPr lang="en-US"/>
          </a:p>
        </p:txBody>
      </p:sp>
      <p:sp>
        <p:nvSpPr>
          <p:cNvPr id="12" name="Shape 10"/>
          <p:cNvSpPr/>
          <p:nvPr/>
        </p:nvSpPr>
        <p:spPr>
          <a:xfrm flipV="1">
            <a:off x="5486400" y="2468880"/>
            <a:ext cx="960120" cy="1965960"/>
          </a:xfrm>
          <a:prstGeom prst="line">
            <a:avLst/>
          </a:prstGeom>
          <a:noFill/>
          <a:ln w="25400">
            <a:solidFill>
              <a:srgbClr val="9DB3B7"/>
            </a:solidFill>
            <a:prstDash val="solid"/>
          </a:ln>
        </p:spPr>
        <p:txBody>
          <a:bodyPr/>
          <a:lstStyle/>
          <a:p>
            <a:endParaRPr lang="en-US"/>
          </a:p>
        </p:txBody>
      </p:sp>
      <p:sp>
        <p:nvSpPr>
          <p:cNvPr id="13" name="Shape 11"/>
          <p:cNvSpPr/>
          <p:nvPr/>
        </p:nvSpPr>
        <p:spPr>
          <a:xfrm>
            <a:off x="3566160" y="4434840"/>
            <a:ext cx="1920240" cy="0"/>
          </a:xfrm>
          <a:prstGeom prst="line">
            <a:avLst/>
          </a:prstGeom>
          <a:noFill/>
          <a:ln w="25400">
            <a:solidFill>
              <a:srgbClr val="9DB3B7"/>
            </a:solidFill>
            <a:prstDash val="solid"/>
          </a:ln>
        </p:spPr>
        <p:txBody>
          <a:bodyPr/>
          <a:lstStyle/>
          <a:p>
            <a:endParaRPr lang="en-US"/>
          </a:p>
        </p:txBody>
      </p:sp>
      <p:sp>
        <p:nvSpPr>
          <p:cNvPr id="14" name="Shape 12"/>
          <p:cNvSpPr/>
          <p:nvPr/>
        </p:nvSpPr>
        <p:spPr>
          <a:xfrm>
            <a:off x="5486400" y="4434840"/>
            <a:ext cx="1920240" cy="0"/>
          </a:xfrm>
          <a:prstGeom prst="line">
            <a:avLst/>
          </a:prstGeom>
          <a:noFill/>
          <a:ln w="25400">
            <a:solidFill>
              <a:srgbClr val="9DB3B7"/>
            </a:solidFill>
            <a:prstDash val="solid"/>
          </a:ln>
        </p:spPr>
        <p:txBody>
          <a:bodyPr/>
          <a:lstStyle/>
          <a:p>
            <a:endParaRPr lang="en-US"/>
          </a:p>
        </p:txBody>
      </p:sp>
      <p:sp>
        <p:nvSpPr>
          <p:cNvPr id="15" name="Shape 13"/>
          <p:cNvSpPr/>
          <p:nvPr/>
        </p:nvSpPr>
        <p:spPr>
          <a:xfrm flipV="1">
            <a:off x="7406640" y="2468880"/>
            <a:ext cx="960120" cy="1965960"/>
          </a:xfrm>
          <a:prstGeom prst="line">
            <a:avLst/>
          </a:prstGeom>
          <a:noFill/>
          <a:ln w="25400">
            <a:solidFill>
              <a:srgbClr val="9DB3B7"/>
            </a:solidFill>
            <a:prstDash val="solid"/>
          </a:ln>
        </p:spPr>
        <p:txBody>
          <a:bodyPr/>
          <a:lstStyle/>
          <a:p>
            <a:endParaRPr lang="en-US"/>
          </a:p>
        </p:txBody>
      </p:sp>
      <p:sp>
        <p:nvSpPr>
          <p:cNvPr id="16" name="Shape 14"/>
          <p:cNvSpPr/>
          <p:nvPr/>
        </p:nvSpPr>
        <p:spPr>
          <a:xfrm>
            <a:off x="2331720" y="219456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17" name="Text 15"/>
          <p:cNvSpPr/>
          <p:nvPr/>
        </p:nvSpPr>
        <p:spPr>
          <a:xfrm>
            <a:off x="2331720" y="219456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f</a:t>
            </a:r>
            <a:endParaRPr lang="en-US" sz="1350" dirty="0"/>
          </a:p>
        </p:txBody>
      </p:sp>
      <p:sp>
        <p:nvSpPr>
          <p:cNvPr id="18" name="Shape 16"/>
          <p:cNvSpPr/>
          <p:nvPr/>
        </p:nvSpPr>
        <p:spPr>
          <a:xfrm>
            <a:off x="4251960" y="219456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19" name="Text 17"/>
          <p:cNvSpPr/>
          <p:nvPr/>
        </p:nvSpPr>
        <p:spPr>
          <a:xfrm>
            <a:off x="4251960" y="219456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b</a:t>
            </a:r>
            <a:endParaRPr lang="en-US" sz="1350" dirty="0"/>
          </a:p>
        </p:txBody>
      </p:sp>
      <p:sp>
        <p:nvSpPr>
          <p:cNvPr id="20" name="Shape 18"/>
          <p:cNvSpPr/>
          <p:nvPr/>
        </p:nvSpPr>
        <p:spPr>
          <a:xfrm>
            <a:off x="6172200" y="219456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1" name="Text 19"/>
          <p:cNvSpPr/>
          <p:nvPr/>
        </p:nvSpPr>
        <p:spPr>
          <a:xfrm>
            <a:off x="6172200" y="219456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c</a:t>
            </a:r>
            <a:endParaRPr lang="en-US" sz="1350" dirty="0"/>
          </a:p>
        </p:txBody>
      </p:sp>
      <p:sp>
        <p:nvSpPr>
          <p:cNvPr id="22" name="Shape 20"/>
          <p:cNvSpPr/>
          <p:nvPr/>
        </p:nvSpPr>
        <p:spPr>
          <a:xfrm>
            <a:off x="8092440" y="219456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3" name="Text 21"/>
          <p:cNvSpPr/>
          <p:nvPr/>
        </p:nvSpPr>
        <p:spPr>
          <a:xfrm>
            <a:off x="8092440" y="219456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g</a:t>
            </a:r>
            <a:endParaRPr lang="en-US" sz="1350" dirty="0"/>
          </a:p>
        </p:txBody>
      </p:sp>
      <p:sp>
        <p:nvSpPr>
          <p:cNvPr id="24" name="Shape 22"/>
          <p:cNvSpPr/>
          <p:nvPr/>
        </p:nvSpPr>
        <p:spPr>
          <a:xfrm>
            <a:off x="3291840" y="416052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5" name="Text 23"/>
          <p:cNvSpPr/>
          <p:nvPr/>
        </p:nvSpPr>
        <p:spPr>
          <a:xfrm>
            <a:off x="3291840" y="416052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d</a:t>
            </a:r>
            <a:endParaRPr lang="en-US" sz="1350" dirty="0"/>
          </a:p>
        </p:txBody>
      </p:sp>
      <p:sp>
        <p:nvSpPr>
          <p:cNvPr id="26" name="Shape 24"/>
          <p:cNvSpPr/>
          <p:nvPr/>
        </p:nvSpPr>
        <p:spPr>
          <a:xfrm>
            <a:off x="5212080" y="4160520"/>
            <a:ext cx="548640" cy="548640"/>
          </a:xfrm>
          <a:prstGeom prst="ellipse">
            <a:avLst/>
          </a:prstGeom>
          <a:solidFill>
            <a:srgbClr val="E8A33D"/>
          </a:solidFill>
          <a:ln w="22225">
            <a:solidFill>
              <a:srgbClr val="E8A33D"/>
            </a:solidFill>
            <a:prstDash val="solid"/>
          </a:ln>
          <a:effectLst>
            <a:outerShdw blurRad="76200" dist="12700" dir="5400000" algn="bl" rotWithShape="0">
              <a:srgbClr val="9AAFB3">
                <a:alpha val="35000"/>
              </a:srgbClr>
            </a:outerShdw>
          </a:effectLst>
        </p:spPr>
        <p:txBody>
          <a:bodyPr/>
          <a:lstStyle/>
          <a:p>
            <a:endParaRPr lang="en-US"/>
          </a:p>
        </p:txBody>
      </p:sp>
      <p:sp>
        <p:nvSpPr>
          <p:cNvPr id="27" name="Text 25"/>
          <p:cNvSpPr/>
          <p:nvPr/>
        </p:nvSpPr>
        <p:spPr>
          <a:xfrm>
            <a:off x="5212080" y="4160520"/>
            <a:ext cx="548640" cy="54864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28" name="Shape 26"/>
          <p:cNvSpPr/>
          <p:nvPr/>
        </p:nvSpPr>
        <p:spPr>
          <a:xfrm>
            <a:off x="7132320" y="416052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29" name="Text 27"/>
          <p:cNvSpPr/>
          <p:nvPr/>
        </p:nvSpPr>
        <p:spPr>
          <a:xfrm>
            <a:off x="7132320" y="416052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e</a:t>
            </a:r>
            <a:endParaRPr lang="en-US" sz="1350" dirty="0"/>
          </a:p>
        </p:txBody>
      </p:sp>
      <p:sp>
        <p:nvSpPr>
          <p:cNvPr id="30" name="Text 28"/>
          <p:cNvSpPr/>
          <p:nvPr/>
        </p:nvSpPr>
        <p:spPr>
          <a:xfrm>
            <a:off x="5029200" y="4892040"/>
            <a:ext cx="914400" cy="274320"/>
          </a:xfrm>
          <a:prstGeom prst="rect">
            <a:avLst/>
          </a:prstGeom>
          <a:noFill/>
          <a:ln/>
        </p:spPr>
        <p:txBody>
          <a:bodyPr wrap="square" lIns="0" tIns="0" rIns="0" bIns="0" rtlCol="0" anchor="ctr"/>
          <a:lstStyle/>
          <a:p>
            <a:pPr marL="0" indent="0" algn="ctr">
              <a:buNone/>
            </a:pPr>
            <a:r>
              <a:rPr lang="en-US" sz="1100" i="1" dirty="0">
                <a:solidFill>
                  <a:srgbClr val="E8A33D"/>
                </a:solidFill>
                <a:latin typeface="Calibri" pitchFamily="34" charset="0"/>
                <a:ea typeface="Calibri" pitchFamily="34" charset="-122"/>
                <a:cs typeface="Calibri" pitchFamily="34" charset="-120"/>
              </a:rPr>
              <a:t>start</a:t>
            </a:r>
            <a:endParaRPr lang="en-US" sz="1100" dirty="0"/>
          </a:p>
        </p:txBody>
      </p:sp>
      <p:sp>
        <p:nvSpPr>
          <p:cNvPr id="31" name="Shape 29"/>
          <p:cNvSpPr/>
          <p:nvPr/>
        </p:nvSpPr>
        <p:spPr>
          <a:xfrm>
            <a:off x="9646920" y="1737360"/>
            <a:ext cx="1920240" cy="1188720"/>
          </a:xfrm>
          <a:prstGeom prst="roundRect">
            <a:avLst>
              <a:gd name="adj" fmla="val 4615"/>
            </a:avLst>
          </a:prstGeom>
          <a:solidFill>
            <a:srgbClr val="F6F9F8"/>
          </a:solidFill>
          <a:ln w="12700">
            <a:solidFill>
              <a:srgbClr val="D3E0DD"/>
            </a:solidFill>
            <a:prstDash val="solid"/>
          </a:ln>
        </p:spPr>
        <p:txBody>
          <a:bodyPr/>
          <a:lstStyle/>
          <a:p>
            <a:endParaRPr lang="en-US"/>
          </a:p>
        </p:txBody>
      </p:sp>
      <p:sp>
        <p:nvSpPr>
          <p:cNvPr id="32" name="Text 30"/>
          <p:cNvSpPr/>
          <p:nvPr/>
        </p:nvSpPr>
        <p:spPr>
          <a:xfrm>
            <a:off x="9857232" y="1847088"/>
            <a:ext cx="1554480" cy="274320"/>
          </a:xfrm>
          <a:prstGeom prst="rect">
            <a:avLst/>
          </a:prstGeom>
          <a:noFill/>
          <a:ln/>
        </p:spPr>
        <p:txBody>
          <a:bodyPr wrap="square" lIns="0" tIns="0" rIns="0" bIns="0" rtlCol="0" anchor="ctr"/>
          <a:lstStyle/>
          <a:p>
            <a:pPr marL="0" indent="0">
              <a:buNone/>
            </a:pPr>
            <a:r>
              <a:rPr lang="en-US" sz="1250" b="1" dirty="0">
                <a:solidFill>
                  <a:srgbClr val="0B3B44"/>
                </a:solidFill>
                <a:latin typeface="Calibri" pitchFamily="34" charset="0"/>
                <a:ea typeface="Calibri" pitchFamily="34" charset="-122"/>
                <a:cs typeface="Calibri" pitchFamily="34" charset="-120"/>
              </a:rPr>
              <a:t>(a)</a:t>
            </a:r>
            <a:endParaRPr lang="en-US" sz="1250" dirty="0"/>
          </a:p>
        </p:txBody>
      </p:sp>
      <p:sp>
        <p:nvSpPr>
          <p:cNvPr id="33" name="Text 31"/>
          <p:cNvSpPr/>
          <p:nvPr/>
        </p:nvSpPr>
        <p:spPr>
          <a:xfrm>
            <a:off x="9857232" y="2139696"/>
            <a:ext cx="1572768" cy="713232"/>
          </a:xfrm>
          <a:prstGeom prst="rect">
            <a:avLst/>
          </a:prstGeom>
          <a:noFill/>
          <a:ln/>
        </p:spPr>
        <p:txBody>
          <a:bodyPr wrap="square" lIns="0" tIns="0" rIns="0" bIns="0" rtlCol="0" anchor="t"/>
          <a:lstStyle/>
          <a:p>
            <a:pPr marL="0" indent="0">
              <a:lnSpc>
                <a:spcPts val="1350"/>
              </a:lnSpc>
              <a:buNone/>
            </a:pPr>
            <a:r>
              <a:rPr lang="en-US" sz="1050" dirty="0">
                <a:solidFill>
                  <a:srgbClr val="13232B"/>
                </a:solidFill>
                <a:latin typeface="Calibri" pitchFamily="34" charset="0"/>
                <a:ea typeface="Calibri" pitchFamily="34" charset="-122"/>
                <a:cs typeface="Calibri" pitchFamily="34" charset="-120"/>
              </a:rPr>
              <a:t>Adjacency matrix and adjacency list (alphabetical).</a:t>
            </a:r>
            <a:endParaRPr lang="en-US" sz="1050" dirty="0"/>
          </a:p>
        </p:txBody>
      </p:sp>
      <p:sp>
        <p:nvSpPr>
          <p:cNvPr id="34" name="Shape 32"/>
          <p:cNvSpPr/>
          <p:nvPr/>
        </p:nvSpPr>
        <p:spPr>
          <a:xfrm>
            <a:off x="9646920" y="3108960"/>
            <a:ext cx="1920240" cy="1188720"/>
          </a:xfrm>
          <a:prstGeom prst="roundRect">
            <a:avLst>
              <a:gd name="adj" fmla="val 4615"/>
            </a:avLst>
          </a:prstGeom>
          <a:solidFill>
            <a:srgbClr val="EDF4F3"/>
          </a:solidFill>
          <a:ln w="12700">
            <a:solidFill>
              <a:srgbClr val="EDF4F3"/>
            </a:solidFill>
            <a:prstDash val="solid"/>
          </a:ln>
        </p:spPr>
        <p:txBody>
          <a:bodyPr/>
          <a:lstStyle/>
          <a:p>
            <a:endParaRPr lang="en-US"/>
          </a:p>
        </p:txBody>
      </p:sp>
      <p:sp>
        <p:nvSpPr>
          <p:cNvPr id="35" name="Text 33"/>
          <p:cNvSpPr/>
          <p:nvPr/>
        </p:nvSpPr>
        <p:spPr>
          <a:xfrm>
            <a:off x="9857232" y="3218688"/>
            <a:ext cx="1554480" cy="274320"/>
          </a:xfrm>
          <a:prstGeom prst="rect">
            <a:avLst/>
          </a:prstGeom>
          <a:noFill/>
          <a:ln/>
        </p:spPr>
        <p:txBody>
          <a:bodyPr wrap="square" lIns="0" tIns="0" rIns="0" bIns="0" rtlCol="0" anchor="ctr"/>
          <a:lstStyle/>
          <a:p>
            <a:pPr marL="0" indent="0">
              <a:buNone/>
            </a:pPr>
            <a:r>
              <a:rPr lang="en-US" sz="1250" b="1" dirty="0">
                <a:solidFill>
                  <a:srgbClr val="0B3B44"/>
                </a:solidFill>
                <a:latin typeface="Calibri" pitchFamily="34" charset="0"/>
                <a:ea typeface="Calibri" pitchFamily="34" charset="-122"/>
                <a:cs typeface="Calibri" pitchFamily="34" charset="-120"/>
              </a:rPr>
              <a:t>(b)</a:t>
            </a:r>
            <a:endParaRPr lang="en-US" sz="1250" dirty="0"/>
          </a:p>
        </p:txBody>
      </p:sp>
      <p:sp>
        <p:nvSpPr>
          <p:cNvPr id="36" name="Text 34"/>
          <p:cNvSpPr/>
          <p:nvPr/>
        </p:nvSpPr>
        <p:spPr>
          <a:xfrm>
            <a:off x="9857232" y="3511296"/>
            <a:ext cx="1572768" cy="713232"/>
          </a:xfrm>
          <a:prstGeom prst="rect">
            <a:avLst/>
          </a:prstGeom>
          <a:noFill/>
          <a:ln/>
        </p:spPr>
        <p:txBody>
          <a:bodyPr wrap="square" lIns="0" tIns="0" rIns="0" bIns="0" rtlCol="0" anchor="t"/>
          <a:lstStyle/>
          <a:p>
            <a:pPr marL="0" indent="0">
              <a:lnSpc>
                <a:spcPts val="1350"/>
              </a:lnSpc>
              <a:buNone/>
            </a:pPr>
            <a:r>
              <a:rPr lang="en-US" sz="1050" dirty="0">
                <a:solidFill>
                  <a:srgbClr val="13232B"/>
                </a:solidFill>
                <a:latin typeface="Calibri" pitchFamily="34" charset="0"/>
                <a:ea typeface="Calibri" pitchFamily="34" charset="-122"/>
                <a:cs typeface="Calibri" pitchFamily="34" charset="-120"/>
              </a:rPr>
              <a:t>DFS from a, ties alphabetical. Give the tree, plus push and pop order.</a:t>
            </a:r>
            <a:endParaRPr lang="en-US" sz="1050" dirty="0"/>
          </a:p>
        </p:txBody>
      </p:sp>
      <p:sp>
        <p:nvSpPr>
          <p:cNvPr id="37" name="Shape 35"/>
          <p:cNvSpPr/>
          <p:nvPr/>
        </p:nvSpPr>
        <p:spPr>
          <a:xfrm>
            <a:off x="9646920" y="4480560"/>
            <a:ext cx="1920240" cy="1188720"/>
          </a:xfrm>
          <a:prstGeom prst="roundRect">
            <a:avLst>
              <a:gd name="adj" fmla="val 4615"/>
            </a:avLst>
          </a:prstGeom>
          <a:solidFill>
            <a:srgbClr val="F6F9F8"/>
          </a:solidFill>
          <a:ln w="12700">
            <a:solidFill>
              <a:srgbClr val="D3E0DD"/>
            </a:solidFill>
            <a:prstDash val="solid"/>
          </a:ln>
        </p:spPr>
        <p:txBody>
          <a:bodyPr/>
          <a:lstStyle/>
          <a:p>
            <a:endParaRPr lang="en-US"/>
          </a:p>
        </p:txBody>
      </p:sp>
      <p:sp>
        <p:nvSpPr>
          <p:cNvPr id="38" name="Text 36"/>
          <p:cNvSpPr/>
          <p:nvPr/>
        </p:nvSpPr>
        <p:spPr>
          <a:xfrm>
            <a:off x="9857232" y="4590288"/>
            <a:ext cx="1554480" cy="274320"/>
          </a:xfrm>
          <a:prstGeom prst="rect">
            <a:avLst/>
          </a:prstGeom>
          <a:noFill/>
          <a:ln/>
        </p:spPr>
        <p:txBody>
          <a:bodyPr wrap="square" lIns="0" tIns="0" rIns="0" bIns="0" rtlCol="0" anchor="ctr"/>
          <a:lstStyle/>
          <a:p>
            <a:pPr marL="0" indent="0">
              <a:buNone/>
            </a:pPr>
            <a:r>
              <a:rPr lang="en-US" sz="1250" b="1" dirty="0">
                <a:solidFill>
                  <a:srgbClr val="0B3B44"/>
                </a:solidFill>
                <a:latin typeface="Calibri" pitchFamily="34" charset="0"/>
                <a:ea typeface="Calibri" pitchFamily="34" charset="-122"/>
                <a:cs typeface="Calibri" pitchFamily="34" charset="-120"/>
              </a:rPr>
              <a:t>(c)</a:t>
            </a:r>
            <a:endParaRPr lang="en-US" sz="1250" dirty="0"/>
          </a:p>
        </p:txBody>
      </p:sp>
      <p:sp>
        <p:nvSpPr>
          <p:cNvPr id="39" name="Text 37"/>
          <p:cNvSpPr/>
          <p:nvPr/>
        </p:nvSpPr>
        <p:spPr>
          <a:xfrm>
            <a:off x="9857232" y="4882896"/>
            <a:ext cx="1572768" cy="713232"/>
          </a:xfrm>
          <a:prstGeom prst="rect">
            <a:avLst/>
          </a:prstGeom>
          <a:noFill/>
          <a:ln/>
        </p:spPr>
        <p:txBody>
          <a:bodyPr wrap="square" lIns="0" tIns="0" rIns="0" bIns="0" rtlCol="0" anchor="t"/>
          <a:lstStyle/>
          <a:p>
            <a:pPr marL="0" indent="0">
              <a:lnSpc>
                <a:spcPts val="1350"/>
              </a:lnSpc>
              <a:buNone/>
            </a:pPr>
            <a:r>
              <a:rPr lang="en-US" sz="1050" dirty="0">
                <a:solidFill>
                  <a:srgbClr val="13232B"/>
                </a:solidFill>
                <a:latin typeface="Calibri" pitchFamily="34" charset="0"/>
                <a:ea typeface="Calibri" pitchFamily="34" charset="-122"/>
                <a:cs typeface="Calibri" pitchFamily="34" charset="-120"/>
              </a:rPr>
              <a:t>BFS from a. Give the tree.</a:t>
            </a:r>
            <a:endParaRPr lang="en-US" sz="1050" dirty="0"/>
          </a:p>
        </p:txBody>
      </p:sp>
      <p:sp>
        <p:nvSpPr>
          <p:cNvPr id="40" name="Text 38"/>
          <p:cNvSpPr/>
          <p:nvPr/>
        </p:nvSpPr>
        <p:spPr>
          <a:xfrm>
            <a:off x="685800" y="5806440"/>
            <a:ext cx="2743200" cy="274320"/>
          </a:xfrm>
          <a:prstGeom prst="rect">
            <a:avLst/>
          </a:prstGeom>
          <a:noFill/>
          <a:ln/>
        </p:spPr>
        <p:txBody>
          <a:bodyPr wrap="square" lIns="0" tIns="0" rIns="0" bIns="0" rtlCol="0" anchor="ctr"/>
          <a:lstStyle/>
          <a:p>
            <a:pPr marL="0" indent="0">
              <a:buNone/>
            </a:pPr>
            <a:r>
              <a:rPr lang="en-US" sz="1150" dirty="0">
                <a:solidFill>
                  <a:srgbClr val="63797F"/>
                </a:solidFill>
                <a:latin typeface="Courier New" pitchFamily="34" charset="0"/>
                <a:ea typeface="Courier New" pitchFamily="34" charset="-122"/>
                <a:cs typeface="Courier New" pitchFamily="34" charset="-120"/>
              </a:rPr>
              <a:t>|V| = 7,  |E| = 9</a:t>
            </a:r>
            <a:endParaRPr lang="en-US" sz="1150" dirty="0"/>
          </a:p>
        </p:txBody>
      </p:sp>
      <p:sp>
        <p:nvSpPr>
          <p:cNvPr id="41" name="Text 39"/>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42" name="Text 40"/>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28a</a:t>
            </a:r>
            <a:endParaRPr lang="en-US" sz="11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Both representations</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Rows and lists are alphabetical, which fixes the tie-breaking for (b) and (c).</a:t>
            </a:r>
            <a:endParaRPr lang="en-US" sz="1300" dirty="0"/>
          </a:p>
        </p:txBody>
      </p:sp>
      <p:sp>
        <p:nvSpPr>
          <p:cNvPr id="6" name="Text 4"/>
          <p:cNvSpPr/>
          <p:nvPr/>
        </p:nvSpPr>
        <p:spPr>
          <a:xfrm>
            <a:off x="685800" y="1572768"/>
            <a:ext cx="365760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ADJACENCY MATRIX</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4023360" cy="2633472"/>
        </p:xfrm>
        <a:graphic>
          <a:graphicData uri="http://schemas.openxmlformats.org/drawingml/2006/table">
            <a:tbl>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tblGrid>
              <a:tr h="329184">
                <a:tc>
                  <a:txBody>
                    <a:bodyPr/>
                    <a:lstStyle/>
                    <a:p>
                      <a:pPr marL="0" indent="0" algn="ctr">
                        <a:buNone/>
                      </a:pP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a</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b</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c</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d</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e</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f</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g</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extLst>
                  <a:ext uri="{0D108BD9-81ED-4DB2-BD59-A6C34878D82A}">
                    <a16:rowId xmlns:a16="http://schemas.microsoft.com/office/drawing/2014/main" val="10000"/>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a</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b</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c</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d</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e</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f</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ctr">
                        <a:buNone/>
                      </a:pPr>
                      <a:r>
                        <a:rPr lang="en-US" sz="1250" b="1" i="1" dirty="0">
                          <a:solidFill>
                            <a:srgbClr val="0B3B44"/>
                          </a:solidFill>
                          <a:latin typeface="Courier New" pitchFamily="34" charset="0"/>
                          <a:ea typeface="Courier New" pitchFamily="34" charset="-122"/>
                          <a:cs typeface="Courier New" pitchFamily="34" charset="-120"/>
                        </a:rPr>
                        <a:t>g</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EDF4F3"/>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A9D8F"/>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BECBCD"/>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anchor="ctr">
                    <a:lnL w="9525" cap="flat" cmpd="sng" algn="ctr">
                      <a:solidFill>
                        <a:srgbClr val="D3E0DD"/>
                      </a:solidFill>
                      <a:prstDash val="solid"/>
                      <a:round/>
                      <a:headEnd type="none" w="med" len="med"/>
                      <a:tailEnd type="none" w="med" len="med"/>
                    </a:lnL>
                    <a:lnR w="9525" cap="flat" cmpd="sng" algn="ctr">
                      <a:solidFill>
                        <a:srgbClr val="D3E0DD"/>
                      </a:solidFill>
                      <a:prstDash val="solid"/>
                      <a:round/>
                      <a:headEnd type="none" w="med" len="med"/>
                      <a:tailEnd type="none" w="med" len="med"/>
                    </a:lnR>
                    <a:lnT w="9525" cap="flat" cmpd="sng" algn="ctr">
                      <a:solidFill>
                        <a:srgbClr val="D3E0DD"/>
                      </a:solidFill>
                      <a:prstDash val="solid"/>
                      <a:round/>
                      <a:headEnd type="none" w="med" len="med"/>
                      <a:tailEnd type="none" w="med" len="med"/>
                    </a:lnT>
                    <a:lnB w="9525" cap="flat" cmpd="sng" algn="ctr">
                      <a:solidFill>
                        <a:srgbClr val="D3E0DD"/>
                      </a:solidFill>
                      <a:prstDash val="solid"/>
                      <a:round/>
                      <a:headEnd type="none" w="med" len="med"/>
                      <a:tailEnd type="none" w="med" len="med"/>
                    </a:lnB>
                    <a:solidFill>
                      <a:srgbClr val="F6F9F8"/>
                    </a:solidFill>
                  </a:tcPr>
                </a:tc>
                <a:extLst>
                  <a:ext uri="{0D108BD9-81ED-4DB2-BD59-A6C34878D82A}">
                    <a16:rowId xmlns:a16="http://schemas.microsoft.com/office/drawing/2014/main" val="10007"/>
                  </a:ext>
                </a:extLst>
              </a:tr>
            </a:tbl>
          </a:graphicData>
        </a:graphic>
      </p:graphicFrame>
      <p:sp>
        <p:nvSpPr>
          <p:cNvPr id="8" name="Text 5"/>
          <p:cNvSpPr/>
          <p:nvPr/>
        </p:nvSpPr>
        <p:spPr>
          <a:xfrm>
            <a:off x="685800" y="4709160"/>
            <a:ext cx="4023360" cy="548640"/>
          </a:xfrm>
          <a:prstGeom prst="rect">
            <a:avLst/>
          </a:prstGeom>
          <a:noFill/>
          <a:ln/>
        </p:spPr>
        <p:txBody>
          <a:bodyPr wrap="square" lIns="0" tIns="0" rIns="0" bIns="0" rtlCol="0" anchor="t"/>
          <a:lstStyle/>
          <a:p>
            <a:pPr marL="0" indent="0">
              <a:lnSpc>
                <a:spcPts val="1600"/>
              </a:lnSpc>
              <a:buNone/>
            </a:pPr>
            <a:r>
              <a:rPr lang="en-US" sz="1200" i="1" dirty="0">
                <a:solidFill>
                  <a:srgbClr val="63797F"/>
                </a:solidFill>
                <a:latin typeface="Calibri" pitchFamily="34" charset="0"/>
                <a:ea typeface="Calibri" pitchFamily="34" charset="-122"/>
                <a:cs typeface="Calibri" pitchFamily="34" charset="-120"/>
              </a:rPr>
              <a:t>Symmetric about the diagonal, and the diagonal is all 0 — no self-loops.</a:t>
            </a:r>
            <a:endParaRPr lang="en-US" sz="1200" dirty="0"/>
          </a:p>
        </p:txBody>
      </p:sp>
      <p:sp>
        <p:nvSpPr>
          <p:cNvPr id="9" name="Text 6"/>
          <p:cNvSpPr/>
          <p:nvPr/>
        </p:nvSpPr>
        <p:spPr>
          <a:xfrm>
            <a:off x="5303520" y="1572768"/>
            <a:ext cx="365760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ADJACENCY LIST</a:t>
            </a:r>
            <a:endParaRPr lang="en-US" sz="1150" dirty="0"/>
          </a:p>
        </p:txBody>
      </p:sp>
      <p:sp>
        <p:nvSpPr>
          <p:cNvPr id="10" name="Shape 7"/>
          <p:cNvSpPr/>
          <p:nvPr/>
        </p:nvSpPr>
        <p:spPr>
          <a:xfrm>
            <a:off x="5303520" y="1920240"/>
            <a:ext cx="3246120" cy="2651760"/>
          </a:xfrm>
          <a:prstGeom prst="roundRect">
            <a:avLst>
              <a:gd name="adj" fmla="val 2069"/>
            </a:avLst>
          </a:prstGeom>
          <a:solidFill>
            <a:srgbClr val="F6F9F8"/>
          </a:solidFill>
          <a:ln w="12700">
            <a:solidFill>
              <a:srgbClr val="D3E0DD"/>
            </a:solidFill>
            <a:prstDash val="solid"/>
          </a:ln>
        </p:spPr>
        <p:txBody>
          <a:bodyPr/>
          <a:lstStyle/>
          <a:p>
            <a:endParaRPr lang="en-US"/>
          </a:p>
        </p:txBody>
      </p:sp>
      <p:sp>
        <p:nvSpPr>
          <p:cNvPr id="11" name="Text 8"/>
          <p:cNvSpPr/>
          <p:nvPr/>
        </p:nvSpPr>
        <p:spPr>
          <a:xfrm>
            <a:off x="5468112" y="2084832"/>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a</a:t>
            </a:r>
            <a:endParaRPr lang="en-US" sz="1250" dirty="0"/>
          </a:p>
        </p:txBody>
      </p:sp>
      <p:sp>
        <p:nvSpPr>
          <p:cNvPr id="12" name="Text 9"/>
          <p:cNvSpPr/>
          <p:nvPr/>
        </p:nvSpPr>
        <p:spPr>
          <a:xfrm>
            <a:off x="5833872" y="2084832"/>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b → c → d → e</a:t>
            </a:r>
            <a:endParaRPr lang="en-US" sz="1250" dirty="0"/>
          </a:p>
        </p:txBody>
      </p:sp>
      <p:sp>
        <p:nvSpPr>
          <p:cNvPr id="13" name="Text 10"/>
          <p:cNvSpPr/>
          <p:nvPr/>
        </p:nvSpPr>
        <p:spPr>
          <a:xfrm>
            <a:off x="5468112" y="2432304"/>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b</a:t>
            </a:r>
            <a:endParaRPr lang="en-US" sz="1250" dirty="0"/>
          </a:p>
        </p:txBody>
      </p:sp>
      <p:sp>
        <p:nvSpPr>
          <p:cNvPr id="14" name="Text 11"/>
          <p:cNvSpPr/>
          <p:nvPr/>
        </p:nvSpPr>
        <p:spPr>
          <a:xfrm>
            <a:off x="5833872" y="2432304"/>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a → d → f</a:t>
            </a:r>
            <a:endParaRPr lang="en-US" sz="1250" dirty="0"/>
          </a:p>
        </p:txBody>
      </p:sp>
      <p:sp>
        <p:nvSpPr>
          <p:cNvPr id="15" name="Text 12"/>
          <p:cNvSpPr/>
          <p:nvPr/>
        </p:nvSpPr>
        <p:spPr>
          <a:xfrm>
            <a:off x="5468112" y="2779776"/>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c</a:t>
            </a:r>
            <a:endParaRPr lang="en-US" sz="1250" dirty="0"/>
          </a:p>
        </p:txBody>
      </p:sp>
      <p:sp>
        <p:nvSpPr>
          <p:cNvPr id="16" name="Text 13"/>
          <p:cNvSpPr/>
          <p:nvPr/>
        </p:nvSpPr>
        <p:spPr>
          <a:xfrm>
            <a:off x="5833872" y="2779776"/>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a → g</a:t>
            </a:r>
            <a:endParaRPr lang="en-US" sz="1250" dirty="0"/>
          </a:p>
        </p:txBody>
      </p:sp>
      <p:sp>
        <p:nvSpPr>
          <p:cNvPr id="7" name="Text 14"/>
          <p:cNvSpPr/>
          <p:nvPr/>
        </p:nvSpPr>
        <p:spPr>
          <a:xfrm>
            <a:off x="5468112" y="3127248"/>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d</a:t>
            </a:r>
            <a:endParaRPr lang="en-US" sz="1250" dirty="0"/>
          </a:p>
        </p:txBody>
      </p:sp>
      <p:sp>
        <p:nvSpPr>
          <p:cNvPr id="18" name="Text 15"/>
          <p:cNvSpPr/>
          <p:nvPr/>
        </p:nvSpPr>
        <p:spPr>
          <a:xfrm>
            <a:off x="5833872" y="3127248"/>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a → b → f</a:t>
            </a:r>
            <a:endParaRPr lang="en-US" sz="1250" dirty="0"/>
          </a:p>
        </p:txBody>
      </p:sp>
      <p:sp>
        <p:nvSpPr>
          <p:cNvPr id="19" name="Text 16"/>
          <p:cNvSpPr/>
          <p:nvPr/>
        </p:nvSpPr>
        <p:spPr>
          <a:xfrm>
            <a:off x="5468112" y="3474720"/>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e</a:t>
            </a:r>
            <a:endParaRPr lang="en-US" sz="1250" dirty="0"/>
          </a:p>
        </p:txBody>
      </p:sp>
      <p:sp>
        <p:nvSpPr>
          <p:cNvPr id="20" name="Text 17"/>
          <p:cNvSpPr/>
          <p:nvPr/>
        </p:nvSpPr>
        <p:spPr>
          <a:xfrm>
            <a:off x="5833872" y="3474720"/>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a → g</a:t>
            </a:r>
            <a:endParaRPr lang="en-US" sz="1250" dirty="0"/>
          </a:p>
        </p:txBody>
      </p:sp>
      <p:sp>
        <p:nvSpPr>
          <p:cNvPr id="21" name="Text 18"/>
          <p:cNvSpPr/>
          <p:nvPr/>
        </p:nvSpPr>
        <p:spPr>
          <a:xfrm>
            <a:off x="5468112" y="3822192"/>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f</a:t>
            </a:r>
            <a:endParaRPr lang="en-US" sz="1250" dirty="0"/>
          </a:p>
        </p:txBody>
      </p:sp>
      <p:sp>
        <p:nvSpPr>
          <p:cNvPr id="22" name="Text 19"/>
          <p:cNvSpPr/>
          <p:nvPr/>
        </p:nvSpPr>
        <p:spPr>
          <a:xfrm>
            <a:off x="5833872" y="3822192"/>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b → d</a:t>
            </a:r>
            <a:endParaRPr lang="en-US" sz="1250" dirty="0"/>
          </a:p>
        </p:txBody>
      </p:sp>
      <p:sp>
        <p:nvSpPr>
          <p:cNvPr id="23" name="Text 20"/>
          <p:cNvSpPr/>
          <p:nvPr/>
        </p:nvSpPr>
        <p:spPr>
          <a:xfrm>
            <a:off x="5468112" y="4169664"/>
            <a:ext cx="320040" cy="292608"/>
          </a:xfrm>
          <a:prstGeom prst="rect">
            <a:avLst/>
          </a:prstGeom>
          <a:noFill/>
          <a:ln/>
        </p:spPr>
        <p:txBody>
          <a:bodyPr wrap="square" lIns="0" tIns="0" rIns="0" bIns="0" rtlCol="0" anchor="ctr"/>
          <a:lstStyle/>
          <a:p>
            <a:pPr marL="0" indent="0">
              <a:buNone/>
            </a:pPr>
            <a:r>
              <a:rPr lang="en-US" sz="1250" b="1" i="1" dirty="0">
                <a:solidFill>
                  <a:srgbClr val="0B3B44"/>
                </a:solidFill>
                <a:latin typeface="Courier New" pitchFamily="34" charset="0"/>
                <a:ea typeface="Courier New" pitchFamily="34" charset="-122"/>
                <a:cs typeface="Courier New" pitchFamily="34" charset="-120"/>
              </a:rPr>
              <a:t>g</a:t>
            </a:r>
            <a:endParaRPr lang="en-US" sz="1250" dirty="0"/>
          </a:p>
        </p:txBody>
      </p:sp>
      <p:sp>
        <p:nvSpPr>
          <p:cNvPr id="24" name="Text 21"/>
          <p:cNvSpPr/>
          <p:nvPr/>
        </p:nvSpPr>
        <p:spPr>
          <a:xfrm>
            <a:off x="5833872" y="4169664"/>
            <a:ext cx="2606040" cy="292608"/>
          </a:xfrm>
          <a:prstGeom prst="rect">
            <a:avLst/>
          </a:prstGeom>
          <a:noFill/>
          <a:ln/>
        </p:spPr>
        <p:txBody>
          <a:bodyPr wrap="square" lIns="0" tIns="0" rIns="0" bIns="0" rtlCol="0" anchor="ctr"/>
          <a:lstStyle/>
          <a:p>
            <a:pPr marL="0" indent="0">
              <a:buNone/>
            </a:pPr>
            <a:r>
              <a:rPr lang="en-US" sz="1250" dirty="0">
                <a:solidFill>
                  <a:srgbClr val="13232B"/>
                </a:solidFill>
                <a:latin typeface="Courier New" pitchFamily="34" charset="0"/>
                <a:ea typeface="Courier New" pitchFamily="34" charset="-122"/>
                <a:cs typeface="Courier New" pitchFamily="34" charset="-120"/>
              </a:rPr>
              <a:t>→ c → e</a:t>
            </a:r>
            <a:endParaRPr lang="en-US" sz="1250" dirty="0"/>
          </a:p>
        </p:txBody>
      </p:sp>
      <p:sp>
        <p:nvSpPr>
          <p:cNvPr id="25" name="Text 22"/>
          <p:cNvSpPr/>
          <p:nvPr/>
        </p:nvSpPr>
        <p:spPr>
          <a:xfrm>
            <a:off x="5303520" y="4709160"/>
            <a:ext cx="3246120" cy="548640"/>
          </a:xfrm>
          <a:prstGeom prst="rect">
            <a:avLst/>
          </a:prstGeom>
          <a:noFill/>
          <a:ln/>
        </p:spPr>
        <p:txBody>
          <a:bodyPr wrap="square" lIns="0" tIns="0" rIns="0" bIns="0" rtlCol="0" anchor="t"/>
          <a:lstStyle/>
          <a:p>
            <a:pPr marL="0" indent="0">
              <a:lnSpc>
                <a:spcPts val="1600"/>
              </a:lnSpc>
              <a:buNone/>
            </a:pPr>
            <a:r>
              <a:rPr lang="en-US" sz="1200" i="1" dirty="0">
                <a:solidFill>
                  <a:srgbClr val="63797F"/>
                </a:solidFill>
                <a:latin typeface="Calibri" pitchFamily="34" charset="0"/>
                <a:ea typeface="Calibri" pitchFamily="34" charset="-122"/>
                <a:cs typeface="Calibri" pitchFamily="34" charset="-120"/>
              </a:rPr>
              <a:t>Total list length = 2|E| = 18 entries, versus 49 matrix cells.</a:t>
            </a:r>
            <a:endParaRPr lang="en-US" sz="1200" dirty="0"/>
          </a:p>
        </p:txBody>
      </p:sp>
      <p:sp>
        <p:nvSpPr>
          <p:cNvPr id="26" name="Shape 23"/>
          <p:cNvSpPr/>
          <p:nvPr/>
        </p:nvSpPr>
        <p:spPr>
          <a:xfrm>
            <a:off x="9144000" y="1920240"/>
            <a:ext cx="2423160" cy="2651760"/>
          </a:xfrm>
          <a:prstGeom prst="roundRect">
            <a:avLst>
              <a:gd name="adj" fmla="val 2264"/>
            </a:avLst>
          </a:prstGeom>
          <a:solidFill>
            <a:srgbClr val="EDF4F3"/>
          </a:solidFill>
          <a:ln w="12700">
            <a:solidFill>
              <a:srgbClr val="EDF4F3"/>
            </a:solidFill>
            <a:prstDash val="solid"/>
          </a:ln>
        </p:spPr>
        <p:txBody>
          <a:bodyPr/>
          <a:lstStyle/>
          <a:p>
            <a:endParaRPr lang="en-US"/>
          </a:p>
        </p:txBody>
      </p:sp>
      <p:sp>
        <p:nvSpPr>
          <p:cNvPr id="27" name="Text 24"/>
          <p:cNvSpPr/>
          <p:nvPr/>
        </p:nvSpPr>
        <p:spPr>
          <a:xfrm>
            <a:off x="9400032" y="2084832"/>
            <a:ext cx="192024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Degrees</a:t>
            </a:r>
            <a:endParaRPr lang="en-US" sz="1150" dirty="0"/>
          </a:p>
        </p:txBody>
      </p:sp>
      <p:sp>
        <p:nvSpPr>
          <p:cNvPr id="28" name="Text 25"/>
          <p:cNvSpPr/>
          <p:nvPr/>
        </p:nvSpPr>
        <p:spPr>
          <a:xfrm>
            <a:off x="9400032" y="2450592"/>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a</a:t>
            </a:r>
            <a:endParaRPr lang="en-US" sz="1200" dirty="0"/>
          </a:p>
        </p:txBody>
      </p:sp>
      <p:sp>
        <p:nvSpPr>
          <p:cNvPr id="29" name="Shape 26"/>
          <p:cNvSpPr/>
          <p:nvPr/>
        </p:nvSpPr>
        <p:spPr>
          <a:xfrm>
            <a:off x="9710928" y="2496312"/>
            <a:ext cx="109728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30" name="Text 27"/>
          <p:cNvSpPr/>
          <p:nvPr/>
        </p:nvSpPr>
        <p:spPr>
          <a:xfrm>
            <a:off x="10927080" y="2450592"/>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4</a:t>
            </a:r>
            <a:endParaRPr lang="en-US" sz="1200" dirty="0"/>
          </a:p>
        </p:txBody>
      </p:sp>
      <p:sp>
        <p:nvSpPr>
          <p:cNvPr id="31" name="Text 28"/>
          <p:cNvSpPr/>
          <p:nvPr/>
        </p:nvSpPr>
        <p:spPr>
          <a:xfrm>
            <a:off x="9400032" y="2743200"/>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b</a:t>
            </a:r>
            <a:endParaRPr lang="en-US" sz="1200" dirty="0"/>
          </a:p>
        </p:txBody>
      </p:sp>
      <p:sp>
        <p:nvSpPr>
          <p:cNvPr id="32" name="Shape 29"/>
          <p:cNvSpPr/>
          <p:nvPr/>
        </p:nvSpPr>
        <p:spPr>
          <a:xfrm>
            <a:off x="9710928" y="2788920"/>
            <a:ext cx="82296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33" name="Text 30"/>
          <p:cNvSpPr/>
          <p:nvPr/>
        </p:nvSpPr>
        <p:spPr>
          <a:xfrm>
            <a:off x="10927080" y="2743200"/>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3</a:t>
            </a:r>
            <a:endParaRPr lang="en-US" sz="1200" dirty="0"/>
          </a:p>
        </p:txBody>
      </p:sp>
      <p:sp>
        <p:nvSpPr>
          <p:cNvPr id="34" name="Text 31"/>
          <p:cNvSpPr/>
          <p:nvPr/>
        </p:nvSpPr>
        <p:spPr>
          <a:xfrm>
            <a:off x="9400032" y="3035808"/>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c</a:t>
            </a:r>
            <a:endParaRPr lang="en-US" sz="1200" dirty="0"/>
          </a:p>
        </p:txBody>
      </p:sp>
      <p:sp>
        <p:nvSpPr>
          <p:cNvPr id="35" name="Shape 32"/>
          <p:cNvSpPr/>
          <p:nvPr/>
        </p:nvSpPr>
        <p:spPr>
          <a:xfrm>
            <a:off x="9710928" y="3081528"/>
            <a:ext cx="54864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36" name="Text 33"/>
          <p:cNvSpPr/>
          <p:nvPr/>
        </p:nvSpPr>
        <p:spPr>
          <a:xfrm>
            <a:off x="10927080" y="3035808"/>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2</a:t>
            </a:r>
            <a:endParaRPr lang="en-US" sz="1200" dirty="0"/>
          </a:p>
        </p:txBody>
      </p:sp>
      <p:sp>
        <p:nvSpPr>
          <p:cNvPr id="37" name="Text 34"/>
          <p:cNvSpPr/>
          <p:nvPr/>
        </p:nvSpPr>
        <p:spPr>
          <a:xfrm>
            <a:off x="9400032" y="3328416"/>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d</a:t>
            </a:r>
            <a:endParaRPr lang="en-US" sz="1200" dirty="0"/>
          </a:p>
        </p:txBody>
      </p:sp>
      <p:sp>
        <p:nvSpPr>
          <p:cNvPr id="38" name="Shape 35"/>
          <p:cNvSpPr/>
          <p:nvPr/>
        </p:nvSpPr>
        <p:spPr>
          <a:xfrm>
            <a:off x="9710928" y="3374136"/>
            <a:ext cx="82296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39" name="Text 36"/>
          <p:cNvSpPr/>
          <p:nvPr/>
        </p:nvSpPr>
        <p:spPr>
          <a:xfrm>
            <a:off x="10927080" y="3328416"/>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3</a:t>
            </a:r>
            <a:endParaRPr lang="en-US" sz="1200" dirty="0"/>
          </a:p>
        </p:txBody>
      </p:sp>
      <p:sp>
        <p:nvSpPr>
          <p:cNvPr id="40" name="Text 37"/>
          <p:cNvSpPr/>
          <p:nvPr/>
        </p:nvSpPr>
        <p:spPr>
          <a:xfrm>
            <a:off x="9400032" y="3621024"/>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e</a:t>
            </a:r>
            <a:endParaRPr lang="en-US" sz="1200" dirty="0"/>
          </a:p>
        </p:txBody>
      </p:sp>
      <p:sp>
        <p:nvSpPr>
          <p:cNvPr id="41" name="Shape 38"/>
          <p:cNvSpPr/>
          <p:nvPr/>
        </p:nvSpPr>
        <p:spPr>
          <a:xfrm>
            <a:off x="9710928" y="3666744"/>
            <a:ext cx="54864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42" name="Text 39"/>
          <p:cNvSpPr/>
          <p:nvPr/>
        </p:nvSpPr>
        <p:spPr>
          <a:xfrm>
            <a:off x="10927080" y="3621024"/>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2</a:t>
            </a:r>
            <a:endParaRPr lang="en-US" sz="1200" dirty="0"/>
          </a:p>
        </p:txBody>
      </p:sp>
      <p:sp>
        <p:nvSpPr>
          <p:cNvPr id="43" name="Text 40"/>
          <p:cNvSpPr/>
          <p:nvPr/>
        </p:nvSpPr>
        <p:spPr>
          <a:xfrm>
            <a:off x="9400032" y="3913632"/>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f</a:t>
            </a:r>
            <a:endParaRPr lang="en-US" sz="1200" dirty="0"/>
          </a:p>
        </p:txBody>
      </p:sp>
      <p:sp>
        <p:nvSpPr>
          <p:cNvPr id="44" name="Shape 41"/>
          <p:cNvSpPr/>
          <p:nvPr/>
        </p:nvSpPr>
        <p:spPr>
          <a:xfrm>
            <a:off x="9710928" y="3959352"/>
            <a:ext cx="54864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45" name="Text 42"/>
          <p:cNvSpPr/>
          <p:nvPr/>
        </p:nvSpPr>
        <p:spPr>
          <a:xfrm>
            <a:off x="10927080" y="3913632"/>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2</a:t>
            </a:r>
            <a:endParaRPr lang="en-US" sz="1200" dirty="0"/>
          </a:p>
        </p:txBody>
      </p:sp>
      <p:sp>
        <p:nvSpPr>
          <p:cNvPr id="46" name="Text 43"/>
          <p:cNvSpPr/>
          <p:nvPr/>
        </p:nvSpPr>
        <p:spPr>
          <a:xfrm>
            <a:off x="9400032" y="4206240"/>
            <a:ext cx="274320" cy="256032"/>
          </a:xfrm>
          <a:prstGeom prst="rect">
            <a:avLst/>
          </a:prstGeom>
          <a:noFill/>
          <a:ln/>
        </p:spPr>
        <p:txBody>
          <a:bodyPr wrap="square" lIns="0" tIns="0" rIns="0" bIns="0" rtlCol="0" anchor="ctr"/>
          <a:lstStyle/>
          <a:p>
            <a:pPr marL="0" indent="0">
              <a:buNone/>
            </a:pPr>
            <a:r>
              <a:rPr lang="en-US" sz="1200" b="1" i="1" dirty="0">
                <a:solidFill>
                  <a:srgbClr val="13232B"/>
                </a:solidFill>
                <a:latin typeface="Courier New" pitchFamily="34" charset="0"/>
                <a:ea typeface="Courier New" pitchFamily="34" charset="-122"/>
                <a:cs typeface="Courier New" pitchFamily="34" charset="-120"/>
              </a:rPr>
              <a:t>g</a:t>
            </a:r>
            <a:endParaRPr lang="en-US" sz="1200" dirty="0"/>
          </a:p>
        </p:txBody>
      </p:sp>
      <p:sp>
        <p:nvSpPr>
          <p:cNvPr id="47" name="Shape 44"/>
          <p:cNvSpPr/>
          <p:nvPr/>
        </p:nvSpPr>
        <p:spPr>
          <a:xfrm>
            <a:off x="9710928" y="4251960"/>
            <a:ext cx="548640" cy="164592"/>
          </a:xfrm>
          <a:prstGeom prst="roundRect">
            <a:avLst>
              <a:gd name="adj" fmla="val 16667"/>
            </a:avLst>
          </a:prstGeom>
          <a:solidFill>
            <a:srgbClr val="2A9D8F"/>
          </a:solidFill>
          <a:ln w="12700">
            <a:solidFill>
              <a:srgbClr val="2A9D8F"/>
            </a:solidFill>
            <a:prstDash val="solid"/>
          </a:ln>
        </p:spPr>
        <p:txBody>
          <a:bodyPr/>
          <a:lstStyle/>
          <a:p>
            <a:endParaRPr lang="en-US"/>
          </a:p>
        </p:txBody>
      </p:sp>
      <p:sp>
        <p:nvSpPr>
          <p:cNvPr id="48" name="Text 45"/>
          <p:cNvSpPr/>
          <p:nvPr/>
        </p:nvSpPr>
        <p:spPr>
          <a:xfrm>
            <a:off x="10927080" y="4206240"/>
            <a:ext cx="365760" cy="256032"/>
          </a:xfrm>
          <a:prstGeom prst="rect">
            <a:avLst/>
          </a:prstGeom>
          <a:noFill/>
          <a:ln/>
        </p:spPr>
        <p:txBody>
          <a:bodyPr wrap="square" lIns="0" tIns="0" rIns="0" bIns="0" rtlCol="0" anchor="ctr"/>
          <a:lstStyle/>
          <a:p>
            <a:pPr marL="0" indent="0">
              <a:buNone/>
            </a:pPr>
            <a:r>
              <a:rPr lang="en-US" sz="1200" dirty="0">
                <a:solidFill>
                  <a:srgbClr val="63797F"/>
                </a:solidFill>
                <a:latin typeface="Courier New" pitchFamily="34" charset="0"/>
                <a:ea typeface="Courier New" pitchFamily="34" charset="-122"/>
                <a:cs typeface="Courier New" pitchFamily="34" charset="-120"/>
              </a:rPr>
              <a:t>2</a:t>
            </a:r>
            <a:endParaRPr lang="en-US" sz="1200" dirty="0"/>
          </a:p>
        </p:txBody>
      </p:sp>
      <p:sp>
        <p:nvSpPr>
          <p:cNvPr id="49" name="Text 46"/>
          <p:cNvSpPr/>
          <p:nvPr/>
        </p:nvSpPr>
        <p:spPr>
          <a:xfrm>
            <a:off x="9400032" y="4681728"/>
            <a:ext cx="2194560" cy="274320"/>
          </a:xfrm>
          <a:prstGeom prst="rect">
            <a:avLst/>
          </a:prstGeom>
          <a:noFill/>
          <a:ln/>
        </p:spPr>
        <p:txBody>
          <a:bodyPr wrap="square" lIns="0" tIns="0" rIns="0" bIns="0" rtlCol="0" anchor="ctr"/>
          <a:lstStyle/>
          <a:p>
            <a:pPr marL="0" indent="0">
              <a:buNone/>
            </a:pPr>
            <a:r>
              <a:rPr lang="en-US" sz="1100" dirty="0">
                <a:solidFill>
                  <a:srgbClr val="63797F"/>
                </a:solidFill>
                <a:latin typeface="Courier New" pitchFamily="34" charset="0"/>
                <a:ea typeface="Courier New" pitchFamily="34" charset="-122"/>
                <a:cs typeface="Courier New" pitchFamily="34" charset="-120"/>
              </a:rPr>
              <a:t>∑ = 18 = 2|E|</a:t>
            </a:r>
            <a:endParaRPr lang="en-US" sz="1100" dirty="0"/>
          </a:p>
        </p:txBody>
      </p:sp>
      <p:sp>
        <p:nvSpPr>
          <p:cNvPr id="50" name="Text 47"/>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51" name="Text 48"/>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28b</a:t>
            </a:r>
            <a:endParaRPr lang="en-US" sz="11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Depth-first search, step by step</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Push while you can, pop when you are stuck. Ties broken alphabetically.</a:t>
            </a:r>
            <a:endParaRPr lang="en-US" sz="1300" dirty="0"/>
          </a:p>
        </p:txBody>
      </p:sp>
      <p:sp>
        <p:nvSpPr>
          <p:cNvPr id="6" name="Text 4"/>
          <p:cNvSpPr/>
          <p:nvPr/>
        </p:nvSpPr>
        <p:spPr>
          <a:xfrm>
            <a:off x="713232" y="1572768"/>
            <a:ext cx="1280160" cy="237744"/>
          </a:xfrm>
          <a:prstGeom prst="rect">
            <a:avLst/>
          </a:prstGeom>
          <a:noFill/>
          <a:ln/>
        </p:spPr>
        <p:txBody>
          <a:bodyPr wrap="square" lIns="0" tIns="0" rIns="0" bIns="0" rtlCol="0" anchor="ctr"/>
          <a:lstStyle/>
          <a:p>
            <a:pPr marL="0" indent="0">
              <a:buNone/>
            </a:pPr>
            <a:r>
              <a:rPr lang="en-US" sz="1000" b="1" kern="0" spc="60" dirty="0">
                <a:solidFill>
                  <a:srgbClr val="63797F"/>
                </a:solidFill>
                <a:latin typeface="Calibri" pitchFamily="34" charset="0"/>
                <a:ea typeface="Calibri" pitchFamily="34" charset="-122"/>
                <a:cs typeface="Calibri" pitchFamily="34" charset="-120"/>
              </a:rPr>
              <a:t>ACTION</a:t>
            </a:r>
            <a:endParaRPr lang="en-US" sz="1000" dirty="0"/>
          </a:p>
        </p:txBody>
      </p:sp>
      <p:sp>
        <p:nvSpPr>
          <p:cNvPr id="7" name="Text 5"/>
          <p:cNvSpPr/>
          <p:nvPr/>
        </p:nvSpPr>
        <p:spPr>
          <a:xfrm>
            <a:off x="2103120" y="1572768"/>
            <a:ext cx="2194560" cy="237744"/>
          </a:xfrm>
          <a:prstGeom prst="rect">
            <a:avLst/>
          </a:prstGeom>
          <a:noFill/>
          <a:ln/>
        </p:spPr>
        <p:txBody>
          <a:bodyPr wrap="square" lIns="0" tIns="0" rIns="0" bIns="0" rtlCol="0" anchor="ctr"/>
          <a:lstStyle/>
          <a:p>
            <a:pPr marL="0" indent="0">
              <a:buNone/>
            </a:pPr>
            <a:r>
              <a:rPr lang="en-US" sz="1000" b="1" kern="0" spc="60" dirty="0">
                <a:solidFill>
                  <a:srgbClr val="63797F"/>
                </a:solidFill>
                <a:latin typeface="Calibri" pitchFamily="34" charset="0"/>
                <a:ea typeface="Calibri" pitchFamily="34" charset="-122"/>
                <a:cs typeface="Calibri" pitchFamily="34" charset="-120"/>
              </a:rPr>
              <a:t>STACK (bottom → top)</a:t>
            </a:r>
            <a:endParaRPr lang="en-US" sz="1000" dirty="0"/>
          </a:p>
        </p:txBody>
      </p:sp>
      <p:sp>
        <p:nvSpPr>
          <p:cNvPr id="8" name="Text 6"/>
          <p:cNvSpPr/>
          <p:nvPr/>
        </p:nvSpPr>
        <p:spPr>
          <a:xfrm>
            <a:off x="4480560" y="1572768"/>
            <a:ext cx="2194560" cy="237744"/>
          </a:xfrm>
          <a:prstGeom prst="rect">
            <a:avLst/>
          </a:prstGeom>
          <a:noFill/>
          <a:ln/>
        </p:spPr>
        <p:txBody>
          <a:bodyPr wrap="square" lIns="0" tIns="0" rIns="0" bIns="0" rtlCol="0" anchor="ctr"/>
          <a:lstStyle/>
          <a:p>
            <a:pPr marL="0" indent="0">
              <a:buNone/>
            </a:pPr>
            <a:r>
              <a:rPr lang="en-US" sz="1000" b="1" kern="0" spc="60" dirty="0">
                <a:solidFill>
                  <a:srgbClr val="63797F"/>
                </a:solidFill>
                <a:latin typeface="Calibri" pitchFamily="34" charset="0"/>
                <a:ea typeface="Calibri" pitchFamily="34" charset="-122"/>
                <a:cs typeface="Calibri" pitchFamily="34" charset="-120"/>
              </a:rPr>
              <a:t>WHY</a:t>
            </a:r>
            <a:endParaRPr lang="en-US" sz="1000" dirty="0"/>
          </a:p>
        </p:txBody>
      </p:sp>
      <p:sp>
        <p:nvSpPr>
          <p:cNvPr id="9" name="Shape 7"/>
          <p:cNvSpPr/>
          <p:nvPr/>
        </p:nvSpPr>
        <p:spPr>
          <a:xfrm>
            <a:off x="640080" y="1847088"/>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10" name="Text 8"/>
          <p:cNvSpPr/>
          <p:nvPr/>
        </p:nvSpPr>
        <p:spPr>
          <a:xfrm>
            <a:off x="713232" y="1847088"/>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a</a:t>
            </a:r>
            <a:endParaRPr lang="en-US" sz="1100" dirty="0"/>
          </a:p>
        </p:txBody>
      </p:sp>
      <p:sp>
        <p:nvSpPr>
          <p:cNvPr id="11" name="Text 9"/>
          <p:cNvSpPr/>
          <p:nvPr/>
        </p:nvSpPr>
        <p:spPr>
          <a:xfrm>
            <a:off x="2103120" y="1847088"/>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a:t>
            </a:r>
            <a:endParaRPr lang="en-US" sz="1100" dirty="0"/>
          </a:p>
        </p:txBody>
      </p:sp>
      <p:sp>
        <p:nvSpPr>
          <p:cNvPr id="12" name="Text 10"/>
          <p:cNvSpPr/>
          <p:nvPr/>
        </p:nvSpPr>
        <p:spPr>
          <a:xfrm>
            <a:off x="4480560" y="1847088"/>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a's first unvisited neighbour</a:t>
            </a:r>
            <a:endParaRPr lang="en-US" sz="1050" dirty="0"/>
          </a:p>
        </p:txBody>
      </p:sp>
      <p:sp>
        <p:nvSpPr>
          <p:cNvPr id="13" name="Text 11"/>
          <p:cNvSpPr/>
          <p:nvPr/>
        </p:nvSpPr>
        <p:spPr>
          <a:xfrm>
            <a:off x="713232" y="2153412"/>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b</a:t>
            </a:r>
            <a:endParaRPr lang="en-US" sz="1100" dirty="0"/>
          </a:p>
        </p:txBody>
      </p:sp>
      <p:sp>
        <p:nvSpPr>
          <p:cNvPr id="14" name="Text 12"/>
          <p:cNvSpPr/>
          <p:nvPr/>
        </p:nvSpPr>
        <p:spPr>
          <a:xfrm>
            <a:off x="2103120" y="2153412"/>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b</a:t>
            </a:r>
            <a:endParaRPr lang="en-US" sz="1100" dirty="0"/>
          </a:p>
        </p:txBody>
      </p:sp>
      <p:sp>
        <p:nvSpPr>
          <p:cNvPr id="15" name="Text 13"/>
          <p:cNvSpPr/>
          <p:nvPr/>
        </p:nvSpPr>
        <p:spPr>
          <a:xfrm>
            <a:off x="4480560" y="2153412"/>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from a: b, c, d, e → take b</a:t>
            </a:r>
            <a:endParaRPr lang="en-US" sz="1050" dirty="0"/>
          </a:p>
        </p:txBody>
      </p:sp>
      <p:sp>
        <p:nvSpPr>
          <p:cNvPr id="16" name="Shape 14"/>
          <p:cNvSpPr/>
          <p:nvPr/>
        </p:nvSpPr>
        <p:spPr>
          <a:xfrm>
            <a:off x="640080" y="2459736"/>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17" name="Text 15"/>
          <p:cNvSpPr/>
          <p:nvPr/>
        </p:nvSpPr>
        <p:spPr>
          <a:xfrm>
            <a:off x="713232" y="2459736"/>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d</a:t>
            </a:r>
            <a:endParaRPr lang="en-US" sz="1100" dirty="0"/>
          </a:p>
        </p:txBody>
      </p:sp>
      <p:sp>
        <p:nvSpPr>
          <p:cNvPr id="18" name="Text 16"/>
          <p:cNvSpPr/>
          <p:nvPr/>
        </p:nvSpPr>
        <p:spPr>
          <a:xfrm>
            <a:off x="2103120" y="2459736"/>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b d</a:t>
            </a:r>
            <a:endParaRPr lang="en-US" sz="1100" dirty="0"/>
          </a:p>
        </p:txBody>
      </p:sp>
      <p:sp>
        <p:nvSpPr>
          <p:cNvPr id="19" name="Text 17"/>
          <p:cNvSpPr/>
          <p:nvPr/>
        </p:nvSpPr>
        <p:spPr>
          <a:xfrm>
            <a:off x="4480560" y="2459736"/>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from b: a✓, d, f → take d</a:t>
            </a:r>
            <a:endParaRPr lang="en-US" sz="1050" dirty="0"/>
          </a:p>
        </p:txBody>
      </p:sp>
      <p:sp>
        <p:nvSpPr>
          <p:cNvPr id="20" name="Text 18"/>
          <p:cNvSpPr/>
          <p:nvPr/>
        </p:nvSpPr>
        <p:spPr>
          <a:xfrm>
            <a:off x="713232" y="2766060"/>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f</a:t>
            </a:r>
            <a:endParaRPr lang="en-US" sz="1100" dirty="0"/>
          </a:p>
        </p:txBody>
      </p:sp>
      <p:sp>
        <p:nvSpPr>
          <p:cNvPr id="21" name="Text 19"/>
          <p:cNvSpPr/>
          <p:nvPr/>
        </p:nvSpPr>
        <p:spPr>
          <a:xfrm>
            <a:off x="2103120" y="2766060"/>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b d f</a:t>
            </a:r>
            <a:endParaRPr lang="en-US" sz="1100" dirty="0"/>
          </a:p>
        </p:txBody>
      </p:sp>
      <p:sp>
        <p:nvSpPr>
          <p:cNvPr id="22" name="Text 20"/>
          <p:cNvSpPr/>
          <p:nvPr/>
        </p:nvSpPr>
        <p:spPr>
          <a:xfrm>
            <a:off x="4480560" y="2766060"/>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from d: a✓, b✓, f → take f</a:t>
            </a:r>
            <a:endParaRPr lang="en-US" sz="1050" dirty="0"/>
          </a:p>
        </p:txBody>
      </p:sp>
      <p:sp>
        <p:nvSpPr>
          <p:cNvPr id="23" name="Shape 21"/>
          <p:cNvSpPr/>
          <p:nvPr/>
        </p:nvSpPr>
        <p:spPr>
          <a:xfrm>
            <a:off x="640080" y="3072384"/>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24" name="Text 22"/>
          <p:cNvSpPr/>
          <p:nvPr/>
        </p:nvSpPr>
        <p:spPr>
          <a:xfrm>
            <a:off x="713232" y="3072384"/>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f</a:t>
            </a:r>
            <a:endParaRPr lang="en-US" sz="1100" dirty="0"/>
          </a:p>
        </p:txBody>
      </p:sp>
      <p:sp>
        <p:nvSpPr>
          <p:cNvPr id="25" name="Text 23"/>
          <p:cNvSpPr/>
          <p:nvPr/>
        </p:nvSpPr>
        <p:spPr>
          <a:xfrm>
            <a:off x="2103120" y="3072384"/>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b d</a:t>
            </a:r>
            <a:endParaRPr lang="en-US" sz="1100" dirty="0"/>
          </a:p>
        </p:txBody>
      </p:sp>
      <p:sp>
        <p:nvSpPr>
          <p:cNvPr id="26" name="Text 24"/>
          <p:cNvSpPr/>
          <p:nvPr/>
        </p:nvSpPr>
        <p:spPr>
          <a:xfrm>
            <a:off x="4480560" y="3072384"/>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f's neighbours b, d both visited</a:t>
            </a:r>
            <a:endParaRPr lang="en-US" sz="1050" dirty="0"/>
          </a:p>
        </p:txBody>
      </p:sp>
      <p:sp>
        <p:nvSpPr>
          <p:cNvPr id="27" name="Text 25"/>
          <p:cNvSpPr/>
          <p:nvPr/>
        </p:nvSpPr>
        <p:spPr>
          <a:xfrm>
            <a:off x="713232" y="3378708"/>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d</a:t>
            </a:r>
            <a:endParaRPr lang="en-US" sz="1100" dirty="0"/>
          </a:p>
        </p:txBody>
      </p:sp>
      <p:sp>
        <p:nvSpPr>
          <p:cNvPr id="28" name="Text 26"/>
          <p:cNvSpPr/>
          <p:nvPr/>
        </p:nvSpPr>
        <p:spPr>
          <a:xfrm>
            <a:off x="2103120" y="3378708"/>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b</a:t>
            </a:r>
            <a:endParaRPr lang="en-US" sz="1100" dirty="0"/>
          </a:p>
        </p:txBody>
      </p:sp>
      <p:sp>
        <p:nvSpPr>
          <p:cNvPr id="29" name="Text 27"/>
          <p:cNvSpPr/>
          <p:nvPr/>
        </p:nvSpPr>
        <p:spPr>
          <a:xfrm>
            <a:off x="4480560" y="3378708"/>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nothing new left at d</a:t>
            </a:r>
            <a:endParaRPr lang="en-US" sz="1050" dirty="0"/>
          </a:p>
        </p:txBody>
      </p:sp>
      <p:sp>
        <p:nvSpPr>
          <p:cNvPr id="30" name="Shape 28"/>
          <p:cNvSpPr/>
          <p:nvPr/>
        </p:nvSpPr>
        <p:spPr>
          <a:xfrm>
            <a:off x="640080" y="3685032"/>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31" name="Text 29"/>
          <p:cNvSpPr/>
          <p:nvPr/>
        </p:nvSpPr>
        <p:spPr>
          <a:xfrm>
            <a:off x="713232" y="3685032"/>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b</a:t>
            </a:r>
            <a:endParaRPr lang="en-US" sz="1100" dirty="0"/>
          </a:p>
        </p:txBody>
      </p:sp>
      <p:sp>
        <p:nvSpPr>
          <p:cNvPr id="32" name="Text 30"/>
          <p:cNvSpPr/>
          <p:nvPr/>
        </p:nvSpPr>
        <p:spPr>
          <a:xfrm>
            <a:off x="2103120" y="3685032"/>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a:t>
            </a:r>
            <a:endParaRPr lang="en-US" sz="1100" dirty="0"/>
          </a:p>
        </p:txBody>
      </p:sp>
      <p:sp>
        <p:nvSpPr>
          <p:cNvPr id="33" name="Text 31"/>
          <p:cNvSpPr/>
          <p:nvPr/>
        </p:nvSpPr>
        <p:spPr>
          <a:xfrm>
            <a:off x="4480560" y="3685032"/>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nothing new left at b</a:t>
            </a:r>
            <a:endParaRPr lang="en-US" sz="1050" dirty="0"/>
          </a:p>
        </p:txBody>
      </p:sp>
      <p:sp>
        <p:nvSpPr>
          <p:cNvPr id="34" name="Text 32"/>
          <p:cNvSpPr/>
          <p:nvPr/>
        </p:nvSpPr>
        <p:spPr>
          <a:xfrm>
            <a:off x="713232" y="3991356"/>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c</a:t>
            </a:r>
            <a:endParaRPr lang="en-US" sz="1100" dirty="0"/>
          </a:p>
        </p:txBody>
      </p:sp>
      <p:sp>
        <p:nvSpPr>
          <p:cNvPr id="35" name="Text 33"/>
          <p:cNvSpPr/>
          <p:nvPr/>
        </p:nvSpPr>
        <p:spPr>
          <a:xfrm>
            <a:off x="2103120" y="3991356"/>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c</a:t>
            </a:r>
            <a:endParaRPr lang="en-US" sz="1100" dirty="0"/>
          </a:p>
        </p:txBody>
      </p:sp>
      <p:sp>
        <p:nvSpPr>
          <p:cNvPr id="36" name="Text 34"/>
          <p:cNvSpPr/>
          <p:nvPr/>
        </p:nvSpPr>
        <p:spPr>
          <a:xfrm>
            <a:off x="4480560" y="3991356"/>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back at a: c is still unvisited</a:t>
            </a:r>
            <a:endParaRPr lang="en-US" sz="1050" dirty="0"/>
          </a:p>
        </p:txBody>
      </p:sp>
      <p:sp>
        <p:nvSpPr>
          <p:cNvPr id="37" name="Shape 35"/>
          <p:cNvSpPr/>
          <p:nvPr/>
        </p:nvSpPr>
        <p:spPr>
          <a:xfrm>
            <a:off x="640080" y="4297680"/>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38" name="Text 36"/>
          <p:cNvSpPr/>
          <p:nvPr/>
        </p:nvSpPr>
        <p:spPr>
          <a:xfrm>
            <a:off x="713232" y="4297680"/>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g</a:t>
            </a:r>
            <a:endParaRPr lang="en-US" sz="1100" dirty="0"/>
          </a:p>
        </p:txBody>
      </p:sp>
      <p:sp>
        <p:nvSpPr>
          <p:cNvPr id="39" name="Text 37"/>
          <p:cNvSpPr/>
          <p:nvPr/>
        </p:nvSpPr>
        <p:spPr>
          <a:xfrm>
            <a:off x="2103120" y="4297680"/>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c g</a:t>
            </a:r>
            <a:endParaRPr lang="en-US" sz="1100" dirty="0"/>
          </a:p>
        </p:txBody>
      </p:sp>
      <p:sp>
        <p:nvSpPr>
          <p:cNvPr id="40" name="Text 38"/>
          <p:cNvSpPr/>
          <p:nvPr/>
        </p:nvSpPr>
        <p:spPr>
          <a:xfrm>
            <a:off x="4480560" y="4297680"/>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from c: a✓, g → take g</a:t>
            </a:r>
            <a:endParaRPr lang="en-US" sz="1050" dirty="0"/>
          </a:p>
        </p:txBody>
      </p:sp>
      <p:sp>
        <p:nvSpPr>
          <p:cNvPr id="41" name="Text 39"/>
          <p:cNvSpPr/>
          <p:nvPr/>
        </p:nvSpPr>
        <p:spPr>
          <a:xfrm>
            <a:off x="713232" y="4604004"/>
            <a:ext cx="1325880" cy="306324"/>
          </a:xfrm>
          <a:prstGeom prst="rect">
            <a:avLst/>
          </a:prstGeom>
          <a:noFill/>
          <a:ln/>
        </p:spPr>
        <p:txBody>
          <a:bodyPr wrap="square" lIns="0" tIns="0" rIns="0" bIns="0" rtlCol="0" anchor="ctr"/>
          <a:lstStyle/>
          <a:p>
            <a:pPr marL="0" indent="0">
              <a:buNone/>
            </a:pPr>
            <a:r>
              <a:rPr lang="en-US" sz="1100" b="1" dirty="0">
                <a:solidFill>
                  <a:srgbClr val="2A9D8F"/>
                </a:solidFill>
                <a:latin typeface="Courier New" pitchFamily="34" charset="0"/>
                <a:ea typeface="Courier New" pitchFamily="34" charset="-122"/>
                <a:cs typeface="Courier New" pitchFamily="34" charset="-120"/>
              </a:rPr>
              <a:t>push e</a:t>
            </a:r>
            <a:endParaRPr lang="en-US" sz="1100" dirty="0"/>
          </a:p>
        </p:txBody>
      </p:sp>
      <p:sp>
        <p:nvSpPr>
          <p:cNvPr id="42" name="Text 40"/>
          <p:cNvSpPr/>
          <p:nvPr/>
        </p:nvSpPr>
        <p:spPr>
          <a:xfrm>
            <a:off x="2103120" y="4604004"/>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c g e</a:t>
            </a:r>
            <a:endParaRPr lang="en-US" sz="1100" dirty="0"/>
          </a:p>
        </p:txBody>
      </p:sp>
      <p:sp>
        <p:nvSpPr>
          <p:cNvPr id="43" name="Text 41"/>
          <p:cNvSpPr/>
          <p:nvPr/>
        </p:nvSpPr>
        <p:spPr>
          <a:xfrm>
            <a:off x="4480560" y="4604004"/>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from g: c✓, e → take e</a:t>
            </a:r>
            <a:endParaRPr lang="en-US" sz="1050" dirty="0"/>
          </a:p>
        </p:txBody>
      </p:sp>
      <p:sp>
        <p:nvSpPr>
          <p:cNvPr id="44" name="Shape 42"/>
          <p:cNvSpPr/>
          <p:nvPr/>
        </p:nvSpPr>
        <p:spPr>
          <a:xfrm>
            <a:off x="640080" y="4910328"/>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45" name="Text 43"/>
          <p:cNvSpPr/>
          <p:nvPr/>
        </p:nvSpPr>
        <p:spPr>
          <a:xfrm>
            <a:off x="713232" y="4910328"/>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e</a:t>
            </a:r>
            <a:endParaRPr lang="en-US" sz="1100" dirty="0"/>
          </a:p>
        </p:txBody>
      </p:sp>
      <p:sp>
        <p:nvSpPr>
          <p:cNvPr id="46" name="Text 44"/>
          <p:cNvSpPr/>
          <p:nvPr/>
        </p:nvSpPr>
        <p:spPr>
          <a:xfrm>
            <a:off x="2103120" y="4910328"/>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c g</a:t>
            </a:r>
            <a:endParaRPr lang="en-US" sz="1100" dirty="0"/>
          </a:p>
        </p:txBody>
      </p:sp>
      <p:sp>
        <p:nvSpPr>
          <p:cNvPr id="47" name="Text 45"/>
          <p:cNvSpPr/>
          <p:nvPr/>
        </p:nvSpPr>
        <p:spPr>
          <a:xfrm>
            <a:off x="4480560" y="4910328"/>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e's neighbours a, g both visited</a:t>
            </a:r>
            <a:endParaRPr lang="en-US" sz="1050" dirty="0"/>
          </a:p>
        </p:txBody>
      </p:sp>
      <p:sp>
        <p:nvSpPr>
          <p:cNvPr id="48" name="Text 46"/>
          <p:cNvSpPr/>
          <p:nvPr/>
        </p:nvSpPr>
        <p:spPr>
          <a:xfrm>
            <a:off x="713232" y="5216652"/>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g</a:t>
            </a:r>
            <a:endParaRPr lang="en-US" sz="1100" dirty="0"/>
          </a:p>
        </p:txBody>
      </p:sp>
      <p:sp>
        <p:nvSpPr>
          <p:cNvPr id="49" name="Text 47"/>
          <p:cNvSpPr/>
          <p:nvPr/>
        </p:nvSpPr>
        <p:spPr>
          <a:xfrm>
            <a:off x="2103120" y="5216652"/>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 c</a:t>
            </a:r>
            <a:endParaRPr lang="en-US" sz="1100" dirty="0"/>
          </a:p>
        </p:txBody>
      </p:sp>
      <p:sp>
        <p:nvSpPr>
          <p:cNvPr id="50" name="Text 48"/>
          <p:cNvSpPr/>
          <p:nvPr/>
        </p:nvSpPr>
        <p:spPr>
          <a:xfrm>
            <a:off x="4480560" y="5216652"/>
            <a:ext cx="2606040" cy="306324"/>
          </a:xfrm>
          <a:prstGeom prst="rect">
            <a:avLst/>
          </a:prstGeom>
          <a:noFill/>
          <a:ln/>
        </p:spPr>
        <p:txBody>
          <a:bodyPr wrap="square" lIns="0" tIns="0" rIns="0" bIns="0" rtlCol="0" anchor="ctr"/>
          <a:lstStyle/>
          <a:p>
            <a:pPr marL="0" indent="0">
              <a:buNone/>
            </a:pPr>
            <a:endParaRPr lang="en-US" sz="1050" dirty="0"/>
          </a:p>
        </p:txBody>
      </p:sp>
      <p:sp>
        <p:nvSpPr>
          <p:cNvPr id="51" name="Shape 49"/>
          <p:cNvSpPr/>
          <p:nvPr/>
        </p:nvSpPr>
        <p:spPr>
          <a:xfrm>
            <a:off x="640080" y="5522976"/>
            <a:ext cx="6492240" cy="306324"/>
          </a:xfrm>
          <a:prstGeom prst="roundRect">
            <a:avLst>
              <a:gd name="adj" fmla="val 17910"/>
            </a:avLst>
          </a:prstGeom>
          <a:solidFill>
            <a:srgbClr val="F6F9F8"/>
          </a:solidFill>
          <a:ln w="12700">
            <a:solidFill>
              <a:srgbClr val="F6F9F8"/>
            </a:solidFill>
            <a:prstDash val="solid"/>
          </a:ln>
        </p:spPr>
        <p:txBody>
          <a:bodyPr/>
          <a:lstStyle/>
          <a:p>
            <a:endParaRPr lang="en-US"/>
          </a:p>
        </p:txBody>
      </p:sp>
      <p:sp>
        <p:nvSpPr>
          <p:cNvPr id="52" name="Text 50"/>
          <p:cNvSpPr/>
          <p:nvPr/>
        </p:nvSpPr>
        <p:spPr>
          <a:xfrm>
            <a:off x="713232" y="5522976"/>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c</a:t>
            </a:r>
            <a:endParaRPr lang="en-US" sz="1100" dirty="0"/>
          </a:p>
        </p:txBody>
      </p:sp>
      <p:sp>
        <p:nvSpPr>
          <p:cNvPr id="53" name="Text 51"/>
          <p:cNvSpPr/>
          <p:nvPr/>
        </p:nvSpPr>
        <p:spPr>
          <a:xfrm>
            <a:off x="2103120" y="5522976"/>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a:t>
            </a:r>
            <a:endParaRPr lang="en-US" sz="1100" dirty="0"/>
          </a:p>
        </p:txBody>
      </p:sp>
      <p:sp>
        <p:nvSpPr>
          <p:cNvPr id="54" name="Text 52"/>
          <p:cNvSpPr/>
          <p:nvPr/>
        </p:nvSpPr>
        <p:spPr>
          <a:xfrm>
            <a:off x="4480560" y="5522976"/>
            <a:ext cx="2606040" cy="306324"/>
          </a:xfrm>
          <a:prstGeom prst="rect">
            <a:avLst/>
          </a:prstGeom>
          <a:noFill/>
          <a:ln/>
        </p:spPr>
        <p:txBody>
          <a:bodyPr wrap="square" lIns="0" tIns="0" rIns="0" bIns="0" rtlCol="0" anchor="ctr"/>
          <a:lstStyle/>
          <a:p>
            <a:pPr marL="0" indent="0">
              <a:buNone/>
            </a:pPr>
            <a:endParaRPr lang="en-US" sz="1050" dirty="0"/>
          </a:p>
        </p:txBody>
      </p:sp>
      <p:sp>
        <p:nvSpPr>
          <p:cNvPr id="55" name="Text 53"/>
          <p:cNvSpPr/>
          <p:nvPr/>
        </p:nvSpPr>
        <p:spPr>
          <a:xfrm>
            <a:off x="713232" y="5829300"/>
            <a:ext cx="1325880" cy="306324"/>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pop a</a:t>
            </a:r>
            <a:endParaRPr lang="en-US" sz="1100" dirty="0"/>
          </a:p>
        </p:txBody>
      </p:sp>
      <p:sp>
        <p:nvSpPr>
          <p:cNvPr id="56" name="Text 54"/>
          <p:cNvSpPr/>
          <p:nvPr/>
        </p:nvSpPr>
        <p:spPr>
          <a:xfrm>
            <a:off x="2103120" y="5829300"/>
            <a:ext cx="2286000" cy="306324"/>
          </a:xfrm>
          <a:prstGeom prst="rect">
            <a:avLst/>
          </a:prstGeom>
          <a:noFill/>
          <a:ln/>
        </p:spPr>
        <p:txBody>
          <a:bodyPr wrap="square" lIns="0" tIns="0" rIns="0" bIns="0" rtlCol="0" anchor="ctr"/>
          <a:lstStyle/>
          <a:p>
            <a:pPr marL="0" indent="0">
              <a:buNone/>
            </a:pPr>
            <a:r>
              <a:rPr lang="en-US" sz="1100" kern="0" spc="120" dirty="0">
                <a:solidFill>
                  <a:srgbClr val="13232B"/>
                </a:solidFill>
                <a:latin typeface="Courier New" pitchFamily="34" charset="0"/>
                <a:ea typeface="Courier New" pitchFamily="34" charset="-122"/>
                <a:cs typeface="Courier New" pitchFamily="34" charset="-120"/>
              </a:rPr>
              <a:t>—</a:t>
            </a:r>
            <a:endParaRPr lang="en-US" sz="1100" dirty="0"/>
          </a:p>
        </p:txBody>
      </p:sp>
      <p:sp>
        <p:nvSpPr>
          <p:cNvPr id="57" name="Text 55"/>
          <p:cNvSpPr/>
          <p:nvPr/>
        </p:nvSpPr>
        <p:spPr>
          <a:xfrm>
            <a:off x="4480560" y="5829300"/>
            <a:ext cx="2606040" cy="306324"/>
          </a:xfrm>
          <a:prstGeom prst="rect">
            <a:avLst/>
          </a:prstGeom>
          <a:noFill/>
          <a:ln/>
        </p:spPr>
        <p:txBody>
          <a:bodyPr wrap="square" lIns="0" tIns="0" rIns="0" bIns="0" rtlCol="0" anchor="ctr"/>
          <a:lstStyle/>
          <a:p>
            <a:pPr marL="0" indent="0">
              <a:buNone/>
            </a:pPr>
            <a:r>
              <a:rPr lang="en-US" sz="1050" dirty="0">
                <a:solidFill>
                  <a:srgbClr val="63797F"/>
                </a:solidFill>
                <a:latin typeface="Calibri" pitchFamily="34" charset="0"/>
                <a:ea typeface="Calibri" pitchFamily="34" charset="-122"/>
                <a:cs typeface="Calibri" pitchFamily="34" charset="-120"/>
              </a:rPr>
              <a:t>every neighbour of a is visited: done</a:t>
            </a:r>
            <a:endParaRPr lang="en-US" sz="1050" dirty="0"/>
          </a:p>
        </p:txBody>
      </p:sp>
      <p:sp>
        <p:nvSpPr>
          <p:cNvPr id="58" name="Shape 56"/>
          <p:cNvSpPr/>
          <p:nvPr/>
        </p:nvSpPr>
        <p:spPr>
          <a:xfrm>
            <a:off x="7406640" y="1572768"/>
            <a:ext cx="4160520" cy="1417320"/>
          </a:xfrm>
          <a:prstGeom prst="roundRect">
            <a:avLst>
              <a:gd name="adj" fmla="val 3871"/>
            </a:avLst>
          </a:prstGeom>
          <a:solidFill>
            <a:srgbClr val="0B3B44"/>
          </a:solidFill>
          <a:ln w="12700">
            <a:solidFill>
              <a:srgbClr val="0B3B44"/>
            </a:solidFill>
            <a:prstDash val="solid"/>
          </a:ln>
        </p:spPr>
        <p:txBody>
          <a:bodyPr/>
          <a:lstStyle/>
          <a:p>
            <a:endParaRPr lang="en-US"/>
          </a:p>
        </p:txBody>
      </p:sp>
      <p:sp>
        <p:nvSpPr>
          <p:cNvPr id="59" name="Text 57"/>
          <p:cNvSpPr/>
          <p:nvPr/>
        </p:nvSpPr>
        <p:spPr>
          <a:xfrm>
            <a:off x="7680960" y="1719072"/>
            <a:ext cx="3657600" cy="256032"/>
          </a:xfrm>
          <a:prstGeom prst="rect">
            <a:avLst/>
          </a:prstGeom>
          <a:noFill/>
          <a:ln/>
        </p:spPr>
        <p:txBody>
          <a:bodyPr wrap="square" lIns="0" tIns="0" rIns="0" bIns="0" rtlCol="0" anchor="ctr"/>
          <a:lstStyle/>
          <a:p>
            <a:pPr marL="0" indent="0">
              <a:buNone/>
            </a:pPr>
            <a:r>
              <a:rPr lang="en-US" sz="1000" b="1" kern="0" spc="60" dirty="0">
                <a:solidFill>
                  <a:srgbClr val="8FB6BC"/>
                </a:solidFill>
                <a:latin typeface="Calibri" pitchFamily="34" charset="0"/>
                <a:ea typeface="Calibri" pitchFamily="34" charset="-122"/>
                <a:cs typeface="Calibri" pitchFamily="34" charset="-120"/>
              </a:rPr>
              <a:t>PUSH ORDER  ·  visit order</a:t>
            </a:r>
            <a:endParaRPr lang="en-US" sz="1000" dirty="0"/>
          </a:p>
        </p:txBody>
      </p:sp>
      <p:sp>
        <p:nvSpPr>
          <p:cNvPr id="60" name="Text 58"/>
          <p:cNvSpPr/>
          <p:nvPr/>
        </p:nvSpPr>
        <p:spPr>
          <a:xfrm>
            <a:off x="7680960" y="1975104"/>
            <a:ext cx="3657600" cy="384048"/>
          </a:xfrm>
          <a:prstGeom prst="rect">
            <a:avLst/>
          </a:prstGeom>
          <a:noFill/>
          <a:ln/>
        </p:spPr>
        <p:txBody>
          <a:bodyPr wrap="square" lIns="0" tIns="0" rIns="0" bIns="0" rtlCol="0" anchor="ctr"/>
          <a:lstStyle/>
          <a:p>
            <a:pPr marL="0" indent="0">
              <a:buNone/>
            </a:pPr>
            <a:r>
              <a:rPr lang="en-US" sz="1700" b="1" kern="0" spc="100" dirty="0">
                <a:solidFill>
                  <a:srgbClr val="FFFFFF"/>
                </a:solidFill>
                <a:latin typeface="Courier New" pitchFamily="34" charset="0"/>
                <a:ea typeface="Courier New" pitchFamily="34" charset="-122"/>
                <a:cs typeface="Courier New" pitchFamily="34" charset="-120"/>
              </a:rPr>
              <a:t>a  b  d  f  c  g  e</a:t>
            </a:r>
            <a:endParaRPr lang="en-US" sz="1700" dirty="0"/>
          </a:p>
        </p:txBody>
      </p:sp>
      <p:sp>
        <p:nvSpPr>
          <p:cNvPr id="61" name="Text 59"/>
          <p:cNvSpPr/>
          <p:nvPr/>
        </p:nvSpPr>
        <p:spPr>
          <a:xfrm>
            <a:off x="7680960" y="2395728"/>
            <a:ext cx="3657600" cy="237744"/>
          </a:xfrm>
          <a:prstGeom prst="rect">
            <a:avLst/>
          </a:prstGeom>
          <a:noFill/>
          <a:ln/>
        </p:spPr>
        <p:txBody>
          <a:bodyPr wrap="square" lIns="0" tIns="0" rIns="0" bIns="0" rtlCol="0" anchor="ctr"/>
          <a:lstStyle/>
          <a:p>
            <a:pPr marL="0" indent="0">
              <a:buNone/>
            </a:pPr>
            <a:r>
              <a:rPr lang="en-US" sz="1000" b="1" kern="0" spc="60" dirty="0">
                <a:solidFill>
                  <a:srgbClr val="8FB6BC"/>
                </a:solidFill>
                <a:latin typeface="Calibri" pitchFamily="34" charset="0"/>
                <a:ea typeface="Calibri" pitchFamily="34" charset="-122"/>
                <a:cs typeface="Calibri" pitchFamily="34" charset="-120"/>
              </a:rPr>
              <a:t>POP ORDER</a:t>
            </a:r>
            <a:endParaRPr lang="en-US" sz="1000" dirty="0"/>
          </a:p>
        </p:txBody>
      </p:sp>
      <p:sp>
        <p:nvSpPr>
          <p:cNvPr id="62" name="Text 60"/>
          <p:cNvSpPr/>
          <p:nvPr/>
        </p:nvSpPr>
        <p:spPr>
          <a:xfrm>
            <a:off x="7680960" y="2615184"/>
            <a:ext cx="3657600" cy="329184"/>
          </a:xfrm>
          <a:prstGeom prst="rect">
            <a:avLst/>
          </a:prstGeom>
          <a:noFill/>
          <a:ln/>
        </p:spPr>
        <p:txBody>
          <a:bodyPr wrap="square" lIns="0" tIns="0" rIns="0" bIns="0" rtlCol="0" anchor="ctr"/>
          <a:lstStyle/>
          <a:p>
            <a:pPr marL="0" indent="0">
              <a:buNone/>
            </a:pPr>
            <a:r>
              <a:rPr lang="en-US" sz="1700" b="1" kern="0" spc="100" dirty="0">
                <a:solidFill>
                  <a:srgbClr val="E8A33D"/>
                </a:solidFill>
                <a:latin typeface="Courier New" pitchFamily="34" charset="0"/>
                <a:ea typeface="Courier New" pitchFamily="34" charset="-122"/>
                <a:cs typeface="Courier New" pitchFamily="34" charset="-120"/>
              </a:rPr>
              <a:t>f  d  b  e  g  c  a</a:t>
            </a:r>
            <a:endParaRPr lang="en-US" sz="1700" dirty="0"/>
          </a:p>
        </p:txBody>
      </p:sp>
      <p:sp>
        <p:nvSpPr>
          <p:cNvPr id="63" name="Shape 61"/>
          <p:cNvSpPr/>
          <p:nvPr/>
        </p:nvSpPr>
        <p:spPr>
          <a:xfrm>
            <a:off x="7406640" y="3154680"/>
            <a:ext cx="4160520" cy="2560320"/>
          </a:xfrm>
          <a:prstGeom prst="roundRect">
            <a:avLst>
              <a:gd name="adj" fmla="val 2143"/>
            </a:avLst>
          </a:prstGeom>
          <a:solidFill>
            <a:srgbClr val="EDF4F3"/>
          </a:solidFill>
          <a:ln w="12700">
            <a:solidFill>
              <a:srgbClr val="EDF4F3"/>
            </a:solidFill>
            <a:prstDash val="solid"/>
          </a:ln>
        </p:spPr>
        <p:txBody>
          <a:bodyPr/>
          <a:lstStyle/>
          <a:p>
            <a:endParaRPr lang="en-US"/>
          </a:p>
        </p:txBody>
      </p:sp>
      <p:sp>
        <p:nvSpPr>
          <p:cNvPr id="64" name="Text 62"/>
          <p:cNvSpPr/>
          <p:nvPr/>
        </p:nvSpPr>
        <p:spPr>
          <a:xfrm>
            <a:off x="7680960" y="3310128"/>
            <a:ext cx="365760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The two deepest moments</a:t>
            </a:r>
            <a:endParaRPr lang="en-US" sz="1150" dirty="0"/>
          </a:p>
        </p:txBody>
      </p:sp>
      <p:sp>
        <p:nvSpPr>
          <p:cNvPr id="65" name="Shape 63"/>
          <p:cNvSpPr/>
          <p:nvPr/>
        </p:nvSpPr>
        <p:spPr>
          <a:xfrm>
            <a:off x="7726680" y="3657600"/>
            <a:ext cx="868680" cy="365760"/>
          </a:xfrm>
          <a:prstGeom prst="roundRect">
            <a:avLst>
              <a:gd name="adj" fmla="val 20000"/>
            </a:avLst>
          </a:prstGeom>
          <a:solidFill>
            <a:srgbClr val="0B3B44"/>
          </a:solidFill>
          <a:ln w="12700">
            <a:solidFill>
              <a:srgbClr val="0B3B44"/>
            </a:solidFill>
            <a:prstDash val="solid"/>
          </a:ln>
        </p:spPr>
        <p:txBody>
          <a:bodyPr/>
          <a:lstStyle/>
          <a:p>
            <a:endParaRPr lang="en-US"/>
          </a:p>
        </p:txBody>
      </p:sp>
      <p:sp>
        <p:nvSpPr>
          <p:cNvPr id="66" name="Text 64"/>
          <p:cNvSpPr/>
          <p:nvPr/>
        </p:nvSpPr>
        <p:spPr>
          <a:xfrm>
            <a:off x="7726680" y="36576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67" name="Text 65"/>
          <p:cNvSpPr/>
          <p:nvPr/>
        </p:nvSpPr>
        <p:spPr>
          <a:xfrm>
            <a:off x="8641080" y="36576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4→1</a:t>
            </a:r>
            <a:endParaRPr lang="en-US" sz="1050" dirty="0"/>
          </a:p>
        </p:txBody>
      </p:sp>
      <p:sp>
        <p:nvSpPr>
          <p:cNvPr id="68" name="Shape 66"/>
          <p:cNvSpPr/>
          <p:nvPr/>
        </p:nvSpPr>
        <p:spPr>
          <a:xfrm>
            <a:off x="7726680" y="4114800"/>
            <a:ext cx="868680" cy="365760"/>
          </a:xfrm>
          <a:prstGeom prst="roundRect">
            <a:avLst>
              <a:gd name="adj" fmla="val 20000"/>
            </a:avLst>
          </a:prstGeom>
          <a:solidFill>
            <a:srgbClr val="0B3B44"/>
          </a:solidFill>
          <a:ln w="12700">
            <a:solidFill>
              <a:srgbClr val="0B3B44"/>
            </a:solidFill>
            <a:prstDash val="solid"/>
          </a:ln>
        </p:spPr>
        <p:txBody>
          <a:bodyPr/>
          <a:lstStyle/>
          <a:p>
            <a:endParaRPr lang="en-US"/>
          </a:p>
        </p:txBody>
      </p:sp>
      <p:sp>
        <p:nvSpPr>
          <p:cNvPr id="69" name="Text 67"/>
          <p:cNvSpPr/>
          <p:nvPr/>
        </p:nvSpPr>
        <p:spPr>
          <a:xfrm>
            <a:off x="7726680" y="41148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70" name="Text 68"/>
          <p:cNvSpPr/>
          <p:nvPr/>
        </p:nvSpPr>
        <p:spPr>
          <a:xfrm>
            <a:off x="8641080" y="41148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3→2</a:t>
            </a:r>
            <a:endParaRPr lang="en-US" sz="1050" dirty="0"/>
          </a:p>
        </p:txBody>
      </p:sp>
      <p:sp>
        <p:nvSpPr>
          <p:cNvPr id="71" name="Shape 69"/>
          <p:cNvSpPr/>
          <p:nvPr/>
        </p:nvSpPr>
        <p:spPr>
          <a:xfrm>
            <a:off x="7726680" y="4572000"/>
            <a:ext cx="868680" cy="365760"/>
          </a:xfrm>
          <a:prstGeom prst="roundRect">
            <a:avLst>
              <a:gd name="adj" fmla="val 20000"/>
            </a:avLst>
          </a:prstGeom>
          <a:solidFill>
            <a:srgbClr val="0B3B44"/>
          </a:solidFill>
          <a:ln w="12700">
            <a:solidFill>
              <a:srgbClr val="0B3B44"/>
            </a:solidFill>
            <a:prstDash val="solid"/>
          </a:ln>
        </p:spPr>
        <p:txBody>
          <a:bodyPr/>
          <a:lstStyle/>
          <a:p>
            <a:endParaRPr lang="en-US"/>
          </a:p>
        </p:txBody>
      </p:sp>
      <p:sp>
        <p:nvSpPr>
          <p:cNvPr id="72" name="Text 70"/>
          <p:cNvSpPr/>
          <p:nvPr/>
        </p:nvSpPr>
        <p:spPr>
          <a:xfrm>
            <a:off x="7726680" y="45720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73" name="Text 71"/>
          <p:cNvSpPr/>
          <p:nvPr/>
        </p:nvSpPr>
        <p:spPr>
          <a:xfrm>
            <a:off x="8641080" y="45720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2→3</a:t>
            </a:r>
            <a:endParaRPr lang="en-US" sz="1050" dirty="0"/>
          </a:p>
        </p:txBody>
      </p:sp>
      <p:sp>
        <p:nvSpPr>
          <p:cNvPr id="74" name="Shape 72"/>
          <p:cNvSpPr/>
          <p:nvPr/>
        </p:nvSpPr>
        <p:spPr>
          <a:xfrm>
            <a:off x="7726680" y="5029200"/>
            <a:ext cx="868680" cy="365760"/>
          </a:xfrm>
          <a:prstGeom prst="roundRect">
            <a:avLst>
              <a:gd name="adj" fmla="val 20000"/>
            </a:avLst>
          </a:prstGeom>
          <a:solidFill>
            <a:srgbClr val="0B3B44"/>
          </a:solidFill>
          <a:ln w="12700">
            <a:solidFill>
              <a:srgbClr val="0B3B44"/>
            </a:solidFill>
            <a:prstDash val="solid"/>
          </a:ln>
        </p:spPr>
        <p:txBody>
          <a:bodyPr/>
          <a:lstStyle/>
          <a:p>
            <a:endParaRPr lang="en-US"/>
          </a:p>
        </p:txBody>
      </p:sp>
      <p:sp>
        <p:nvSpPr>
          <p:cNvPr id="75" name="Text 73"/>
          <p:cNvSpPr/>
          <p:nvPr/>
        </p:nvSpPr>
        <p:spPr>
          <a:xfrm>
            <a:off x="7726680" y="50292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6" name="Text 74"/>
          <p:cNvSpPr/>
          <p:nvPr/>
        </p:nvSpPr>
        <p:spPr>
          <a:xfrm>
            <a:off x="8641080" y="50292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1→7</a:t>
            </a:r>
            <a:endParaRPr lang="en-US" sz="1050" dirty="0"/>
          </a:p>
        </p:txBody>
      </p:sp>
      <p:sp>
        <p:nvSpPr>
          <p:cNvPr id="77" name="Shape 75"/>
          <p:cNvSpPr/>
          <p:nvPr/>
        </p:nvSpPr>
        <p:spPr>
          <a:xfrm>
            <a:off x="9692640" y="3657600"/>
            <a:ext cx="868680" cy="365760"/>
          </a:xfrm>
          <a:prstGeom prst="roundRect">
            <a:avLst>
              <a:gd name="adj" fmla="val 20000"/>
            </a:avLst>
          </a:prstGeom>
          <a:solidFill>
            <a:srgbClr val="2A9D8F"/>
          </a:solidFill>
          <a:ln w="12700">
            <a:solidFill>
              <a:srgbClr val="2A9D8F"/>
            </a:solidFill>
            <a:prstDash val="solid"/>
          </a:ln>
        </p:spPr>
        <p:txBody>
          <a:bodyPr/>
          <a:lstStyle/>
          <a:p>
            <a:endParaRPr lang="en-US"/>
          </a:p>
        </p:txBody>
      </p:sp>
      <p:sp>
        <p:nvSpPr>
          <p:cNvPr id="78" name="Text 76"/>
          <p:cNvSpPr/>
          <p:nvPr/>
        </p:nvSpPr>
        <p:spPr>
          <a:xfrm>
            <a:off x="9692640" y="36576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79" name="Text 77"/>
          <p:cNvSpPr/>
          <p:nvPr/>
        </p:nvSpPr>
        <p:spPr>
          <a:xfrm>
            <a:off x="10607040" y="36576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7→4</a:t>
            </a:r>
            <a:endParaRPr lang="en-US" sz="1050" dirty="0"/>
          </a:p>
        </p:txBody>
      </p:sp>
      <p:sp>
        <p:nvSpPr>
          <p:cNvPr id="80" name="Shape 78"/>
          <p:cNvSpPr/>
          <p:nvPr/>
        </p:nvSpPr>
        <p:spPr>
          <a:xfrm>
            <a:off x="9692640" y="4114800"/>
            <a:ext cx="868680" cy="365760"/>
          </a:xfrm>
          <a:prstGeom prst="roundRect">
            <a:avLst>
              <a:gd name="adj" fmla="val 20000"/>
            </a:avLst>
          </a:prstGeom>
          <a:solidFill>
            <a:srgbClr val="2A9D8F"/>
          </a:solidFill>
          <a:ln w="12700">
            <a:solidFill>
              <a:srgbClr val="2A9D8F"/>
            </a:solidFill>
            <a:prstDash val="solid"/>
          </a:ln>
        </p:spPr>
        <p:txBody>
          <a:bodyPr/>
          <a:lstStyle/>
          <a:p>
            <a:endParaRPr lang="en-US"/>
          </a:p>
        </p:txBody>
      </p:sp>
      <p:sp>
        <p:nvSpPr>
          <p:cNvPr id="81" name="Text 79"/>
          <p:cNvSpPr/>
          <p:nvPr/>
        </p:nvSpPr>
        <p:spPr>
          <a:xfrm>
            <a:off x="9692640" y="41148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82" name="Text 80"/>
          <p:cNvSpPr/>
          <p:nvPr/>
        </p:nvSpPr>
        <p:spPr>
          <a:xfrm>
            <a:off x="10607040" y="41148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6→5</a:t>
            </a:r>
            <a:endParaRPr lang="en-US" sz="1050" dirty="0"/>
          </a:p>
        </p:txBody>
      </p:sp>
      <p:sp>
        <p:nvSpPr>
          <p:cNvPr id="83" name="Shape 81"/>
          <p:cNvSpPr/>
          <p:nvPr/>
        </p:nvSpPr>
        <p:spPr>
          <a:xfrm>
            <a:off x="9692640" y="4572000"/>
            <a:ext cx="868680" cy="365760"/>
          </a:xfrm>
          <a:prstGeom prst="roundRect">
            <a:avLst>
              <a:gd name="adj" fmla="val 20000"/>
            </a:avLst>
          </a:prstGeom>
          <a:solidFill>
            <a:srgbClr val="2A9D8F"/>
          </a:solidFill>
          <a:ln w="12700">
            <a:solidFill>
              <a:srgbClr val="2A9D8F"/>
            </a:solidFill>
            <a:prstDash val="solid"/>
          </a:ln>
        </p:spPr>
        <p:txBody>
          <a:bodyPr/>
          <a:lstStyle/>
          <a:p>
            <a:endParaRPr lang="en-US"/>
          </a:p>
        </p:txBody>
      </p:sp>
      <p:sp>
        <p:nvSpPr>
          <p:cNvPr id="84" name="Text 82"/>
          <p:cNvSpPr/>
          <p:nvPr/>
        </p:nvSpPr>
        <p:spPr>
          <a:xfrm>
            <a:off x="9692640" y="4572000"/>
            <a:ext cx="8686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85" name="Text 83"/>
          <p:cNvSpPr/>
          <p:nvPr/>
        </p:nvSpPr>
        <p:spPr>
          <a:xfrm>
            <a:off x="10607040" y="4572000"/>
            <a:ext cx="868680" cy="365760"/>
          </a:xfrm>
          <a:prstGeom prst="rect">
            <a:avLst/>
          </a:prstGeom>
          <a:noFill/>
          <a:ln/>
        </p:spPr>
        <p:txBody>
          <a:bodyPr wrap="square" lIns="0" tIns="0" rIns="0" bIns="0" rtlCol="0" anchor="ctr"/>
          <a:lstStyle/>
          <a:p>
            <a:pPr marL="0" indent="0">
              <a:buNone/>
            </a:pPr>
            <a:r>
              <a:rPr lang="en-US" sz="1050" dirty="0">
                <a:solidFill>
                  <a:srgbClr val="63797F"/>
                </a:solidFill>
                <a:latin typeface="Courier New" pitchFamily="34" charset="0"/>
                <a:ea typeface="Courier New" pitchFamily="34" charset="-122"/>
                <a:cs typeface="Courier New" pitchFamily="34" charset="-120"/>
              </a:rPr>
              <a:t>5→6</a:t>
            </a:r>
            <a:endParaRPr lang="en-US" sz="1050" dirty="0"/>
          </a:p>
        </p:txBody>
      </p:sp>
      <p:sp>
        <p:nvSpPr>
          <p:cNvPr id="89" name="Text 87"/>
          <p:cNvSpPr/>
          <p:nvPr/>
        </p:nvSpPr>
        <p:spPr>
          <a:xfrm>
            <a:off x="7726680" y="5486400"/>
            <a:ext cx="3749040" cy="237744"/>
          </a:xfrm>
          <a:prstGeom prst="rect">
            <a:avLst/>
          </a:prstGeom>
          <a:noFill/>
          <a:ln/>
        </p:spPr>
        <p:txBody>
          <a:bodyPr wrap="square" lIns="0" tIns="0" rIns="0" bIns="0" rtlCol="0" anchor="ctr"/>
          <a:lstStyle/>
          <a:p>
            <a:pPr marL="0" indent="0">
              <a:buNone/>
            </a:pPr>
            <a:r>
              <a:rPr lang="en-US" sz="1000" i="1" dirty="0">
                <a:solidFill>
                  <a:srgbClr val="63797F"/>
                </a:solidFill>
                <a:latin typeface="Calibri" pitchFamily="34" charset="0"/>
                <a:ea typeface="Calibri" pitchFamily="34" charset="-122"/>
                <a:cs typeface="Calibri" pitchFamily="34" charset="-120"/>
              </a:rPr>
              <a:t>pushed → popped</a:t>
            </a:r>
            <a:endParaRPr lang="en-US" sz="1000" dirty="0"/>
          </a:p>
        </p:txBody>
      </p:sp>
      <p:sp>
        <p:nvSpPr>
          <p:cNvPr id="90" name="Text 88"/>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91" name="Text 89"/>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28b</a:t>
            </a:r>
            <a:endParaRPr lang="en-US" sz="11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depth-first search tree</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One edge for every push — that is, every time line 8 fires.</a:t>
            </a:r>
            <a:endParaRPr lang="en-US" sz="1300" dirty="0"/>
          </a:p>
        </p:txBody>
      </p:sp>
      <p:sp>
        <p:nvSpPr>
          <p:cNvPr id="6" name="Shape 4"/>
          <p:cNvSpPr/>
          <p:nvPr/>
        </p:nvSpPr>
        <p:spPr>
          <a:xfrm>
            <a:off x="548640" y="1600200"/>
            <a:ext cx="7315200" cy="4114800"/>
          </a:xfrm>
          <a:prstGeom prst="roundRect">
            <a:avLst>
              <a:gd name="adj" fmla="val 1333"/>
            </a:avLst>
          </a:prstGeom>
          <a:solidFill>
            <a:srgbClr val="F6F9F8"/>
          </a:solidFill>
          <a:ln w="12700">
            <a:solidFill>
              <a:srgbClr val="D3E0DD"/>
            </a:solidFill>
            <a:prstDash val="solid"/>
          </a:ln>
        </p:spPr>
        <p:txBody>
          <a:bodyPr/>
          <a:lstStyle/>
          <a:p>
            <a:endParaRPr lang="en-US"/>
          </a:p>
        </p:txBody>
      </p:sp>
      <p:sp>
        <p:nvSpPr>
          <p:cNvPr id="30" name="Text 28"/>
          <p:cNvSpPr/>
          <p:nvPr/>
        </p:nvSpPr>
        <p:spPr>
          <a:xfrm>
            <a:off x="914400" y="5806440"/>
            <a:ext cx="6949440" cy="274320"/>
          </a:xfrm>
          <a:prstGeom prst="rect">
            <a:avLst/>
          </a:prstGeom>
          <a:noFill/>
          <a:ln/>
        </p:spPr>
        <p:txBody>
          <a:bodyPr wrap="square" lIns="0" tIns="0" rIns="0" bIns="0" rtlCol="0" anchor="ctr"/>
          <a:lstStyle/>
          <a:p>
            <a:pPr marL="0" indent="0">
              <a:buNone/>
            </a:pPr>
            <a:r>
              <a:rPr lang="en-US" sz="1100" i="1" dirty="0">
                <a:solidFill>
                  <a:srgbClr val="63797F"/>
                </a:solidFill>
                <a:latin typeface="Calibri" pitchFamily="34" charset="0"/>
                <a:ea typeface="Calibri" pitchFamily="34" charset="-122"/>
                <a:cs typeface="Calibri" pitchFamily="34" charset="-120"/>
              </a:rPr>
              <a:t>solid = tree edges (6 = |V| − 1)      dashed = back edges (3)</a:t>
            </a:r>
            <a:endParaRPr lang="en-US" sz="1100" dirty="0"/>
          </a:p>
        </p:txBody>
      </p:sp>
      <p:sp>
        <p:nvSpPr>
          <p:cNvPr id="31" name="Shape 29"/>
          <p:cNvSpPr/>
          <p:nvPr/>
        </p:nvSpPr>
        <p:spPr>
          <a:xfrm>
            <a:off x="8183880" y="1600200"/>
            <a:ext cx="3383280" cy="1965960"/>
          </a:xfrm>
          <a:prstGeom prst="roundRect">
            <a:avLst>
              <a:gd name="adj" fmla="val 2791"/>
            </a:avLst>
          </a:prstGeom>
          <a:solidFill>
            <a:srgbClr val="EDF4F3"/>
          </a:solidFill>
          <a:ln w="12700">
            <a:solidFill>
              <a:srgbClr val="EDF4F3"/>
            </a:solidFill>
            <a:prstDash val="solid"/>
          </a:ln>
        </p:spPr>
        <p:txBody>
          <a:bodyPr/>
          <a:lstStyle/>
          <a:p>
            <a:endParaRPr lang="en-US"/>
          </a:p>
        </p:txBody>
      </p:sp>
      <p:sp>
        <p:nvSpPr>
          <p:cNvPr id="32" name="Text 30"/>
          <p:cNvSpPr/>
          <p:nvPr/>
        </p:nvSpPr>
        <p:spPr>
          <a:xfrm>
            <a:off x="8458200" y="1783080"/>
            <a:ext cx="283464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How to build it live</a:t>
            </a:r>
            <a:endParaRPr lang="en-US" sz="1150" dirty="0"/>
          </a:p>
        </p:txBody>
      </p:sp>
      <p:sp>
        <p:nvSpPr>
          <p:cNvPr id="33" name="Text 31"/>
          <p:cNvSpPr/>
          <p:nvPr/>
        </p:nvSpPr>
        <p:spPr>
          <a:xfrm>
            <a:off x="8458200" y="2121408"/>
            <a:ext cx="2880360" cy="1280160"/>
          </a:xfrm>
          <a:prstGeom prst="rect">
            <a:avLst/>
          </a:prstGeom>
          <a:noFill/>
          <a:ln/>
        </p:spPr>
        <p:txBody>
          <a:bodyPr wrap="square" lIns="0" tIns="0" rIns="0" bIns="0" rtlCol="0" anchor="t"/>
          <a:lstStyle/>
          <a:p>
            <a:pPr marL="0" indent="0">
              <a:lnSpc>
                <a:spcPts val="1700"/>
              </a:lnSpc>
              <a:buNone/>
            </a:pPr>
            <a:r>
              <a:rPr lang="en-US" sz="1250" dirty="0">
                <a:solidFill>
                  <a:srgbClr val="13232B"/>
                </a:solidFill>
                <a:latin typeface="Calibri" pitchFamily="34" charset="0"/>
                <a:ea typeface="Calibri" pitchFamily="34" charset="-122"/>
                <a:cs typeface="Calibri" pitchFamily="34" charset="-120"/>
              </a:rPr>
              <a:t>Whenever you push v while sitting at u, draw the edge u — v. Never draw anything on a pop. That gives six edges for seven nodes, as any tree must.</a:t>
            </a:r>
            <a:endParaRPr lang="en-US" sz="1250" dirty="0"/>
          </a:p>
        </p:txBody>
      </p:sp>
      <p:sp>
        <p:nvSpPr>
          <p:cNvPr id="34" name="Shape 32"/>
          <p:cNvSpPr/>
          <p:nvPr/>
        </p:nvSpPr>
        <p:spPr>
          <a:xfrm>
            <a:off x="8183880" y="3749040"/>
            <a:ext cx="3383280" cy="1965960"/>
          </a:xfrm>
          <a:prstGeom prst="roundRect">
            <a:avLst>
              <a:gd name="adj" fmla="val 2791"/>
            </a:avLst>
          </a:prstGeom>
          <a:solidFill>
            <a:srgbClr val="F6F9F8"/>
          </a:solidFill>
          <a:ln w="12700">
            <a:solidFill>
              <a:srgbClr val="D3E0DD"/>
            </a:solidFill>
            <a:prstDash val="solid"/>
          </a:ln>
        </p:spPr>
        <p:txBody>
          <a:bodyPr/>
          <a:lstStyle/>
          <a:p>
            <a:endParaRPr lang="en-US"/>
          </a:p>
        </p:txBody>
      </p:sp>
      <p:sp>
        <p:nvSpPr>
          <p:cNvPr id="35" name="Text 33"/>
          <p:cNvSpPr/>
          <p:nvPr/>
        </p:nvSpPr>
        <p:spPr>
          <a:xfrm>
            <a:off x="8458200" y="3931920"/>
            <a:ext cx="283464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Shape of a DFS tree</a:t>
            </a:r>
            <a:endParaRPr lang="en-US" sz="1150" dirty="0"/>
          </a:p>
        </p:txBody>
      </p:sp>
      <p:sp>
        <p:nvSpPr>
          <p:cNvPr id="36" name="Text 34"/>
          <p:cNvSpPr/>
          <p:nvPr/>
        </p:nvSpPr>
        <p:spPr>
          <a:xfrm>
            <a:off x="8458200" y="4270248"/>
            <a:ext cx="2880360" cy="1280160"/>
          </a:xfrm>
          <a:prstGeom prst="rect">
            <a:avLst/>
          </a:prstGeom>
          <a:noFill/>
          <a:ln/>
        </p:spPr>
        <p:txBody>
          <a:bodyPr wrap="square" lIns="0" tIns="0" rIns="0" bIns="0" rtlCol="0" anchor="t"/>
          <a:lstStyle/>
          <a:p>
            <a:pPr marL="0" indent="0">
              <a:lnSpc>
                <a:spcPts val="1700"/>
              </a:lnSpc>
              <a:buNone/>
            </a:pPr>
            <a:r>
              <a:rPr lang="en-US" sz="1250" dirty="0">
                <a:solidFill>
                  <a:srgbClr val="13232B"/>
                </a:solidFill>
                <a:latin typeface="Calibri" pitchFamily="34" charset="0"/>
                <a:ea typeface="Calibri" pitchFamily="34" charset="-122"/>
                <a:cs typeface="Calibri" pitchFamily="34" charset="-120"/>
              </a:rPr>
              <a:t>Long and thin: two chains of depth 3. Every non-tree edge joins a node to one of its own ancestors — never to a cousin. Compare that with the BFS tree coming up.</a:t>
            </a:r>
            <a:endParaRPr lang="en-US" sz="1250" dirty="0"/>
          </a:p>
        </p:txBody>
      </p:sp>
      <p:sp>
        <p:nvSpPr>
          <p:cNvPr id="37" name="Text 35"/>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38" name="Text 36"/>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18</a:t>
            </a:r>
            <a:endParaRPr lang="en-US" sz="900" dirty="0"/>
          </a:p>
        </p:txBody>
      </p:sp>
      <p:pic>
        <p:nvPicPr>
          <p:cNvPr id="39" name="Picture 38">
            <a:extLst>
              <a:ext uri="{FF2B5EF4-FFF2-40B4-BE49-F238E27FC236}">
                <a16:creationId xmlns:a16="http://schemas.microsoft.com/office/drawing/2014/main" id="{5D0CF807-7004-933E-F3C5-20D2E27C0F04}"/>
              </a:ext>
            </a:extLst>
          </p:cNvPr>
          <p:cNvPicPr>
            <a:picLocks noChangeAspect="1"/>
          </p:cNvPicPr>
          <p:nvPr/>
        </p:nvPicPr>
        <p:blipFill>
          <a:blip r:embed="rId3"/>
          <a:stretch>
            <a:fillRect/>
          </a:stretch>
        </p:blipFill>
        <p:spPr>
          <a:xfrm>
            <a:off x="2241550" y="2057400"/>
            <a:ext cx="3929380" cy="32904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28c</a:t>
            </a:r>
            <a:endParaRPr lang="en-US" sz="11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Breadth-first search</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Same algorithm, SQ is now a queue — so we finish a level before starting the next.</a:t>
            </a:r>
            <a:endParaRPr lang="en-US" sz="1300" dirty="0"/>
          </a:p>
        </p:txBody>
      </p:sp>
      <p:sp>
        <p:nvSpPr>
          <p:cNvPr id="6" name="Text 4"/>
          <p:cNvSpPr/>
          <p:nvPr/>
        </p:nvSpPr>
        <p:spPr>
          <a:xfrm>
            <a:off x="713232" y="1572768"/>
            <a:ext cx="3657600" cy="256032"/>
          </a:xfrm>
          <a:prstGeom prst="rect">
            <a:avLst/>
          </a:prstGeom>
          <a:noFill/>
          <a:ln/>
        </p:spPr>
        <p:txBody>
          <a:bodyPr wrap="square" lIns="0" tIns="0" rIns="0" bIns="0" rtlCol="0" anchor="ctr"/>
          <a:lstStyle/>
          <a:p>
            <a:pPr marL="0" indent="0">
              <a:buNone/>
            </a:pPr>
            <a:r>
              <a:rPr lang="en-US" sz="1050" b="1" kern="0" spc="60" dirty="0">
                <a:solidFill>
                  <a:srgbClr val="63797F"/>
                </a:solidFill>
                <a:latin typeface="Calibri" pitchFamily="34" charset="0"/>
                <a:ea typeface="Calibri" pitchFamily="34" charset="-122"/>
                <a:cs typeface="Calibri" pitchFamily="34" charset="-120"/>
              </a:rPr>
              <a:t>VISIT ORDER, BY LEVEL</a:t>
            </a:r>
            <a:endParaRPr lang="en-US" sz="1050" dirty="0"/>
          </a:p>
        </p:txBody>
      </p:sp>
      <p:sp>
        <p:nvSpPr>
          <p:cNvPr id="7" name="Text 5"/>
          <p:cNvSpPr/>
          <p:nvPr/>
        </p:nvSpPr>
        <p:spPr>
          <a:xfrm>
            <a:off x="713232" y="1920240"/>
            <a:ext cx="1005840" cy="457200"/>
          </a:xfrm>
          <a:prstGeom prst="rect">
            <a:avLst/>
          </a:prstGeom>
          <a:noFill/>
          <a:ln/>
        </p:spPr>
        <p:txBody>
          <a:bodyPr wrap="square" lIns="0" tIns="0" rIns="0" bIns="0" rtlCol="0" anchor="ctr"/>
          <a:lstStyle/>
          <a:p>
            <a:pPr marL="0" indent="0">
              <a:buNone/>
            </a:pPr>
            <a:r>
              <a:rPr lang="en-US" sz="1150" b="1" dirty="0">
                <a:solidFill>
                  <a:srgbClr val="63797F"/>
                </a:solidFill>
                <a:latin typeface="Calibri" pitchFamily="34" charset="0"/>
                <a:ea typeface="Calibri" pitchFamily="34" charset="-122"/>
                <a:cs typeface="Calibri" pitchFamily="34" charset="-120"/>
              </a:rPr>
              <a:t>Level 0</a:t>
            </a:r>
            <a:endParaRPr lang="en-US" sz="1150" dirty="0"/>
          </a:p>
        </p:txBody>
      </p:sp>
      <p:sp>
        <p:nvSpPr>
          <p:cNvPr id="8" name="Shape 6"/>
          <p:cNvSpPr/>
          <p:nvPr/>
        </p:nvSpPr>
        <p:spPr>
          <a:xfrm>
            <a:off x="1783080" y="1947672"/>
            <a:ext cx="502920" cy="411480"/>
          </a:xfrm>
          <a:prstGeom prst="roundRect">
            <a:avLst>
              <a:gd name="adj" fmla="val 17778"/>
            </a:avLst>
          </a:prstGeom>
          <a:solidFill>
            <a:srgbClr val="E8A33D"/>
          </a:solidFill>
          <a:ln w="12700">
            <a:solidFill>
              <a:srgbClr val="E8A33D"/>
            </a:solidFill>
            <a:prstDash val="solid"/>
          </a:ln>
        </p:spPr>
        <p:txBody>
          <a:bodyPr/>
          <a:lstStyle/>
          <a:p>
            <a:endParaRPr lang="en-US"/>
          </a:p>
        </p:txBody>
      </p:sp>
      <p:sp>
        <p:nvSpPr>
          <p:cNvPr id="9" name="Text 7"/>
          <p:cNvSpPr/>
          <p:nvPr/>
        </p:nvSpPr>
        <p:spPr>
          <a:xfrm>
            <a:off x="1783080" y="1947672"/>
            <a:ext cx="502920" cy="411480"/>
          </a:xfrm>
          <a:prstGeom prst="rect">
            <a:avLst/>
          </a:prstGeom>
          <a:noFill/>
          <a:ln/>
        </p:spPr>
        <p:txBody>
          <a:bodyPr wrap="square" lIns="0" tIns="0" rIns="0" bIns="0" rtlCol="0" anchor="ctr"/>
          <a:lstStyle/>
          <a:p>
            <a:pPr marL="0" indent="0" algn="ctr">
              <a:buNone/>
            </a:pPr>
            <a:r>
              <a:rPr lang="en-US" sz="1350" b="1" dirty="0">
                <a:solidFill>
                  <a:srgbClr val="13232B"/>
                </a:solidFill>
                <a:latin typeface="Calibri" pitchFamily="34" charset="0"/>
                <a:ea typeface="Calibri" pitchFamily="34" charset="-122"/>
                <a:cs typeface="Calibri" pitchFamily="34" charset="-120"/>
              </a:rPr>
              <a:t>a</a:t>
            </a:r>
            <a:endParaRPr lang="en-US" sz="1350" dirty="0"/>
          </a:p>
        </p:txBody>
      </p:sp>
      <p:sp>
        <p:nvSpPr>
          <p:cNvPr id="10" name="Text 8"/>
          <p:cNvSpPr/>
          <p:nvPr/>
        </p:nvSpPr>
        <p:spPr>
          <a:xfrm>
            <a:off x="4526280" y="1920240"/>
            <a:ext cx="2651760" cy="457200"/>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the start node</a:t>
            </a:r>
            <a:endParaRPr lang="en-US" sz="1150" dirty="0"/>
          </a:p>
        </p:txBody>
      </p:sp>
      <p:sp>
        <p:nvSpPr>
          <p:cNvPr id="11" name="Text 9"/>
          <p:cNvSpPr/>
          <p:nvPr/>
        </p:nvSpPr>
        <p:spPr>
          <a:xfrm>
            <a:off x="713232" y="2788920"/>
            <a:ext cx="1005840" cy="457200"/>
          </a:xfrm>
          <a:prstGeom prst="rect">
            <a:avLst/>
          </a:prstGeom>
          <a:noFill/>
          <a:ln/>
        </p:spPr>
        <p:txBody>
          <a:bodyPr wrap="square" lIns="0" tIns="0" rIns="0" bIns="0" rtlCol="0" anchor="ctr"/>
          <a:lstStyle/>
          <a:p>
            <a:pPr marL="0" indent="0">
              <a:buNone/>
            </a:pPr>
            <a:r>
              <a:rPr lang="en-US" sz="1150" b="1" dirty="0">
                <a:solidFill>
                  <a:srgbClr val="63797F"/>
                </a:solidFill>
                <a:latin typeface="Calibri" pitchFamily="34" charset="0"/>
                <a:ea typeface="Calibri" pitchFamily="34" charset="-122"/>
                <a:cs typeface="Calibri" pitchFamily="34" charset="-120"/>
              </a:rPr>
              <a:t>Level 1</a:t>
            </a:r>
            <a:endParaRPr lang="en-US" sz="1150" dirty="0"/>
          </a:p>
        </p:txBody>
      </p:sp>
      <p:sp>
        <p:nvSpPr>
          <p:cNvPr id="12" name="Shape 10"/>
          <p:cNvSpPr/>
          <p:nvPr/>
        </p:nvSpPr>
        <p:spPr>
          <a:xfrm>
            <a:off x="1783080" y="2816352"/>
            <a:ext cx="502920" cy="411480"/>
          </a:xfrm>
          <a:prstGeom prst="roundRect">
            <a:avLst>
              <a:gd name="adj" fmla="val 17778"/>
            </a:avLst>
          </a:prstGeom>
          <a:solidFill>
            <a:srgbClr val="2A9D8F"/>
          </a:solidFill>
          <a:ln w="12700">
            <a:solidFill>
              <a:srgbClr val="2A9D8F"/>
            </a:solidFill>
            <a:prstDash val="solid"/>
          </a:ln>
        </p:spPr>
        <p:txBody>
          <a:bodyPr/>
          <a:lstStyle/>
          <a:p>
            <a:endParaRPr lang="en-US"/>
          </a:p>
        </p:txBody>
      </p:sp>
      <p:sp>
        <p:nvSpPr>
          <p:cNvPr id="13" name="Text 11"/>
          <p:cNvSpPr/>
          <p:nvPr/>
        </p:nvSpPr>
        <p:spPr>
          <a:xfrm>
            <a:off x="1783080" y="281635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b</a:t>
            </a:r>
            <a:endParaRPr lang="en-US" sz="1350" dirty="0"/>
          </a:p>
        </p:txBody>
      </p:sp>
      <p:sp>
        <p:nvSpPr>
          <p:cNvPr id="14" name="Shape 12"/>
          <p:cNvSpPr/>
          <p:nvPr/>
        </p:nvSpPr>
        <p:spPr>
          <a:xfrm>
            <a:off x="2441448" y="2816352"/>
            <a:ext cx="502920" cy="411480"/>
          </a:xfrm>
          <a:prstGeom prst="roundRect">
            <a:avLst>
              <a:gd name="adj" fmla="val 17778"/>
            </a:avLst>
          </a:prstGeom>
          <a:solidFill>
            <a:srgbClr val="2A9D8F"/>
          </a:solidFill>
          <a:ln w="12700">
            <a:solidFill>
              <a:srgbClr val="2A9D8F"/>
            </a:solidFill>
            <a:prstDash val="solid"/>
          </a:ln>
        </p:spPr>
        <p:txBody>
          <a:bodyPr/>
          <a:lstStyle/>
          <a:p>
            <a:endParaRPr lang="en-US"/>
          </a:p>
        </p:txBody>
      </p:sp>
      <p:sp>
        <p:nvSpPr>
          <p:cNvPr id="15" name="Text 13"/>
          <p:cNvSpPr/>
          <p:nvPr/>
        </p:nvSpPr>
        <p:spPr>
          <a:xfrm>
            <a:off x="2441448" y="281635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a:t>
            </a:r>
            <a:endParaRPr lang="en-US" sz="1350" dirty="0"/>
          </a:p>
        </p:txBody>
      </p:sp>
      <p:sp>
        <p:nvSpPr>
          <p:cNvPr id="16" name="Shape 14"/>
          <p:cNvSpPr/>
          <p:nvPr/>
        </p:nvSpPr>
        <p:spPr>
          <a:xfrm>
            <a:off x="3099816" y="2816352"/>
            <a:ext cx="502920" cy="411480"/>
          </a:xfrm>
          <a:prstGeom prst="roundRect">
            <a:avLst>
              <a:gd name="adj" fmla="val 17778"/>
            </a:avLst>
          </a:prstGeom>
          <a:solidFill>
            <a:srgbClr val="2A9D8F"/>
          </a:solidFill>
          <a:ln w="12700">
            <a:solidFill>
              <a:srgbClr val="2A9D8F"/>
            </a:solidFill>
            <a:prstDash val="solid"/>
          </a:ln>
        </p:spPr>
        <p:txBody>
          <a:bodyPr/>
          <a:lstStyle/>
          <a:p>
            <a:endParaRPr lang="en-US"/>
          </a:p>
        </p:txBody>
      </p:sp>
      <p:sp>
        <p:nvSpPr>
          <p:cNvPr id="17" name="Text 15"/>
          <p:cNvSpPr/>
          <p:nvPr/>
        </p:nvSpPr>
        <p:spPr>
          <a:xfrm>
            <a:off x="3099816" y="281635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t>
            </a:r>
            <a:endParaRPr lang="en-US" sz="1350" dirty="0"/>
          </a:p>
        </p:txBody>
      </p:sp>
      <p:sp>
        <p:nvSpPr>
          <p:cNvPr id="18" name="Shape 16"/>
          <p:cNvSpPr/>
          <p:nvPr/>
        </p:nvSpPr>
        <p:spPr>
          <a:xfrm>
            <a:off x="3758184" y="2816352"/>
            <a:ext cx="502920" cy="411480"/>
          </a:xfrm>
          <a:prstGeom prst="roundRect">
            <a:avLst>
              <a:gd name="adj" fmla="val 17778"/>
            </a:avLst>
          </a:prstGeom>
          <a:solidFill>
            <a:srgbClr val="2A9D8F"/>
          </a:solidFill>
          <a:ln w="12700">
            <a:solidFill>
              <a:srgbClr val="2A9D8F"/>
            </a:solidFill>
            <a:prstDash val="solid"/>
          </a:ln>
        </p:spPr>
        <p:txBody>
          <a:bodyPr/>
          <a:lstStyle/>
          <a:p>
            <a:endParaRPr lang="en-US"/>
          </a:p>
        </p:txBody>
      </p:sp>
      <p:sp>
        <p:nvSpPr>
          <p:cNvPr id="19" name="Text 17"/>
          <p:cNvSpPr/>
          <p:nvPr/>
        </p:nvSpPr>
        <p:spPr>
          <a:xfrm>
            <a:off x="3758184" y="281635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a:t>
            </a:r>
            <a:endParaRPr lang="en-US" sz="1350" dirty="0"/>
          </a:p>
        </p:txBody>
      </p:sp>
      <p:sp>
        <p:nvSpPr>
          <p:cNvPr id="20" name="Text 18"/>
          <p:cNvSpPr/>
          <p:nvPr/>
        </p:nvSpPr>
        <p:spPr>
          <a:xfrm>
            <a:off x="4526280" y="2788920"/>
            <a:ext cx="2651760" cy="457200"/>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everything one edge from a</a:t>
            </a:r>
            <a:endParaRPr lang="en-US" sz="1150" dirty="0"/>
          </a:p>
        </p:txBody>
      </p:sp>
      <p:sp>
        <p:nvSpPr>
          <p:cNvPr id="21" name="Text 19"/>
          <p:cNvSpPr/>
          <p:nvPr/>
        </p:nvSpPr>
        <p:spPr>
          <a:xfrm>
            <a:off x="713232" y="3657600"/>
            <a:ext cx="1005840" cy="457200"/>
          </a:xfrm>
          <a:prstGeom prst="rect">
            <a:avLst/>
          </a:prstGeom>
          <a:noFill/>
          <a:ln/>
        </p:spPr>
        <p:txBody>
          <a:bodyPr wrap="square" lIns="0" tIns="0" rIns="0" bIns="0" rtlCol="0" anchor="ctr"/>
          <a:lstStyle/>
          <a:p>
            <a:pPr marL="0" indent="0">
              <a:buNone/>
            </a:pPr>
            <a:r>
              <a:rPr lang="en-US" sz="1150" b="1" dirty="0">
                <a:solidFill>
                  <a:srgbClr val="63797F"/>
                </a:solidFill>
                <a:latin typeface="Calibri" pitchFamily="34" charset="0"/>
                <a:ea typeface="Calibri" pitchFamily="34" charset="-122"/>
                <a:cs typeface="Calibri" pitchFamily="34" charset="-120"/>
              </a:rPr>
              <a:t>Level 2</a:t>
            </a:r>
            <a:endParaRPr lang="en-US" sz="1150" dirty="0"/>
          </a:p>
        </p:txBody>
      </p:sp>
      <p:sp>
        <p:nvSpPr>
          <p:cNvPr id="22" name="Shape 20"/>
          <p:cNvSpPr/>
          <p:nvPr/>
        </p:nvSpPr>
        <p:spPr>
          <a:xfrm>
            <a:off x="1783080" y="3685032"/>
            <a:ext cx="502920" cy="411480"/>
          </a:xfrm>
          <a:prstGeom prst="roundRect">
            <a:avLst>
              <a:gd name="adj" fmla="val 17778"/>
            </a:avLst>
          </a:prstGeom>
          <a:solidFill>
            <a:srgbClr val="0B3B44"/>
          </a:solidFill>
          <a:ln w="12700">
            <a:solidFill>
              <a:srgbClr val="0B3B44"/>
            </a:solidFill>
            <a:prstDash val="solid"/>
          </a:ln>
        </p:spPr>
        <p:txBody>
          <a:bodyPr/>
          <a:lstStyle/>
          <a:p>
            <a:endParaRPr lang="en-US"/>
          </a:p>
        </p:txBody>
      </p:sp>
      <p:sp>
        <p:nvSpPr>
          <p:cNvPr id="23" name="Text 21"/>
          <p:cNvSpPr/>
          <p:nvPr/>
        </p:nvSpPr>
        <p:spPr>
          <a:xfrm>
            <a:off x="1783080" y="368503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a:t>
            </a:r>
            <a:endParaRPr lang="en-US" sz="1350" dirty="0"/>
          </a:p>
        </p:txBody>
      </p:sp>
      <p:sp>
        <p:nvSpPr>
          <p:cNvPr id="24" name="Shape 22"/>
          <p:cNvSpPr/>
          <p:nvPr/>
        </p:nvSpPr>
        <p:spPr>
          <a:xfrm>
            <a:off x="2441448" y="3685032"/>
            <a:ext cx="502920" cy="411480"/>
          </a:xfrm>
          <a:prstGeom prst="roundRect">
            <a:avLst>
              <a:gd name="adj" fmla="val 17778"/>
            </a:avLst>
          </a:prstGeom>
          <a:solidFill>
            <a:srgbClr val="0B3B44"/>
          </a:solidFill>
          <a:ln w="12700">
            <a:solidFill>
              <a:srgbClr val="0B3B44"/>
            </a:solidFill>
            <a:prstDash val="solid"/>
          </a:ln>
        </p:spPr>
        <p:txBody>
          <a:bodyPr/>
          <a:lstStyle/>
          <a:p>
            <a:endParaRPr lang="en-US"/>
          </a:p>
        </p:txBody>
      </p:sp>
      <p:sp>
        <p:nvSpPr>
          <p:cNvPr id="25" name="Text 23"/>
          <p:cNvSpPr/>
          <p:nvPr/>
        </p:nvSpPr>
        <p:spPr>
          <a:xfrm>
            <a:off x="2441448" y="3685032"/>
            <a:ext cx="50292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g</a:t>
            </a:r>
            <a:endParaRPr lang="en-US" sz="1350" dirty="0"/>
          </a:p>
        </p:txBody>
      </p:sp>
      <p:sp>
        <p:nvSpPr>
          <p:cNvPr id="26" name="Text 24"/>
          <p:cNvSpPr/>
          <p:nvPr/>
        </p:nvSpPr>
        <p:spPr>
          <a:xfrm>
            <a:off x="4526280" y="3657600"/>
            <a:ext cx="2651760" cy="457200"/>
          </a:xfrm>
          <a:prstGeom prst="rect">
            <a:avLst/>
          </a:prstGeom>
          <a:noFill/>
          <a:ln/>
        </p:spPr>
        <p:txBody>
          <a:bodyPr wrap="square" lIns="0" tIns="0" rIns="0" bIns="0" rtlCol="0" anchor="ctr"/>
          <a:lstStyle/>
          <a:p>
            <a:pPr marL="0" indent="0">
              <a:buNone/>
            </a:pPr>
            <a:r>
              <a:rPr lang="en-US" sz="1150" i="1" dirty="0">
                <a:solidFill>
                  <a:srgbClr val="63797F"/>
                </a:solidFill>
                <a:latin typeface="Calibri" pitchFamily="34" charset="0"/>
                <a:ea typeface="Calibri" pitchFamily="34" charset="-122"/>
                <a:cs typeface="Calibri" pitchFamily="34" charset="-120"/>
              </a:rPr>
              <a:t>reached via b and c</a:t>
            </a:r>
            <a:endParaRPr lang="en-US" sz="1150" dirty="0"/>
          </a:p>
        </p:txBody>
      </p:sp>
      <p:sp>
        <p:nvSpPr>
          <p:cNvPr id="27" name="Text 25"/>
          <p:cNvSpPr/>
          <p:nvPr/>
        </p:nvSpPr>
        <p:spPr>
          <a:xfrm>
            <a:off x="713232" y="4526280"/>
            <a:ext cx="4114800" cy="320040"/>
          </a:xfrm>
          <a:prstGeom prst="rect">
            <a:avLst/>
          </a:prstGeom>
          <a:noFill/>
          <a:ln/>
        </p:spPr>
        <p:txBody>
          <a:bodyPr wrap="square" lIns="0" tIns="0" rIns="0" bIns="0" rtlCol="0" anchor="ctr"/>
          <a:lstStyle/>
          <a:p>
            <a:pPr marL="0" indent="0">
              <a:buNone/>
            </a:pPr>
            <a:r>
              <a:rPr lang="en-US" sz="1400" b="1" dirty="0">
                <a:solidFill>
                  <a:srgbClr val="0B3B44"/>
                </a:solidFill>
                <a:latin typeface="Calibri" pitchFamily="34" charset="0"/>
                <a:ea typeface="Calibri" pitchFamily="34" charset="-122"/>
                <a:cs typeface="Calibri" pitchFamily="34" charset="-120"/>
              </a:rPr>
              <a:t>Order:  </a:t>
            </a:r>
            <a:r>
              <a:rPr lang="en-US" sz="1400" b="1" dirty="0">
                <a:solidFill>
                  <a:srgbClr val="13232B"/>
                </a:solidFill>
                <a:latin typeface="Courier New" pitchFamily="34" charset="0"/>
                <a:ea typeface="Courier New" pitchFamily="34" charset="-122"/>
                <a:cs typeface="Courier New" pitchFamily="34" charset="-120"/>
              </a:rPr>
              <a:t>a, b, c, d, e, f, g</a:t>
            </a:r>
            <a:endParaRPr lang="en-US" sz="1400" dirty="0"/>
          </a:p>
        </p:txBody>
      </p:sp>
      <p:sp>
        <p:nvSpPr>
          <p:cNvPr id="28" name="Shape 26"/>
          <p:cNvSpPr/>
          <p:nvPr/>
        </p:nvSpPr>
        <p:spPr>
          <a:xfrm>
            <a:off x="640080" y="4937760"/>
            <a:ext cx="6400800" cy="822960"/>
          </a:xfrm>
          <a:prstGeom prst="roundRect">
            <a:avLst>
              <a:gd name="adj" fmla="val 6667"/>
            </a:avLst>
          </a:prstGeom>
          <a:solidFill>
            <a:srgbClr val="EDF4F3"/>
          </a:solidFill>
          <a:ln w="12700">
            <a:solidFill>
              <a:srgbClr val="EDF4F3"/>
            </a:solidFill>
            <a:prstDash val="solid"/>
          </a:ln>
        </p:spPr>
        <p:txBody>
          <a:bodyPr/>
          <a:lstStyle/>
          <a:p>
            <a:endParaRPr lang="en-US"/>
          </a:p>
        </p:txBody>
      </p:sp>
      <p:sp>
        <p:nvSpPr>
          <p:cNvPr id="29" name="Text 27"/>
          <p:cNvSpPr/>
          <p:nvPr/>
        </p:nvSpPr>
        <p:spPr>
          <a:xfrm>
            <a:off x="914400" y="4937760"/>
            <a:ext cx="5852160" cy="822960"/>
          </a:xfrm>
          <a:prstGeom prst="rect">
            <a:avLst/>
          </a:prstGeom>
          <a:noFill/>
          <a:ln/>
        </p:spPr>
        <p:txBody>
          <a:bodyPr wrap="square" lIns="0" tIns="0" rIns="0" bIns="0" rtlCol="0" anchor="ctr"/>
          <a:lstStyle/>
          <a:p>
            <a:pPr marL="0" indent="0">
              <a:lnSpc>
                <a:spcPts val="1600"/>
              </a:lnSpc>
              <a:buNone/>
            </a:pPr>
            <a:r>
              <a:rPr lang="en-US" sz="1200" b="1" dirty="0">
                <a:solidFill>
                  <a:srgbClr val="0B3B44"/>
                </a:solidFill>
                <a:latin typeface="Calibri" pitchFamily="34" charset="0"/>
                <a:ea typeface="Calibri" pitchFamily="34" charset="-122"/>
                <a:cs typeface="Calibri" pitchFamily="34" charset="-120"/>
              </a:rPr>
              <a:t>The queue in one line:  </a:t>
            </a:r>
            <a:r>
              <a:rPr lang="en-US" sz="1200" dirty="0">
                <a:solidFill>
                  <a:srgbClr val="13232B"/>
                </a:solidFill>
                <a:latin typeface="Calibri" pitchFamily="34" charset="0"/>
                <a:ea typeface="Calibri" pitchFamily="34" charset="-122"/>
                <a:cs typeface="Calibri" pitchFamily="34" charset="-120"/>
              </a:rPr>
              <a:t>a enqueues b, c, d, e and is then dequeued; b enqueues f; c enqueues g; d, e, f and g find nothing new and simply drain.</a:t>
            </a:r>
            <a:endParaRPr lang="en-US" sz="1200" dirty="0"/>
          </a:p>
        </p:txBody>
      </p:sp>
      <p:sp>
        <p:nvSpPr>
          <p:cNvPr id="30" name="Shape 28"/>
          <p:cNvSpPr/>
          <p:nvPr/>
        </p:nvSpPr>
        <p:spPr>
          <a:xfrm>
            <a:off x="7363970" y="1700784"/>
            <a:ext cx="4297680" cy="4114800"/>
          </a:xfrm>
          <a:prstGeom prst="roundRect">
            <a:avLst>
              <a:gd name="adj" fmla="val 1333"/>
            </a:avLst>
          </a:prstGeom>
          <a:solidFill>
            <a:srgbClr val="F6F9F8"/>
          </a:solidFill>
          <a:ln w="12700">
            <a:solidFill>
              <a:srgbClr val="D3E0DD"/>
            </a:solidFill>
            <a:prstDash val="solid"/>
          </a:ln>
        </p:spPr>
        <p:txBody>
          <a:bodyPr/>
          <a:lstStyle/>
          <a:p>
            <a:endParaRPr lang="en-US"/>
          </a:p>
        </p:txBody>
      </p:sp>
      <p:sp>
        <p:nvSpPr>
          <p:cNvPr id="31" name="Text 29"/>
          <p:cNvSpPr/>
          <p:nvPr/>
        </p:nvSpPr>
        <p:spPr>
          <a:xfrm>
            <a:off x="7543800" y="1737360"/>
            <a:ext cx="320040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BFS TREE FROM a</a:t>
            </a:r>
            <a:endParaRPr lang="en-US" sz="1150" dirty="0"/>
          </a:p>
        </p:txBody>
      </p:sp>
      <p:sp>
        <p:nvSpPr>
          <p:cNvPr id="56" name="Text 54"/>
          <p:cNvSpPr/>
          <p:nvPr/>
        </p:nvSpPr>
        <p:spPr>
          <a:xfrm>
            <a:off x="7543800" y="5321808"/>
            <a:ext cx="3931920" cy="457200"/>
          </a:xfrm>
          <a:prstGeom prst="rect">
            <a:avLst/>
          </a:prstGeom>
          <a:noFill/>
          <a:ln/>
        </p:spPr>
        <p:txBody>
          <a:bodyPr wrap="square" lIns="0" tIns="0" rIns="0" bIns="0" rtlCol="0" anchor="t"/>
          <a:lstStyle/>
          <a:p>
            <a:pPr marL="0" indent="0">
              <a:lnSpc>
                <a:spcPts val="1400"/>
              </a:lnSpc>
              <a:buNone/>
            </a:pPr>
            <a:r>
              <a:rPr lang="en-US" sz="1050" i="1" dirty="0">
                <a:solidFill>
                  <a:srgbClr val="63797F"/>
                </a:solidFill>
                <a:latin typeface="Calibri" pitchFamily="34" charset="0"/>
                <a:ea typeface="Calibri" pitchFamily="34" charset="-122"/>
                <a:cs typeface="Calibri" pitchFamily="34" charset="-120"/>
              </a:rPr>
              <a:t>Wide and shallow — depth 2, where DFS reached depth 3.</a:t>
            </a:r>
            <a:endParaRPr lang="en-US" sz="1050" dirty="0"/>
          </a:p>
          <a:p>
            <a:pPr marL="0" indent="0">
              <a:lnSpc>
                <a:spcPts val="1400"/>
              </a:lnSpc>
              <a:buNone/>
            </a:pPr>
            <a:r>
              <a:rPr lang="en-US" sz="1050" i="1" dirty="0">
                <a:solidFill>
                  <a:srgbClr val="63797F"/>
                </a:solidFill>
                <a:latin typeface="Calibri" pitchFamily="34" charset="0"/>
                <a:ea typeface="Calibri" pitchFamily="34" charset="-122"/>
                <a:cs typeface="Calibri" pitchFamily="34" charset="-120"/>
              </a:rPr>
              <a:t>dashed = the three non-tree edges: b–d, d–f, e–g.</a:t>
            </a:r>
            <a:endParaRPr lang="en-US" sz="1050" dirty="0"/>
          </a:p>
        </p:txBody>
      </p:sp>
      <p:sp>
        <p:nvSpPr>
          <p:cNvPr id="57" name="Text 55"/>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58" name="Text 56"/>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19</a:t>
            </a:r>
            <a:endParaRPr lang="en-US" sz="900" dirty="0"/>
          </a:p>
        </p:txBody>
      </p:sp>
      <p:pic>
        <p:nvPicPr>
          <p:cNvPr id="59" name="Picture 58">
            <a:extLst>
              <a:ext uri="{FF2B5EF4-FFF2-40B4-BE49-F238E27FC236}">
                <a16:creationId xmlns:a16="http://schemas.microsoft.com/office/drawing/2014/main" id="{F69A4EFA-151D-A054-21E9-EE8702B90CEF}"/>
              </a:ext>
            </a:extLst>
          </p:cNvPr>
          <p:cNvPicPr>
            <a:picLocks noChangeAspect="1"/>
          </p:cNvPicPr>
          <p:nvPr/>
        </p:nvPicPr>
        <p:blipFill>
          <a:blip r:embed="rId3"/>
          <a:stretch>
            <a:fillRect/>
          </a:stretch>
        </p:blipFill>
        <p:spPr>
          <a:xfrm>
            <a:off x="7877810" y="2263140"/>
            <a:ext cx="3263900" cy="2628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29</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Finding connected components</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Small change to the marking scheme, big change in what the algorithm tells you.</a:t>
            </a:r>
            <a:endParaRPr lang="en-US" sz="1300" dirty="0"/>
          </a:p>
        </p:txBody>
      </p:sp>
      <p:sp>
        <p:nvSpPr>
          <p:cNvPr id="6" name="Text 4"/>
          <p:cNvSpPr/>
          <p:nvPr/>
        </p:nvSpPr>
        <p:spPr>
          <a:xfrm>
            <a:off x="658368" y="1600200"/>
            <a:ext cx="5852160" cy="914400"/>
          </a:xfrm>
          <a:prstGeom prst="rect">
            <a:avLst/>
          </a:prstGeom>
          <a:noFill/>
          <a:ln/>
        </p:spPr>
        <p:txBody>
          <a:bodyPr wrap="square" lIns="0" tIns="0" rIns="0" bIns="0" rtlCol="0" anchor="t"/>
          <a:lstStyle/>
          <a:p>
            <a:pPr marL="0" indent="0">
              <a:lnSpc>
                <a:spcPts val="1900"/>
              </a:lnSpc>
              <a:buNone/>
            </a:pPr>
            <a:r>
              <a:rPr lang="en-US" sz="1350" dirty="0">
                <a:solidFill>
                  <a:srgbClr val="13232B"/>
                </a:solidFill>
                <a:latin typeface="Calibri" pitchFamily="34" charset="0"/>
                <a:ea typeface="Calibri" pitchFamily="34" charset="-122"/>
                <a:cs typeface="Calibri" pitchFamily="34" charset="-120"/>
              </a:rPr>
              <a:t>Instead of marking a visited node with a running counter, </a:t>
            </a:r>
            <a:r>
              <a:rPr lang="en-US" sz="1350" b="1" dirty="0">
                <a:solidFill>
                  <a:srgbClr val="13232B"/>
                </a:solidFill>
                <a:latin typeface="Calibri" pitchFamily="34" charset="0"/>
                <a:ea typeface="Calibri" pitchFamily="34" charset="-122"/>
                <a:cs typeface="Calibri" pitchFamily="34" charset="-120"/>
              </a:rPr>
              <a:t>mark it with the number of the component it belongs to</a:t>
            </a:r>
            <a:r>
              <a:rPr lang="en-US" sz="1350" dirty="0">
                <a:solidFill>
                  <a:srgbClr val="13232B"/>
                </a:solidFill>
                <a:latin typeface="Calibri" pitchFamily="34" charset="0"/>
                <a:ea typeface="Calibri" pitchFamily="34" charset="-122"/>
                <a:cs typeface="Calibri" pitchFamily="34" charset="-120"/>
              </a:rPr>
              <a:t>. Drop the increment inside DFS and increment once per outer-loop restart instead.</a:t>
            </a:r>
            <a:endParaRPr lang="en-US" sz="1350" dirty="0"/>
          </a:p>
        </p:txBody>
      </p:sp>
      <p:sp>
        <p:nvSpPr>
          <p:cNvPr id="7" name="Shape 5"/>
          <p:cNvSpPr/>
          <p:nvPr/>
        </p:nvSpPr>
        <p:spPr>
          <a:xfrm>
            <a:off x="640080" y="2606040"/>
            <a:ext cx="5897880" cy="3108960"/>
          </a:xfrm>
          <a:prstGeom prst="roundRect">
            <a:avLst>
              <a:gd name="adj" fmla="val 1765"/>
            </a:avLst>
          </a:prstGeom>
          <a:solidFill>
            <a:srgbClr val="F6F9F8"/>
          </a:solidFill>
          <a:ln w="12700">
            <a:solidFill>
              <a:srgbClr val="D3E0DD"/>
            </a:solidFill>
            <a:prstDash val="solid"/>
          </a:ln>
        </p:spPr>
        <p:txBody>
          <a:bodyPr/>
          <a:lstStyle/>
          <a:p>
            <a:endParaRPr lang="en-US"/>
          </a:p>
        </p:txBody>
      </p:sp>
      <p:sp>
        <p:nvSpPr>
          <p:cNvPr id="8" name="Text 6"/>
          <p:cNvSpPr/>
          <p:nvPr/>
        </p:nvSpPr>
        <p:spPr>
          <a:xfrm>
            <a:off x="841248" y="2770632"/>
            <a:ext cx="5495544" cy="237744"/>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THE ALGORITHM</a:t>
            </a:r>
            <a:endParaRPr lang="en-US" sz="1150" dirty="0"/>
          </a:p>
        </p:txBody>
      </p:sp>
      <p:sp>
        <p:nvSpPr>
          <p:cNvPr id="9" name="Text 7"/>
          <p:cNvSpPr/>
          <p:nvPr/>
        </p:nvSpPr>
        <p:spPr>
          <a:xfrm>
            <a:off x="841248" y="3081528"/>
            <a:ext cx="5495544" cy="2468880"/>
          </a:xfrm>
          <a:prstGeom prst="rect">
            <a:avLst/>
          </a:prstGeom>
          <a:noFill/>
          <a:ln/>
        </p:spPr>
        <p:txBody>
          <a:bodyPr wrap="square" lIns="0" tIns="0" rIns="0" bIns="0" rtlCol="0" anchor="t"/>
          <a:lstStyle/>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mark each node in V with 0</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component ← 1</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for each v in V do</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if v is marked with 0 then</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Dfs(v)</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component ← component + 1</a:t>
            </a:r>
            <a:endParaRPr lang="en-US" sz="1150" dirty="0"/>
          </a:p>
          <a:p>
            <a:pPr marL="0" indent="0">
              <a:lnSpc>
                <a:spcPts val="1650"/>
              </a:lnSpc>
              <a:buNone/>
            </a:pP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function Dfs(v)</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mark v with component</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for each w adjacent to v do</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if w is marked with 0 then</a:t>
            </a:r>
            <a:endParaRPr lang="en-US" sz="1150" dirty="0"/>
          </a:p>
          <a:p>
            <a:pPr marL="0" indent="0">
              <a:lnSpc>
                <a:spcPts val="1650"/>
              </a:lnSpc>
              <a:buNone/>
            </a:pPr>
            <a:r>
              <a:rPr lang="en-US" sz="1150" dirty="0">
                <a:solidFill>
                  <a:srgbClr val="13232B"/>
                </a:solidFill>
                <a:latin typeface="Courier New" pitchFamily="34" charset="0"/>
                <a:ea typeface="Courier New" pitchFamily="34" charset="-122"/>
                <a:cs typeface="Courier New" pitchFamily="34" charset="-120"/>
              </a:rPr>
              <a:t>            Dfs(w)</a:t>
            </a:r>
            <a:endParaRPr lang="en-US" sz="1150" dirty="0"/>
          </a:p>
        </p:txBody>
      </p:sp>
      <p:sp>
        <p:nvSpPr>
          <p:cNvPr id="10" name="Shape 8"/>
          <p:cNvSpPr/>
          <p:nvPr/>
        </p:nvSpPr>
        <p:spPr>
          <a:xfrm>
            <a:off x="6766560" y="1600200"/>
            <a:ext cx="4800600" cy="3200400"/>
          </a:xfrm>
          <a:prstGeom prst="roundRect">
            <a:avLst>
              <a:gd name="adj" fmla="val 1714"/>
            </a:avLst>
          </a:prstGeom>
          <a:solidFill>
            <a:srgbClr val="F6F9F8"/>
          </a:solidFill>
          <a:ln w="12700">
            <a:solidFill>
              <a:srgbClr val="D3E0DD"/>
            </a:solidFill>
            <a:prstDash val="solid"/>
          </a:ln>
        </p:spPr>
        <p:txBody>
          <a:bodyPr/>
          <a:lstStyle/>
          <a:p>
            <a:endParaRPr lang="en-US"/>
          </a:p>
        </p:txBody>
      </p:sp>
      <p:sp>
        <p:nvSpPr>
          <p:cNvPr id="11" name="Text 9"/>
          <p:cNvSpPr/>
          <p:nvPr/>
        </p:nvSpPr>
        <p:spPr>
          <a:xfrm>
            <a:off x="7040880" y="1737360"/>
            <a:ext cx="4297680" cy="274320"/>
          </a:xfrm>
          <a:prstGeom prst="rect">
            <a:avLst/>
          </a:prstGeom>
          <a:noFill/>
          <a:ln/>
        </p:spPr>
        <p:txBody>
          <a:bodyPr wrap="square" lIns="0" tIns="0" rIns="0" bIns="0" rtlCol="0" anchor="ctr"/>
          <a:lstStyle/>
          <a:p>
            <a:pPr marL="0" indent="0">
              <a:buNone/>
            </a:pPr>
            <a:r>
              <a:rPr lang="en-US" sz="1050" b="1" kern="0" spc="60" dirty="0">
                <a:solidFill>
                  <a:srgbClr val="0B3B44"/>
                </a:solidFill>
                <a:latin typeface="Calibri" pitchFamily="34" charset="0"/>
                <a:ea typeface="Calibri" pitchFamily="34" charset="-122"/>
                <a:cs typeface="Calibri" pitchFamily="34" charset="-120"/>
              </a:rPr>
              <a:t>THREE COMPONENTS, THREE MARKS</a:t>
            </a:r>
            <a:endParaRPr lang="en-US" sz="1050" dirty="0"/>
          </a:p>
        </p:txBody>
      </p:sp>
      <p:sp>
        <p:nvSpPr>
          <p:cNvPr id="12" name="Shape 10"/>
          <p:cNvSpPr/>
          <p:nvPr/>
        </p:nvSpPr>
        <p:spPr>
          <a:xfrm flipV="1">
            <a:off x="7635240" y="2450592"/>
            <a:ext cx="1005840" cy="246888"/>
          </a:xfrm>
          <a:prstGeom prst="line">
            <a:avLst/>
          </a:prstGeom>
          <a:noFill/>
          <a:ln w="25400">
            <a:solidFill>
              <a:srgbClr val="9DB3B7"/>
            </a:solidFill>
            <a:prstDash val="solid"/>
          </a:ln>
        </p:spPr>
        <p:txBody>
          <a:bodyPr/>
          <a:lstStyle/>
          <a:p>
            <a:endParaRPr lang="en-US"/>
          </a:p>
        </p:txBody>
      </p:sp>
      <p:sp>
        <p:nvSpPr>
          <p:cNvPr id="13" name="Shape 11"/>
          <p:cNvSpPr/>
          <p:nvPr/>
        </p:nvSpPr>
        <p:spPr>
          <a:xfrm flipV="1">
            <a:off x="8183880" y="2450592"/>
            <a:ext cx="457200" cy="1069848"/>
          </a:xfrm>
          <a:prstGeom prst="line">
            <a:avLst/>
          </a:prstGeom>
          <a:noFill/>
          <a:ln w="25400">
            <a:solidFill>
              <a:srgbClr val="9DB3B7"/>
            </a:solidFill>
            <a:prstDash val="solid"/>
          </a:ln>
        </p:spPr>
        <p:txBody>
          <a:bodyPr/>
          <a:lstStyle/>
          <a:p>
            <a:endParaRPr lang="en-US"/>
          </a:p>
        </p:txBody>
      </p:sp>
      <p:sp>
        <p:nvSpPr>
          <p:cNvPr id="14" name="Shape 12"/>
          <p:cNvSpPr/>
          <p:nvPr/>
        </p:nvSpPr>
        <p:spPr>
          <a:xfrm>
            <a:off x="7635240" y="2697480"/>
            <a:ext cx="548640" cy="822960"/>
          </a:xfrm>
          <a:prstGeom prst="line">
            <a:avLst/>
          </a:prstGeom>
          <a:noFill/>
          <a:ln w="25400">
            <a:solidFill>
              <a:srgbClr val="9DB3B7"/>
            </a:solidFill>
            <a:prstDash val="solid"/>
          </a:ln>
        </p:spPr>
        <p:txBody>
          <a:bodyPr/>
          <a:lstStyle/>
          <a:p>
            <a:endParaRPr lang="en-US"/>
          </a:p>
        </p:txBody>
      </p:sp>
      <p:sp>
        <p:nvSpPr>
          <p:cNvPr id="15" name="Shape 13"/>
          <p:cNvSpPr/>
          <p:nvPr/>
        </p:nvSpPr>
        <p:spPr>
          <a:xfrm>
            <a:off x="9829800" y="2560320"/>
            <a:ext cx="1005840" cy="457200"/>
          </a:xfrm>
          <a:prstGeom prst="line">
            <a:avLst/>
          </a:prstGeom>
          <a:noFill/>
          <a:ln w="25400">
            <a:solidFill>
              <a:srgbClr val="9DB3B7"/>
            </a:solidFill>
            <a:prstDash val="solid"/>
          </a:ln>
        </p:spPr>
        <p:txBody>
          <a:bodyPr/>
          <a:lstStyle/>
          <a:p>
            <a:endParaRPr lang="en-US"/>
          </a:p>
        </p:txBody>
      </p:sp>
      <p:sp>
        <p:nvSpPr>
          <p:cNvPr id="16" name="Shape 14"/>
          <p:cNvSpPr/>
          <p:nvPr/>
        </p:nvSpPr>
        <p:spPr>
          <a:xfrm>
            <a:off x="7360920" y="2423160"/>
            <a:ext cx="548640" cy="548640"/>
          </a:xfrm>
          <a:prstGeom prst="ellipse">
            <a:avLst/>
          </a:prstGeom>
          <a:solidFill>
            <a:srgbClr val="2A9D8F"/>
          </a:solidFill>
          <a:ln w="22225">
            <a:solidFill>
              <a:srgbClr val="2A9D8F"/>
            </a:solidFill>
            <a:prstDash val="solid"/>
          </a:ln>
        </p:spPr>
        <p:txBody>
          <a:bodyPr/>
          <a:lstStyle/>
          <a:p>
            <a:endParaRPr lang="en-US"/>
          </a:p>
        </p:txBody>
      </p:sp>
      <p:sp>
        <p:nvSpPr>
          <p:cNvPr id="17" name="Text 15"/>
          <p:cNvSpPr/>
          <p:nvPr/>
        </p:nvSpPr>
        <p:spPr>
          <a:xfrm>
            <a:off x="7360920" y="2423160"/>
            <a:ext cx="548640" cy="548640"/>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18" name="Shape 16"/>
          <p:cNvSpPr/>
          <p:nvPr/>
        </p:nvSpPr>
        <p:spPr>
          <a:xfrm>
            <a:off x="8366760" y="2176272"/>
            <a:ext cx="548640" cy="548640"/>
          </a:xfrm>
          <a:prstGeom prst="ellipse">
            <a:avLst/>
          </a:prstGeom>
          <a:solidFill>
            <a:srgbClr val="2A9D8F"/>
          </a:solidFill>
          <a:ln w="22225">
            <a:solidFill>
              <a:srgbClr val="2A9D8F"/>
            </a:solidFill>
            <a:prstDash val="solid"/>
          </a:ln>
        </p:spPr>
        <p:txBody>
          <a:bodyPr/>
          <a:lstStyle/>
          <a:p>
            <a:endParaRPr lang="en-US"/>
          </a:p>
        </p:txBody>
      </p:sp>
      <p:sp>
        <p:nvSpPr>
          <p:cNvPr id="19" name="Text 17"/>
          <p:cNvSpPr/>
          <p:nvPr/>
        </p:nvSpPr>
        <p:spPr>
          <a:xfrm>
            <a:off x="8366760" y="2176272"/>
            <a:ext cx="548640" cy="548640"/>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20" name="Shape 18"/>
          <p:cNvSpPr/>
          <p:nvPr/>
        </p:nvSpPr>
        <p:spPr>
          <a:xfrm>
            <a:off x="7909560" y="3246120"/>
            <a:ext cx="548640" cy="548640"/>
          </a:xfrm>
          <a:prstGeom prst="ellipse">
            <a:avLst/>
          </a:prstGeom>
          <a:solidFill>
            <a:srgbClr val="2A9D8F"/>
          </a:solidFill>
          <a:ln w="22225">
            <a:solidFill>
              <a:srgbClr val="2A9D8F"/>
            </a:solidFill>
            <a:prstDash val="solid"/>
          </a:ln>
        </p:spPr>
        <p:txBody>
          <a:bodyPr/>
          <a:lstStyle/>
          <a:p>
            <a:endParaRPr lang="en-US"/>
          </a:p>
        </p:txBody>
      </p:sp>
      <p:sp>
        <p:nvSpPr>
          <p:cNvPr id="21" name="Text 19"/>
          <p:cNvSpPr/>
          <p:nvPr/>
        </p:nvSpPr>
        <p:spPr>
          <a:xfrm>
            <a:off x="7909560" y="3246120"/>
            <a:ext cx="548640" cy="548640"/>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22" name="Shape 20"/>
          <p:cNvSpPr/>
          <p:nvPr/>
        </p:nvSpPr>
        <p:spPr>
          <a:xfrm>
            <a:off x="9555480" y="2286000"/>
            <a:ext cx="548640" cy="548640"/>
          </a:xfrm>
          <a:prstGeom prst="ellipse">
            <a:avLst/>
          </a:prstGeom>
          <a:solidFill>
            <a:srgbClr val="E8A33D"/>
          </a:solidFill>
          <a:ln w="22225">
            <a:solidFill>
              <a:srgbClr val="E8A33D"/>
            </a:solidFill>
            <a:prstDash val="solid"/>
          </a:ln>
        </p:spPr>
        <p:txBody>
          <a:bodyPr/>
          <a:lstStyle/>
          <a:p>
            <a:endParaRPr lang="en-US"/>
          </a:p>
        </p:txBody>
      </p:sp>
      <p:sp>
        <p:nvSpPr>
          <p:cNvPr id="23" name="Text 21"/>
          <p:cNvSpPr/>
          <p:nvPr/>
        </p:nvSpPr>
        <p:spPr>
          <a:xfrm>
            <a:off x="9555480" y="2286000"/>
            <a:ext cx="548640" cy="54864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2</a:t>
            </a:r>
            <a:endParaRPr lang="en-US" sz="1350" dirty="0"/>
          </a:p>
        </p:txBody>
      </p:sp>
      <p:sp>
        <p:nvSpPr>
          <p:cNvPr id="24" name="Shape 22"/>
          <p:cNvSpPr/>
          <p:nvPr/>
        </p:nvSpPr>
        <p:spPr>
          <a:xfrm>
            <a:off x="10561320" y="2743200"/>
            <a:ext cx="548640" cy="548640"/>
          </a:xfrm>
          <a:prstGeom prst="ellipse">
            <a:avLst/>
          </a:prstGeom>
          <a:solidFill>
            <a:srgbClr val="E8A33D"/>
          </a:solidFill>
          <a:ln w="22225">
            <a:solidFill>
              <a:srgbClr val="E8A33D"/>
            </a:solidFill>
            <a:prstDash val="solid"/>
          </a:ln>
        </p:spPr>
        <p:txBody>
          <a:bodyPr/>
          <a:lstStyle/>
          <a:p>
            <a:endParaRPr lang="en-US"/>
          </a:p>
        </p:txBody>
      </p:sp>
      <p:sp>
        <p:nvSpPr>
          <p:cNvPr id="25" name="Text 23"/>
          <p:cNvSpPr/>
          <p:nvPr/>
        </p:nvSpPr>
        <p:spPr>
          <a:xfrm>
            <a:off x="10561320" y="2743200"/>
            <a:ext cx="548640" cy="54864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2</a:t>
            </a:r>
            <a:endParaRPr lang="en-US" sz="1350" dirty="0"/>
          </a:p>
        </p:txBody>
      </p:sp>
      <p:sp>
        <p:nvSpPr>
          <p:cNvPr id="26" name="Shape 24"/>
          <p:cNvSpPr/>
          <p:nvPr/>
        </p:nvSpPr>
        <p:spPr>
          <a:xfrm>
            <a:off x="10058400" y="3639312"/>
            <a:ext cx="548640" cy="548640"/>
          </a:xfrm>
          <a:prstGeom prst="ellipse">
            <a:avLst/>
          </a:prstGeom>
          <a:solidFill>
            <a:srgbClr val="0B3B44"/>
          </a:solidFill>
          <a:ln w="22225">
            <a:solidFill>
              <a:srgbClr val="0B3B44"/>
            </a:solidFill>
            <a:prstDash val="solid"/>
          </a:ln>
        </p:spPr>
        <p:txBody>
          <a:bodyPr/>
          <a:lstStyle/>
          <a:p>
            <a:endParaRPr lang="en-US"/>
          </a:p>
        </p:txBody>
      </p:sp>
      <p:sp>
        <p:nvSpPr>
          <p:cNvPr id="27" name="Text 25"/>
          <p:cNvSpPr/>
          <p:nvPr/>
        </p:nvSpPr>
        <p:spPr>
          <a:xfrm>
            <a:off x="10058400" y="3639312"/>
            <a:ext cx="548640" cy="548640"/>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3</a:t>
            </a:r>
            <a:endParaRPr lang="en-US" sz="1350" dirty="0"/>
          </a:p>
        </p:txBody>
      </p:sp>
      <p:sp>
        <p:nvSpPr>
          <p:cNvPr id="28" name="Text 26"/>
          <p:cNvSpPr/>
          <p:nvPr/>
        </p:nvSpPr>
        <p:spPr>
          <a:xfrm>
            <a:off x="7040880" y="4315968"/>
            <a:ext cx="4297680" cy="457200"/>
          </a:xfrm>
          <a:prstGeom prst="rect">
            <a:avLst/>
          </a:prstGeom>
          <a:noFill/>
          <a:ln/>
        </p:spPr>
        <p:txBody>
          <a:bodyPr wrap="square" lIns="0" tIns="0" rIns="0" bIns="0" rtlCol="0" anchor="t"/>
          <a:lstStyle/>
          <a:p>
            <a:pPr marL="0" indent="0">
              <a:lnSpc>
                <a:spcPts val="1450"/>
              </a:lnSpc>
              <a:buNone/>
            </a:pPr>
            <a:r>
              <a:rPr lang="en-US" sz="1100" i="1" dirty="0">
                <a:solidFill>
                  <a:srgbClr val="63797F"/>
                </a:solidFill>
                <a:latin typeface="Calibri" pitchFamily="34" charset="0"/>
                <a:ea typeface="Calibri" pitchFamily="34" charset="-122"/>
                <a:cs typeface="Calibri" pitchFamily="34" charset="-120"/>
              </a:rPr>
              <a:t>Every node ends up carrying its component number; the final value of component − 1 is how many there are.</a:t>
            </a:r>
            <a:endParaRPr lang="en-US" sz="1100" dirty="0"/>
          </a:p>
        </p:txBody>
      </p:sp>
      <p:sp>
        <p:nvSpPr>
          <p:cNvPr id="29" name="Shape 27"/>
          <p:cNvSpPr/>
          <p:nvPr/>
        </p:nvSpPr>
        <p:spPr>
          <a:xfrm>
            <a:off x="6766560" y="4956048"/>
            <a:ext cx="4800600" cy="868680"/>
          </a:xfrm>
          <a:prstGeom prst="roundRect">
            <a:avLst>
              <a:gd name="adj" fmla="val 6316"/>
            </a:avLst>
          </a:prstGeom>
          <a:solidFill>
            <a:srgbClr val="EDF4F3"/>
          </a:solidFill>
          <a:ln w="12700">
            <a:solidFill>
              <a:srgbClr val="EDF4F3"/>
            </a:solidFill>
            <a:prstDash val="solid"/>
          </a:ln>
        </p:spPr>
        <p:txBody>
          <a:bodyPr/>
          <a:lstStyle/>
          <a:p>
            <a:endParaRPr lang="en-US"/>
          </a:p>
        </p:txBody>
      </p:sp>
      <p:sp>
        <p:nvSpPr>
          <p:cNvPr id="30" name="Text 28"/>
          <p:cNvSpPr/>
          <p:nvPr/>
        </p:nvSpPr>
        <p:spPr>
          <a:xfrm>
            <a:off x="7040880" y="4956048"/>
            <a:ext cx="4297680" cy="868680"/>
          </a:xfrm>
          <a:prstGeom prst="rect">
            <a:avLst/>
          </a:prstGeom>
          <a:noFill/>
          <a:ln/>
        </p:spPr>
        <p:txBody>
          <a:bodyPr wrap="square" lIns="0" tIns="0" rIns="0" bIns="0" rtlCol="0" anchor="ctr"/>
          <a:lstStyle/>
          <a:p>
            <a:pPr marL="0" indent="0">
              <a:lnSpc>
                <a:spcPts val="1500"/>
              </a:lnSpc>
              <a:buNone/>
            </a:pPr>
            <a:r>
              <a:rPr lang="en-US" sz="1150" b="1" dirty="0">
                <a:solidFill>
                  <a:srgbClr val="0B3B44"/>
                </a:solidFill>
                <a:latin typeface="Calibri" pitchFamily="34" charset="0"/>
                <a:ea typeface="Calibri" pitchFamily="34" charset="-122"/>
                <a:cs typeface="Calibri" pitchFamily="34" charset="-120"/>
              </a:rPr>
              <a:t>Why it works:  </a:t>
            </a:r>
            <a:r>
              <a:rPr lang="en-US" sz="1150" dirty="0">
                <a:solidFill>
                  <a:srgbClr val="13232B"/>
                </a:solidFill>
                <a:latin typeface="Calibri" pitchFamily="34" charset="0"/>
                <a:ea typeface="Calibri" pitchFamily="34" charset="-122"/>
                <a:cs typeface="Calibri" pitchFamily="34" charset="-120"/>
              </a:rPr>
              <a:t>one call to Dfs(v) reaches exactly the nodes reachable from v — which, in an undirected graph, is precisely v's component. So the outer loop restarts once per component.</a:t>
            </a:r>
            <a:endParaRPr lang="en-US" sz="1150" dirty="0"/>
          </a:p>
        </p:txBody>
      </p:sp>
      <p:sp>
        <p:nvSpPr>
          <p:cNvPr id="31" name="Text 29"/>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32" name="Text 30"/>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C1465A"/>
          </a:solidFill>
          <a:ln w="12700">
            <a:solidFill>
              <a:srgbClr val="C1465A"/>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A cycle test that does not work</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Your job: find a graph on which Cyclic gives the wrong answer.</a:t>
            </a:r>
            <a:endParaRPr lang="en-US" sz="1300" dirty="0"/>
          </a:p>
        </p:txBody>
      </p:sp>
      <p:sp>
        <p:nvSpPr>
          <p:cNvPr id="6" name="Shape 4"/>
          <p:cNvSpPr/>
          <p:nvPr/>
        </p:nvSpPr>
        <p:spPr>
          <a:xfrm>
            <a:off x="640080" y="1572768"/>
            <a:ext cx="5852160" cy="4160520"/>
          </a:xfrm>
          <a:prstGeom prst="roundRect">
            <a:avLst>
              <a:gd name="adj" fmla="val 1319"/>
            </a:avLst>
          </a:prstGeom>
          <a:solidFill>
            <a:srgbClr val="F6F9F8"/>
          </a:solidFill>
          <a:ln w="12700">
            <a:solidFill>
              <a:srgbClr val="D3E0DD"/>
            </a:solidFill>
            <a:prstDash val="solid"/>
          </a:ln>
        </p:spPr>
        <p:txBody>
          <a:bodyPr/>
          <a:lstStyle/>
          <a:p>
            <a:endParaRPr lang="en-US"/>
          </a:p>
        </p:txBody>
      </p:sp>
      <p:sp>
        <p:nvSpPr>
          <p:cNvPr id="7" name="Text 5"/>
          <p:cNvSpPr/>
          <p:nvPr/>
        </p:nvSpPr>
        <p:spPr>
          <a:xfrm>
            <a:off x="841248" y="1737360"/>
            <a:ext cx="5449824" cy="237744"/>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AS GIVEN IN THE WORKSHEET</a:t>
            </a:r>
            <a:endParaRPr lang="en-US" sz="1150" dirty="0"/>
          </a:p>
        </p:txBody>
      </p:sp>
      <p:sp>
        <p:nvSpPr>
          <p:cNvPr id="8" name="Text 6"/>
          <p:cNvSpPr/>
          <p:nvPr/>
        </p:nvSpPr>
        <p:spPr>
          <a:xfrm>
            <a:off x="841248" y="2048256"/>
            <a:ext cx="5449824" cy="3520440"/>
          </a:xfrm>
          <a:prstGeom prst="rect">
            <a:avLst/>
          </a:prstGeom>
          <a:noFill/>
          <a:ln/>
        </p:spPr>
        <p:txBody>
          <a:bodyPr wrap="square" lIns="0" tIns="0" rIns="0" bIns="0" rtlCol="0" anchor="t"/>
          <a:lstStyle/>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function Cyclic(⟨V, E⟩)</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mark each node in V with 0</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count ← 0</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for each v in V do</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if v is marked with 0 then</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cyclic ← HasCycles(v)</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if cyclic then return True</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return False</a:t>
            </a:r>
            <a:endParaRPr lang="en-US" sz="1100" dirty="0"/>
          </a:p>
          <a:p>
            <a:pPr marL="0" indent="0">
              <a:lnSpc>
                <a:spcPts val="1550"/>
              </a:lnSpc>
              <a:buNone/>
            </a:pP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function HasCycles(v)</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count ← count + 1</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mark v with count</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for each edge (v, w) do</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if w's mark is greater than 0 then</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return True          ▹ seen before</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if HasCycles(w) then</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return True</a:t>
            </a:r>
            <a:endParaRPr lang="en-US" sz="1100" dirty="0"/>
          </a:p>
          <a:p>
            <a:pPr marL="0" indent="0">
              <a:lnSpc>
                <a:spcPts val="1550"/>
              </a:lnSpc>
              <a:buNone/>
            </a:pPr>
            <a:r>
              <a:rPr lang="en-US" sz="1100" dirty="0">
                <a:solidFill>
                  <a:srgbClr val="13232B"/>
                </a:solidFill>
                <a:latin typeface="Courier New" pitchFamily="34" charset="0"/>
                <a:ea typeface="Courier New" pitchFamily="34" charset="-122"/>
                <a:cs typeface="Courier New" pitchFamily="34" charset="-120"/>
              </a:rPr>
              <a:t>    return False</a:t>
            </a:r>
            <a:endParaRPr lang="en-US" sz="1100" dirty="0"/>
          </a:p>
        </p:txBody>
      </p:sp>
      <p:sp>
        <p:nvSpPr>
          <p:cNvPr id="9" name="Shape 7"/>
          <p:cNvSpPr/>
          <p:nvPr/>
        </p:nvSpPr>
        <p:spPr>
          <a:xfrm>
            <a:off x="6720840" y="1572768"/>
            <a:ext cx="4846320" cy="1874520"/>
          </a:xfrm>
          <a:prstGeom prst="roundRect">
            <a:avLst>
              <a:gd name="adj" fmla="val 2927"/>
            </a:avLst>
          </a:prstGeom>
          <a:solidFill>
            <a:srgbClr val="EDF4F3"/>
          </a:solidFill>
          <a:ln w="12700">
            <a:solidFill>
              <a:srgbClr val="EDF4F3"/>
            </a:solidFill>
            <a:prstDash val="solid"/>
          </a:ln>
        </p:spPr>
        <p:txBody>
          <a:bodyPr/>
          <a:lstStyle/>
          <a:p>
            <a:endParaRPr lang="en-US"/>
          </a:p>
        </p:txBody>
      </p:sp>
      <p:sp>
        <p:nvSpPr>
          <p:cNvPr id="10" name="Text 8"/>
          <p:cNvSpPr/>
          <p:nvPr/>
        </p:nvSpPr>
        <p:spPr>
          <a:xfrm>
            <a:off x="6995160" y="1755648"/>
            <a:ext cx="4297680" cy="274320"/>
          </a:xfrm>
          <a:prstGeom prst="rect">
            <a:avLst/>
          </a:prstGeom>
          <a:noFill/>
          <a:ln/>
        </p:spPr>
        <p:txBody>
          <a:bodyPr wrap="square" lIns="0" tIns="0" rIns="0" bIns="0" rtlCol="0" anchor="ctr"/>
          <a:lstStyle/>
          <a:p>
            <a:pPr marL="0" indent="0">
              <a:buNone/>
            </a:pPr>
            <a:r>
              <a:rPr lang="en-US" sz="1150" b="1" kern="0" spc="60" dirty="0">
                <a:solidFill>
                  <a:srgbClr val="0B3B44"/>
                </a:solidFill>
                <a:latin typeface="Calibri" pitchFamily="34" charset="0"/>
                <a:ea typeface="Calibri" pitchFamily="34" charset="-122"/>
                <a:cs typeface="Calibri" pitchFamily="34" charset="-120"/>
              </a:rPr>
              <a:t>What it is trying to do</a:t>
            </a:r>
            <a:endParaRPr lang="en-US" sz="1150" dirty="0"/>
          </a:p>
        </p:txBody>
      </p:sp>
      <p:sp>
        <p:nvSpPr>
          <p:cNvPr id="11" name="Text 9"/>
          <p:cNvSpPr/>
          <p:nvPr/>
        </p:nvSpPr>
        <p:spPr>
          <a:xfrm>
            <a:off x="6995160" y="2103120"/>
            <a:ext cx="4297680" cy="1234440"/>
          </a:xfrm>
          <a:prstGeom prst="rect">
            <a:avLst/>
          </a:prstGeom>
          <a:noFill/>
          <a:ln/>
        </p:spPr>
        <p:txBody>
          <a:bodyPr wrap="square" lIns="0" tIns="0" rIns="0" bIns="0" rtlCol="0" anchor="t"/>
          <a:lstStyle/>
          <a:p>
            <a:pPr marL="0" indent="0">
              <a:lnSpc>
                <a:spcPts val="1700"/>
              </a:lnSpc>
              <a:buNone/>
            </a:pPr>
            <a:r>
              <a:rPr lang="en-US" sz="1250" dirty="0">
                <a:solidFill>
                  <a:srgbClr val="13232B"/>
                </a:solidFill>
                <a:latin typeface="Calibri" pitchFamily="34" charset="0"/>
                <a:ea typeface="Calibri" pitchFamily="34" charset="-122"/>
                <a:cs typeface="Calibri" pitchFamily="34" charset="-120"/>
              </a:rPr>
              <a:t>Walk the graph depth-first. If you ever reach a node that has already been marked, you must have arrived by a second route — so there is a cycle.</a:t>
            </a:r>
            <a:endParaRPr lang="en-US" sz="1250" dirty="0"/>
          </a:p>
          <a:p>
            <a:pPr marL="0" indent="0">
              <a:lnSpc>
                <a:spcPts val="1700"/>
              </a:lnSpc>
              <a:buNone/>
            </a:pPr>
            <a:endParaRPr lang="en-US" sz="1250" dirty="0"/>
          </a:p>
          <a:p>
            <a:pPr marL="0" indent="0">
              <a:lnSpc>
                <a:spcPts val="1700"/>
              </a:lnSpc>
              <a:buNone/>
            </a:pPr>
            <a:r>
              <a:rPr lang="en-US" sz="1250" dirty="0">
                <a:solidFill>
                  <a:srgbClr val="13232B"/>
                </a:solidFill>
                <a:latin typeface="Calibri" pitchFamily="34" charset="0"/>
                <a:ea typeface="Calibri" pitchFamily="34" charset="-122"/>
                <a:cs typeface="Calibri" pitchFamily="34" charset="-120"/>
              </a:rPr>
              <a:t>The intuition is right. The implementation is not.</a:t>
            </a:r>
            <a:endParaRPr lang="en-US" sz="1250" dirty="0"/>
          </a:p>
        </p:txBody>
      </p:sp>
      <p:sp>
        <p:nvSpPr>
          <p:cNvPr id="12" name="Shape 10"/>
          <p:cNvSpPr/>
          <p:nvPr/>
        </p:nvSpPr>
        <p:spPr>
          <a:xfrm>
            <a:off x="6720840" y="3611880"/>
            <a:ext cx="4846320" cy="2103120"/>
          </a:xfrm>
          <a:prstGeom prst="roundRect">
            <a:avLst>
              <a:gd name="adj" fmla="val 2609"/>
            </a:avLst>
          </a:prstGeom>
          <a:solidFill>
            <a:srgbClr val="F6F9F8"/>
          </a:solidFill>
          <a:ln w="12700">
            <a:solidFill>
              <a:srgbClr val="C1465A"/>
            </a:solidFill>
            <a:prstDash val="solid"/>
          </a:ln>
        </p:spPr>
        <p:txBody>
          <a:bodyPr/>
          <a:lstStyle/>
          <a:p>
            <a:endParaRPr lang="en-US"/>
          </a:p>
        </p:txBody>
      </p:sp>
      <p:sp>
        <p:nvSpPr>
          <p:cNvPr id="13" name="Text 11"/>
          <p:cNvSpPr/>
          <p:nvPr/>
        </p:nvSpPr>
        <p:spPr>
          <a:xfrm>
            <a:off x="6995160" y="3794760"/>
            <a:ext cx="4297680" cy="274320"/>
          </a:xfrm>
          <a:prstGeom prst="rect">
            <a:avLst/>
          </a:prstGeom>
          <a:noFill/>
          <a:ln/>
        </p:spPr>
        <p:txBody>
          <a:bodyPr wrap="square" lIns="0" tIns="0" rIns="0" bIns="0" rtlCol="0" anchor="ctr"/>
          <a:lstStyle/>
          <a:p>
            <a:pPr marL="0" indent="0">
              <a:buNone/>
            </a:pPr>
            <a:r>
              <a:rPr lang="en-US" sz="1150" b="1" kern="0" spc="60" dirty="0">
                <a:solidFill>
                  <a:srgbClr val="C1465A"/>
                </a:solidFill>
                <a:latin typeface="Calibri" pitchFamily="34" charset="0"/>
                <a:ea typeface="Calibri" pitchFamily="34" charset="-122"/>
                <a:cs typeface="Calibri" pitchFamily="34" charset="-120"/>
              </a:rPr>
              <a:t>Before you look at the next slide</a:t>
            </a:r>
            <a:endParaRPr lang="en-US" sz="1150" dirty="0"/>
          </a:p>
        </p:txBody>
      </p:sp>
      <p:sp>
        <p:nvSpPr>
          <p:cNvPr id="14" name="Text 12"/>
          <p:cNvSpPr/>
          <p:nvPr/>
        </p:nvSpPr>
        <p:spPr>
          <a:xfrm>
            <a:off x="6995160" y="4160520"/>
            <a:ext cx="4297680" cy="141732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3232B"/>
                </a:solidFill>
                <a:latin typeface="Calibri" pitchFamily="34" charset="0"/>
                <a:ea typeface="Calibri" pitchFamily="34" charset="-122"/>
                <a:cs typeface="Calibri" pitchFamily="34" charset="-120"/>
              </a:rPr>
              <a:t>How is an undirected edge actually stored?</a:t>
            </a:r>
            <a:endParaRPr lang="en-US" sz="1250" dirty="0"/>
          </a:p>
          <a:p>
            <a:pPr marL="203200" indent="-203200">
              <a:spcAft>
                <a:spcPts val="600"/>
              </a:spcAft>
              <a:buSzPct val="100000"/>
              <a:buChar char="●"/>
            </a:pPr>
            <a:r>
              <a:rPr lang="en-US" sz="1250" dirty="0">
                <a:solidFill>
                  <a:srgbClr val="13232B"/>
                </a:solidFill>
                <a:latin typeface="Calibri" pitchFamily="34" charset="0"/>
                <a:ea typeface="Calibri" pitchFamily="34" charset="-122"/>
                <a:cs typeface="Calibri" pitchFamily="34" charset="-120"/>
              </a:rPr>
              <a:t>What is the smallest acyclic graph with at least one edge?</a:t>
            </a:r>
            <a:endParaRPr lang="en-US" sz="1250" dirty="0"/>
          </a:p>
          <a:p>
            <a:pPr marL="203200" indent="-203200">
              <a:spcAft>
                <a:spcPts val="600"/>
              </a:spcAft>
              <a:buSzPct val="100000"/>
              <a:buChar char="●"/>
            </a:pPr>
            <a:r>
              <a:rPr lang="en-US" sz="1250" dirty="0">
                <a:solidFill>
                  <a:srgbClr val="13232B"/>
                </a:solidFill>
                <a:latin typeface="Calibri" pitchFamily="34" charset="0"/>
                <a:ea typeface="Calibri" pitchFamily="34" charset="-122"/>
                <a:cs typeface="Calibri" pitchFamily="34" charset="-120"/>
              </a:rPr>
              <a:t>Try running it on that.</a:t>
            </a:r>
            <a:endParaRPr lang="en-US" sz="1250" dirty="0"/>
          </a:p>
        </p:txBody>
      </p:sp>
      <p:sp>
        <p:nvSpPr>
          <p:cNvPr id="15" name="Text 13"/>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16" name="Text 14"/>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C1465A"/>
          </a:solidFill>
          <a:ln w="12700">
            <a:solidFill>
              <a:srgbClr val="C1465A"/>
            </a:solidFill>
            <a:prstDash val="solid"/>
          </a:ln>
        </p:spPr>
        <p:txBody>
          <a:bodyPr/>
          <a:lstStyle/>
          <a:p>
            <a:endParaRPr lang="en-US"/>
          </a:p>
        </p:txBody>
      </p:sp>
      <p:sp>
        <p:nvSpPr>
          <p:cNvPr id="3" name="Text 1"/>
          <p:cNvSpPr/>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4" name="Text 2"/>
          <p:cNvSpPr/>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counterexample: two nodes, one edge</a:t>
            </a:r>
            <a:endParaRPr lang="en-US" sz="2700" dirty="0"/>
          </a:p>
        </p:txBody>
      </p:sp>
      <p:sp>
        <p:nvSpPr>
          <p:cNvPr id="5" name="Text 3"/>
          <p:cNvSpPr/>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This graph is a tree. Cyclic reports True.</a:t>
            </a:r>
            <a:endParaRPr lang="en-US" sz="1300" dirty="0"/>
          </a:p>
        </p:txBody>
      </p:sp>
      <p:sp>
        <p:nvSpPr>
          <p:cNvPr id="6" name="Shape 4"/>
          <p:cNvSpPr/>
          <p:nvPr/>
        </p:nvSpPr>
        <p:spPr>
          <a:xfrm>
            <a:off x="640080" y="1600200"/>
            <a:ext cx="3291840" cy="4114800"/>
          </a:xfrm>
          <a:prstGeom prst="roundRect">
            <a:avLst>
              <a:gd name="adj" fmla="val 1667"/>
            </a:avLst>
          </a:prstGeom>
          <a:solidFill>
            <a:srgbClr val="F6F9F8"/>
          </a:solidFill>
          <a:ln w="12700">
            <a:solidFill>
              <a:srgbClr val="D3E0DD"/>
            </a:solidFill>
            <a:prstDash val="solid"/>
          </a:ln>
        </p:spPr>
        <p:txBody>
          <a:bodyPr/>
          <a:lstStyle/>
          <a:p>
            <a:endParaRPr lang="en-US"/>
          </a:p>
        </p:txBody>
      </p:sp>
      <p:sp>
        <p:nvSpPr>
          <p:cNvPr id="7" name="Shape 5"/>
          <p:cNvSpPr/>
          <p:nvPr/>
        </p:nvSpPr>
        <p:spPr>
          <a:xfrm>
            <a:off x="2286000" y="2606040"/>
            <a:ext cx="0" cy="1371600"/>
          </a:xfrm>
          <a:prstGeom prst="line">
            <a:avLst/>
          </a:prstGeom>
          <a:noFill/>
          <a:ln w="31750">
            <a:solidFill>
              <a:srgbClr val="0B3B44"/>
            </a:solidFill>
            <a:prstDash val="solid"/>
          </a:ln>
        </p:spPr>
        <p:txBody>
          <a:bodyPr/>
          <a:lstStyle/>
          <a:p>
            <a:endParaRPr lang="en-US"/>
          </a:p>
        </p:txBody>
      </p:sp>
      <p:sp>
        <p:nvSpPr>
          <p:cNvPr id="8" name="Shape 6"/>
          <p:cNvSpPr/>
          <p:nvPr/>
        </p:nvSpPr>
        <p:spPr>
          <a:xfrm>
            <a:off x="2011680" y="233172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9" name="Text 7"/>
          <p:cNvSpPr/>
          <p:nvPr/>
        </p:nvSpPr>
        <p:spPr>
          <a:xfrm>
            <a:off x="2011680" y="233172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a</a:t>
            </a:r>
            <a:endParaRPr lang="en-US" sz="1350" dirty="0"/>
          </a:p>
        </p:txBody>
      </p:sp>
      <p:sp>
        <p:nvSpPr>
          <p:cNvPr id="10" name="Shape 8"/>
          <p:cNvSpPr/>
          <p:nvPr/>
        </p:nvSpPr>
        <p:spPr>
          <a:xfrm>
            <a:off x="2011680" y="3703320"/>
            <a:ext cx="548640" cy="548640"/>
          </a:xfrm>
          <a:prstGeom prst="ellipse">
            <a:avLst/>
          </a:prstGeom>
          <a:solidFill>
            <a:srgbClr val="FFFFFF"/>
          </a:solidFill>
          <a:ln w="22225">
            <a:solidFill>
              <a:srgbClr val="0B3B44"/>
            </a:solidFill>
            <a:prstDash val="solid"/>
          </a:ln>
          <a:effectLst>
            <a:outerShdw blurRad="76200" dist="12700" dir="5400000" algn="bl" rotWithShape="0">
              <a:srgbClr val="9AAFB3">
                <a:alpha val="35000"/>
              </a:srgbClr>
            </a:outerShdw>
          </a:effectLst>
        </p:spPr>
        <p:txBody>
          <a:bodyPr/>
          <a:lstStyle/>
          <a:p>
            <a:endParaRPr lang="en-US"/>
          </a:p>
        </p:txBody>
      </p:sp>
      <p:sp>
        <p:nvSpPr>
          <p:cNvPr id="11" name="Text 9"/>
          <p:cNvSpPr/>
          <p:nvPr/>
        </p:nvSpPr>
        <p:spPr>
          <a:xfrm>
            <a:off x="2011680" y="3703320"/>
            <a:ext cx="548640" cy="548640"/>
          </a:xfrm>
          <a:prstGeom prst="rect">
            <a:avLst/>
          </a:prstGeom>
          <a:noFill/>
          <a:ln/>
        </p:spPr>
        <p:txBody>
          <a:bodyPr wrap="square" lIns="0" tIns="0" rIns="0" bIns="0" rtlCol="0" anchor="ctr"/>
          <a:lstStyle/>
          <a:p>
            <a:pPr marL="0" indent="0" algn="ctr">
              <a:buNone/>
            </a:pPr>
            <a:r>
              <a:rPr lang="en-US" sz="1350" b="1" i="1" dirty="0">
                <a:solidFill>
                  <a:srgbClr val="0B3B44"/>
                </a:solidFill>
                <a:latin typeface="Calibri" pitchFamily="34" charset="0"/>
                <a:ea typeface="Calibri" pitchFamily="34" charset="-122"/>
                <a:cs typeface="Calibri" pitchFamily="34" charset="-120"/>
              </a:rPr>
              <a:t>b</a:t>
            </a:r>
            <a:endParaRPr lang="en-US" sz="1350" dirty="0"/>
          </a:p>
        </p:txBody>
      </p:sp>
      <p:sp>
        <p:nvSpPr>
          <p:cNvPr id="12" name="Text 10"/>
          <p:cNvSpPr/>
          <p:nvPr/>
        </p:nvSpPr>
        <p:spPr>
          <a:xfrm>
            <a:off x="868680" y="4663440"/>
            <a:ext cx="2834640" cy="292608"/>
          </a:xfrm>
          <a:prstGeom prst="rect">
            <a:avLst/>
          </a:prstGeom>
          <a:noFill/>
          <a:ln/>
        </p:spPr>
        <p:txBody>
          <a:bodyPr wrap="square" lIns="0" tIns="0" rIns="0" bIns="0" rtlCol="0" anchor="ctr"/>
          <a:lstStyle/>
          <a:p>
            <a:pPr marL="0" indent="0" algn="ctr">
              <a:buNone/>
            </a:pPr>
            <a:r>
              <a:rPr lang="en-US" sz="1200" dirty="0">
                <a:solidFill>
                  <a:srgbClr val="13232B"/>
                </a:solidFill>
                <a:latin typeface="Courier New" pitchFamily="34" charset="0"/>
                <a:ea typeface="Courier New" pitchFamily="34" charset="-122"/>
                <a:cs typeface="Courier New" pitchFamily="34" charset="-120"/>
              </a:rPr>
              <a:t>E = { (a,b), (b,a) }</a:t>
            </a:r>
            <a:endParaRPr lang="en-US" sz="1200" dirty="0"/>
          </a:p>
        </p:txBody>
      </p:sp>
      <p:sp>
        <p:nvSpPr>
          <p:cNvPr id="13" name="Text 11"/>
          <p:cNvSpPr/>
          <p:nvPr/>
        </p:nvSpPr>
        <p:spPr>
          <a:xfrm>
            <a:off x="868680" y="5029200"/>
            <a:ext cx="2834640" cy="640080"/>
          </a:xfrm>
          <a:prstGeom prst="rect">
            <a:avLst/>
          </a:prstGeom>
          <a:noFill/>
          <a:ln/>
        </p:spPr>
        <p:txBody>
          <a:bodyPr wrap="square" lIns="0" tIns="0" rIns="0" bIns="0" rtlCol="0" anchor="t"/>
          <a:lstStyle/>
          <a:p>
            <a:pPr marL="0" indent="0" algn="ctr">
              <a:lnSpc>
                <a:spcPts val="1500"/>
              </a:lnSpc>
              <a:buNone/>
            </a:pPr>
            <a:r>
              <a:rPr lang="en-US" sz="1150" i="1" dirty="0">
                <a:solidFill>
                  <a:srgbClr val="63797F"/>
                </a:solidFill>
                <a:latin typeface="Calibri" pitchFamily="34" charset="0"/>
                <a:ea typeface="Calibri" pitchFamily="34" charset="-122"/>
                <a:cs typeface="Calibri" pitchFamily="34" charset="-120"/>
              </a:rPr>
              <a:t>An undirected edge is stored in both directions — in a matrix and in a list alike.</a:t>
            </a:r>
            <a:endParaRPr lang="en-US" sz="1150" dirty="0"/>
          </a:p>
        </p:txBody>
      </p:sp>
      <p:sp>
        <p:nvSpPr>
          <p:cNvPr id="14" name="Shape 12"/>
          <p:cNvSpPr/>
          <p:nvPr/>
        </p:nvSpPr>
        <p:spPr>
          <a:xfrm>
            <a:off x="4206240" y="1600200"/>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15" name="Shape 13"/>
          <p:cNvSpPr/>
          <p:nvPr/>
        </p:nvSpPr>
        <p:spPr>
          <a:xfrm>
            <a:off x="4370832" y="1746504"/>
            <a:ext cx="365760" cy="365760"/>
          </a:xfrm>
          <a:prstGeom prst="ellipse">
            <a:avLst/>
          </a:prstGeom>
          <a:solidFill>
            <a:srgbClr val="0B3B44"/>
          </a:solidFill>
          <a:ln w="12700">
            <a:solidFill>
              <a:srgbClr val="0B3B44"/>
            </a:solidFill>
            <a:prstDash val="solid"/>
          </a:ln>
        </p:spPr>
        <p:txBody>
          <a:bodyPr/>
          <a:lstStyle/>
          <a:p>
            <a:endParaRPr lang="en-US"/>
          </a:p>
        </p:txBody>
      </p:sp>
      <p:sp>
        <p:nvSpPr>
          <p:cNvPr id="16" name="Text 14"/>
          <p:cNvSpPr/>
          <p:nvPr/>
        </p:nvSpPr>
        <p:spPr>
          <a:xfrm>
            <a:off x="4370832" y="174650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4892040" y="1655064"/>
            <a:ext cx="3383280" cy="292608"/>
          </a:xfrm>
          <a:prstGeom prst="rect">
            <a:avLst/>
          </a:prstGeom>
          <a:noFill/>
          <a:ln/>
        </p:spPr>
        <p:txBody>
          <a:bodyPr wrap="square" lIns="0" tIns="0" rIns="0" bIns="0" rtlCol="0" anchor="ctr"/>
          <a:lstStyle/>
          <a:p>
            <a:pPr marL="0" indent="0">
              <a:buNone/>
            </a:pPr>
            <a:r>
              <a:rPr lang="en-US" sz="1150" b="1" dirty="0">
                <a:solidFill>
                  <a:srgbClr val="13232B"/>
                </a:solidFill>
                <a:latin typeface="Courier New" pitchFamily="34" charset="0"/>
                <a:ea typeface="Courier New" pitchFamily="34" charset="-122"/>
                <a:cs typeface="Courier New" pitchFamily="34" charset="-120"/>
              </a:rPr>
              <a:t>Cyclic calls HasCycles(a)</a:t>
            </a:r>
            <a:endParaRPr lang="en-US" sz="1150" dirty="0"/>
          </a:p>
        </p:txBody>
      </p:sp>
      <p:sp>
        <p:nvSpPr>
          <p:cNvPr id="18" name="Text 16"/>
          <p:cNvSpPr/>
          <p:nvPr/>
        </p:nvSpPr>
        <p:spPr>
          <a:xfrm>
            <a:off x="4892040" y="1947672"/>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a is unmarked, so we start there.</a:t>
            </a:r>
            <a:endParaRPr lang="en-US" sz="1150" dirty="0"/>
          </a:p>
        </p:txBody>
      </p:sp>
      <p:sp>
        <p:nvSpPr>
          <p:cNvPr id="19" name="Shape 17"/>
          <p:cNvSpPr/>
          <p:nvPr/>
        </p:nvSpPr>
        <p:spPr>
          <a:xfrm>
            <a:off x="4370832" y="2418588"/>
            <a:ext cx="365760" cy="365760"/>
          </a:xfrm>
          <a:prstGeom prst="ellipse">
            <a:avLst/>
          </a:prstGeom>
          <a:solidFill>
            <a:srgbClr val="0B3B44"/>
          </a:solidFill>
          <a:ln w="12700">
            <a:solidFill>
              <a:srgbClr val="0B3B44"/>
            </a:solidFill>
            <a:prstDash val="solid"/>
          </a:ln>
        </p:spPr>
        <p:txBody>
          <a:bodyPr/>
          <a:lstStyle/>
          <a:p>
            <a:endParaRPr lang="en-US"/>
          </a:p>
        </p:txBody>
      </p:sp>
      <p:sp>
        <p:nvSpPr>
          <p:cNvPr id="20" name="Text 18"/>
          <p:cNvSpPr/>
          <p:nvPr/>
        </p:nvSpPr>
        <p:spPr>
          <a:xfrm>
            <a:off x="4370832" y="24185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4892040" y="2327148"/>
            <a:ext cx="3383280" cy="292608"/>
          </a:xfrm>
          <a:prstGeom prst="rect">
            <a:avLst/>
          </a:prstGeom>
          <a:noFill/>
          <a:ln/>
        </p:spPr>
        <p:txBody>
          <a:bodyPr wrap="square" lIns="0" tIns="0" rIns="0" bIns="0" rtlCol="0" anchor="ctr"/>
          <a:lstStyle/>
          <a:p>
            <a:pPr marL="0" indent="0">
              <a:buNone/>
            </a:pPr>
            <a:r>
              <a:rPr lang="en-US" sz="1150" b="1" dirty="0">
                <a:solidFill>
                  <a:srgbClr val="13232B"/>
                </a:solidFill>
                <a:latin typeface="Courier New" pitchFamily="34" charset="0"/>
                <a:ea typeface="Courier New" pitchFamily="34" charset="-122"/>
                <a:cs typeface="Courier New" pitchFamily="34" charset="-120"/>
              </a:rPr>
              <a:t>mark a with 1</a:t>
            </a:r>
            <a:endParaRPr lang="en-US" sz="1150" dirty="0"/>
          </a:p>
        </p:txBody>
      </p:sp>
      <p:sp>
        <p:nvSpPr>
          <p:cNvPr id="22" name="Text 20"/>
          <p:cNvSpPr/>
          <p:nvPr/>
        </p:nvSpPr>
        <p:spPr>
          <a:xfrm>
            <a:off x="4892040" y="2619756"/>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count = 1.</a:t>
            </a:r>
            <a:endParaRPr lang="en-US" sz="1150" dirty="0"/>
          </a:p>
        </p:txBody>
      </p:sp>
      <p:sp>
        <p:nvSpPr>
          <p:cNvPr id="23" name="Shape 21"/>
          <p:cNvSpPr/>
          <p:nvPr/>
        </p:nvSpPr>
        <p:spPr>
          <a:xfrm>
            <a:off x="4206240" y="2944368"/>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24" name="Shape 22"/>
          <p:cNvSpPr/>
          <p:nvPr/>
        </p:nvSpPr>
        <p:spPr>
          <a:xfrm>
            <a:off x="4370832" y="3090672"/>
            <a:ext cx="365760" cy="365760"/>
          </a:xfrm>
          <a:prstGeom prst="ellipse">
            <a:avLst/>
          </a:prstGeom>
          <a:solidFill>
            <a:srgbClr val="0B3B44"/>
          </a:solidFill>
          <a:ln w="12700">
            <a:solidFill>
              <a:srgbClr val="0B3B44"/>
            </a:solidFill>
            <a:prstDash val="solid"/>
          </a:ln>
        </p:spPr>
        <p:txBody>
          <a:bodyPr/>
          <a:lstStyle/>
          <a:p>
            <a:endParaRPr lang="en-US"/>
          </a:p>
        </p:txBody>
      </p:sp>
      <p:sp>
        <p:nvSpPr>
          <p:cNvPr id="25" name="Text 23"/>
          <p:cNvSpPr/>
          <p:nvPr/>
        </p:nvSpPr>
        <p:spPr>
          <a:xfrm>
            <a:off x="4370832" y="309067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4892040" y="2999232"/>
            <a:ext cx="3383280" cy="292608"/>
          </a:xfrm>
          <a:prstGeom prst="rect">
            <a:avLst/>
          </a:prstGeom>
          <a:noFill/>
          <a:ln/>
        </p:spPr>
        <p:txBody>
          <a:bodyPr wrap="square" lIns="0" tIns="0" rIns="0" bIns="0" rtlCol="0" anchor="ctr"/>
          <a:lstStyle/>
          <a:p>
            <a:pPr marL="0" indent="0">
              <a:buNone/>
            </a:pPr>
            <a:r>
              <a:rPr lang="en-US" sz="1150" b="1" dirty="0">
                <a:solidFill>
                  <a:srgbClr val="13232B"/>
                </a:solidFill>
                <a:latin typeface="Courier New" pitchFamily="34" charset="0"/>
                <a:ea typeface="Courier New" pitchFamily="34" charset="-122"/>
                <a:cs typeface="Courier New" pitchFamily="34" charset="-120"/>
              </a:rPr>
              <a:t>edge (a, b): b's mark is 0</a:t>
            </a:r>
            <a:endParaRPr lang="en-US" sz="1150" dirty="0"/>
          </a:p>
        </p:txBody>
      </p:sp>
      <p:sp>
        <p:nvSpPr>
          <p:cNvPr id="27" name="Text 25"/>
          <p:cNvSpPr/>
          <p:nvPr/>
        </p:nvSpPr>
        <p:spPr>
          <a:xfrm>
            <a:off x="4892040" y="3291840"/>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Not seen yet — so recurse.</a:t>
            </a:r>
            <a:endParaRPr lang="en-US" sz="1150" dirty="0"/>
          </a:p>
        </p:txBody>
      </p:sp>
      <p:sp>
        <p:nvSpPr>
          <p:cNvPr id="28" name="Shape 26"/>
          <p:cNvSpPr/>
          <p:nvPr/>
        </p:nvSpPr>
        <p:spPr>
          <a:xfrm>
            <a:off x="4370832" y="3762756"/>
            <a:ext cx="365760" cy="365760"/>
          </a:xfrm>
          <a:prstGeom prst="ellipse">
            <a:avLst/>
          </a:prstGeom>
          <a:solidFill>
            <a:srgbClr val="0B3B44"/>
          </a:solidFill>
          <a:ln w="12700">
            <a:solidFill>
              <a:srgbClr val="0B3B44"/>
            </a:solidFill>
            <a:prstDash val="solid"/>
          </a:ln>
        </p:spPr>
        <p:txBody>
          <a:bodyPr/>
          <a:lstStyle/>
          <a:p>
            <a:endParaRPr lang="en-US"/>
          </a:p>
        </p:txBody>
      </p:sp>
      <p:sp>
        <p:nvSpPr>
          <p:cNvPr id="29" name="Text 27"/>
          <p:cNvSpPr/>
          <p:nvPr/>
        </p:nvSpPr>
        <p:spPr>
          <a:xfrm>
            <a:off x="4370832" y="37627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4892040" y="3671316"/>
            <a:ext cx="3383280" cy="292608"/>
          </a:xfrm>
          <a:prstGeom prst="rect">
            <a:avLst/>
          </a:prstGeom>
          <a:noFill/>
          <a:ln/>
        </p:spPr>
        <p:txBody>
          <a:bodyPr wrap="square" lIns="0" tIns="0" rIns="0" bIns="0" rtlCol="0" anchor="ctr"/>
          <a:lstStyle/>
          <a:p>
            <a:pPr marL="0" indent="0">
              <a:buNone/>
            </a:pPr>
            <a:r>
              <a:rPr lang="en-US" sz="1150" b="1" dirty="0">
                <a:solidFill>
                  <a:srgbClr val="13232B"/>
                </a:solidFill>
                <a:latin typeface="Courier New" pitchFamily="34" charset="0"/>
                <a:ea typeface="Courier New" pitchFamily="34" charset="-122"/>
                <a:cs typeface="Courier New" pitchFamily="34" charset="-120"/>
              </a:rPr>
              <a:t>HasCycles(b): mark b with 2</a:t>
            </a:r>
            <a:endParaRPr lang="en-US" sz="1150" dirty="0"/>
          </a:p>
        </p:txBody>
      </p:sp>
      <p:sp>
        <p:nvSpPr>
          <p:cNvPr id="31" name="Text 29"/>
          <p:cNvSpPr/>
          <p:nvPr/>
        </p:nvSpPr>
        <p:spPr>
          <a:xfrm>
            <a:off x="4892040" y="3963924"/>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count = 2.</a:t>
            </a:r>
            <a:endParaRPr lang="en-US" sz="1150" dirty="0"/>
          </a:p>
        </p:txBody>
      </p:sp>
      <p:sp>
        <p:nvSpPr>
          <p:cNvPr id="32" name="Shape 30"/>
          <p:cNvSpPr/>
          <p:nvPr/>
        </p:nvSpPr>
        <p:spPr>
          <a:xfrm>
            <a:off x="4206240" y="4288536"/>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33" name="Shape 31"/>
          <p:cNvSpPr/>
          <p:nvPr/>
        </p:nvSpPr>
        <p:spPr>
          <a:xfrm>
            <a:off x="4370832" y="4434840"/>
            <a:ext cx="365760" cy="365760"/>
          </a:xfrm>
          <a:prstGeom prst="ellipse">
            <a:avLst/>
          </a:prstGeom>
          <a:solidFill>
            <a:srgbClr val="C1465A"/>
          </a:solidFill>
          <a:ln w="12700">
            <a:solidFill>
              <a:srgbClr val="C1465A"/>
            </a:solidFill>
            <a:prstDash val="solid"/>
          </a:ln>
        </p:spPr>
        <p:txBody>
          <a:bodyPr/>
          <a:lstStyle/>
          <a:p>
            <a:endParaRPr lang="en-US"/>
          </a:p>
        </p:txBody>
      </p:sp>
      <p:sp>
        <p:nvSpPr>
          <p:cNvPr id="34" name="Text 32"/>
          <p:cNvSpPr/>
          <p:nvPr/>
        </p:nvSpPr>
        <p:spPr>
          <a:xfrm>
            <a:off x="4370832" y="443484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Text 33"/>
          <p:cNvSpPr/>
          <p:nvPr/>
        </p:nvSpPr>
        <p:spPr>
          <a:xfrm>
            <a:off x="4892040" y="4343400"/>
            <a:ext cx="3383280" cy="292608"/>
          </a:xfrm>
          <a:prstGeom prst="rect">
            <a:avLst/>
          </a:prstGeom>
          <a:noFill/>
          <a:ln/>
        </p:spPr>
        <p:txBody>
          <a:bodyPr wrap="square" lIns="0" tIns="0" rIns="0" bIns="0" rtlCol="0" anchor="ctr"/>
          <a:lstStyle/>
          <a:p>
            <a:pPr marL="0" indent="0">
              <a:buNone/>
            </a:pPr>
            <a:r>
              <a:rPr lang="en-US" sz="1150" b="1" dirty="0">
                <a:solidFill>
                  <a:srgbClr val="C1465A"/>
                </a:solidFill>
                <a:latin typeface="Courier New" pitchFamily="34" charset="0"/>
                <a:ea typeface="Courier New" pitchFamily="34" charset="-122"/>
                <a:cs typeface="Courier New" pitchFamily="34" charset="-120"/>
              </a:rPr>
              <a:t>edge (b, a): a's mark is 1 &gt; 0</a:t>
            </a:r>
            <a:endParaRPr lang="en-US" sz="1150" dirty="0"/>
          </a:p>
        </p:txBody>
      </p:sp>
      <p:sp>
        <p:nvSpPr>
          <p:cNvPr id="36" name="Text 34"/>
          <p:cNvSpPr/>
          <p:nvPr/>
        </p:nvSpPr>
        <p:spPr>
          <a:xfrm>
            <a:off x="4892040" y="4636008"/>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"a has been visited before" → return True.</a:t>
            </a:r>
            <a:endParaRPr lang="en-US" sz="1150" dirty="0"/>
          </a:p>
        </p:txBody>
      </p:sp>
      <p:sp>
        <p:nvSpPr>
          <p:cNvPr id="37" name="Shape 35"/>
          <p:cNvSpPr/>
          <p:nvPr/>
        </p:nvSpPr>
        <p:spPr>
          <a:xfrm>
            <a:off x="4370832" y="5106924"/>
            <a:ext cx="365760" cy="365760"/>
          </a:xfrm>
          <a:prstGeom prst="ellipse">
            <a:avLst/>
          </a:prstGeom>
          <a:solidFill>
            <a:srgbClr val="C1465A"/>
          </a:solidFill>
          <a:ln w="12700">
            <a:solidFill>
              <a:srgbClr val="C1465A"/>
            </a:solidFill>
            <a:prstDash val="solid"/>
          </a:ln>
        </p:spPr>
        <p:txBody>
          <a:bodyPr/>
          <a:lstStyle/>
          <a:p>
            <a:endParaRPr lang="en-US"/>
          </a:p>
        </p:txBody>
      </p:sp>
      <p:sp>
        <p:nvSpPr>
          <p:cNvPr id="38" name="Text 36"/>
          <p:cNvSpPr/>
          <p:nvPr/>
        </p:nvSpPr>
        <p:spPr>
          <a:xfrm>
            <a:off x="4370832" y="510692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4892040" y="5015484"/>
            <a:ext cx="3383280" cy="292608"/>
          </a:xfrm>
          <a:prstGeom prst="rect">
            <a:avLst/>
          </a:prstGeom>
          <a:noFill/>
          <a:ln/>
        </p:spPr>
        <p:txBody>
          <a:bodyPr wrap="square" lIns="0" tIns="0" rIns="0" bIns="0" rtlCol="0" anchor="ctr"/>
          <a:lstStyle/>
          <a:p>
            <a:pPr marL="0" indent="0">
              <a:buNone/>
            </a:pPr>
            <a:r>
              <a:rPr lang="en-US" sz="1150" b="1" dirty="0">
                <a:solidFill>
                  <a:srgbClr val="C1465A"/>
                </a:solidFill>
                <a:latin typeface="Courier New" pitchFamily="34" charset="0"/>
                <a:ea typeface="Courier New" pitchFamily="34" charset="-122"/>
                <a:cs typeface="Courier New" pitchFamily="34" charset="-120"/>
              </a:rPr>
              <a:t>Cyclic returns True</a:t>
            </a:r>
            <a:endParaRPr lang="en-US" sz="1150" dirty="0"/>
          </a:p>
        </p:txBody>
      </p:sp>
      <p:sp>
        <p:nvSpPr>
          <p:cNvPr id="40" name="Text 38"/>
          <p:cNvSpPr/>
          <p:nvPr/>
        </p:nvSpPr>
        <p:spPr>
          <a:xfrm>
            <a:off x="4892040" y="5308092"/>
            <a:ext cx="6492240" cy="274320"/>
          </a:xfrm>
          <a:prstGeom prst="rect">
            <a:avLst/>
          </a:prstGeom>
          <a:noFill/>
          <a:ln/>
        </p:spPr>
        <p:txBody>
          <a:bodyPr wrap="square" lIns="0" tIns="0" rIns="0" bIns="0" rtlCol="0" anchor="ctr"/>
          <a:lstStyle/>
          <a:p>
            <a:pPr marL="0" indent="0">
              <a:buNone/>
            </a:pPr>
            <a:r>
              <a:rPr lang="en-US" sz="1150" dirty="0">
                <a:solidFill>
                  <a:srgbClr val="63797F"/>
                </a:solidFill>
                <a:latin typeface="Calibri" pitchFamily="34" charset="0"/>
                <a:ea typeface="Calibri" pitchFamily="34" charset="-122"/>
                <a:cs typeface="Calibri" pitchFamily="34" charset="-120"/>
              </a:rPr>
              <a:t>But a — b is a tree. Wrong answer.</a:t>
            </a:r>
            <a:endParaRPr lang="en-US" sz="1150" dirty="0"/>
          </a:p>
        </p:txBody>
      </p:sp>
      <p:sp>
        <p:nvSpPr>
          <p:cNvPr id="41" name="Text 39"/>
          <p:cNvSpPr/>
          <p:nvPr/>
        </p:nvSpPr>
        <p:spPr>
          <a:xfrm>
            <a:off x="4206240" y="5742432"/>
            <a:ext cx="7360920" cy="365760"/>
          </a:xfrm>
          <a:prstGeom prst="rect">
            <a:avLst/>
          </a:prstGeom>
          <a:noFill/>
          <a:ln/>
        </p:spPr>
        <p:txBody>
          <a:bodyPr wrap="square" lIns="0" tIns="0" rIns="0" bIns="0" rtlCol="0" anchor="ctr"/>
          <a:lstStyle/>
          <a:p>
            <a:pPr marL="0" indent="0">
              <a:buNone/>
            </a:pPr>
            <a:r>
              <a:rPr lang="en-US" sz="1300" b="1" i="1" dirty="0">
                <a:solidFill>
                  <a:srgbClr val="C1465A"/>
                </a:solidFill>
                <a:latin typeface="Calibri" pitchFamily="34" charset="0"/>
                <a:ea typeface="Calibri" pitchFamily="34" charset="-122"/>
                <a:cs typeface="Calibri" pitchFamily="34" charset="-120"/>
              </a:rPr>
              <a:t>The algorithm cannot tell a genuine loop from walking back up the edge it arrived on.</a:t>
            </a:r>
            <a:endParaRPr lang="en-US" sz="1300" dirty="0"/>
          </a:p>
        </p:txBody>
      </p:sp>
      <p:sp>
        <p:nvSpPr>
          <p:cNvPr id="42" name="Text 40"/>
          <p:cNvSpPr/>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63797F"/>
                </a:solidFill>
                <a:latin typeface="Calibri" pitchFamily="34" charset="0"/>
                <a:ea typeface="Calibri" pitchFamily="34" charset="-122"/>
                <a:cs typeface="Calibri" pitchFamily="34" charset="-120"/>
              </a:rPr>
              <a:t>COMP90038  ·  Algorithms and Complexity  ·  Week 5</a:t>
            </a:r>
            <a:endParaRPr lang="en-US" sz="900" dirty="0"/>
          </a:p>
        </p:txBody>
      </p:sp>
      <p:sp>
        <p:nvSpPr>
          <p:cNvPr id="43" name="Text 41"/>
          <p:cNvSpPr/>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63797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6621</TotalTime>
  <Words>4731</Words>
  <Application>Microsoft Macintosh PowerPoint</Application>
  <PresentationFormat>Widescreen</PresentationFormat>
  <Paragraphs>600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Week 5</dc:title>
  <dc:subject>PptxGenJS Presentation</dc:subject>
  <dc:creator>Kenji</dc:creator>
  <cp:lastModifiedBy>Kejian Cui</cp:lastModifiedBy>
  <cp:revision>26</cp:revision>
  <dcterms:created xsi:type="dcterms:W3CDTF">2026-08-21T10:42:48Z</dcterms:created>
  <dcterms:modified xsi:type="dcterms:W3CDTF">2026-08-26T01:19:50Z</dcterms:modified>
</cp:coreProperties>
</file>