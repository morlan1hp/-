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8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ALGORITHMS AND COMPLEXITY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90"/>
              </a:lnSpc>
              <a:buNone/>
            </a:pPr>
            <a:r>
              <a:rPr lang="en-US" sz="58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Tutorial Week 9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12800" y="2104330"/>
            <a:ext cx="686752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8C0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trees, 2–3 trees, and an algorithm–design problem — working through problems 61 to 65 and 60.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496620"/>
            <a:ext cx="37105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Kenji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831880"/>
            <a:ext cx="37105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Tutor, School of Computing and Information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4890" y="5831880"/>
            <a:ext cx="167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University of Melbourne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Today's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57661"/>
            <a:ext cx="10566400" cy="0"/>
          </a:xfrm>
          <a:prstGeom prst="line">
            <a:avLst/>
          </a:prstGeom>
          <a:noFill/>
          <a:ln w="1270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9800" y="1866850"/>
            <a:ext cx="876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92300" y="1866850"/>
            <a:ext cx="255079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95800" y="1866850"/>
            <a:ext cx="69590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WE'LL 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12800" y="2164011"/>
            <a:ext cx="10566400" cy="520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9800" y="2291011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92300" y="2300536"/>
            <a:ext cx="25507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Binary search tree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5800" y="2300536"/>
            <a:ext cx="69590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Insert eight keys into an empty BST, one at a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9800" y="2811711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92300" y="2821236"/>
            <a:ext cx="25507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tree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5800" y="2821236"/>
            <a:ext cx="69590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Insert nine keys and track every rotation along the way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205411"/>
            <a:ext cx="10566400" cy="520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9800" y="3332411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92300" y="3341936"/>
            <a:ext cx="25507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Rotation sequences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95800" y="3341936"/>
            <a:ext cx="69590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insertion orders force an LR–rotation, then an RL–rotation?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9800" y="3853111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92300" y="3862636"/>
            <a:ext cx="25507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tree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95800" y="3862636"/>
            <a:ext cx="69590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one from the same nine keys as problem 62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2800" y="4246811"/>
            <a:ext cx="10566400" cy="520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9800" y="4373811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92300" y="4383336"/>
            <a:ext cx="25507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Insertion order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5800" y="4383336"/>
            <a:ext cx="69590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the order you insert keys change the final 2–3 tree?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9800" y="4894511"/>
            <a:ext cx="87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92300" y="4904036"/>
            <a:ext cx="255079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problem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95800" y="4904036"/>
            <a:ext cx="69590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Placing numbers into boxes to satisfy a chain of inequalities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TREES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 by rotation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AVL tree is a binary search tree that re–balances itself after every insertion, so lookups, insertions and deletions all stay logarithmic — no matter what order the keys arrive 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654846"/>
            <a:ext cx="3380284" cy="3183979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3150" y="3561110"/>
            <a:ext cx="295191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 factor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906540"/>
            <a:ext cx="29519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height(left) − height(right)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3150" y="4505920"/>
            <a:ext cx="29519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Recomputed at every node, every time a key is inserted or removed.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809" y="2654846"/>
            <a:ext cx="3380333" cy="3183979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2984" y="3754140"/>
            <a:ext cx="29519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Must stay in {−1, 0, 1}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2984" y="4099570"/>
            <a:ext cx="295196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node whose balance factor lands outside this range triggers a rotation to bring it back.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692" y="2654846"/>
            <a:ext cx="3380333" cy="3183979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2867" y="3754140"/>
            <a:ext cx="29519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Θ(log n) height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2867" y="4099570"/>
            <a:ext cx="295196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Guaranteed for a tree of n nodes, however it was built — that's the whole point.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TREES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REBALANCING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rotations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948372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R–rotation fixes a Right–Right imbalance at r — an L–rotation mirrors it for Left–Left.</a:t>
            </a:r>
            <a:endParaRPr lang="en-US" sz="1400" dirty="0"/>
          </a:p>
        </p:txBody>
      </p:sp>
      <p:sp>
        <p:nvSpPr>
          <p:cNvPr id="36" name="Text 21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37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TREES</a:t>
            </a:r>
            <a:endParaRPr lang="en-US" sz="12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4534FA5-F444-3808-4928-DA54B5C87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0990"/>
            <a:ext cx="6644640" cy="3848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REBALANCING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Double rotations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0441"/>
            <a:ext cx="98107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LR–rotation fixes the zig–zag left–then–right imbalance at r — an RL–rotation mirrors it for right–then–left. g always ends up as the new root.</a:t>
            </a:r>
            <a:endParaRPr lang="en-US" sz="1400" dirty="0"/>
          </a:p>
        </p:txBody>
      </p:sp>
      <p:sp>
        <p:nvSpPr>
          <p:cNvPr id="48" name="Text 27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49" name="Text 28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TREES</a:t>
            </a:r>
            <a:endParaRPr lang="en-US" sz="12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E903A65-1620-B1F6-14F5-562644C3F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813" y="2233189"/>
            <a:ext cx="6548374" cy="3915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REBALANCING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insertion cases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77950"/>
            <a:ext cx="98107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inserting a node u, let v be the lowest node on the path back to the root whose balance factor now breaks {−1, 0, 1}. Where u sits, relative to v, decides the fix.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858641"/>
            <a:ext cx="10566400" cy="0"/>
          </a:xfrm>
          <a:prstGeom prst="line">
            <a:avLst/>
          </a:prstGeom>
          <a:noFill/>
          <a:ln w="1270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9800" y="2567831"/>
            <a:ext cx="26162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32200" y="2567831"/>
            <a:ext cx="494461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U LANDS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85200" y="2567831"/>
            <a:ext cx="274701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800" y="2864991"/>
            <a:ext cx="10566400" cy="546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9800" y="3004691"/>
            <a:ext cx="261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Left–Left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2200" y="301739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subtree of the left child of 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85200" y="3020566"/>
            <a:ext cx="27470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R–rotation at 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9800" y="3550791"/>
            <a:ext cx="261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Right–Right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2200" y="356349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subtree of the right child of 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85200" y="3566666"/>
            <a:ext cx="27470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L–rotation at v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3957191"/>
            <a:ext cx="10566400" cy="546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9800" y="4096891"/>
            <a:ext cx="261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Left–Right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32200" y="410959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subtree of the left child of 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85200" y="4112766"/>
            <a:ext cx="27470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LR–rotation at 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9800" y="4642991"/>
            <a:ext cx="261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Right–Left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32200" y="4655691"/>
            <a:ext cx="49446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subtree of the right child of 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85200" y="4658866"/>
            <a:ext cx="27470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RL–rotation at 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TREES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TREES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Multi–way balance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91567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search tree whose nodes can hold one or two items. Every leaf sits at the same depth, so height — and search time — stays Θ(log n) automatically, with no rotations at 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02275" y="2513856"/>
            <a:ext cx="11874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0" y="2661791"/>
            <a:ext cx="6286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0" y="2661791"/>
            <a:ext cx="0" cy="320030"/>
          </a:xfrm>
          <a:prstGeom prst="line">
            <a:avLst/>
          </a:prstGeom>
          <a:noFill/>
          <a:ln w="1270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76950" y="2661791"/>
            <a:ext cx="6286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90750" y="3907681"/>
            <a:ext cx="2527300" cy="622300"/>
          </a:xfrm>
          <a:prstGeom prst="roundRect">
            <a:avLst>
              <a:gd name="adj" fmla="val 15306"/>
            </a:avLst>
          </a:prstGeom>
          <a:solidFill>
            <a:srgbClr val="EFECE3"/>
          </a:solidFill>
          <a:ln w="12700">
            <a:solidFill>
              <a:srgbClr val="A9A3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64582" y="4112171"/>
            <a:ext cx="6303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keys &lt; 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32350" y="3907681"/>
            <a:ext cx="2527300" cy="622300"/>
          </a:xfrm>
          <a:prstGeom prst="roundRect">
            <a:avLst>
              <a:gd name="adj" fmla="val 15306"/>
            </a:avLst>
          </a:prstGeom>
          <a:solidFill>
            <a:srgbClr val="EFECE3"/>
          </a:solidFill>
          <a:ln w="12700">
            <a:solidFill>
              <a:srgbClr val="A9A3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70550" y="4112171"/>
            <a:ext cx="901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 &lt; keys &lt; 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73950" y="3907681"/>
            <a:ext cx="2527300" cy="622300"/>
          </a:xfrm>
          <a:prstGeom prst="roundRect">
            <a:avLst>
              <a:gd name="adj" fmla="val 15306"/>
            </a:avLst>
          </a:prstGeom>
          <a:solidFill>
            <a:srgbClr val="EFECE3"/>
          </a:solidFill>
          <a:ln w="12700">
            <a:solidFill>
              <a:srgbClr val="A9A3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46790" y="4112171"/>
            <a:ext cx="6323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keys &gt; O</a:t>
            </a:r>
            <a:endParaRPr lang="en-US" sz="1200" dirty="0"/>
          </a:p>
        </p:txBody>
      </p:sp>
      <p:pic>
        <p:nvPicPr>
          <p:cNvPr id="15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16300" y="3101231"/>
            <a:ext cx="2717800" cy="838200"/>
          </a:xfrm>
          <a:prstGeom prst="rect">
            <a:avLst/>
          </a:prstGeom>
        </p:spPr>
      </p:pic>
      <p:pic>
        <p:nvPicPr>
          <p:cNvPr id="16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57900" y="3101231"/>
            <a:ext cx="76200" cy="838200"/>
          </a:xfrm>
          <a:prstGeom prst="rect">
            <a:avLst/>
          </a:prstGeom>
        </p:spPr>
      </p:pic>
      <p:pic>
        <p:nvPicPr>
          <p:cNvPr id="17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57900" y="3101231"/>
            <a:ext cx="2717800" cy="838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TREES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TREES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Insertion by splitting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22041"/>
            <a:ext cx="101377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to a leaf and add the key. An overflowing leaf splits, pushing its middle key up to the parent.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372320"/>
            <a:ext cx="49707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— a leaf overflows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32075" y="2681536"/>
            <a:ext cx="11874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16200" y="2847280"/>
            <a:ext cx="628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25800" y="2847280"/>
            <a:ext cx="0" cy="284460"/>
          </a:xfrm>
          <a:prstGeom prst="line">
            <a:avLst/>
          </a:prstGeom>
          <a:noFill/>
          <a:ln w="1270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6750" y="2847280"/>
            <a:ext cx="628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30325" y="420553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77330" y="437128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78075" y="4205536"/>
            <a:ext cx="16954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62200" y="4371280"/>
            <a:ext cx="60111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44267" y="4371280"/>
            <a:ext cx="0" cy="284460"/>
          </a:xfrm>
          <a:prstGeom prst="line">
            <a:avLst/>
          </a:prstGeom>
          <a:noFill/>
          <a:ln w="1270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5217" y="4371280"/>
            <a:ext cx="6011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7333" y="4371280"/>
            <a:ext cx="0" cy="284460"/>
          </a:xfrm>
          <a:prstGeom prst="line">
            <a:avLst/>
          </a:prstGeom>
          <a:noFill/>
          <a:ln w="1270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88283" y="4371280"/>
            <a:ext cx="60111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5325" y="420553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2330" y="437128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1600" dirty="0"/>
          </a:p>
        </p:txBody>
      </p:sp>
      <p:pic>
        <p:nvPicPr>
          <p:cNvPr id="20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0200" y="3268911"/>
            <a:ext cx="1663700" cy="965200"/>
          </a:xfrm>
          <a:prstGeom prst="rect">
            <a:avLst/>
          </a:prstGeom>
        </p:spPr>
      </p:pic>
      <p:pic>
        <p:nvPicPr>
          <p:cNvPr id="21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87700" y="3268911"/>
            <a:ext cx="76200" cy="965200"/>
          </a:xfrm>
          <a:prstGeom prst="rect">
            <a:avLst/>
          </a:prstGeom>
        </p:spPr>
      </p:pic>
      <p:pic>
        <p:nvPicPr>
          <p:cNvPr id="22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7700" y="3268911"/>
            <a:ext cx="1663700" cy="965200"/>
          </a:xfrm>
          <a:prstGeom prst="rect">
            <a:avLst/>
          </a:prstGeom>
        </p:spPr>
      </p:pic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92800" y="3881041"/>
            <a:ext cx="406400" cy="203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53200" y="2372320"/>
            <a:ext cx="49707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— 5 pushed up, root splits too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8753475" y="268153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000480" y="284728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7546975" y="382453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793980" y="399028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959975" y="382453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0206980" y="399028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975475" y="496753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7198320" y="5119291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181975" y="496753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8404820" y="5119291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9388475" y="496753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9611320" y="5119291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10594975" y="496753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10817820" y="5119291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1400" dirty="0"/>
          </a:p>
        </p:txBody>
      </p:sp>
      <p:pic>
        <p:nvPicPr>
          <p:cNvPr id="39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16850" y="3268911"/>
            <a:ext cx="1282700" cy="584200"/>
          </a:xfrm>
          <a:prstGeom prst="rect">
            <a:avLst/>
          </a:prstGeom>
        </p:spPr>
      </p:pic>
      <p:pic>
        <p:nvPicPr>
          <p:cNvPr id="40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23350" y="3268911"/>
            <a:ext cx="1282700" cy="584200"/>
          </a:xfrm>
          <a:prstGeom prst="rect">
            <a:avLst/>
          </a:prstGeom>
        </p:spPr>
      </p:pic>
      <p:pic>
        <p:nvPicPr>
          <p:cNvPr id="41" name="Image 6" descr="connector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13600" y="4411911"/>
            <a:ext cx="679450" cy="584200"/>
          </a:xfrm>
          <a:prstGeom prst="rect">
            <a:avLst/>
          </a:prstGeom>
        </p:spPr>
      </p:pic>
      <p:pic>
        <p:nvPicPr>
          <p:cNvPr id="42" name="Image 7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16850" y="4411911"/>
            <a:ext cx="679450" cy="584200"/>
          </a:xfrm>
          <a:prstGeom prst="rect">
            <a:avLst/>
          </a:prstGeom>
        </p:spPr>
      </p:pic>
      <p:pic>
        <p:nvPicPr>
          <p:cNvPr id="43" name="Image 8" descr="connector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600" y="4411911"/>
            <a:ext cx="679450" cy="584200"/>
          </a:xfrm>
          <a:prstGeom prst="rect">
            <a:avLst/>
          </a:prstGeom>
        </p:spPr>
      </p:pic>
      <p:pic>
        <p:nvPicPr>
          <p:cNvPr id="44" name="Image 9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229850" y="4411911"/>
            <a:ext cx="679450" cy="5842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TREES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Binary search tree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98107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Starting from an empty tree, insert these keys in the given order and draw the resulting BST.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367211"/>
            <a:ext cx="629940" cy="574030"/>
          </a:xfrm>
          <a:prstGeom prst="roundRect">
            <a:avLst>
              <a:gd name="adj" fmla="val 13275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2494211"/>
            <a:ext cx="3251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8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4340" y="2603401"/>
            <a:ext cx="2032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49140" y="2367211"/>
            <a:ext cx="629940" cy="574030"/>
          </a:xfrm>
          <a:prstGeom prst="roundRect">
            <a:avLst>
              <a:gd name="adj" fmla="val 13275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26940" y="2494211"/>
            <a:ext cx="3251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8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0680" y="2603401"/>
            <a:ext cx="203200" cy="101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85480" y="2367211"/>
            <a:ext cx="629940" cy="574030"/>
          </a:xfrm>
          <a:prstGeom prst="roundRect">
            <a:avLst>
              <a:gd name="adj" fmla="val 13275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063280" y="2494211"/>
            <a:ext cx="3251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800" dirty="0"/>
          </a:p>
        </p:txBody>
      </p:sp>
      <p:pic>
        <p:nvPicPr>
          <p:cNvPr id="13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17020" y="2603401"/>
            <a:ext cx="203200" cy="101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921820" y="2367211"/>
            <a:ext cx="629940" cy="574030"/>
          </a:xfrm>
          <a:prstGeom prst="roundRect">
            <a:avLst>
              <a:gd name="adj" fmla="val 13275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099620" y="2494211"/>
            <a:ext cx="3251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1800" dirty="0"/>
          </a:p>
        </p:txBody>
      </p:sp>
      <p:pic>
        <p:nvPicPr>
          <p:cNvPr id="16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53359" y="2603401"/>
            <a:ext cx="203200" cy="101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958159" y="2367211"/>
            <a:ext cx="629940" cy="574030"/>
          </a:xfrm>
          <a:prstGeom prst="roundRect">
            <a:avLst>
              <a:gd name="adj" fmla="val 13275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5135959" y="2494211"/>
            <a:ext cx="3251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800" dirty="0"/>
          </a:p>
        </p:txBody>
      </p:sp>
      <p:pic>
        <p:nvPicPr>
          <p:cNvPr id="19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89699" y="2603401"/>
            <a:ext cx="203200" cy="1016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994499" y="2367211"/>
            <a:ext cx="629940" cy="574030"/>
          </a:xfrm>
          <a:prstGeom prst="roundRect">
            <a:avLst>
              <a:gd name="adj" fmla="val 13275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6172299" y="2494211"/>
            <a:ext cx="3251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800" dirty="0"/>
          </a:p>
        </p:txBody>
      </p:sp>
      <p:pic>
        <p:nvPicPr>
          <p:cNvPr id="22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6039" y="2603401"/>
            <a:ext cx="203200" cy="101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030839" y="2367211"/>
            <a:ext cx="629940" cy="574030"/>
          </a:xfrm>
          <a:prstGeom prst="roundRect">
            <a:avLst>
              <a:gd name="adj" fmla="val 13275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7208639" y="2494211"/>
            <a:ext cx="3251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800" dirty="0"/>
          </a:p>
        </p:txBody>
      </p:sp>
      <p:pic>
        <p:nvPicPr>
          <p:cNvPr id="25" name="Image 6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62379" y="2603401"/>
            <a:ext cx="203200" cy="101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67179" y="2367211"/>
            <a:ext cx="629940" cy="574030"/>
          </a:xfrm>
          <a:prstGeom prst="roundRect">
            <a:avLst>
              <a:gd name="adj" fmla="val 13275"/>
            </a:avLst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/>
          <p:nvPr/>
        </p:nvSpPr>
        <p:spPr>
          <a:xfrm>
            <a:off x="8244979" y="2494211"/>
            <a:ext cx="3251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800" dirty="0"/>
          </a:p>
        </p:txBody>
      </p:sp>
      <p:sp>
        <p:nvSpPr>
          <p:cNvPr id="28" name="Shape 19"/>
          <p:cNvSpPr/>
          <p:nvPr/>
        </p:nvSpPr>
        <p:spPr>
          <a:xfrm>
            <a:off x="815975" y="3198416"/>
            <a:ext cx="10560050" cy="2640409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1073150" y="4385270"/>
            <a:ext cx="953344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Reminder: at each node, a smaller key goes left, a larger key goes right — keep walking until an empty spot opens up.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INSERT: 17, 19, 13, 26, 14, 18, 21, 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61 — solution</a:t>
            </a:r>
            <a:endParaRPr lang="en-US" sz="2800" dirty="0"/>
          </a:p>
        </p:txBody>
      </p:sp>
      <p:pic>
        <p:nvPicPr>
          <p:cNvPr id="4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24300" y="1620441"/>
            <a:ext cx="381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98900" y="1620441"/>
            <a:ext cx="43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2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200" dirty="0"/>
          </a:p>
        </p:txBody>
      </p:sp>
      <p:pic>
        <p:nvPicPr>
          <p:cNvPr id="6" name="Image 1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2700" y="2541191"/>
            <a:ext cx="38100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7300" y="2541191"/>
            <a:ext cx="43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2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  <p:pic>
        <p:nvPicPr>
          <p:cNvPr id="8" name="Image 2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65900" y="2541191"/>
            <a:ext cx="381000" cy="381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40500" y="2541191"/>
            <a:ext cx="43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2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200" dirty="0"/>
          </a:p>
        </p:txBody>
      </p:sp>
      <p:pic>
        <p:nvPicPr>
          <p:cNvPr id="10" name="Image 3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03500" y="3461941"/>
            <a:ext cx="381000" cy="381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78100" y="3461941"/>
            <a:ext cx="43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2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  <p:pic>
        <p:nvPicPr>
          <p:cNvPr id="12" name="Image 4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45100" y="3461941"/>
            <a:ext cx="381000" cy="381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19700" y="3461941"/>
            <a:ext cx="43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2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  <p:pic>
        <p:nvPicPr>
          <p:cNvPr id="14" name="Image 5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28300" y="3461941"/>
            <a:ext cx="381000" cy="3810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02900" y="3461941"/>
            <a:ext cx="43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2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1200" dirty="0"/>
          </a:p>
        </p:txBody>
      </p:sp>
      <p:pic>
        <p:nvPicPr>
          <p:cNvPr id="16" name="Image 6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6700" y="4382691"/>
            <a:ext cx="381000" cy="3810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861300" y="4382691"/>
            <a:ext cx="43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2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200" dirty="0"/>
          </a:p>
        </p:txBody>
      </p:sp>
      <p:pic>
        <p:nvPicPr>
          <p:cNvPr id="18" name="Image 7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07500" y="5303441"/>
            <a:ext cx="381000" cy="3810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182100" y="5303441"/>
            <a:ext cx="43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2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200" dirty="0"/>
          </a:p>
        </p:txBody>
      </p:sp>
      <p:pic>
        <p:nvPicPr>
          <p:cNvPr id="20" name="Image 8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35100" y="1963341"/>
            <a:ext cx="2717800" cy="615950"/>
          </a:xfrm>
          <a:prstGeom prst="rect">
            <a:avLst/>
          </a:prstGeom>
        </p:spPr>
      </p:pic>
      <p:pic>
        <p:nvPicPr>
          <p:cNvPr id="21" name="Image 9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76700" y="1963341"/>
            <a:ext cx="2717800" cy="615950"/>
          </a:xfrm>
          <a:prstGeom prst="rect">
            <a:avLst/>
          </a:prstGeom>
        </p:spPr>
      </p:pic>
      <p:pic>
        <p:nvPicPr>
          <p:cNvPr id="22" name="Image 10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35100" y="2884091"/>
            <a:ext cx="1397000" cy="615950"/>
          </a:xfrm>
          <a:prstGeom prst="rect">
            <a:avLst/>
          </a:prstGeom>
        </p:spPr>
      </p:pic>
      <p:pic>
        <p:nvPicPr>
          <p:cNvPr id="23" name="Image 11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97500" y="2884091"/>
            <a:ext cx="1397000" cy="615950"/>
          </a:xfrm>
          <a:prstGeom prst="rect">
            <a:avLst/>
          </a:prstGeom>
        </p:spPr>
      </p:pic>
      <p:pic>
        <p:nvPicPr>
          <p:cNvPr id="24" name="Image 12" descr="connector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18300" y="2884091"/>
            <a:ext cx="4038600" cy="615950"/>
          </a:xfrm>
          <a:prstGeom prst="rect">
            <a:avLst/>
          </a:prstGeom>
        </p:spPr>
      </p:pic>
      <p:pic>
        <p:nvPicPr>
          <p:cNvPr id="25" name="Image 13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39100" y="3804841"/>
            <a:ext cx="2717800" cy="615950"/>
          </a:xfrm>
          <a:prstGeom prst="rect">
            <a:avLst/>
          </a:prstGeom>
        </p:spPr>
      </p:pic>
      <p:pic>
        <p:nvPicPr>
          <p:cNvPr id="26" name="Image 14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39100" y="4725591"/>
            <a:ext cx="1397000" cy="615950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AVL tree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Starting from an empty tree, insert these keys in the given order, rebalancing with rotations whenever the AVL property breaks.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7900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6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3840" y="2863751"/>
            <a:ext cx="177800" cy="8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20540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85640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</a:t>
            </a:r>
            <a:endParaRPr lang="en-US" sz="16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61580" y="2863751"/>
            <a:ext cx="177800" cy="889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28280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593380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600" dirty="0"/>
          </a:p>
        </p:txBody>
      </p:sp>
      <p:pic>
        <p:nvPicPr>
          <p:cNvPr id="13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69320" y="2863751"/>
            <a:ext cx="177800" cy="889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36020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3401120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</a:t>
            </a:r>
            <a:endParaRPr lang="en-US" sz="1600" dirty="0"/>
          </a:p>
        </p:txBody>
      </p:sp>
      <p:pic>
        <p:nvPicPr>
          <p:cNvPr id="16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7059" y="2863751"/>
            <a:ext cx="177800" cy="889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043759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208859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600" dirty="0"/>
          </a:p>
        </p:txBody>
      </p:sp>
      <p:pic>
        <p:nvPicPr>
          <p:cNvPr id="19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84799" y="2863751"/>
            <a:ext cx="177800" cy="889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851499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5016599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600" dirty="0"/>
          </a:p>
        </p:txBody>
      </p:sp>
      <p:pic>
        <p:nvPicPr>
          <p:cNvPr id="22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2539" y="2863751"/>
            <a:ext cx="177800" cy="889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659239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5824339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600" dirty="0"/>
          </a:p>
        </p:txBody>
      </p:sp>
      <p:pic>
        <p:nvPicPr>
          <p:cNvPr id="25" name="Image 6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00279" y="2863751"/>
            <a:ext cx="177800" cy="889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466979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/>
          <p:nvPr/>
        </p:nvSpPr>
        <p:spPr>
          <a:xfrm>
            <a:off x="6632079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</a:t>
            </a:r>
            <a:endParaRPr lang="en-US" sz="1600" dirty="0"/>
          </a:p>
        </p:txBody>
      </p:sp>
      <p:pic>
        <p:nvPicPr>
          <p:cNvPr id="28" name="Image 7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08019" y="2863751"/>
            <a:ext cx="177800" cy="8890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274719" y="265167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0"/>
          <p:cNvSpPr/>
          <p:nvPr/>
        </p:nvSpPr>
        <p:spPr>
          <a:xfrm>
            <a:off x="7439819" y="276597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815975" y="3421906"/>
            <a:ext cx="10560050" cy="2416919"/>
          </a:xfrm>
          <a:prstGeom prst="roundRect">
            <a:avLst>
              <a:gd name="adj" fmla="val 4072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2"/>
          <p:cNvSpPr/>
          <p:nvPr/>
        </p:nvSpPr>
        <p:spPr>
          <a:xfrm>
            <a:off x="1073150" y="4496991"/>
            <a:ext cx="915031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each insertion, walk back up to the root. The first node whose balance factor leaves {−1, 0, 1} gets rotated.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INSERT: A, L, G, O, R, I, T, H, 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2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Rotations along the way: L–rotation (at R) → RL–rotation (at I) → L–rotation (at T)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12800" y="13486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62 —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62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129F6-B873-5BD5-FDCD-7B4BB196D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352" y="2644170"/>
            <a:ext cx="5569296" cy="21615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Rotation sequences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101377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distinct keys k₁ &lt; k₂ &lt; k₃ &lt; k₄ &lt; k₅ can be inserted into an empty AVL tree in 120 different orders.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387550"/>
            <a:ext cx="10566400" cy="3454450"/>
          </a:xfrm>
          <a:prstGeom prst="roundRect">
            <a:avLst>
              <a:gd name="adj" fmla="val 4412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2327" y="3515370"/>
            <a:ext cx="438734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B8C0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exactly two of those 120 orders, insertion triggers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50237" y="3865860"/>
            <a:ext cx="7691526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 LR–rotation, then an RL–rotation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80130" y="4465290"/>
            <a:ext cx="22316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B8C0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two orders are they?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63 —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Exactly two orders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753791"/>
            <a:ext cx="5168900" cy="1089620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270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18630" y="2014141"/>
            <a:ext cx="32649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3, 1, 2, 5, 4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203950" y="1753791"/>
            <a:ext cx="5168900" cy="1089620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1270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03430" y="2014141"/>
            <a:ext cx="32649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5, 1, 4, 3, 2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15975" y="3081536"/>
            <a:ext cx="10560050" cy="2757289"/>
          </a:xfrm>
          <a:prstGeom prst="roundRect">
            <a:avLst>
              <a:gd name="adj" fmla="val 357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8550" y="3827760"/>
            <a:ext cx="1029474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without loss of generality on {1, 2, 3, 4, 5}. After three keys are inserted, an AVL tree of three nodes must already be perfectly balanced — so </a:t>
            </a:r>
            <a:r>
              <a:rPr lang="en-US" sz="140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three keys have to trace the "⟨" zig–zag shape that an LR–rotation fixes.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1098550" y="4523680"/>
            <a:ext cx="1029474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remaining two keys must then trace the mirrored "⟩" zig–zag, which an RL–rotation fixes</a:t>
            </a: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Only two orderings of five keys satisfy both shapes in sequence.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2–3 tree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98107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nine keys as problem 62 — but now inserted, in the same order, into an empty 2–3 tree.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7900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6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3840" y="2579291"/>
            <a:ext cx="177800" cy="8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20540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85640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</a:t>
            </a:r>
            <a:endParaRPr lang="en-US" sz="16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61580" y="2579291"/>
            <a:ext cx="177800" cy="889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28280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593380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600" dirty="0"/>
          </a:p>
        </p:txBody>
      </p:sp>
      <p:pic>
        <p:nvPicPr>
          <p:cNvPr id="13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69320" y="2579291"/>
            <a:ext cx="177800" cy="889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36020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3401120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</a:t>
            </a:r>
            <a:endParaRPr lang="en-US" sz="1600" dirty="0"/>
          </a:p>
        </p:txBody>
      </p:sp>
      <p:pic>
        <p:nvPicPr>
          <p:cNvPr id="16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7059" y="2579291"/>
            <a:ext cx="177800" cy="889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043759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208859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600" dirty="0"/>
          </a:p>
        </p:txBody>
      </p:sp>
      <p:pic>
        <p:nvPicPr>
          <p:cNvPr id="19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84799" y="2579291"/>
            <a:ext cx="177800" cy="889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851499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5016599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600" dirty="0"/>
          </a:p>
        </p:txBody>
      </p:sp>
      <p:pic>
        <p:nvPicPr>
          <p:cNvPr id="22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2539" y="2579291"/>
            <a:ext cx="177800" cy="889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659239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5824339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600" dirty="0"/>
          </a:p>
        </p:txBody>
      </p:sp>
      <p:pic>
        <p:nvPicPr>
          <p:cNvPr id="25" name="Image 6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00279" y="2579291"/>
            <a:ext cx="177800" cy="889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466979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/>
          <p:nvPr/>
        </p:nvSpPr>
        <p:spPr>
          <a:xfrm>
            <a:off x="6632079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</a:t>
            </a:r>
            <a:endParaRPr lang="en-US" sz="1600" dirty="0"/>
          </a:p>
        </p:txBody>
      </p:sp>
      <p:pic>
        <p:nvPicPr>
          <p:cNvPr id="28" name="Image 7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08019" y="2579291"/>
            <a:ext cx="177800" cy="8890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274719" y="2367211"/>
            <a:ext cx="452140" cy="513060"/>
          </a:xfrm>
          <a:prstGeom prst="roundRect">
            <a:avLst>
              <a:gd name="adj" fmla="val 16853"/>
            </a:avLst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0"/>
          <p:cNvSpPr/>
          <p:nvPr/>
        </p:nvSpPr>
        <p:spPr>
          <a:xfrm>
            <a:off x="7439819" y="248151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815975" y="3137446"/>
            <a:ext cx="10560050" cy="2701379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2"/>
          <p:cNvSpPr/>
          <p:nvPr/>
        </p:nvSpPr>
        <p:spPr>
          <a:xfrm>
            <a:off x="1073150" y="4354761"/>
            <a:ext cx="83615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balance factors, no rotations — just split an overflowing leaf and push its middle key up, as needed.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INSERT: A, L, G, O, R, I, T, H, 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64 —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19775" y="173156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27390" y="184775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78175" y="312856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5790" y="324475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61375" y="312856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68990" y="324475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24075" y="452556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31690" y="464175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32275" y="4525566"/>
            <a:ext cx="552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9890" y="464175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53275" y="4525566"/>
            <a:ext cx="1060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7400" y="4659561"/>
            <a:ext cx="565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3500" y="4659561"/>
            <a:ext cx="0" cy="284460"/>
          </a:xfrm>
          <a:prstGeom prst="line">
            <a:avLst/>
          </a:prstGeom>
          <a:noFill/>
          <a:ln w="1270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64450" y="4659561"/>
            <a:ext cx="565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61475" y="4525566"/>
            <a:ext cx="1060450" cy="552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45600" y="4659561"/>
            <a:ext cx="565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91700" y="4659561"/>
            <a:ext cx="0" cy="284460"/>
          </a:xfrm>
          <a:prstGeom prst="line">
            <a:avLst/>
          </a:prstGeom>
          <a:noFill/>
          <a:ln w="1270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72650" y="4659561"/>
            <a:ext cx="5651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endParaRPr lang="en-US" sz="1600" dirty="0"/>
          </a:p>
        </p:txBody>
      </p:sp>
      <p:pic>
        <p:nvPicPr>
          <p:cNvPr id="22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16300" y="2255441"/>
            <a:ext cx="2717800" cy="901700"/>
          </a:xfrm>
          <a:prstGeom prst="rect">
            <a:avLst/>
          </a:prstGeom>
        </p:spPr>
      </p:pic>
      <p:pic>
        <p:nvPicPr>
          <p:cNvPr id="23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57900" y="2255441"/>
            <a:ext cx="2717800" cy="901700"/>
          </a:xfrm>
          <a:prstGeom prst="rect">
            <a:avLst/>
          </a:prstGeom>
        </p:spPr>
      </p:pic>
      <p:pic>
        <p:nvPicPr>
          <p:cNvPr id="24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62200" y="3652441"/>
            <a:ext cx="1130300" cy="901700"/>
          </a:xfrm>
          <a:prstGeom prst="rect">
            <a:avLst/>
          </a:prstGeom>
        </p:spPr>
      </p:pic>
      <p:pic>
        <p:nvPicPr>
          <p:cNvPr id="25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16300" y="3652441"/>
            <a:ext cx="1130300" cy="901700"/>
          </a:xfrm>
          <a:prstGeom prst="rect">
            <a:avLst/>
          </a:prstGeom>
        </p:spPr>
      </p:pic>
      <p:pic>
        <p:nvPicPr>
          <p:cNvPr id="26" name="Image 4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45400" y="3652441"/>
            <a:ext cx="1130300" cy="901700"/>
          </a:xfrm>
          <a:prstGeom prst="rect">
            <a:avLst/>
          </a:prstGeom>
        </p:spPr>
      </p:pic>
      <p:pic>
        <p:nvPicPr>
          <p:cNvPr id="27" name="Image 5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99500" y="3652441"/>
            <a:ext cx="1130300" cy="9017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Insertion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50"/>
            <a:ext cx="101377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 2–3 tree by inserting 1, 2, 3, 4, 5 in that order. Then build another by inserting 2, 3, 4, 5, 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3234035"/>
            <a:ext cx="10560050" cy="788640"/>
          </a:xfrm>
          <a:prstGeom prst="roundRect">
            <a:avLst>
              <a:gd name="adj" fmla="val 1248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3150" y="3440410"/>
            <a:ext cx="386110" cy="375890"/>
          </a:xfrm>
          <a:prstGeom prst="roundRect">
            <a:avLst>
              <a:gd name="adj" fmla="val 20272"/>
            </a:avLst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2850" y="3503910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11660" y="3503910"/>
            <a:ext cx="22470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 the two trees identical?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4206825"/>
            <a:ext cx="10560050" cy="788640"/>
          </a:xfrm>
          <a:prstGeom prst="roundRect">
            <a:avLst>
              <a:gd name="adj" fmla="val 1248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3150" y="4413200"/>
            <a:ext cx="386110" cy="375890"/>
          </a:xfrm>
          <a:prstGeom prst="roundRect">
            <a:avLst>
              <a:gd name="adj" fmla="val 20272"/>
            </a:avLst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12850" y="4476700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11660" y="4476700"/>
            <a:ext cx="674284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 all 120 orderings of {1, 2, 3, 4, 5}, how many different 2–3 trees can result?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65 —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different shapes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362200" y="1722041"/>
            <a:ext cx="2197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1, 2, 3, 4,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5275" y="2082056"/>
            <a:ext cx="11874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19400" y="2247801"/>
            <a:ext cx="628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2247801"/>
            <a:ext cx="0" cy="284460"/>
          </a:xfrm>
          <a:prstGeom prst="line">
            <a:avLst/>
          </a:prstGeom>
          <a:noFill/>
          <a:ln w="1270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09950" y="2247801"/>
            <a:ext cx="628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60525" y="360605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07530" y="377180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21025" y="360605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8030" y="377180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81525" y="360605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530" y="377180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00" dirty="0"/>
          </a:p>
        </p:txBody>
      </p:sp>
      <p:pic>
        <p:nvPicPr>
          <p:cNvPr id="15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30400" y="2669431"/>
            <a:ext cx="1536700" cy="965200"/>
          </a:xfrm>
          <a:prstGeom prst="rect">
            <a:avLst/>
          </a:prstGeom>
        </p:spPr>
      </p:pic>
      <p:pic>
        <p:nvPicPr>
          <p:cNvPr id="16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90900" y="2669431"/>
            <a:ext cx="76200" cy="965200"/>
          </a:xfrm>
          <a:prstGeom prst="rect">
            <a:avLst/>
          </a:prstGeom>
        </p:spPr>
      </p:pic>
      <p:pic>
        <p:nvPicPr>
          <p:cNvPr id="17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90900" y="2669431"/>
            <a:ext cx="1536700" cy="965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96200" y="1722041"/>
            <a:ext cx="2197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2, 3, 4, 5, 1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518525" y="2082056"/>
            <a:ext cx="6159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E27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765530" y="2247801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407275" y="3606056"/>
            <a:ext cx="11874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391400" y="3771801"/>
            <a:ext cx="628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001000" y="3771801"/>
            <a:ext cx="0" cy="284460"/>
          </a:xfrm>
          <a:prstGeom prst="line">
            <a:avLst/>
          </a:prstGeom>
          <a:noFill/>
          <a:ln w="1270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981950" y="3771801"/>
            <a:ext cx="628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9058275" y="3606056"/>
            <a:ext cx="1187450" cy="615950"/>
          </a:xfrm>
          <a:prstGeom prst="roundRect">
            <a:avLst>
              <a:gd name="adj" fmla="val 14948"/>
            </a:avLst>
          </a:prstGeom>
          <a:solidFill>
            <a:srgbClr val="FFFFFF"/>
          </a:solidFill>
          <a:ln w="1905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042400" y="3771801"/>
            <a:ext cx="628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9652000" y="3771801"/>
            <a:ext cx="0" cy="284460"/>
          </a:xfrm>
          <a:prstGeom prst="line">
            <a:avLst/>
          </a:prstGeom>
          <a:noFill/>
          <a:ln w="12700">
            <a:solidFill>
              <a:srgbClr val="101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9632950" y="3771801"/>
            <a:ext cx="628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00" dirty="0"/>
          </a:p>
        </p:txBody>
      </p:sp>
      <p:pic>
        <p:nvPicPr>
          <p:cNvPr id="29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62900" y="2669431"/>
            <a:ext cx="901700" cy="965200"/>
          </a:xfrm>
          <a:prstGeom prst="rect">
            <a:avLst/>
          </a:prstGeom>
        </p:spPr>
      </p:pic>
      <p:pic>
        <p:nvPicPr>
          <p:cNvPr id="30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88400" y="2669431"/>
            <a:ext cx="901700" cy="965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4304" y="55931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identical — the same keys, inserted in a different order, build a different tree.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65 —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two trees are possible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22041"/>
            <a:ext cx="1013777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any 2–3 tree, a non–leaf 2–node must have exactly 2 children, and a non–leaf 3–node must have exactly 3. The root of a 5–key tree is either a 2–node or a 3–node — check both.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426196"/>
            <a:ext cx="5175250" cy="3412629"/>
          </a:xfrm>
          <a:prstGeom prst="roundRect">
            <a:avLst>
              <a:gd name="adj" fmla="val 2884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8550" y="2708771"/>
            <a:ext cx="474840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Root is a 2–node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8550" y="3094831"/>
            <a:ext cx="474840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must have 2 children, so it needs one key with exactly 2 keys smaller and 2 keys larger. </a:t>
            </a:r>
            <a:r>
              <a:rPr lang="en-US" sz="130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3 fits</a:t>
            </a:r>
            <a:r>
              <a:rPr lang="en-US" sz="13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1, 2 &lt; 3 &lt; 4, 5. Exactly one tree.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2426196"/>
            <a:ext cx="5175250" cy="3412629"/>
          </a:xfrm>
          <a:prstGeom prst="roundRect">
            <a:avLst>
              <a:gd name="adj" fmla="val 2884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83350" y="2708771"/>
            <a:ext cx="474840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Root is a 3–node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83350" y="3094831"/>
            <a:ext cx="474840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must have 3 children, so its two keys need 1, 2, and 2 keys either side. </a:t>
            </a:r>
            <a:r>
              <a:rPr lang="en-US" sz="130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2, 4 fits</a:t>
            </a:r>
            <a:r>
              <a:rPr lang="en-US" sz="13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1 &lt; 2 &lt; 3 &lt; 4 &lt; 5. Exactly one tree.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Numbers into boxes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350"/>
            <a:ext cx="104648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Given a list of n distinct integers and a row of n boxes with fixed inequality signs between them, design an algorithm that places the numbers into the boxes so every inequality holds.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38910" y="2590750"/>
            <a:ext cx="520700" cy="52070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A9A3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60" y="269106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89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87280" y="2590750"/>
            <a:ext cx="520700" cy="52070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A9A3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03230" y="269106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89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35650" y="2590750"/>
            <a:ext cx="520700" cy="52070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A9A3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51600" y="269106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89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84020" y="2590750"/>
            <a:ext cx="520700" cy="52070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A9A3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99970" y="269106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89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32390" y="2590750"/>
            <a:ext cx="520700" cy="52070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A9A3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8952" y="3244800"/>
            <a:ext cx="30220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example, with the numbers 4, 6, 3, 1, 8: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32560" y="3585121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3065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6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80930" y="3585121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7902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0323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829300" y="3585121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2739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5160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77670" y="3585121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7576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9997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26040" y="3585121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24130" y="3691781"/>
            <a:ext cx="1879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5975" y="4350296"/>
            <a:ext cx="10560050" cy="1488529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7750" y="4970711"/>
            <a:ext cx="80654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instances have several valid placements — we only need an algorithm that is guaranteed to find one.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60 —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 once, then fill greedily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10345"/>
            <a:ext cx="10560050" cy="692150"/>
          </a:xfrm>
          <a:prstGeom prst="roundRect">
            <a:avLst>
              <a:gd name="adj" fmla="val 1422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7750" y="19786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72170" y="2031950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81150" y="2031950"/>
            <a:ext cx="162718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 the n numbers.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2623145"/>
            <a:ext cx="10560050" cy="692150"/>
          </a:xfrm>
          <a:prstGeom prst="roundRect">
            <a:avLst>
              <a:gd name="adj" fmla="val 1422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7750" y="27914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2170" y="2844750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81150" y="2844750"/>
            <a:ext cx="546969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 the boxes left to right, looking at the sign right after each 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435945"/>
            <a:ext cx="10560050" cy="692150"/>
          </a:xfrm>
          <a:prstGeom prst="roundRect">
            <a:avLst>
              <a:gd name="adj" fmla="val 1422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47750" y="36042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2170" y="3657550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81150" y="3657550"/>
            <a:ext cx="64568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"&lt;" follows: remove the </a:t>
            </a:r>
            <a:r>
              <a:rPr lang="en-US" sz="140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smallest</a:t>
            </a: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remaining number and place it in the box.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975" y="4248745"/>
            <a:ext cx="10560050" cy="692150"/>
          </a:xfrm>
          <a:prstGeom prst="roundRect">
            <a:avLst>
              <a:gd name="adj" fmla="val 1422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47750" y="44170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72170" y="4470350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81150" y="4470350"/>
            <a:ext cx="631822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"&gt;" follows: remove the </a:t>
            </a:r>
            <a:r>
              <a:rPr lang="en-US" sz="140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</a:t>
            </a: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remaining number and place it in the box.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5975" y="5061545"/>
            <a:ext cx="10560050" cy="692150"/>
          </a:xfrm>
          <a:prstGeom prst="roundRect">
            <a:avLst>
              <a:gd name="adj" fmla="val 14220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7750" y="52298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72170" y="5283150"/>
            <a:ext cx="157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81150" y="5283150"/>
            <a:ext cx="381178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Place the one number left over in the final box.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27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60 —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works, and how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25216"/>
            <a:ext cx="5461000" cy="4113609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8550" y="2890143"/>
            <a:ext cx="504272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Correctness, by induction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8550" y="3260973"/>
            <a:ext cx="504272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case:</a:t>
            </a:r>
            <a:r>
              <a:rPr lang="en-US" sz="135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one box, one number — trivially correct.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8550" y="3645148"/>
            <a:ext cx="504272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Inductive step:</a:t>
            </a:r>
            <a:r>
              <a:rPr lang="en-US" sz="135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assume the first n−1 boxes are filled correctly. For the last box, we take the overall largest or smallest number still left — so whatever its neighbour holds, </a:t>
            </a:r>
            <a:r>
              <a:rPr lang="en-US" sz="1350" b="1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extreme value satisfies the inequality.</a:t>
            </a:r>
            <a:endParaRPr lang="en-US" sz="1350" b="1" dirty="0"/>
          </a:p>
        </p:txBody>
      </p:sp>
      <p:sp>
        <p:nvSpPr>
          <p:cNvPr id="8" name="Shape 6"/>
          <p:cNvSpPr/>
          <p:nvPr/>
        </p:nvSpPr>
        <p:spPr>
          <a:xfrm>
            <a:off x="6486525" y="1725216"/>
            <a:ext cx="4889500" cy="1983780"/>
          </a:xfrm>
          <a:prstGeom prst="roundRect">
            <a:avLst>
              <a:gd name="adj" fmla="val 4961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18300" y="2181175"/>
            <a:ext cx="455872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8892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O(n²)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718300" y="2790775"/>
            <a:ext cx="455872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55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list is unsorted — finding the min or max costs O(n), done n times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83350" y="3864570"/>
            <a:ext cx="4895850" cy="1977430"/>
          </a:xfrm>
          <a:prstGeom prst="roundRect">
            <a:avLst>
              <a:gd name="adj" fmla="val 5138"/>
            </a:avLst>
          </a:prstGeom>
          <a:solidFill>
            <a:srgbClr val="10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11950" y="4317355"/>
            <a:ext cx="45718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E27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 log n)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711950" y="4926955"/>
            <a:ext cx="45718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8C0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 sorted first — every extraction is then O(1), so the sort dominates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6949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COMP90038 · Tutorial 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892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60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1746</Words>
  <Application>Microsoft Macintosh PowerPoint</Application>
  <PresentationFormat>Widescreen</PresentationFormat>
  <Paragraphs>296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JetBrains Mono</vt:lpstr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COMP90038 Tutorial Week 9</dc:title>
  <dc:subject>PptxGenJS Presentation</dc:subject>
  <dc:creator>PptxGenJS</dc:creator>
  <cp:lastModifiedBy>Kejian Cui</cp:lastModifiedBy>
  <cp:revision>10</cp:revision>
  <dcterms:created xsi:type="dcterms:W3CDTF">2026-09-22T01:35:47Z</dcterms:created>
  <dcterms:modified xsi:type="dcterms:W3CDTF">2026-09-22T05:42:32Z</dcterms:modified>
</cp:coreProperties>
</file>