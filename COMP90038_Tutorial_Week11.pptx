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DCC496-DAA6-47EE-25B2-847AA73E4FC1}">
          <p14:sldIdLst>
            <p14:sldId id="256"/>
            <p14:sldId id="257"/>
            <p14:sldId id="258"/>
          </p14:sldIdLst>
        </p14:section>
        <p14:section name="Q74 Coin row" id="{2670BB3F-B9A2-A2D4-E623-9E76892CB28F}">
          <p14:sldIdLst>
            <p14:sldId id="259"/>
            <p14:sldId id="260"/>
            <p14:sldId id="261"/>
            <p14:sldId id="262"/>
          </p14:sldIdLst>
        </p14:section>
        <p14:section name="Q77 Unbounded knapsack" id="{BD4E6D88-2123-081E-1B06-E9069C8F3A95}">
          <p14:sldIdLst>
            <p14:sldId id="263"/>
            <p14:sldId id="264"/>
            <p14:sldId id="265"/>
            <p14:sldId id="266"/>
            <p14:sldId id="267"/>
          </p14:sldIdLst>
        </p14:section>
        <p14:section name="Q76 Longest path in a DAG" id="{D7FFA22A-DDBB-6577-DA91-56BB225C8393}">
          <p14:sldIdLst>
            <p14:sldId id="268"/>
            <p14:sldId id="269"/>
            <p14:sldId id="270"/>
          </p14:sldIdLst>
        </p14:section>
        <p14:section name="Q75 Reduction (bonus)" id="{3A8D1915-485C-9015-D414-AE403BCBB83A}">
          <p14:sldIdLst>
            <p14:sldId id="273"/>
            <p14:sldId id="274"/>
          </p14:sldIdLst>
        </p14:section>
        <p14:section name="Q78 Warshall" id="{7295A08A-B970-F1C4-C68B-3FEBCA3432AC}">
          <p14:sldIdLst/>
        </p14:section>
        <p14:section name="Wrap-up" id="{B0D18A61-1F15-2A18-41BD-F1428742932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411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week is all dynamic programming: one sequence problem (coin row), one capacity problem (unbounded knapsack), one graph problem (longest path in a DAG), and Warshall's algorithm. The row of numbers on this slide is the answer table for the first question — by the end of Q74 everyone should be able to produce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is a guide for a 50-minute session. Q74, Q77 and Q76 are the core: give students time to try each before revealing. Q78 (Warshall) is a quick walk-through. Q75 (reduction) is a bonus at the end — it uses the Q76 algorithm, so it only makes sense after Q76; skip it if time is short, it previews Week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conditions, then a four-step recipe we'll reuse for every question today. Optimal substructure: an optimal solution is built from optimal solutions to subproblems. Overlapping subproblems: naive recursion solves the same subproblem many times (e.g. coin row recursion is exponential, like Fibonacci). Bottom-up = fill a table in an order where dependencies are already filled; top-down = recursion plus a memo table. Same recurrence, different evaluation order. Ask students at each question: what is the subproblem? That's always the hardest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before Q74. Look at the last coin c_n. Either it's in the optimal selection — then c_(n−1) can't be, and the rest is an optimal solution for the first n−2 coins — or it isn't, and we have an optimal solution for the first n−1 coins. That case split is the whole recurrence. Base cases: S(0) = 0 (no coins), S(1) = c_1. Each S(i) is computed once from two earlier entries, so Θ(n)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3–4 minutes. Encourage them to write the two candidates (skip / take) explicitly for each i rather than doing it in their heads — that's what makes backtracking easy later. Common slip: using S(i−1) + c_i (that would allow adjacent coins).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row by row, asking the class for each pair of candidates. Highlighted cell = the winner. Row 3: taking the second 20 gives 20 + 20 = 40 &lt; 50, so we skip it. Row 7: taking the last 5 gives 60 + 5 = 65 &lt; 75. Answer: S[7] = 75. Note S is non-decreasing — a useful sanity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Backtracking rule: at position i, if S[i] = S[i−1] then coin i wasn't needed — move to i−1. Otherwise coin i was taken — record it and jump to i−2. Trace: S[7] = S[6] → skip 7. S[6] = 75 ≠ 60 → take coin 6, go to 4. S[4] = 55 ≠ 50 → take coin 4, go to 2. S[2] = 50 ≠ 20 → take coin 2, go to 0. Coins 2, 4, 6: 50 + 5 + 20 = 75. Alternative: store a 'took coin i' flag while filling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the lecture's 0/1 knapsack: K(i, w) = best value using only the first i items with capacity w. Two parameters because, once we use item i, it's gone. (Heads-up if anyone saw last year's slides: the recurrence should use the same w throughout — K(i−1, w) and K(i−1, w − w_i) + v_i.) Q77: with unlimited copies, taking item i doesn't change what's available — only the remaining capacity changes. So the subproblem collapses to one parameter. That's the hint in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Derivation: with capacity w, the 'first' item we put in can be any I_i with w_i ≤ w. If it's I_i, the rest of the bag is an optimal bag for capacity w − w_i. Try every item, keep the best. Including 0 in the max covers the case where nothing fits. Running time Θ(nW): W entries, each tries n items. This is pseudo-polynomial — polynomial in the value W, but exponential in the number of bits needed to write W. Worth a one-sentence mention; it comes back in Week 12 (NP-completeness).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4–5 minutes. Suggest students write, for each w, the candidate from each item that fits (11 + V[w−4], 12 + V[w−5], 7 + V[w−3]). Before they start, ask: what would greedy by value/weight ratio do? I1 has the best ratio (2.75), so greedy takes I1 twice (weight 8, value 22) and can't use the last 2 units. Keep that number in mind — we'll beat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column is one capacity; each row is the candidate from one item (blank = item doesn't fit). Highlighted = the maximum, which becomes V[w]. Walk a few columns slowly: w = 3 → only I3 fits: 7. w = 6 → I1: 11+V[2]=11, I2: 12+V[1]=12, I3: 7+V[3]=14 → 14 (two copies of I3). w = 10 → I1: 11+V[6]=25, I2: 12+V[5]=24, I3: 7+V[7]=25 → 25. Ties are fine — either choice gives an optimal bag.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choices back from V[10]: each step subtracts the chosen item's weight. V[10] came from I1; V[6] came from I3; V[3] came from I3. Bag {I₁, I₃, I₃}: weight 4 + 3 + 3 = 10, value 11 + 7 + 7 = 25. Compare with greedy by value/weight ratio: I1 twice = 22. Greedy fails because it can't see that the leftover capacity is wasted. That's exactly why we need DP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question together. Positive weights, not necessarily connected (note the separate g → h component). The claimed answer is 15. Discussion prompts: (1) In a general graph, longest simple path is NP-hard — what does acyclicity buy us? (A topological order, so subproblems have a clear dependency order.) (2) Why can't we negate the weights and run Dijkstra? (Dijkstra needs non-negative weights.) Ask students to find the length-15 path by eye before we build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Subproblem: L[t] = length of the longest path that ends at node t. Any path ending at t is either just t itself (length 0) or a longest path to some predecessor u followed by the edge (u, t). Processing nodes in topological order guarantees every predecessor u is final before t is computed — the DAG version of 'fill in dependency order'. The sample answer's pseudocode checks every u ∈ V for each t, which is Θ(|V|²). With predecessor (incoming-edge) lists it's Θ(|V| + |E|), and the topological sort is also Θ(|V| + |E|). The answer is the max over all L[t], not L of the last node — the longest path can end anywhere (and the graph needn't be connected).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DFS-based topological sort gives g, h, a, c, b, d, e, f (any topological order works). Go row by row: for each node, list its incoming edges and take the best. b: from a gives 3, from c gives 1 + 4 = 5 → 5. e: from d 11 + 2 = 13, from c 1 + 3 = 4 → 13. f: from d 11 + 4 = 15, from e 13 + 1 = 14 → 15. Max over all nodes is L[f] = 15. Following pred pointers back gives the path a → c → b → d →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reduction turns any instance of problem A into an instance of problem B so that solving B solves A. Here A = coin row, B = longest path in a weighted DAG (Q76). Construction: nodes C_0..C_n, where C_j means 'the last coin we took was coin j' and C_0 means 'nothing taken yet'. An edge C_i → C_j (i &lt; j) means 'next coin we take is j', with weight c_j. Legal moves: from C_0 we may take any coin; from C_i (i ≥ 1) we may take any coin j ≥ i + 2 (skip at least the neighbour). Every path from C_0 is a legal selection and its weight is the total value, and vice versa — so the longest path value equals the coin-row optimum. Note: the question mentions unweighted length, but the hint (and the construction) needs edge weights. The graph has Θ(n²) edges, so the reduction itself is polynomial.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first four coins from Q74: 20, 50, 20, 5. Edges into C_4 come from C_0, C_1, C_2 (weight 5); into C_3 from C_0, C_1 (weight 20); into C_2 from C_0 (50); into C_1 from C_0 (20). Longest path: C_0 → C_2 → C_4 = 50 + 5 = 55, which matches S[4] = 55 from our Q74 table. Close by linking forward: next week we'll use reductions the other way round — to show problems are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0632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COMP90038 · Tutorial Week 11 · Dynamic Programming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Dynamic Programming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063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accent6"/>
                </a:solidFill>
              </a:rPr>
              <a:t>COMP90038 Algorithms and Complexity · Tutorial Week 11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Plan for today</a:t>
            </a:r>
            <a:endParaRPr lang="en-US" sz="3200" dirty="0"/>
          </a:p>
        </p:txBody>
      </p:sp>
      <p:sp>
        <p:nvSpPr>
          <p:cNvPr id="4" name="plan-card"/>
          <p:cNvSpPr/>
          <p:nvPr/>
        </p:nvSpPr>
        <p:spPr>
          <a:xfrm>
            <a:off x="548640" y="1508760"/>
            <a:ext cx="2057400" cy="4343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chip"/>
          <p:cNvSpPr/>
          <p:nvPr/>
        </p:nvSpPr>
        <p:spPr>
          <a:xfrm>
            <a:off x="777240" y="1783080"/>
            <a:ext cx="9144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783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row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Fill S[i] for a concrete row of coins, then backtrack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212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≈ 12 min</a:t>
            </a:r>
            <a:endParaRPr lang="en-US" sz="1800" dirty="0"/>
          </a:p>
        </p:txBody>
      </p:sp>
      <p:sp>
        <p:nvSpPr>
          <p:cNvPr id="10" name="plan-card"/>
          <p:cNvSpPr/>
          <p:nvPr/>
        </p:nvSpPr>
        <p:spPr>
          <a:xfrm>
            <a:off x="2798064" y="1508760"/>
            <a:ext cx="2057400" cy="4343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chip"/>
          <p:cNvSpPr/>
          <p:nvPr/>
        </p:nvSpPr>
        <p:spPr>
          <a:xfrm>
            <a:off x="3026664" y="1783080"/>
            <a:ext cx="9144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026664" y="1783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Q77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026664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Unbounded knapsack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026664" y="333756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Design the recurrence when items can repeat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026664" y="5212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≈ 15 min</a:t>
            </a:r>
            <a:endParaRPr lang="en-US" sz="1800" dirty="0"/>
          </a:p>
        </p:txBody>
      </p:sp>
      <p:sp>
        <p:nvSpPr>
          <p:cNvPr id="16" name="plan-card"/>
          <p:cNvSpPr/>
          <p:nvPr/>
        </p:nvSpPr>
        <p:spPr>
          <a:xfrm>
            <a:off x="5047488" y="1508760"/>
            <a:ext cx="2057400" cy="4343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hip"/>
          <p:cNvSpPr/>
          <p:nvPr/>
        </p:nvSpPr>
        <p:spPr>
          <a:xfrm>
            <a:off x="5276088" y="1783080"/>
            <a:ext cx="9144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276088" y="1783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Q76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276088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Longest path in a DAG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276088" y="333756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DP over a topological order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76088" y="5212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≈ 15 min</a:t>
            </a:r>
            <a:endParaRPr lang="en-US" sz="1800" dirty="0"/>
          </a:p>
        </p:txBody>
      </p:sp>
      <p:sp>
        <p:nvSpPr>
          <p:cNvPr id="22" name="plan-card"/>
          <p:cNvSpPr/>
          <p:nvPr/>
        </p:nvSpPr>
        <p:spPr>
          <a:xfrm>
            <a:off x="7296912" y="1508760"/>
            <a:ext cx="2057400" cy="4343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chip"/>
          <p:cNvSpPr/>
          <p:nvPr/>
        </p:nvSpPr>
        <p:spPr>
          <a:xfrm>
            <a:off x="7525512" y="1783080"/>
            <a:ext cx="9144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525512" y="1783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Q78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25512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Warshall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525512" y="333756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Transitive closure by row-OR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525512" y="5212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≈ 6 min</a:t>
            </a:r>
            <a:endParaRPr lang="en-US" sz="1800" dirty="0"/>
          </a:p>
        </p:txBody>
      </p:sp>
      <p:sp>
        <p:nvSpPr>
          <p:cNvPr id="28" name="plan-card"/>
          <p:cNvSpPr/>
          <p:nvPr/>
        </p:nvSpPr>
        <p:spPr>
          <a:xfrm>
            <a:off x="9546336" y="1508760"/>
            <a:ext cx="2057400" cy="4343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chip"/>
          <p:cNvSpPr/>
          <p:nvPr/>
        </p:nvSpPr>
        <p:spPr>
          <a:xfrm>
            <a:off x="9774936" y="1783080"/>
            <a:ext cx="914400" cy="42062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9774936" y="1783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774936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 (bonus)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774936" y="333756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Coin row as a longest-path problem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774936" y="5212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if time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When does DP apply, and how do we build one?</a:t>
            </a:r>
            <a:endParaRPr lang="en-US" sz="3200" dirty="0"/>
          </a:p>
        </p:txBody>
      </p:sp>
      <p:sp>
        <p:nvSpPr>
          <p:cNvPr id="4" name="cond1"/>
          <p:cNvSpPr/>
          <p:nvPr/>
        </p:nvSpPr>
        <p:spPr>
          <a:xfrm>
            <a:off x="548640" y="1463040"/>
            <a:ext cx="4206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62763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Optimal substructure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Optimal answer = best combination of optimal sub-answers</a:t>
            </a:r>
            <a:endParaRPr lang="en-US" sz="1500" dirty="0"/>
          </a:p>
        </p:txBody>
      </p:sp>
      <p:sp>
        <p:nvSpPr>
          <p:cNvPr id="6" name="cond2"/>
          <p:cNvSpPr/>
          <p:nvPr/>
        </p:nvSpPr>
        <p:spPr>
          <a:xfrm>
            <a:off x="548640" y="2880360"/>
            <a:ext cx="4206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304495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Overlapping subproblems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Plain recursion re-solves the same subproblem many times</a:t>
            </a:r>
            <a:endParaRPr lang="en-US" sz="1500" dirty="0"/>
          </a:p>
        </p:txBody>
      </p:sp>
      <p:sp>
        <p:nvSpPr>
          <p:cNvPr id="8" name="styles"/>
          <p:cNvSpPr/>
          <p:nvPr/>
        </p:nvSpPr>
        <p:spPr>
          <a:xfrm>
            <a:off x="548640" y="4297680"/>
            <a:ext cx="42062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44805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Both hold → dynamic programming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Bottom-up: </a:t>
            </a:r>
            <a:r>
              <a:rPr lang="en-US" sz="1500" b="1" dirty="0">
                <a:solidFill>
                  <a:schemeClr val="bg1"/>
                </a:solidFill>
              </a:rPr>
              <a:t>fill a table </a:t>
            </a:r>
            <a:r>
              <a:rPr lang="en-US" sz="1500" dirty="0">
                <a:solidFill>
                  <a:schemeClr val="bg1"/>
                </a:solidFill>
              </a:rPr>
              <a:t>in dependency order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Top-down: recursion + memoisation</a:t>
            </a:r>
            <a:endParaRPr lang="en-US" sz="1500" dirty="0"/>
          </a:p>
        </p:txBody>
      </p:sp>
      <p:sp>
        <p:nvSpPr>
          <p:cNvPr id="10" name="step-dot"/>
          <p:cNvSpPr/>
          <p:nvPr/>
        </p:nvSpPr>
        <p:spPr>
          <a:xfrm>
            <a:off x="5257800" y="1572768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257800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step-link"/>
          <p:cNvSpPr/>
          <p:nvPr/>
        </p:nvSpPr>
        <p:spPr>
          <a:xfrm>
            <a:off x="5586984" y="2267712"/>
            <a:ext cx="914" cy="3931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172200" y="1554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Define the subproblem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What does one table entry mean, in words?</a:t>
            </a:r>
            <a:endParaRPr lang="en-US" sz="1500" dirty="0"/>
          </a:p>
        </p:txBody>
      </p:sp>
      <p:sp>
        <p:nvSpPr>
          <p:cNvPr id="14" name="step-dot"/>
          <p:cNvSpPr/>
          <p:nvPr/>
        </p:nvSpPr>
        <p:spPr>
          <a:xfrm>
            <a:off x="5257800" y="269748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257800" y="2697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step-link"/>
          <p:cNvSpPr/>
          <p:nvPr/>
        </p:nvSpPr>
        <p:spPr>
          <a:xfrm>
            <a:off x="5586984" y="3392424"/>
            <a:ext cx="914" cy="3931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172200" y="26791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Write the recurrence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How does an entry depend on smaller ones?</a:t>
            </a:r>
            <a:endParaRPr lang="en-US" sz="1500" dirty="0"/>
          </a:p>
        </p:txBody>
      </p:sp>
      <p:sp>
        <p:nvSpPr>
          <p:cNvPr id="18" name="step-dot"/>
          <p:cNvSpPr/>
          <p:nvPr/>
        </p:nvSpPr>
        <p:spPr>
          <a:xfrm>
            <a:off x="5257800" y="38221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257800" y="3822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step-link"/>
          <p:cNvSpPr/>
          <p:nvPr/>
        </p:nvSpPr>
        <p:spPr>
          <a:xfrm>
            <a:off x="5586984" y="4517136"/>
            <a:ext cx="914" cy="39319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172200" y="380390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Base cases and fill order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Fill so every dependency is ready first</a:t>
            </a:r>
            <a:endParaRPr lang="en-US" sz="1500" dirty="0"/>
          </a:p>
        </p:txBody>
      </p:sp>
      <p:sp>
        <p:nvSpPr>
          <p:cNvPr id="22" name="step-dot"/>
          <p:cNvSpPr/>
          <p:nvPr/>
        </p:nvSpPr>
        <p:spPr>
          <a:xfrm>
            <a:off x="5257800" y="4946904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257800" y="49469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492861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Recover the solution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Backtrack through the table (or store choices)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Coin row: take the last coin, or don't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Pick coins from a row to maximise the total, never taking two neighbours.</a:t>
            </a:r>
            <a:endParaRPr lang="en-US" sz="1800" dirty="0"/>
          </a:p>
        </p:txBody>
      </p:sp>
      <p:sp>
        <p:nvSpPr>
          <p:cNvPr id="7" name="node-c_{1}"/>
          <p:cNvSpPr/>
          <p:nvPr/>
        </p:nvSpPr>
        <p:spPr>
          <a:xfrm>
            <a:off x="813816" y="2002536"/>
            <a:ext cx="658368" cy="65836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13816" y="2002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6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node-c_{2}"/>
          <p:cNvSpPr/>
          <p:nvPr/>
        </p:nvSpPr>
        <p:spPr>
          <a:xfrm>
            <a:off x="1682496" y="2002536"/>
            <a:ext cx="658368" cy="65836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682496" y="2002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6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5"/>
                </a:solidFill>
              </a:rPr>
              <a:t>…</a:t>
            </a:r>
            <a:endParaRPr lang="en-US" sz="2400" dirty="0"/>
          </a:p>
        </p:txBody>
      </p:sp>
      <p:sp>
        <p:nvSpPr>
          <p:cNvPr id="12" name="node-c_{n−2}"/>
          <p:cNvSpPr/>
          <p:nvPr/>
        </p:nvSpPr>
        <p:spPr>
          <a:xfrm>
            <a:off x="3419856" y="2002536"/>
            <a:ext cx="658368" cy="65836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419856" y="2002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6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n−2</a:t>
            </a:r>
            <a:endParaRPr lang="en-US" sz="1600" dirty="0"/>
          </a:p>
        </p:txBody>
      </p:sp>
      <p:sp>
        <p:nvSpPr>
          <p:cNvPr id="14" name="node-c_{n−1}"/>
          <p:cNvSpPr/>
          <p:nvPr/>
        </p:nvSpPr>
        <p:spPr>
          <a:xfrm>
            <a:off x="4288536" y="2002536"/>
            <a:ext cx="658368" cy="65836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288536" y="2002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6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n−1</a:t>
            </a:r>
            <a:endParaRPr lang="en-US" sz="1600" dirty="0"/>
          </a:p>
        </p:txBody>
      </p:sp>
      <p:sp>
        <p:nvSpPr>
          <p:cNvPr id="16" name="node-c_{n}"/>
          <p:cNvSpPr/>
          <p:nvPr/>
        </p:nvSpPr>
        <p:spPr>
          <a:xfrm>
            <a:off x="5157216" y="2002536"/>
            <a:ext cx="658368" cy="6583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157216" y="2002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6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18" name="case-take"/>
          <p:cNvSpPr/>
          <p:nvPr/>
        </p:nvSpPr>
        <p:spPr>
          <a:xfrm>
            <a:off x="548640" y="3108960"/>
            <a:ext cx="51206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77240" y="32735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Take c</a:t>
            </a:r>
            <a:r>
              <a:rPr lang="en-US" sz="1900" b="1" baseline="-40000" dirty="0">
                <a:solidFill>
                  <a:schemeClr val="accent4"/>
                </a:solidFill>
              </a:rPr>
              <a:t>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then c</a:t>
            </a:r>
            <a:r>
              <a:rPr lang="en-US" sz="1700" baseline="-40000" dirty="0">
                <a:solidFill>
                  <a:schemeClr val="tx1"/>
                </a:solidFill>
              </a:rPr>
              <a:t>n−1</a:t>
            </a:r>
            <a:r>
              <a:rPr lang="en-US" sz="1700" dirty="0">
                <a:solidFill>
                  <a:schemeClr val="tx1"/>
                </a:solidFill>
              </a:rPr>
              <a:t> is off-limits:  S(n−2) + c</a:t>
            </a:r>
            <a:r>
              <a:rPr lang="en-US" sz="1700" baseline="-40000" dirty="0">
                <a:solidFill>
                  <a:schemeClr val="tx1"/>
                </a:solidFill>
              </a:rPr>
              <a:t>n</a:t>
            </a:r>
            <a:endParaRPr lang="en-US" sz="1700" dirty="0"/>
          </a:p>
        </p:txBody>
      </p:sp>
      <p:sp>
        <p:nvSpPr>
          <p:cNvPr id="20" name="case-skip"/>
          <p:cNvSpPr/>
          <p:nvPr/>
        </p:nvSpPr>
        <p:spPr>
          <a:xfrm>
            <a:off x="548640" y="4617720"/>
            <a:ext cx="51206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77240" y="478231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Skip c</a:t>
            </a:r>
            <a:r>
              <a:rPr lang="en-US" sz="1900" b="1" baseline="-40000" dirty="0">
                <a:solidFill>
                  <a:schemeClr val="accent1"/>
                </a:solidFill>
              </a:rPr>
              <a:t>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best of the first n−1 coins:  S(n−1)</a:t>
            </a:r>
            <a:endParaRPr lang="en-US" sz="1700" dirty="0"/>
          </a:p>
        </p:txBody>
      </p:sp>
      <p:sp>
        <p:nvSpPr>
          <p:cNvPr id="22" name="formula"/>
          <p:cNvSpPr/>
          <p:nvPr/>
        </p:nvSpPr>
        <p:spPr>
          <a:xfrm>
            <a:off x="6126480" y="3108960"/>
            <a:ext cx="5532120" cy="1325880"/>
          </a:xfrm>
          <a:prstGeom prst="roundRect">
            <a:avLst>
              <a:gd name="adj" fmla="val 82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355080" y="31089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S(n) = max( S(n−1),  S(n−2) + c</a:t>
            </a:r>
            <a:r>
              <a:rPr lang="en-US" sz="24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en-US" sz="2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endParaRPr lang="en-US" sz="2400" dirty="0"/>
          </a:p>
        </p:txBody>
      </p:sp>
      <p:sp>
        <p:nvSpPr>
          <p:cNvPr id="24" name="base-cases"/>
          <p:cNvSpPr/>
          <p:nvPr/>
        </p:nvSpPr>
        <p:spPr>
          <a:xfrm>
            <a:off x="6126480" y="4617720"/>
            <a:ext cx="55321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355080" y="478231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Base cases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S(0) = 0,   S(1) = c</a:t>
            </a:r>
            <a:r>
              <a:rPr lang="en-US" sz="1700" baseline="-40000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     ·      Time Θ(n), space Θ(n)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Q74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Q74</a:t>
            </a:r>
            <a:endParaRPr lang="en-US" sz="1600" dirty="0"/>
          </a:p>
        </p:txBody>
      </p:sp>
      <p:sp>
        <p:nvSpPr>
          <p:cNvPr id="6" name="chip"/>
          <p:cNvSpPr/>
          <p:nvPr/>
        </p:nvSpPr>
        <p:spPr>
          <a:xfrm>
            <a:off x="548640" y="1371600"/>
            <a:ext cx="1463040" cy="42062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Your turn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Solve the coin-row instance  20, 50, 20, 5, 10, 20, 5  with the bottom-up algorithm. Which coins are picked?</a:t>
            </a:r>
            <a:endParaRPr lang="en-US" sz="1800" dirty="0"/>
          </a:p>
        </p:txBody>
      </p:sp>
      <p:sp>
        <p:nvSpPr>
          <p:cNvPr id="9" name="node-20"/>
          <p:cNvSpPr/>
          <p:nvPr/>
        </p:nvSpPr>
        <p:spPr>
          <a:xfrm>
            <a:off x="2752344" y="2313432"/>
            <a:ext cx="768096" cy="768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752344" y="2313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862072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node-50"/>
          <p:cNvSpPr/>
          <p:nvPr/>
        </p:nvSpPr>
        <p:spPr>
          <a:xfrm>
            <a:off x="3922776" y="2313432"/>
            <a:ext cx="768096" cy="768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922776" y="2313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032504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node-20"/>
          <p:cNvSpPr/>
          <p:nvPr/>
        </p:nvSpPr>
        <p:spPr>
          <a:xfrm>
            <a:off x="5093208" y="2313432"/>
            <a:ext cx="768096" cy="768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093208" y="2313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node-5"/>
          <p:cNvSpPr/>
          <p:nvPr/>
        </p:nvSpPr>
        <p:spPr>
          <a:xfrm>
            <a:off x="6263640" y="2313432"/>
            <a:ext cx="768096" cy="768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263640" y="2313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373368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node-10"/>
          <p:cNvSpPr/>
          <p:nvPr/>
        </p:nvSpPr>
        <p:spPr>
          <a:xfrm>
            <a:off x="7434072" y="2313432"/>
            <a:ext cx="768096" cy="768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434072" y="2313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node-20"/>
          <p:cNvSpPr/>
          <p:nvPr/>
        </p:nvSpPr>
        <p:spPr>
          <a:xfrm>
            <a:off x="8604504" y="2313432"/>
            <a:ext cx="768096" cy="768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8604504" y="2313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714232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node-5"/>
          <p:cNvSpPr/>
          <p:nvPr/>
        </p:nvSpPr>
        <p:spPr>
          <a:xfrm>
            <a:off x="9774936" y="2313432"/>
            <a:ext cx="768096" cy="768096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9774936" y="2313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884664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7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840480"/>
          <a:ext cx="9235440" cy="1700784"/>
        </p:xfrm>
        <a:graphic>
          <a:graphicData uri="http://schemas.openxmlformats.org/drawingml/2006/table">
            <a:tbl>
              <a:tblPr/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C[i]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S[i]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1463040" y="57150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S[i] = max( S[i−1], S[i−2] + C[i] ),   S[0] = 0,   S[1] = C[1]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Q74 · Filling the table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Q74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45262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C[i]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skip: S[i−1]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take: S[i−2] + C[i]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S[i]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+ 20 = 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+ 50 = 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+ 20 = 40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+ 5 = 55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+ 10 = 60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+ 20 = 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+ 5 = 65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answer"/>
          <p:cNvSpPr/>
          <p:nvPr/>
        </p:nvSpPr>
        <p:spPr>
          <a:xfrm>
            <a:off x="8595360" y="1371600"/>
            <a:ext cx="306324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8595360" y="15544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66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2834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maximum total  =  S[7]</a:t>
            </a:r>
            <a:endParaRPr lang="en-US" sz="1600" dirty="0"/>
          </a:p>
        </p:txBody>
      </p:sp>
      <p:sp>
        <p:nvSpPr>
          <p:cNvPr id="10" name="sanity"/>
          <p:cNvSpPr/>
          <p:nvPr/>
        </p:nvSpPr>
        <p:spPr>
          <a:xfrm>
            <a:off x="8595360" y="3977640"/>
            <a:ext cx="3063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8823960" y="41605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Sanity checks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 never decreases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row looks back only two entries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Q74 · Which coins? Backtrack from the end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Q74</a:t>
            </a:r>
            <a:endParaRPr lang="en-US" sz="1600" dirty="0"/>
          </a:p>
        </p:txBody>
      </p:sp>
      <p:sp>
        <p:nvSpPr>
          <p:cNvPr id="6" name="node-20"/>
          <p:cNvSpPr/>
          <p:nvPr/>
        </p:nvSpPr>
        <p:spPr>
          <a:xfrm>
            <a:off x="777240" y="1463040"/>
            <a:ext cx="914400" cy="9144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coin 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 = 20</a:t>
            </a:r>
            <a:endParaRPr lang="en-US" sz="1400" dirty="0"/>
          </a:p>
        </p:txBody>
      </p:sp>
      <p:sp>
        <p:nvSpPr>
          <p:cNvPr id="10" name="node-50"/>
          <p:cNvSpPr/>
          <p:nvPr/>
        </p:nvSpPr>
        <p:spPr>
          <a:xfrm>
            <a:off x="2240280" y="1463040"/>
            <a:ext cx="914400" cy="9144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2402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coin 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 = 50</a:t>
            </a:r>
            <a:endParaRPr lang="en-US" sz="1400" dirty="0"/>
          </a:p>
        </p:txBody>
      </p:sp>
      <p:sp>
        <p:nvSpPr>
          <p:cNvPr id="14" name="node-20"/>
          <p:cNvSpPr/>
          <p:nvPr/>
        </p:nvSpPr>
        <p:spPr>
          <a:xfrm>
            <a:off x="3703320" y="1463040"/>
            <a:ext cx="914400" cy="9144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7033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coin 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61188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 = 50</a:t>
            </a:r>
            <a:endParaRPr lang="en-US" sz="1400" dirty="0"/>
          </a:p>
        </p:txBody>
      </p:sp>
      <p:sp>
        <p:nvSpPr>
          <p:cNvPr id="18" name="node-5"/>
          <p:cNvSpPr/>
          <p:nvPr/>
        </p:nvSpPr>
        <p:spPr>
          <a:xfrm>
            <a:off x="5166360" y="1463040"/>
            <a:ext cx="914400" cy="9144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1663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coin 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 = 55</a:t>
            </a:r>
            <a:endParaRPr lang="en-US" sz="1400" dirty="0"/>
          </a:p>
        </p:txBody>
      </p:sp>
      <p:sp>
        <p:nvSpPr>
          <p:cNvPr id="22" name="node-10"/>
          <p:cNvSpPr/>
          <p:nvPr/>
        </p:nvSpPr>
        <p:spPr>
          <a:xfrm>
            <a:off x="6629400" y="1463040"/>
            <a:ext cx="914400" cy="9144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62940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coin 5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 = 60</a:t>
            </a:r>
            <a:endParaRPr lang="en-US" sz="1400" dirty="0"/>
          </a:p>
        </p:txBody>
      </p:sp>
      <p:sp>
        <p:nvSpPr>
          <p:cNvPr id="26" name="node-20"/>
          <p:cNvSpPr/>
          <p:nvPr/>
        </p:nvSpPr>
        <p:spPr>
          <a:xfrm>
            <a:off x="8092440" y="1463040"/>
            <a:ext cx="914400" cy="9144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0924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coin 6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00100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 = 75</a:t>
            </a:r>
            <a:endParaRPr lang="en-US" sz="1400" dirty="0"/>
          </a:p>
        </p:txBody>
      </p:sp>
      <p:sp>
        <p:nvSpPr>
          <p:cNvPr id="30" name="node-5"/>
          <p:cNvSpPr/>
          <p:nvPr/>
        </p:nvSpPr>
        <p:spPr>
          <a:xfrm>
            <a:off x="9555480" y="1463040"/>
            <a:ext cx="914400" cy="9144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95554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946404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coin 7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464040" y="2724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 = 75</a:t>
            </a:r>
            <a:endParaRPr lang="en-US" sz="1400" dirty="0"/>
          </a:p>
        </p:txBody>
      </p:sp>
      <p:sp>
        <p:nvSpPr>
          <p:cNvPr id="34" name="trace-row"/>
          <p:cNvSpPr/>
          <p:nvPr/>
        </p:nvSpPr>
        <p:spPr>
          <a:xfrm>
            <a:off x="548640" y="3429000"/>
            <a:ext cx="6949440" cy="493776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31520" y="342900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= 7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737360" y="342900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S[7] = S[6] = 75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4800600" y="342900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skip coin 7</a:t>
            </a:r>
            <a:endParaRPr lang="en-US" sz="1600" dirty="0"/>
          </a:p>
        </p:txBody>
      </p:sp>
      <p:sp>
        <p:nvSpPr>
          <p:cNvPr id="38" name="trace-row"/>
          <p:cNvSpPr/>
          <p:nvPr/>
        </p:nvSpPr>
        <p:spPr>
          <a:xfrm>
            <a:off x="548640" y="4032504"/>
            <a:ext cx="694944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731520" y="403250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= 6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737360" y="403250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S[6] = 75 ≠ S[5] = 60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800600" y="40325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take coin 6 → jump to 4</a:t>
            </a:r>
            <a:endParaRPr lang="en-US" sz="1600" dirty="0"/>
          </a:p>
        </p:txBody>
      </p:sp>
      <p:sp>
        <p:nvSpPr>
          <p:cNvPr id="42" name="trace-row"/>
          <p:cNvSpPr/>
          <p:nvPr/>
        </p:nvSpPr>
        <p:spPr>
          <a:xfrm>
            <a:off x="548640" y="4636008"/>
            <a:ext cx="6949440" cy="493776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731520" y="46360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= 4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1737360" y="463600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S[4] = 55 ≠ S[3] = 50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4800600" y="463600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take coin 4 → jump to 2</a:t>
            </a:r>
            <a:endParaRPr lang="en-US" sz="1600" dirty="0"/>
          </a:p>
        </p:txBody>
      </p:sp>
      <p:sp>
        <p:nvSpPr>
          <p:cNvPr id="46" name="trace-row"/>
          <p:cNvSpPr/>
          <p:nvPr/>
        </p:nvSpPr>
        <p:spPr>
          <a:xfrm>
            <a:off x="548640" y="5239512"/>
            <a:ext cx="694944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731520" y="523951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= 2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1737360" y="523951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S[2] = 50 ≠ S[1] = 20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4800600" y="523951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take coin 2 → jump to 0</a:t>
            </a:r>
            <a:endParaRPr lang="en-US" sz="1600" dirty="0"/>
          </a:p>
        </p:txBody>
      </p:sp>
      <p:sp>
        <p:nvSpPr>
          <p:cNvPr id="50" name="rule"/>
          <p:cNvSpPr/>
          <p:nvPr/>
        </p:nvSpPr>
        <p:spPr>
          <a:xfrm>
            <a:off x="7955280" y="3429000"/>
            <a:ext cx="3703320" cy="2304288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8183880" y="36118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Backtracking rule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S[i] = S[i−1]  →  coin i not used, go to i−1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otherwise  →  take coin i, go to i−2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Coins 2, 4, 6:  50 + 5 + 20 = 75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0/1 knapsack vs. unlimited copies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Q77</a:t>
            </a:r>
            <a:endParaRPr lang="en-US" sz="1600" dirty="0"/>
          </a:p>
        </p:txBody>
      </p:sp>
      <p:sp>
        <p:nvSpPr>
          <p:cNvPr id="6" name="zero-one"/>
          <p:cNvSpPr/>
          <p:nvPr/>
        </p:nvSpPr>
        <p:spPr>
          <a:xfrm>
            <a:off x="548640" y="1417320"/>
            <a:ext cx="53492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645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0/1 knapsack (lecture)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Each item used at most once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50017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K(i, w): best value from the first i items, capacity w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K(i, w) = max( </a:t>
            </a: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K(i−1, w)</a:t>
            </a: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</a:t>
            </a: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K(i−1, w − w</a:t>
            </a:r>
            <a:r>
              <a:rPr lang="en-US" sz="1600" b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v</a:t>
            </a:r>
            <a:r>
              <a:rPr lang="en-US" sz="16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   if w</a:t>
            </a:r>
            <a:r>
              <a:rPr lang="en-US" sz="1600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w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K(i, w) = K(i−1, w)   otherwise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Table: (n+1) × (W+1)  →  Θ(nW)</a:t>
            </a:r>
            <a:endParaRPr lang="en-US" sz="1600" dirty="0"/>
          </a:p>
        </p:txBody>
      </p:sp>
      <p:sp>
        <p:nvSpPr>
          <p:cNvPr id="9" name="compare-arrow"/>
          <p:cNvSpPr/>
          <p:nvPr/>
        </p:nvSpPr>
        <p:spPr>
          <a:xfrm>
            <a:off x="6053328" y="3172968"/>
            <a:ext cx="374904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unbounded"/>
          <p:cNvSpPr/>
          <p:nvPr/>
        </p:nvSpPr>
        <p:spPr>
          <a:xfrm>
            <a:off x="6583680" y="1417320"/>
            <a:ext cx="507492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858000" y="1645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Unlimited copies (Q77)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Each item can be picked again and again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6060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After picking I</a:t>
            </a:r>
            <a:r>
              <a:rPr lang="en-US" sz="1700" baseline="-40000" dirty="0">
                <a:solidFill>
                  <a:schemeClr val="bg1"/>
                </a:solidFill>
              </a:rPr>
              <a:t>i</a:t>
            </a:r>
            <a:r>
              <a:rPr lang="en-US" sz="1700" dirty="0">
                <a:solidFill>
                  <a:schemeClr val="bg1"/>
                </a:solidFill>
              </a:rPr>
              <a:t>, the same items are still available.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Only the remaining capacity changed.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So the subproblem needs one parameter: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V(w) = best value with capacity w</a:t>
            </a:r>
            <a:endParaRPr lang="en-US" sz="1700" dirty="0"/>
          </a:p>
        </p:txBody>
      </p:sp>
      <p:sp>
        <p:nvSpPr>
          <p:cNvPr id="13" name="formula"/>
          <p:cNvSpPr/>
          <p:nvPr/>
        </p:nvSpPr>
        <p:spPr>
          <a:xfrm>
            <a:off x="548640" y="5212080"/>
            <a:ext cx="1110996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521208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2-D table K(i, w)   →   1-D table V(w):   one entry per capacity, each tries all n items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Q77 · Recurrence and algorithm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Q77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548640" y="1371600"/>
            <a:ext cx="1110996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V(w) = max( v</a:t>
            </a:r>
            <a:r>
              <a:rPr lang="en-US" sz="22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V(w − w</a:t>
            </a:r>
            <a:r>
              <a:rPr lang="en-US" sz="22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 |  1 ≤ i ≤ n,  w</a:t>
            </a:r>
            <a:r>
              <a:rPr lang="en-US" sz="22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≤ w ),     V(0) = 0</a:t>
            </a:r>
            <a:endParaRPr lang="en-US" sz="2200" dirty="0"/>
          </a:p>
        </p:txBody>
      </p:sp>
      <p:sp>
        <p:nvSpPr>
          <p:cNvPr id="8" name="code-card"/>
          <p:cNvSpPr/>
          <p:nvPr/>
        </p:nvSpPr>
        <p:spPr>
          <a:xfrm>
            <a:off x="548640" y="2697480"/>
            <a:ext cx="731520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2898648"/>
            <a:ext cx="67665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V[0] ← 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 ← 1 to W do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V[w] ← 0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← 1 to n do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w_i ≤ w and v_i + V[w − w_i] &gt; V[w] then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V[w] ← v_i + V[w − w_i]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choice[w] ← i     // remember it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V[W]</a:t>
            </a:r>
            <a:endParaRPr lang="en-US" sz="1600" dirty="0"/>
          </a:p>
        </p:txBody>
      </p:sp>
      <p:sp>
        <p:nvSpPr>
          <p:cNvPr id="10" name="complexity"/>
          <p:cNvSpPr/>
          <p:nvPr/>
        </p:nvSpPr>
        <p:spPr>
          <a:xfrm>
            <a:off x="8229600" y="2697480"/>
            <a:ext cx="34290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458200" y="2880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Time Θ(nW)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Space Θ(W)</a:t>
            </a:r>
            <a:endParaRPr lang="en-US" sz="1800" dirty="0"/>
          </a:p>
        </p:txBody>
      </p:sp>
      <p:sp>
        <p:nvSpPr>
          <p:cNvPr id="12" name="think"/>
          <p:cNvSpPr/>
          <p:nvPr/>
        </p:nvSpPr>
        <p:spPr>
          <a:xfrm>
            <a:off x="8229600" y="4343400"/>
            <a:ext cx="3429000" cy="1554480"/>
          </a:xfrm>
          <a:prstGeom prst="roundRect">
            <a:avLst>
              <a:gd name="adj" fmla="val 7059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458200" y="450799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Think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Why is W in the running time a catch? (pseudo-polynomial)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Q77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Q77</a:t>
            </a:r>
            <a:endParaRPr lang="en-US" sz="1600" dirty="0"/>
          </a:p>
        </p:txBody>
      </p:sp>
      <p:sp>
        <p:nvSpPr>
          <p:cNvPr id="6" name="chip"/>
          <p:cNvSpPr/>
          <p:nvPr/>
        </p:nvSpPr>
        <p:spPr>
          <a:xfrm>
            <a:off x="548640" y="1371600"/>
            <a:ext cx="1463040" cy="42062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Your turn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371600"/>
            <a:ext cx="9418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Capacity W = 10. Fill V[0..10] left to right and find the best bag.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3840480" cy="2011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I₁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I₃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hint"/>
          <p:cNvSpPr/>
          <p:nvPr/>
        </p:nvSpPr>
        <p:spPr>
          <a:xfrm>
            <a:off x="4846320" y="2148840"/>
            <a:ext cx="68122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7"/>
          <p:cNvSpPr txBox="1"/>
          <p:nvPr/>
        </p:nvSpPr>
        <p:spPr>
          <a:xfrm>
            <a:off x="5074920" y="23317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For each w, </a:t>
            </a:r>
            <a:r>
              <a:rPr lang="en-US" sz="1600" b="1" u="sng" dirty="0">
                <a:solidFill>
                  <a:schemeClr val="tx2"/>
                </a:solidFill>
              </a:rPr>
              <a:t>try every item that fits</a:t>
            </a:r>
            <a:r>
              <a:rPr lang="en-US" sz="1600" b="1" dirty="0">
                <a:solidFill>
                  <a:schemeClr val="tx2"/>
                </a:solidFill>
              </a:rPr>
              <a:t>: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+ V[w − 4],   12 + V[w − 5],   7 + V[w − 3]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V[w] is the largest of these (or 0 if nothing fits).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100816" cy="113385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V[w]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Q77 · Filling V[w]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Q77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050" cy="30175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54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I₁: 11 + V[w−4]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I₂: 12 + V[w−5]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I₃: 7 + V[w−3]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V[w]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w6"/>
          <p:cNvSpPr/>
          <p:nvPr/>
        </p:nvSpPr>
        <p:spPr>
          <a:xfrm>
            <a:off x="548640" y="4754880"/>
            <a:ext cx="53949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777240" y="491032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 = 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max(11 + V[2], 12 + V[1], 7 + V[3]) = max(11, 12, 14) = 14</a:t>
            </a:r>
            <a:endParaRPr lang="en-US" sz="1600" dirty="0"/>
          </a:p>
        </p:txBody>
      </p:sp>
      <p:sp>
        <p:nvSpPr>
          <p:cNvPr id="9" name="w10"/>
          <p:cNvSpPr/>
          <p:nvPr/>
        </p:nvSpPr>
        <p:spPr>
          <a:xfrm>
            <a:off x="6263640" y="4754880"/>
            <a:ext cx="53949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492240" y="491032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 = 10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max(11 + V[6], 12 + V[5], 7 + V[7]) = max(25, 24, 25) = 25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Q77 · Recovering the bag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Q77</a:t>
            </a:r>
            <a:endParaRPr lang="en-US" sz="1600" dirty="0"/>
          </a:p>
        </p:txBody>
      </p:sp>
      <p:sp>
        <p:nvSpPr>
          <p:cNvPr id="6" name="chain-box"/>
          <p:cNvSpPr/>
          <p:nvPr/>
        </p:nvSpPr>
        <p:spPr>
          <a:xfrm>
            <a:off x="548640" y="160020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accent6"/>
                </a:solidFill>
              </a:rPr>
              <a:t>V[10]</a:t>
            </a:r>
            <a:endParaRPr lang="en-US" sz="1600" dirty="0"/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600" dirty="0"/>
          </a:p>
        </p:txBody>
      </p:sp>
      <p:sp>
        <p:nvSpPr>
          <p:cNvPr id="8" name="chain-arrow"/>
          <p:cNvSpPr/>
          <p:nvPr/>
        </p:nvSpPr>
        <p:spPr>
          <a:xfrm>
            <a:off x="2194560" y="2258568"/>
            <a:ext cx="457200" cy="914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chip"/>
          <p:cNvSpPr/>
          <p:nvPr/>
        </p:nvSpPr>
        <p:spPr>
          <a:xfrm>
            <a:off x="2075688" y="3108960"/>
            <a:ext cx="68580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075688" y="31089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I₁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075688" y="3547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−4</a:t>
            </a:r>
            <a:endParaRPr lang="en-US" sz="1400" dirty="0"/>
          </a:p>
        </p:txBody>
      </p:sp>
      <p:sp>
        <p:nvSpPr>
          <p:cNvPr id="12" name="chain-box"/>
          <p:cNvSpPr/>
          <p:nvPr/>
        </p:nvSpPr>
        <p:spPr>
          <a:xfrm>
            <a:off x="2697480" y="160020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697480" y="16916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accent6"/>
                </a:solidFill>
              </a:rPr>
              <a:t>V[6]</a:t>
            </a:r>
            <a:endParaRPr lang="en-US" sz="1600" dirty="0"/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14" name="chain-arrow"/>
          <p:cNvSpPr/>
          <p:nvPr/>
        </p:nvSpPr>
        <p:spPr>
          <a:xfrm>
            <a:off x="4343400" y="2258568"/>
            <a:ext cx="457200" cy="914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chip"/>
          <p:cNvSpPr/>
          <p:nvPr/>
        </p:nvSpPr>
        <p:spPr>
          <a:xfrm>
            <a:off x="4224528" y="3108960"/>
            <a:ext cx="68580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224528" y="31089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I₃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224528" y="3547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−3</a:t>
            </a:r>
            <a:endParaRPr lang="en-US" sz="1400" dirty="0"/>
          </a:p>
        </p:txBody>
      </p:sp>
      <p:sp>
        <p:nvSpPr>
          <p:cNvPr id="18" name="chain-box"/>
          <p:cNvSpPr/>
          <p:nvPr/>
        </p:nvSpPr>
        <p:spPr>
          <a:xfrm>
            <a:off x="4846320" y="160020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846320" y="16916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accent6"/>
                </a:solidFill>
              </a:rPr>
              <a:t>V[3]</a:t>
            </a:r>
            <a:endParaRPr lang="en-US" sz="1600" dirty="0"/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0" name="chain-arrow"/>
          <p:cNvSpPr/>
          <p:nvPr/>
        </p:nvSpPr>
        <p:spPr>
          <a:xfrm>
            <a:off x="6492240" y="2258568"/>
            <a:ext cx="457200" cy="914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chip"/>
          <p:cNvSpPr/>
          <p:nvPr/>
        </p:nvSpPr>
        <p:spPr>
          <a:xfrm>
            <a:off x="6373368" y="3108960"/>
            <a:ext cx="68580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373368" y="31089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I₃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373368" y="3547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−3</a:t>
            </a:r>
            <a:endParaRPr lang="en-US" sz="1400" dirty="0"/>
          </a:p>
        </p:txBody>
      </p:sp>
      <p:sp>
        <p:nvSpPr>
          <p:cNvPr id="24" name="chain-box"/>
          <p:cNvSpPr/>
          <p:nvPr/>
        </p:nvSpPr>
        <p:spPr>
          <a:xfrm>
            <a:off x="6995160" y="160020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995160" y="16916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accent5"/>
                </a:solidFill>
              </a:rPr>
              <a:t>V[0]</a:t>
            </a:r>
            <a:endParaRPr lang="en-US" sz="1600" dirty="0"/>
          </a:p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bag"/>
          <p:cNvSpPr/>
          <p:nvPr/>
        </p:nvSpPr>
        <p:spPr>
          <a:xfrm>
            <a:off x="9235440" y="1600200"/>
            <a:ext cx="2423160" cy="2240280"/>
          </a:xfrm>
          <a:prstGeom prst="roundRect">
            <a:avLst>
              <a:gd name="adj" fmla="val 489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9235440" y="173736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Optimal bag</a:t>
            </a:r>
            <a:endParaRPr lang="en-US" sz="1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I₁, I₃, I₃</a:t>
            </a:r>
            <a:endParaRPr lang="en-US" sz="1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value 25, weight 10</a:t>
            </a:r>
            <a:endParaRPr lang="en-US" sz="1600" dirty="0"/>
          </a:p>
        </p:txBody>
      </p:sp>
      <p:sp>
        <p:nvSpPr>
          <p:cNvPr id="28" name="store-choice"/>
          <p:cNvSpPr/>
          <p:nvPr/>
        </p:nvSpPr>
        <p:spPr>
          <a:xfrm>
            <a:off x="548640" y="4206240"/>
            <a:ext cx="548640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77240" y="43891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Recovering the solution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Record choice[w] while filling. Then from w = W, repeatedly subtract the chosen item's weight until no item was chosen.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Q76 · Longest path in a weighted DAG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Q76</a:t>
            </a:r>
            <a:endParaRPr lang="en-US" sz="1600" dirty="0"/>
          </a:p>
        </p:txBody>
      </p:sp>
      <p:sp>
        <p:nvSpPr>
          <p:cNvPr id="6" name="edge-a-b"/>
          <p:cNvSpPr/>
          <p:nvPr/>
        </p:nvSpPr>
        <p:spPr>
          <a:xfrm flipV="1">
            <a:off x="1131833" y="1961486"/>
            <a:ext cx="977103" cy="75161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157630" y="1956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edge-a-c"/>
          <p:cNvSpPr/>
          <p:nvPr/>
        </p:nvSpPr>
        <p:spPr>
          <a:xfrm>
            <a:off x="1131833" y="3047616"/>
            <a:ext cx="977103" cy="75161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157630" y="34930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edge-c-b"/>
          <p:cNvSpPr/>
          <p:nvPr/>
        </p:nvSpPr>
        <p:spPr>
          <a:xfrm flipV="1">
            <a:off x="2340864" y="2075688"/>
            <a:ext cx="914" cy="162763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331720" y="27249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edge-b-d"/>
          <p:cNvSpPr/>
          <p:nvPr/>
        </p:nvSpPr>
        <p:spPr>
          <a:xfrm>
            <a:off x="2615184" y="1783080"/>
            <a:ext cx="1188720" cy="91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990088" y="13642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edge-d-e"/>
          <p:cNvSpPr/>
          <p:nvPr/>
        </p:nvSpPr>
        <p:spPr>
          <a:xfrm>
            <a:off x="4096512" y="2057400"/>
            <a:ext cx="914" cy="162763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648456" y="27249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edge-c-e"/>
          <p:cNvSpPr/>
          <p:nvPr/>
        </p:nvSpPr>
        <p:spPr>
          <a:xfrm>
            <a:off x="2615184" y="3977640"/>
            <a:ext cx="1188720" cy="91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2990088" y="4085539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edge-d-f"/>
          <p:cNvSpPr/>
          <p:nvPr/>
        </p:nvSpPr>
        <p:spPr>
          <a:xfrm>
            <a:off x="4313945" y="1950336"/>
            <a:ext cx="977103" cy="75161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822546" y="1956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edge-e-f"/>
          <p:cNvSpPr/>
          <p:nvPr/>
        </p:nvSpPr>
        <p:spPr>
          <a:xfrm flipV="1">
            <a:off x="4313945" y="3058766"/>
            <a:ext cx="977103" cy="751618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822546" y="34930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edge-g-h"/>
          <p:cNvSpPr/>
          <p:nvPr/>
        </p:nvSpPr>
        <p:spPr>
          <a:xfrm>
            <a:off x="7114032" y="2880360"/>
            <a:ext cx="969264" cy="91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79208" y="246156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9</a:t>
            </a:r>
            <a:endParaRPr lang="en-US" sz="1600" dirty="0"/>
          </a:p>
        </p:txBody>
      </p:sp>
      <p:sp>
        <p:nvSpPr>
          <p:cNvPr id="24" name="node-a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26" name="node-b"/>
          <p:cNvSpPr/>
          <p:nvPr/>
        </p:nvSpPr>
        <p:spPr>
          <a:xfrm>
            <a:off x="2066544" y="150876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06654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28" name="node-c"/>
          <p:cNvSpPr/>
          <p:nvPr/>
        </p:nvSpPr>
        <p:spPr>
          <a:xfrm>
            <a:off x="2066544" y="370332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2066544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30" name="node-d"/>
          <p:cNvSpPr/>
          <p:nvPr/>
        </p:nvSpPr>
        <p:spPr>
          <a:xfrm>
            <a:off x="3822192" y="150876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382219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32" name="node-e"/>
          <p:cNvSpPr/>
          <p:nvPr/>
        </p:nvSpPr>
        <p:spPr>
          <a:xfrm>
            <a:off x="3822192" y="370332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3822192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34" name="node-f"/>
          <p:cNvSpPr/>
          <p:nvPr/>
        </p:nvSpPr>
        <p:spPr>
          <a:xfrm>
            <a:off x="5248656" y="260604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248656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36" name="node-g"/>
          <p:cNvSpPr/>
          <p:nvPr/>
        </p:nvSpPr>
        <p:spPr>
          <a:xfrm>
            <a:off x="6565392" y="260604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656539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38" name="node-h"/>
          <p:cNvSpPr/>
          <p:nvPr/>
        </p:nvSpPr>
        <p:spPr>
          <a:xfrm>
            <a:off x="8101584" y="260604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8101584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40" name="facts"/>
          <p:cNvSpPr/>
          <p:nvPr/>
        </p:nvSpPr>
        <p:spPr>
          <a:xfrm>
            <a:off x="900684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9235440" y="16459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Given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Weights all positive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 necessarily connected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Longest path here: 15</a:t>
            </a:r>
            <a:endParaRPr lang="en-US" sz="1500" dirty="0"/>
          </a:p>
        </p:txBody>
      </p:sp>
      <p:sp>
        <p:nvSpPr>
          <p:cNvPr id="42" name="questions"/>
          <p:cNvSpPr/>
          <p:nvPr/>
        </p:nvSpPr>
        <p:spPr>
          <a:xfrm>
            <a:off x="548640" y="4572000"/>
            <a:ext cx="111099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22960" y="4727448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Before the algorithm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Which path has length 15?   ·   Why would cycles break everything?   ·   Why not negate weights and run Dijkstra?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Q76 · Subproblem: </a:t>
            </a:r>
            <a:r>
              <a:rPr lang="en-US" sz="3200" b="1" u="sng" dirty="0">
                <a:solidFill>
                  <a:schemeClr val="tx2"/>
                </a:solidFill>
              </a:rPr>
              <a:t>longest path ending at t</a:t>
            </a:r>
            <a:endParaRPr lang="en-US" sz="3200" u="sng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Q76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548640" y="137160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L[t] = max( {0} ∪ { L[u] + weight(u, t)  |  (u, t) ∈ E } )</a:t>
            </a:r>
            <a:endParaRPr lang="en-US" sz="2300" dirty="0"/>
          </a:p>
        </p:txBody>
      </p:sp>
      <p:sp>
        <p:nvSpPr>
          <p:cNvPr id="8" name="code-card"/>
          <p:cNvSpPr/>
          <p:nvPr/>
        </p:nvSpPr>
        <p:spPr>
          <a:xfrm>
            <a:off x="548640" y="2651760"/>
            <a:ext cx="67665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fact"/>
          <p:cNvSpPr/>
          <p:nvPr/>
        </p:nvSpPr>
        <p:spPr>
          <a:xfrm>
            <a:off x="7635240" y="2651760"/>
            <a:ext cx="402336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63840" y="2761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</a:t>
            </a:r>
            <a:r>
              <a:rPr lang="en-US" sz="1500" b="1" u="sng" dirty="0">
                <a:solidFill>
                  <a:schemeClr val="tx2"/>
                </a:solidFill>
              </a:rPr>
              <a:t>topological order</a:t>
            </a:r>
            <a:r>
              <a:rPr lang="en-US" sz="1500" b="1" dirty="0">
                <a:solidFill>
                  <a:schemeClr val="tx2"/>
                </a:solidFill>
              </a:rPr>
              <a:t>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Every u with (u, t) ∈ E is finished before t.</a:t>
            </a:r>
            <a:endParaRPr lang="en-US" sz="1500" dirty="0"/>
          </a:p>
        </p:txBody>
      </p:sp>
      <p:sp>
        <p:nvSpPr>
          <p:cNvPr id="12" name="fact"/>
          <p:cNvSpPr/>
          <p:nvPr/>
        </p:nvSpPr>
        <p:spPr>
          <a:xfrm>
            <a:off x="7635240" y="3767328"/>
            <a:ext cx="402336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863840" y="387705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max over all t?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longest path can end at any node.</a:t>
            </a:r>
            <a:endParaRPr lang="en-US" sz="1500" dirty="0"/>
          </a:p>
        </p:txBody>
      </p:sp>
      <p:sp>
        <p:nvSpPr>
          <p:cNvPr id="14" name="fact"/>
          <p:cNvSpPr/>
          <p:nvPr/>
        </p:nvSpPr>
        <p:spPr>
          <a:xfrm>
            <a:off x="7635240" y="4882896"/>
            <a:ext cx="4023360" cy="978408"/>
          </a:xfrm>
          <a:prstGeom prst="roundRect">
            <a:avLst>
              <a:gd name="adj" fmla="val 11215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863840" y="49926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Θ(|V| + |E|) with incoming-edge lists.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ED5C6-6768-E4D7-F6DD-3EDB26C22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2743200"/>
            <a:ext cx="5088305" cy="30266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Q76 · Trace in topological order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Q76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309360" cy="427939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incoming candidates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L[t]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(source)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g: 0 + 9 = 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(source)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0 + 1 =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0 + 3 = 3   c: 1 + 4 =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5 + 6 = 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11 + 2 = 13   c: 1 + 3 =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11 + 4 = 15   e: 13 + 1 = 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edge-a-b"/>
          <p:cNvSpPr/>
          <p:nvPr/>
        </p:nvSpPr>
        <p:spPr>
          <a:xfrm flipV="1">
            <a:off x="7520371" y="1962605"/>
            <a:ext cx="439271" cy="33790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7387895" y="18516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edge-a-c"/>
          <p:cNvSpPr/>
          <p:nvPr/>
        </p:nvSpPr>
        <p:spPr>
          <a:xfrm>
            <a:off x="7520371" y="2545814"/>
            <a:ext cx="439271" cy="337901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7387895" y="26837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edge-c-b"/>
          <p:cNvSpPr/>
          <p:nvPr/>
        </p:nvSpPr>
        <p:spPr>
          <a:xfrm flipV="1">
            <a:off x="8133588" y="2048256"/>
            <a:ext cx="914" cy="768096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023860" y="2267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edge-b-d"/>
          <p:cNvSpPr/>
          <p:nvPr/>
        </p:nvSpPr>
        <p:spPr>
          <a:xfrm>
            <a:off x="8334756" y="1828800"/>
            <a:ext cx="530352" cy="914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8380476" y="153070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6</a:t>
            </a:r>
            <a:endParaRPr lang="en-US" sz="1300" dirty="0"/>
          </a:p>
        </p:txBody>
      </p:sp>
      <p:sp>
        <p:nvSpPr>
          <p:cNvPr id="15" name="edge-d-e"/>
          <p:cNvSpPr/>
          <p:nvPr/>
        </p:nvSpPr>
        <p:spPr>
          <a:xfrm>
            <a:off x="9084564" y="2029968"/>
            <a:ext cx="914" cy="76809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2"/>
          <p:cNvSpPr txBox="1"/>
          <p:nvPr/>
        </p:nvSpPr>
        <p:spPr>
          <a:xfrm>
            <a:off x="8737092" y="2267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edge-c-e"/>
          <p:cNvSpPr/>
          <p:nvPr/>
        </p:nvSpPr>
        <p:spPr>
          <a:xfrm>
            <a:off x="8334756" y="3017520"/>
            <a:ext cx="530352" cy="91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8380476" y="300471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edge-d-f"/>
          <p:cNvSpPr/>
          <p:nvPr/>
        </p:nvSpPr>
        <p:spPr>
          <a:xfrm>
            <a:off x="9244015" y="1951454"/>
            <a:ext cx="439271" cy="337901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9373057" y="18516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edge-e-f"/>
          <p:cNvSpPr/>
          <p:nvPr/>
        </p:nvSpPr>
        <p:spPr>
          <a:xfrm flipV="1">
            <a:off x="9244015" y="2556965"/>
            <a:ext cx="439271" cy="33790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9373057" y="26837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edge-g-h"/>
          <p:cNvSpPr/>
          <p:nvPr/>
        </p:nvSpPr>
        <p:spPr>
          <a:xfrm>
            <a:off x="10771632" y="2423160"/>
            <a:ext cx="411480" cy="91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10757916" y="212506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9</a:t>
            </a:r>
            <a:endParaRPr lang="en-US" sz="1300" dirty="0"/>
          </a:p>
        </p:txBody>
      </p:sp>
      <p:sp>
        <p:nvSpPr>
          <p:cNvPr id="25" name="node-a"/>
          <p:cNvSpPr/>
          <p:nvPr/>
        </p:nvSpPr>
        <p:spPr>
          <a:xfrm>
            <a:off x="7159752" y="2221992"/>
            <a:ext cx="402336" cy="40233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7159752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node-b"/>
          <p:cNvSpPr/>
          <p:nvPr/>
        </p:nvSpPr>
        <p:spPr>
          <a:xfrm>
            <a:off x="7932420" y="1627632"/>
            <a:ext cx="402336" cy="40233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793242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29" name="node-c"/>
          <p:cNvSpPr/>
          <p:nvPr/>
        </p:nvSpPr>
        <p:spPr>
          <a:xfrm>
            <a:off x="7932420" y="2816352"/>
            <a:ext cx="402336" cy="40233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793242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31" name="node-d"/>
          <p:cNvSpPr/>
          <p:nvPr/>
        </p:nvSpPr>
        <p:spPr>
          <a:xfrm>
            <a:off x="8883396" y="1627632"/>
            <a:ext cx="402336" cy="40233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8883396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node-e"/>
          <p:cNvSpPr/>
          <p:nvPr/>
        </p:nvSpPr>
        <p:spPr>
          <a:xfrm>
            <a:off x="8883396" y="281635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8883396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00" dirty="0"/>
          </a:p>
        </p:txBody>
      </p:sp>
      <p:sp>
        <p:nvSpPr>
          <p:cNvPr id="35" name="node-f"/>
          <p:cNvSpPr/>
          <p:nvPr/>
        </p:nvSpPr>
        <p:spPr>
          <a:xfrm>
            <a:off x="9656064" y="2221992"/>
            <a:ext cx="402336" cy="40233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9656064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400" dirty="0"/>
          </a:p>
        </p:txBody>
      </p:sp>
      <p:sp>
        <p:nvSpPr>
          <p:cNvPr id="37" name="node-g"/>
          <p:cNvSpPr/>
          <p:nvPr/>
        </p:nvSpPr>
        <p:spPr>
          <a:xfrm>
            <a:off x="10369296" y="222199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 txBox="1"/>
          <p:nvPr/>
        </p:nvSpPr>
        <p:spPr>
          <a:xfrm>
            <a:off x="10369296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00" dirty="0"/>
          </a:p>
        </p:txBody>
      </p:sp>
      <p:sp>
        <p:nvSpPr>
          <p:cNvPr id="39" name="node-h"/>
          <p:cNvSpPr/>
          <p:nvPr/>
        </p:nvSpPr>
        <p:spPr>
          <a:xfrm>
            <a:off x="11201400" y="222199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1120140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400" dirty="0"/>
          </a:p>
        </p:txBody>
      </p:sp>
      <p:sp>
        <p:nvSpPr>
          <p:cNvPr id="41" name="result"/>
          <p:cNvSpPr/>
          <p:nvPr/>
        </p:nvSpPr>
        <p:spPr>
          <a:xfrm>
            <a:off x="7269480" y="3886200"/>
            <a:ext cx="43891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7498080" y="4069080"/>
            <a:ext cx="3931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Longest path = 15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bg1"/>
                </a:solidFill>
              </a:rPr>
              <a:t>a → c → b → d → f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Store pred[t] to recover the path</a:t>
            </a:r>
            <a:endParaRPr lang="en-US" sz="16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Q75 · Coin row as a longest path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Q75</a:t>
            </a:r>
            <a:endParaRPr lang="en-US" sz="1600" dirty="0"/>
          </a:p>
        </p:txBody>
      </p:sp>
      <p:sp>
        <p:nvSpPr>
          <p:cNvPr id="14" name="reduction-step"/>
          <p:cNvSpPr/>
          <p:nvPr/>
        </p:nvSpPr>
        <p:spPr>
          <a:xfrm>
            <a:off x="548640" y="4032504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403250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834640" y="4032504"/>
            <a:ext cx="8641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Paths from C</a:t>
            </a:r>
            <a:r>
              <a:rPr lang="en-US" sz="1700" baseline="-40000" dirty="0">
                <a:solidFill>
                  <a:schemeClr val="tx1"/>
                </a:solidFill>
              </a:rPr>
              <a:t>0</a:t>
            </a:r>
            <a:r>
              <a:rPr lang="en-US" sz="1700" dirty="0">
                <a:solidFill>
                  <a:schemeClr val="tx1"/>
                </a:solidFill>
              </a:rPr>
              <a:t> ↔ legal selections, and path weight = sum of the coins picked.</a:t>
            </a:r>
            <a:endParaRPr lang="en-US" sz="1700" dirty="0"/>
          </a:p>
        </p:txBody>
      </p:sp>
      <p:sp>
        <p:nvSpPr>
          <p:cNvPr id="17" name="reduction-step"/>
          <p:cNvSpPr/>
          <p:nvPr/>
        </p:nvSpPr>
        <p:spPr>
          <a:xfrm>
            <a:off x="548640" y="5020056"/>
            <a:ext cx="11109960" cy="841248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502005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834640" y="5020056"/>
            <a:ext cx="8641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Run the Q76 algorithm (the nodes are already in topological order). Longest path = S(n).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65949F-23E9-F534-39EA-F82285DCC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82" y="1170432"/>
            <a:ext cx="9715875" cy="2788920"/>
          </a:xfrm>
          <a:prstGeom prst="rect">
            <a:avLst/>
          </a:prstGeom>
        </p:spPr>
      </p:pic>
      <p:sp>
        <p:nvSpPr>
          <p:cNvPr id="20" name="Cloud Callout 19">
            <a:extLst>
              <a:ext uri="{FF2B5EF4-FFF2-40B4-BE49-F238E27FC236}">
                <a16:creationId xmlns:a16="http://schemas.microsoft.com/office/drawing/2014/main" id="{904E906B-ECD6-4583-A86F-7AA0243C3FBA}"/>
              </a:ext>
            </a:extLst>
          </p:cNvPr>
          <p:cNvSpPr/>
          <p:nvPr/>
        </p:nvSpPr>
        <p:spPr>
          <a:xfrm>
            <a:off x="6103619" y="3118104"/>
            <a:ext cx="1891863" cy="841248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(C1, C2)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Q75 · Example with the first four coins</a:t>
            </a:r>
            <a:endParaRPr lang="en-US" sz="3200" dirty="0"/>
          </a:p>
        </p:txBody>
      </p:sp>
      <p:sp>
        <p:nvSpPr>
          <p:cNvPr id="4" name="question-tag"/>
          <p:cNvSpPr/>
          <p:nvPr/>
        </p:nvSpPr>
        <p:spPr>
          <a:xfrm>
            <a:off x="10543032" y="475488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43032" y="475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Q75</a:t>
            </a:r>
            <a:endParaRPr lang="en-US" sz="1600" dirty="0"/>
          </a:p>
        </p:txBody>
      </p:sp>
      <p:sp>
        <p:nvSpPr>
          <p:cNvPr id="6" name="edge-0-1"/>
          <p:cNvSpPr/>
          <p:nvPr/>
        </p:nvSpPr>
        <p:spPr>
          <a:xfrm flipV="1">
            <a:off x="1433344" y="1879020"/>
            <a:ext cx="1141846" cy="824667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600200" y="1947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20</a:t>
            </a:r>
            <a:endParaRPr lang="en-US" sz="1600" dirty="0"/>
          </a:p>
        </p:txBody>
      </p:sp>
      <p:sp>
        <p:nvSpPr>
          <p:cNvPr id="8" name="edge-0-2"/>
          <p:cNvSpPr/>
          <p:nvPr/>
        </p:nvSpPr>
        <p:spPr>
          <a:xfrm>
            <a:off x="1433344" y="3057033"/>
            <a:ext cx="1141846" cy="824667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581912" y="35021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50</a:t>
            </a:r>
            <a:endParaRPr lang="en-US" sz="1600" dirty="0"/>
          </a:p>
        </p:txBody>
      </p:sp>
      <p:sp>
        <p:nvSpPr>
          <p:cNvPr id="10" name="edge-0-3"/>
          <p:cNvSpPr/>
          <p:nvPr/>
        </p:nvSpPr>
        <p:spPr>
          <a:xfrm flipV="1">
            <a:off x="1474227" y="1795233"/>
            <a:ext cx="2886403" cy="98745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461918" y="207020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20</a:t>
            </a:r>
            <a:endParaRPr lang="en-US" sz="1600" dirty="0"/>
          </a:p>
        </p:txBody>
      </p:sp>
      <p:sp>
        <p:nvSpPr>
          <p:cNvPr id="12" name="edge-1-3"/>
          <p:cNvSpPr/>
          <p:nvPr/>
        </p:nvSpPr>
        <p:spPr>
          <a:xfrm>
            <a:off x="3136392" y="1691640"/>
            <a:ext cx="1207008" cy="91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520440" y="13167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20</a:t>
            </a:r>
            <a:endParaRPr lang="en-US" sz="1600" dirty="0"/>
          </a:p>
        </p:txBody>
      </p:sp>
      <p:sp>
        <p:nvSpPr>
          <p:cNvPr id="14" name="edge-0-4"/>
          <p:cNvSpPr/>
          <p:nvPr/>
        </p:nvSpPr>
        <p:spPr>
          <a:xfrm>
            <a:off x="1474227" y="2978033"/>
            <a:ext cx="2886403" cy="98745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461918" y="337962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6" name="edge-1-4"/>
          <p:cNvSpPr/>
          <p:nvPr/>
        </p:nvSpPr>
        <p:spPr>
          <a:xfrm>
            <a:off x="3018621" y="1930816"/>
            <a:ext cx="1449687" cy="1884593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703320" y="26791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edge-2-4"/>
          <p:cNvSpPr/>
          <p:nvPr/>
        </p:nvSpPr>
        <p:spPr>
          <a:xfrm>
            <a:off x="3136392" y="4069080"/>
            <a:ext cx="1207008" cy="914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3520440" y="41330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node-C_{0}"/>
          <p:cNvSpPr/>
          <p:nvPr/>
        </p:nvSpPr>
        <p:spPr>
          <a:xfrm>
            <a:off x="886968" y="2578608"/>
            <a:ext cx="603504" cy="6035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86968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7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22" name="node-C_{1}"/>
          <p:cNvSpPr/>
          <p:nvPr/>
        </p:nvSpPr>
        <p:spPr>
          <a:xfrm>
            <a:off x="2532888" y="1389888"/>
            <a:ext cx="603504" cy="6035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2532888" y="1389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700" i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4" name="node-C_{2}"/>
          <p:cNvSpPr/>
          <p:nvPr/>
        </p:nvSpPr>
        <p:spPr>
          <a:xfrm>
            <a:off x="2532888" y="3767328"/>
            <a:ext cx="603504" cy="6035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2532888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7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6" name="node-C_{3}"/>
          <p:cNvSpPr/>
          <p:nvPr/>
        </p:nvSpPr>
        <p:spPr>
          <a:xfrm>
            <a:off x="4361688" y="1389888"/>
            <a:ext cx="603504" cy="6035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361688" y="13898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700" i="1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8" name="node-C_{4}"/>
          <p:cNvSpPr/>
          <p:nvPr/>
        </p:nvSpPr>
        <p:spPr>
          <a:xfrm>
            <a:off x="4361688" y="3767328"/>
            <a:ext cx="603504" cy="6035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4361688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1700" i="1" baseline="-4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074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coins  c₁..c₄ = 20, 50, 20, 5</a:t>
            </a:r>
            <a:endParaRPr lang="en-US" sz="1600" dirty="0"/>
          </a:p>
        </p:txBody>
      </p:sp>
      <p:sp>
        <p:nvSpPr>
          <p:cNvPr id="31" name="match"/>
          <p:cNvSpPr/>
          <p:nvPr/>
        </p:nvSpPr>
        <p:spPr>
          <a:xfrm>
            <a:off x="6766560" y="1417320"/>
            <a:ext cx="4892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040880" y="16002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Longest path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C₀ → C₂ → C₄ = 50 + 5 = 55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= S[4] in the Q74 table ✓</a:t>
            </a:r>
            <a:endParaRPr lang="en-US" sz="1600" dirty="0"/>
          </a:p>
        </p:txBody>
      </p:sp>
      <p:sp>
        <p:nvSpPr>
          <p:cNvPr id="33" name="edge-rule"/>
          <p:cNvSpPr/>
          <p:nvPr/>
        </p:nvSpPr>
        <p:spPr>
          <a:xfrm>
            <a:off x="6766560" y="3749040"/>
            <a:ext cx="4892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6995160" y="39319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Reading the picture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path out of C₀ is a legal pick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edge C₁ → C₂ or C₂ → C₃: neighbours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Edge weight = value of the coin you land on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90038 Teal Amber">
  <a:themeElements>
    <a:clrScheme name="COMP90038 Teal Amber">
      <a:dk1>
        <a:srgbClr val="17262B"/>
      </a:dk1>
      <a:lt1>
        <a:srgbClr val="FFFFFF"/>
      </a:lt1>
      <a:dk2>
        <a:srgbClr val="0E4D4A"/>
      </a:dk2>
      <a:lt2>
        <a:srgbClr val="EEF5F4"/>
      </a:lt2>
      <a:accent1>
        <a:srgbClr val="0F7A72"/>
      </a:accent1>
      <a:accent2>
        <a:srgbClr val="E8A33D"/>
      </a:accent2>
      <a:accent3>
        <a:srgbClr val="5FB3AB"/>
      </a:accent3>
      <a:accent4>
        <a:srgbClr val="C2571A"/>
      </a:accent4>
      <a:accent5>
        <a:srgbClr val="6F8386"/>
      </a:accent5>
      <a:accent6>
        <a:srgbClr val="D6EBE8"/>
      </a:accent6>
      <a:hlink>
        <a:srgbClr val="0F7A72"/>
      </a:hlink>
      <a:folHlink>
        <a:srgbClr val="5FB3AB"/>
      </a:folHlink>
    </a:clrScheme>
    <a:fontScheme name="COMP90038 Teal A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3797</Words>
  <Application>Microsoft Macintosh PowerPoint</Application>
  <PresentationFormat>Widescreen</PresentationFormat>
  <Paragraphs>489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COMP90038 Teal Amber</vt:lpstr>
      <vt:lpstr>Dynamic Programming</vt:lpstr>
      <vt:lpstr>Plan for today</vt:lpstr>
      <vt:lpstr>When does DP apply, and how do we build one?</vt:lpstr>
      <vt:lpstr>Coin row: take the last coin, or don't</vt:lpstr>
      <vt:lpstr>Q74</vt:lpstr>
      <vt:lpstr>Q74 · Filling the table</vt:lpstr>
      <vt:lpstr>Q74 · Which coins? Backtrack from the end</vt:lpstr>
      <vt:lpstr>0/1 knapsack vs. unlimited copies</vt:lpstr>
      <vt:lpstr>Q77 · Recurrence and algorithm</vt:lpstr>
      <vt:lpstr>Q77</vt:lpstr>
      <vt:lpstr>Q77 · Filling V[w]</vt:lpstr>
      <vt:lpstr>Q77 · Recovering the bag</vt:lpstr>
      <vt:lpstr>Q76 · Longest path in a weighted DAG</vt:lpstr>
      <vt:lpstr>Q76 · Subproblem: longest path ending at t</vt:lpstr>
      <vt:lpstr>Q76 · Trace in topological order</vt:lpstr>
      <vt:lpstr>Q75 · Coin row as a longest path</vt:lpstr>
      <vt:lpstr>Q75 · Example with the first four coins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COMP90038 Tutorial Week 11 — Dynamic Programming</dc:title>
  <dc:subject>Coin row, unbounded knapsack, longest path in a DAG, Warshall</dc:subject>
  <dc:creator>Kenji</dc:creator>
  <cp:lastModifiedBy>Kejian Cui</cp:lastModifiedBy>
  <cp:revision>24</cp:revision>
  <dcterms:created xsi:type="dcterms:W3CDTF">2026-10-12T23:12:39Z</dcterms:created>
  <dcterms:modified xsi:type="dcterms:W3CDTF">2026-10-14T23:38:31Z</dcterms:modified>
</cp:coreProperties>
</file>