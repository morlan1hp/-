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82C5EC7-FA29-1035-5961-0EFAEA13BA23}">
          <p14:sldIdLst>
            <p14:sldId id="256"/>
            <p14:sldId id="257"/>
          </p14:sldIdLst>
        </p14:section>
        <p14:section name="Horspool" id="{3D17F16E-05F6-52F4-CCB1-3A0FE7E05D79}">
          <p14:sldIdLst>
            <p14:sldId id="258"/>
            <p14:sldId id="259"/>
            <p14:sldId id="260"/>
            <p14:sldId id="261"/>
            <p14:sldId id="262"/>
            <p14:sldId id="263"/>
            <p14:sldId id="264"/>
            <p14:sldId id="265"/>
            <p14:sldId id="266"/>
            <p14:sldId id="267"/>
            <p14:sldId id="268"/>
          </p14:sldIdLst>
        </p14:section>
        <p14:section name="Hashing" id="{70F946D9-13FD-65C9-55FA-04836E6E679C}">
          <p14:sldIdLst>
            <p14:sldId id="269"/>
            <p14:sldId id="270"/>
            <p14:sldId id="271"/>
            <p14:sldId id="272"/>
            <p14:sldId id="273"/>
            <p14:sldId id="274"/>
            <p14:sldId id="275"/>
            <p14:sldId id="276"/>
          </p14:sldIdLst>
        </p14:section>
        <p14:section name="Wrap-up" id="{CDD107F6-E3E5-1268-6508-9C3DA88393FB}">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9" d="100"/>
          <a:sy n="169" d="100"/>
        </p:scale>
        <p:origin x="19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4F5C"/>
                </a:solidFill>
                <a:latin typeface="+mn-lt"/>
              </a:defRPr>
            </a:pPr>
            <a:r>
              <a:rPr lang="en-US" sz="1300" b="0" i="0" u="none" strike="noStrike">
                <a:solidFill>
                  <a:srgbClr val="0B4F5C"/>
                </a:solidFill>
                <a:latin typeface="+mn-lt"/>
              </a:rPr>
              <a:t>m(n − m + 1) for n = 20</a:t>
            </a:r>
          </a:p>
        </c:rich>
      </c:tx>
      <c:overlay val="0"/>
    </c:title>
    <c:autoTitleDeleted val="0"/>
    <c:plotArea>
      <c:layout/>
      <c:lineChart>
        <c:grouping val="standard"/>
        <c:varyColors val="0"/>
        <c:ser>
          <c:idx val="0"/>
          <c:order val="0"/>
          <c:tx>
            <c:strRef>
              <c:f>Sheet1!$B$1</c:f>
              <c:strCache>
                <c:ptCount val="1"/>
                <c:pt idx="0">
                  <c:v>Comparisons</c:v>
                </c:pt>
              </c:strCache>
            </c:strRef>
          </c:tx>
          <c:spPr>
            <a:ln w="31750" cap="flat">
              <a:solidFill>
                <a:srgbClr val="137C8B"/>
              </a:solidFill>
              <a:prstDash val="solid"/>
              <a:round/>
            </a:ln>
            <a:effectLst/>
          </c:spPr>
          <c:marker>
            <c:symbol val="circle"/>
            <c:size val="6"/>
            <c:spPr>
              <a:solidFill>
                <a:srgbClr val="137C8B"/>
              </a:solidFill>
              <a:ln w="9525" cap="flat">
                <a:solidFill>
                  <a:srgbClr val="137C8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20</c:v>
                </c:pt>
                <c:pt idx="1">
                  <c:v>38</c:v>
                </c:pt>
                <c:pt idx="2">
                  <c:v>54</c:v>
                </c:pt>
                <c:pt idx="3">
                  <c:v>68</c:v>
                </c:pt>
                <c:pt idx="4">
                  <c:v>80</c:v>
                </c:pt>
                <c:pt idx="5">
                  <c:v>90</c:v>
                </c:pt>
                <c:pt idx="6">
                  <c:v>98</c:v>
                </c:pt>
                <c:pt idx="7">
                  <c:v>104</c:v>
                </c:pt>
                <c:pt idx="8">
                  <c:v>108</c:v>
                </c:pt>
                <c:pt idx="9">
                  <c:v>110</c:v>
                </c:pt>
                <c:pt idx="10">
                  <c:v>110</c:v>
                </c:pt>
                <c:pt idx="11">
                  <c:v>108</c:v>
                </c:pt>
                <c:pt idx="12">
                  <c:v>104</c:v>
                </c:pt>
                <c:pt idx="13">
                  <c:v>98</c:v>
                </c:pt>
                <c:pt idx="14">
                  <c:v>90</c:v>
                </c:pt>
                <c:pt idx="15">
                  <c:v>80</c:v>
                </c:pt>
                <c:pt idx="16">
                  <c:v>68</c:v>
                </c:pt>
                <c:pt idx="17">
                  <c:v>54</c:v>
                </c:pt>
                <c:pt idx="18">
                  <c:v>38</c:v>
                </c:pt>
                <c:pt idx="19">
                  <c:v>20</c:v>
                </c:pt>
              </c:numCache>
            </c:numRef>
          </c:val>
          <c:smooth val="0"/>
          <c:extLst>
            <c:ext xmlns:c16="http://schemas.microsoft.com/office/drawing/2014/chart" uri="{C3380CC4-5D6E-409C-BE32-E72D297353CC}">
              <c16:uniqueId val="{00000000-D143-8548-9D34-09E2A9298B6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6B7C82"/>
                    </a:solidFill>
                    <a:latin typeface="+mn-lt"/>
                  </a:defRPr>
                </a:pPr>
                <a:r>
                  <a:rPr lang="en-US" sz="1100" b="0" i="0" u="none" strike="noStrike">
                    <a:solidFill>
                      <a:srgbClr val="6B7C82"/>
                    </a:solidFill>
                    <a:latin typeface="+mn-lt"/>
                  </a:rPr>
                  <a:t>pattern length m</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C82"/>
                </a:solidFill>
                <a:latin typeface="+mn-lt"/>
              </a:defRPr>
            </a:pPr>
            <a:endParaRPr lang="en-US"/>
          </a:p>
        </c:txPr>
        <c:crossAx val="2094734552"/>
        <c:crosses val="autoZero"/>
        <c:auto val="1"/>
        <c:lblAlgn val="ctr"/>
        <c:lblOffset val="100"/>
        <c:noMultiLvlLbl val="1"/>
      </c:catAx>
      <c:valAx>
        <c:axId val="2094734552"/>
        <c:scaling>
          <c:orientation val="minMax"/>
          <c:max val="120"/>
          <c:min val="0"/>
        </c:scaling>
        <c:delete val="0"/>
        <c:axPos val="l"/>
        <c:majorGridlines>
          <c:spPr>
            <a:ln w="9525" cap="flat">
              <a:solidFill>
                <a:srgbClr val="E3ECEE"/>
              </a:solidFill>
              <a:prstDash val="solid"/>
              <a:round/>
            </a:ln>
          </c:spPr>
        </c:majorGridlines>
        <c:title>
          <c:tx>
            <c:rich>
              <a:bodyPr/>
              <a:lstStyle/>
              <a:p>
                <a:pPr>
                  <a:defRPr sz="1100" b="0" i="0" u="none" strike="noStrike">
                    <a:solidFill>
                      <a:srgbClr val="6B7C82"/>
                    </a:solidFill>
                    <a:latin typeface="+mn-lt"/>
                  </a:defRPr>
                </a:pPr>
                <a:r>
                  <a:rPr lang="en-US" sz="1100" b="0" i="0" u="none" strike="noStrike">
                    <a:solidFill>
                      <a:srgbClr val="6B7C82"/>
                    </a:solidFill>
                    <a:latin typeface="+mn-lt"/>
                  </a:rPr>
                  <a:t>comparisons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C82"/>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1846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has two halves: Horspool's string search (Q67–70) and hashing (Q72–73). Q71 (KMP) is optional and non-examinable, so we skip it unless there's time at the end and someone is keen.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for today: 67, 68, 69, 70, then 72, 73. Q71 (KMP finite-state machine) is optional and non-examinable.
Rough timing: ~30 min on Horspool (most of it on Q68 traces and the Q70 worst-case argument), ~20 min on hashing, a few minutes on double hashing if time permits.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check-in: who remembers brute-force string matching from early in semester? What was its worst case? (O(mn).)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methods slide the pattern along the text and check alignments. The difference is (1) the direction of comparison within an alignment and (2) how far we slide.
On the right: the pattern's last char E sits over the text's O. O ≠ E, so we're done with this alignment after one comparison. O does occur in GORE (at index 1), so the safe jump is the one that lines the pattern's O up under the text's O: shift by 2.
Key idea: if the char under the last cell doesn't appear in P[0..m−2] at all, no alignment that covers it can succeed, so we jump the whole pattern length 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BARBER on the board before revealing the table.
Two classic mistakes:
1) Including the last character. If we set S[R] using j = 5 we'd get 0 — the pattern would never move. The last char is skipped on purpose.
2) Repeated letters: the loop runs left to right, so the rightmost occurrence (among the first m−1 chars) wins. That gives the SMALLEST shift, which is the safe one — we never jump past a possible match.
Shift = distance from that occurrence to the pattern's last position.
Cost: O(|alphabet| + 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middle card — it's the most common error in traces. In Q68 (DRAC) we'll see a case where three characters match, the fourth fails, and the shift is still decided by T[i], the char that was under the LAST cell.
Worst case O(mn); preprocessing O(m + |alphabet|).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for the shift table first: G=3, O=2, R=1, everything else (including E) = 4.
#1: E is under T[3]=O. O≠E → 1 comparison. Shift by S[O]=2.
#2: E is under T[5]=I. I≠E → 1 comparison. Shift by S[I]=4 → i = 9 ≥ n, stop.
Total: 2 comparisons, pattern not found. (Brute force would use 9 comparisons on this input.)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table for CAB (m=3): C=2, A=1, everything else (incl. B) = 3.
#1 under T[2]=R → 1 comp, shift 3
#2 under T[5]=A → 1 comp, shift 1
#3 under T[6]=D → 1 comp, shift 3
#4 under T[9]=R → 1 comp, shift 3 → past the end.
Total 4. Good one to let students do in pairs, then check.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table for DRAC (m=4): D=3, R=2, A=1, everything else (incl. C) = 4.
#1 under T[3]=A → 1 comp, shift 1
#2 under T[4]=C: C=C, A=A, R=R, D≠B → 4 comps. Shift on T[4]=C → 4.
#3 under T[8]=B → 1 comp, shift 4 → past end.
Total 1 + 4 + 1 = 6.
This is the slide to stress 'shift on T[i]'. A common wrong answer shifts on B (the mismatched char) instead.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(cost per alignment) × (number of alignments). Every window of the text is 00000, so every alignment behaves identically.
Alignments: i starts at m−1 = 4 and goes up to 999,999.
(a) 01001: S[0]=1 (0 at j=3). Last char 1 vs 0 fails → 1 comp. i = 4,5,…,999,999 → 999,996 alignments. Total 999,996.
(b) 00010: last char 0 matches, then 1 vs 0 fails → 2 comps. S[0]=2 (0 at j=2). i = 4,6,…,999,998 → 499,998 alignments. Total 999,996.
(c) 01111: S[0]=4 (only 0 is j=0). 1 comp, i = 4,8,…,999,996 → 249,999 alignments. Total 249,999.
For contrast: brute force on (c) does 2 comps per alignment × 999,996 = 1,999,992.</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first: how do we make Horspool as slow as possible? We want (a) the smallest possible shift every time and (b) as many comparisons per alignment as possible.
(a) Shift = 1 requires the char under the last cell to equal P[m−2]. Text all zeros, P[m−2] = 0 → S[0] = 1.
(b) Max comparisons = m: the mismatch must be at the very front. So P = 1 0…0.
Each alignment: m comparisons. Number of alignments: n − m + 1. Total m(n − m + 1).
Compare with brute force: its worst case is also m(n − m + 1). Same order.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m(n − m + 1) is a downward parabola in m, maximised around m = (n+1)/2. With m = ⌈n/2⌉ the number of alignments is n − ⌈n/2⌉ + 1 = ⌊n/2⌋ + 1, giving (⌊n/2⌋+1)⌈n/2⌉ comparisons — about n²/4.
Chart sanity check: n = 20, m = 10 or 11 gives 110 = (400 + 40)/4. ✔
So in the worst case, Horspool is Θ(n²) when the pattern is about half the text — exactly what brute force does in its worst case.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from the instructions: Horspool has the same O(mn) worst case — and Q70 shows that's Θ(n²) — but its average case is linear, O(n), and in practice it does far fewer comparisons than brute force because typical shifts are large. Proving the average case is out of scope.
Numbers on the right (checked by simulation): GORE/ALGORITHM brute force 9 vs Horspool 2. 01111 in 10^6 zeros: brute force 1,999,992 vs Horspool 249,999.
Intuition: with English text (|Σ| ≈ 26+) most characters aren't in a short pattern, so most jumps are the full 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topics. Both hashing questions use the same keys and hash function, so we compute the hash values once and reuse them.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 students should know this from the lecture.
The diagram is a teaser: three of today's keys (40, 84, 18) all hash to bucket 7. That one bucket drives every interesting number in Q72 and Q73.
Universal hashing (from the reference slides) is worth a one-liner if asked: picking h at random from a good family makes Pr[h(x)=h(y)] ≤ 1/m, so no adversary can force collisions.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Q72 = separate chaining (open hashing). Q73 = closed hashing, i.e. open addressing with linear probing.
The naming is genuinely confusing — 'open' refers to different things. Worth flagging explicitly because it shows up in exam wording.
Why deletion is hard in open addressing: if you simply empty a cell, a later search may stop early at that hole and miss a key that probed past it. Fix: mark the cell 'deleted' (a tombstone) so searches continue past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students to call these out: 40→7, 60→5, 37→4, 84→7 (84 = 77 + 7), 42→9, 18→7, 30→8.
Three-way collision at bucket 7. With chaining that's just a longer list; with linear probing those collisions spill into 8, 9, 10 and then hurt 30, which hashes to 8.</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Append to the end of each chain in insertion order: bucket 4: 37; 5: 60; 7: 40 → 84 → 18; 8: 30; 9: 42.
(b) Searching for 18 walks 40, 84, 18 → 3 key comparisons.
(c) Average over the 7 keys of the comparisons needed to find each: 40:1, 60:1, 37:1, 84:2, 42:1, 18:3, 30:1 → 10/7 ≈ 1.43.
(If a student inserts at the head of the list instead, the table looks different but the max is still 3 and the average still 10/7 — the chain lengths are the same.)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in order, probing h, h+1, h+2, … (mod 11):
40 → 7. 60 → 5. 37 → 4. 84 → 7 taken → 8. 42 → 9. 18 → 7, 8, 9 taken → 10. 30 → 8, 9, 10 taken → wraps to 0.
Final table: 0:30, 4:37, 5:60, 7:40, 8:84, 9:42, 10:18.
(b) 18 and 30 each need 4 probes.
(c) (1+1+1+2+1+4+4)/7 = 14/7 = 2.
Point out that 30 never collided with another key hashing to 8 'originally' — it was hurt by keys that hashed to 7 and spilled over. That's primary clustering, and it's the motivation for double hashing.
Remind: wrap-around is mod m, so after cell 10 comes cell 0.</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 use if time allows.
Idea: instead of stepping +1 after a collision, step by s(k), a second hash of the key. Keys that collide at the same h usually have different s, so they scatter instead of piling up next to each other.
The step function here is the one from Levitin's textbook: s(k) = m − 2 − k mod (m − 2). For m = 11 that's 9 − (k mod 9), which is always between 1 and 9.
84: h = 7 (taken by 40), s = 9 − 3 = 6 → (7+6) mod 11 = 2, free. 2 probes.
18: h = 7 (taken), s = 9 − 0 = 9 → 16 mod 11 = 5 (taken by 60) → 25 mod 11 = 3, free. 3 probes.
Why m should be prime: if s and m share a factor, the probe sequence cycles through only some of the cells and could miss empty ones.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table: 2:84, 3:18, 4:37, 5:60, 7:40, 8:30, 9:42.
Probes: 40:1, 60:1, 37:1, 84:2, 42:1, 18:3, 30:1 → max 3, average 10/7 ≈ 1.43 (vs 4 and 2.0 with linear probing). Coincidentally the same average as separate chaining in Q72.
Big picture: double hashing avoids primary clustering because the step depends on the key. On a 7-key toy example the difference is modest; at high load factors it's dramatic.</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8046720" cy="118872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2743200"/>
            <a:ext cx="8046720" cy="822960"/>
          </a:xfrm>
          <a:prstGeom prst="rect">
            <a:avLst/>
          </a:prstGeom>
          <a:noFill/>
          <a:ln/>
        </p:spPr>
        <p:txBody>
          <a:bodyPr wrap="square" rtlCol="0"/>
          <a:lstStyle>
            <a:lvl1pPr marL="0" indent="0">
              <a:buNone/>
              <a:defRPr lang="en-US" sz="1800" dirty="0">
                <a:solidFill>
                  <a:schemeClr val="accent6"/>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37360"/>
            <a:ext cx="8046720" cy="91440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
        <p:nvSpPr>
          <p:cNvPr id="3" name="Text 0"/>
          <p:cNvSpPr>
            <a:spLocks noGrp="1"/>
          </p:cNvSpPr>
          <p:nvPr>
            <p:ph type="body" idx="101" hasCustomPrompt="1"/>
          </p:nvPr>
        </p:nvSpPr>
        <p:spPr>
          <a:xfrm>
            <a:off x="548640" y="2743200"/>
            <a:ext cx="8046720" cy="731520"/>
          </a:xfrm>
          <a:prstGeom prst="rect">
            <a:avLst/>
          </a:prstGeom>
          <a:noFill/>
          <a:ln/>
        </p:spPr>
        <p:txBody>
          <a:bodyPr wrap="square" rtlCol="0"/>
          <a:lstStyle>
            <a:lvl1pPr marL="0" indent="0">
              <a:buNone/>
              <a:defRPr lang="en-US" sz="1800" dirty="0">
                <a:solidFill>
                  <a:schemeClr val="accent6"/>
                </a:solidFill>
              </a:defRPr>
            </a:lvl1pPr>
          </a:lstStyle>
          <a:p>
            <a:pPr marL="0" indent="0">
              <a:buNone/>
            </a:pP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marL="0" indent="0">
              <a:buNone/>
            </a:pPr>
            <a:r>
              <a:rPr lang="en-US" sz="1000" dirty="0">
                <a:solidFill>
                  <a:schemeClr val="accent5"/>
                </a:solidFill>
              </a:rPr>
              <a:t>COMP90038 · Tutorial Week 10</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le-1"/>
          <p:cNvSpPr/>
          <p:nvPr/>
        </p:nvSpPr>
        <p:spPr>
          <a:xfrm>
            <a:off x="548640" y="685800"/>
            <a:ext cx="402336" cy="402336"/>
          </a:xfrm>
          <a:prstGeom prst="roundRect">
            <a:avLst>
              <a:gd name="adj" fmla="val 11364"/>
            </a:avLst>
          </a:prstGeom>
          <a:solidFill>
            <a:schemeClr val="tx2"/>
          </a:solidFill>
          <a:ln w="12700">
            <a:solidFill>
              <a:schemeClr val="accent1"/>
            </a:solidFill>
          </a:ln>
        </p:spPr>
        <p:txBody>
          <a:bodyPr wrap="square" lIns="0" tIns="0" rIns="0" bIns="0" rtlCol="0" anchor="ctr"/>
          <a:lstStyle/>
          <a:p>
            <a:pPr marL="0" indent="0" algn="ctr">
              <a:buNone/>
            </a:pPr>
            <a:r>
              <a:rPr lang="en-US" sz="1600" b="1" dirty="0">
                <a:solidFill>
                  <a:schemeClr val="accent6"/>
                </a:solidFill>
                <a:latin typeface="Courier New" pitchFamily="34" charset="0"/>
                <a:ea typeface="Courier New" pitchFamily="34" charset="-122"/>
                <a:cs typeface="Courier New" pitchFamily="34" charset="-120"/>
              </a:rPr>
              <a:t>H</a:t>
            </a:r>
            <a:endParaRPr lang="en-US" sz="1600" dirty="0"/>
          </a:p>
        </p:txBody>
      </p:sp>
      <p:sp>
        <p:nvSpPr>
          <p:cNvPr id="3" name="tile-2"/>
          <p:cNvSpPr/>
          <p:nvPr/>
        </p:nvSpPr>
        <p:spPr>
          <a:xfrm>
            <a:off x="1024128" y="685800"/>
            <a:ext cx="402336" cy="402336"/>
          </a:xfrm>
          <a:prstGeom prst="roundRect">
            <a:avLst>
              <a:gd name="adj" fmla="val 11364"/>
            </a:avLst>
          </a:prstGeom>
          <a:solidFill>
            <a:schemeClr val="tx2"/>
          </a:solidFill>
          <a:ln w="12700">
            <a:solidFill>
              <a:schemeClr val="accent1"/>
            </a:solidFill>
          </a:ln>
        </p:spPr>
        <p:txBody>
          <a:bodyPr wrap="square" lIns="0" tIns="0" rIns="0" bIns="0" rtlCol="0" anchor="ctr"/>
          <a:lstStyle/>
          <a:p>
            <a:pPr marL="0" indent="0" algn="ctr">
              <a:buNone/>
            </a:pPr>
            <a:r>
              <a:rPr lang="en-US" sz="1600" b="1" dirty="0">
                <a:solidFill>
                  <a:schemeClr val="accent6"/>
                </a:solidFill>
                <a:latin typeface="Courier New" pitchFamily="34" charset="0"/>
                <a:ea typeface="Courier New" pitchFamily="34" charset="-122"/>
                <a:cs typeface="Courier New" pitchFamily="34" charset="-120"/>
              </a:rPr>
              <a:t>O</a:t>
            </a:r>
            <a:endParaRPr lang="en-US" sz="1600" dirty="0"/>
          </a:p>
        </p:txBody>
      </p:sp>
      <p:sp>
        <p:nvSpPr>
          <p:cNvPr id="4" name="tile-3"/>
          <p:cNvSpPr/>
          <p:nvPr/>
        </p:nvSpPr>
        <p:spPr>
          <a:xfrm>
            <a:off x="1499616" y="685800"/>
            <a:ext cx="402336" cy="402336"/>
          </a:xfrm>
          <a:prstGeom prst="roundRect">
            <a:avLst>
              <a:gd name="adj" fmla="val 11364"/>
            </a:avLst>
          </a:prstGeom>
          <a:solidFill>
            <a:schemeClr val="tx2"/>
          </a:solidFill>
          <a:ln w="12700">
            <a:solidFill>
              <a:schemeClr val="accent1"/>
            </a:solidFill>
          </a:ln>
        </p:spPr>
        <p:txBody>
          <a:bodyPr wrap="square" lIns="0" tIns="0" rIns="0" bIns="0" rtlCol="0" anchor="ctr"/>
          <a:lstStyle/>
          <a:p>
            <a:pPr marL="0" indent="0" algn="ctr">
              <a:buNone/>
            </a:pPr>
            <a:r>
              <a:rPr lang="en-US" sz="1600" b="1" dirty="0">
                <a:solidFill>
                  <a:schemeClr val="accent6"/>
                </a:solidFill>
                <a:latin typeface="Courier New" pitchFamily="34" charset="0"/>
                <a:ea typeface="Courier New" pitchFamily="34" charset="-122"/>
                <a:cs typeface="Courier New" pitchFamily="34" charset="-120"/>
              </a:rPr>
              <a:t>R</a:t>
            </a:r>
            <a:endParaRPr lang="en-US" sz="1600" dirty="0"/>
          </a:p>
        </p:txBody>
      </p:sp>
      <p:sp>
        <p:nvSpPr>
          <p:cNvPr id="5" name="tile-4"/>
          <p:cNvSpPr/>
          <p:nvPr/>
        </p:nvSpPr>
        <p:spPr>
          <a:xfrm>
            <a:off x="1975104" y="685800"/>
            <a:ext cx="402336" cy="402336"/>
          </a:xfrm>
          <a:prstGeom prst="roundRect">
            <a:avLst>
              <a:gd name="adj" fmla="val 11364"/>
            </a:avLst>
          </a:prstGeom>
          <a:solidFill>
            <a:schemeClr val="tx2"/>
          </a:solidFill>
          <a:ln w="12700">
            <a:solidFill>
              <a:schemeClr val="accent1"/>
            </a:solidFill>
          </a:ln>
        </p:spPr>
        <p:txBody>
          <a:bodyPr wrap="square" lIns="0" tIns="0" rIns="0" bIns="0" rtlCol="0" anchor="ctr"/>
          <a:lstStyle/>
          <a:p>
            <a:pPr marL="0" indent="0" algn="ctr">
              <a:buNone/>
            </a:pPr>
            <a:r>
              <a:rPr lang="en-US" sz="1600" b="1" dirty="0">
                <a:solidFill>
                  <a:schemeClr val="accent6"/>
                </a:solidFill>
                <a:latin typeface="Courier New" pitchFamily="34" charset="0"/>
                <a:ea typeface="Courier New" pitchFamily="34" charset="-122"/>
                <a:cs typeface="Courier New" pitchFamily="34" charset="-120"/>
              </a:rPr>
              <a:t>S</a:t>
            </a:r>
            <a:endParaRPr lang="en-US" sz="1600" dirty="0"/>
          </a:p>
        </p:txBody>
      </p:sp>
      <p:sp>
        <p:nvSpPr>
          <p:cNvPr id="6" name="tile-5"/>
          <p:cNvSpPr/>
          <p:nvPr/>
        </p:nvSpPr>
        <p:spPr>
          <a:xfrm>
            <a:off x="2450592" y="685800"/>
            <a:ext cx="402336" cy="402336"/>
          </a:xfrm>
          <a:prstGeom prst="roundRect">
            <a:avLst>
              <a:gd name="adj" fmla="val 11364"/>
            </a:avLst>
          </a:prstGeom>
          <a:solidFill>
            <a:schemeClr val="tx2"/>
          </a:solidFill>
          <a:ln w="12700">
            <a:solidFill>
              <a:schemeClr val="accent1"/>
            </a:solidFill>
          </a:ln>
        </p:spPr>
        <p:txBody>
          <a:bodyPr wrap="square" lIns="0" tIns="0" rIns="0" bIns="0" rtlCol="0" anchor="ctr"/>
          <a:lstStyle/>
          <a:p>
            <a:pPr marL="0" indent="0" algn="ctr">
              <a:buNone/>
            </a:pPr>
            <a:r>
              <a:rPr lang="en-US" sz="1600" b="1" dirty="0">
                <a:solidFill>
                  <a:schemeClr val="accent6"/>
                </a:solidFill>
                <a:latin typeface="Courier New" pitchFamily="34" charset="0"/>
                <a:ea typeface="Courier New" pitchFamily="34" charset="-122"/>
                <a:cs typeface="Courier New" pitchFamily="34" charset="-120"/>
              </a:rPr>
              <a:t>P</a:t>
            </a:r>
            <a:endParaRPr lang="en-US" sz="1600" dirty="0"/>
          </a:p>
        </p:txBody>
      </p:sp>
      <p:sp>
        <p:nvSpPr>
          <p:cNvPr id="7" name="tile-6"/>
          <p:cNvSpPr/>
          <p:nvPr/>
        </p:nvSpPr>
        <p:spPr>
          <a:xfrm>
            <a:off x="2926080" y="685800"/>
            <a:ext cx="402336" cy="402336"/>
          </a:xfrm>
          <a:prstGeom prst="roundRect">
            <a:avLst>
              <a:gd name="adj" fmla="val 11364"/>
            </a:avLst>
          </a:prstGeom>
          <a:solidFill>
            <a:schemeClr val="tx2"/>
          </a:solidFill>
          <a:ln w="12700">
            <a:solidFill>
              <a:schemeClr val="accent1"/>
            </a:solidFill>
          </a:ln>
        </p:spPr>
        <p:txBody>
          <a:bodyPr wrap="square" lIns="0" tIns="0" rIns="0" bIns="0" rtlCol="0" anchor="ctr"/>
          <a:lstStyle/>
          <a:p>
            <a:pPr marL="0" indent="0" algn="ctr">
              <a:buNone/>
            </a:pPr>
            <a:r>
              <a:rPr lang="en-US" sz="1600" b="1" dirty="0">
                <a:solidFill>
                  <a:schemeClr val="accent6"/>
                </a:solidFill>
                <a:latin typeface="Courier New" pitchFamily="34" charset="0"/>
                <a:ea typeface="Courier New" pitchFamily="34" charset="-122"/>
                <a:cs typeface="Courier New" pitchFamily="34" charset="-120"/>
              </a:rPr>
              <a:t>O</a:t>
            </a:r>
            <a:endParaRPr lang="en-US" sz="1600" dirty="0"/>
          </a:p>
        </p:txBody>
      </p:sp>
      <p:sp>
        <p:nvSpPr>
          <p:cNvPr id="8" name="tile-7"/>
          <p:cNvSpPr/>
          <p:nvPr/>
        </p:nvSpPr>
        <p:spPr>
          <a:xfrm>
            <a:off x="3401568" y="685800"/>
            <a:ext cx="402336" cy="402336"/>
          </a:xfrm>
          <a:prstGeom prst="roundRect">
            <a:avLst>
              <a:gd name="adj" fmla="val 11364"/>
            </a:avLst>
          </a:prstGeom>
          <a:solidFill>
            <a:schemeClr val="tx2"/>
          </a:solidFill>
          <a:ln w="12700">
            <a:solidFill>
              <a:schemeClr val="accent1"/>
            </a:solidFill>
          </a:ln>
        </p:spPr>
        <p:txBody>
          <a:bodyPr wrap="square" lIns="0" tIns="0" rIns="0" bIns="0" rtlCol="0" anchor="ctr"/>
          <a:lstStyle/>
          <a:p>
            <a:pPr marL="0" indent="0" algn="ctr">
              <a:buNone/>
            </a:pPr>
            <a:r>
              <a:rPr lang="en-US" sz="1600" b="1" dirty="0">
                <a:solidFill>
                  <a:schemeClr val="accent6"/>
                </a:solidFill>
                <a:latin typeface="Courier New" pitchFamily="34" charset="0"/>
                <a:ea typeface="Courier New" pitchFamily="34" charset="-122"/>
                <a:cs typeface="Courier New" pitchFamily="34" charset="-120"/>
              </a:rPr>
              <a:t>O</a:t>
            </a:r>
            <a:endParaRPr lang="en-US" sz="1600" dirty="0"/>
          </a:p>
        </p:txBody>
      </p:sp>
      <p:sp>
        <p:nvSpPr>
          <p:cNvPr id="9" name="tile-8"/>
          <p:cNvSpPr/>
          <p:nvPr/>
        </p:nvSpPr>
        <p:spPr>
          <a:xfrm>
            <a:off x="3877056" y="685800"/>
            <a:ext cx="402336" cy="402336"/>
          </a:xfrm>
          <a:prstGeom prst="roundRect">
            <a:avLst>
              <a:gd name="adj" fmla="val 11364"/>
            </a:avLst>
          </a:prstGeom>
          <a:solidFill>
            <a:schemeClr val="tx2"/>
          </a:solidFill>
          <a:ln w="12700">
            <a:solidFill>
              <a:schemeClr val="accent1"/>
            </a:solidFill>
          </a:ln>
        </p:spPr>
        <p:txBody>
          <a:bodyPr wrap="square" lIns="0" tIns="0" rIns="0" bIns="0" rtlCol="0" anchor="ctr"/>
          <a:lstStyle/>
          <a:p>
            <a:pPr marL="0" indent="0" algn="ctr">
              <a:buNone/>
            </a:pPr>
            <a:r>
              <a:rPr lang="en-US" sz="1600" b="1" dirty="0">
                <a:solidFill>
                  <a:schemeClr val="accent6"/>
                </a:solidFill>
                <a:latin typeface="Courier New" pitchFamily="34" charset="0"/>
                <a:ea typeface="Courier New" pitchFamily="34" charset="-122"/>
                <a:cs typeface="Courier New" pitchFamily="34" charset="-120"/>
              </a:rPr>
              <a:t>L</a:t>
            </a:r>
            <a:endParaRPr lang="en-US" sz="1600" dirty="0"/>
          </a:p>
        </p:txBody>
      </p:sp>
      <p:sp>
        <p:nvSpPr>
          <p:cNvPr id="10" name="tile-9"/>
          <p:cNvSpPr/>
          <p:nvPr/>
        </p:nvSpPr>
        <p:spPr>
          <a:xfrm>
            <a:off x="4535424" y="685800"/>
            <a:ext cx="402336" cy="402336"/>
          </a:xfrm>
          <a:prstGeom prst="roundRect">
            <a:avLst>
              <a:gd name="adj" fmla="val 11364"/>
            </a:avLst>
          </a:prstGeom>
          <a:solidFill>
            <a:schemeClr val="accent2"/>
          </a:solidFill>
          <a:ln w="12700">
            <a:solidFill>
              <a:schemeClr val="accent2"/>
            </a:solidFill>
          </a:ln>
        </p:spPr>
        <p:txBody>
          <a:bodyPr wrap="square" lIns="0" tIns="0" rIns="0" bIns="0" rtlCol="0" anchor="ctr"/>
          <a:lstStyle/>
          <a:p>
            <a:pPr marL="0" indent="0" algn="ctr">
              <a:buNone/>
            </a:pPr>
            <a:r>
              <a:rPr lang="en-US" sz="1800" b="1" dirty="0">
                <a:solidFill>
                  <a:schemeClr val="tx1"/>
                </a:solidFill>
                <a:latin typeface="Courier New" pitchFamily="34" charset="0"/>
                <a:ea typeface="Courier New" pitchFamily="34" charset="-122"/>
                <a:cs typeface="Courier New" pitchFamily="34" charset="-120"/>
              </a:rPr>
              <a:t>#</a:t>
            </a:r>
            <a:endParaRPr lang="en-US" sz="1800" dirty="0"/>
          </a:p>
        </p:txBody>
      </p:sp>
      <p:sp>
        <p:nvSpPr>
          <p:cNvPr id="11" name="Text 0"/>
          <p:cNvSpPr>
            <a:spLocks noGrp="1"/>
          </p:cNvSpPr>
          <p:nvPr>
            <p:ph type="title" idx="100" hasCustomPrompt="1"/>
          </p:nvPr>
        </p:nvSpPr>
        <p:spPr>
          <a:xfrm>
            <a:off x="548640" y="1417320"/>
            <a:ext cx="8046720" cy="1188720"/>
          </a:xfrm>
          <a:prstGeom prst="rect">
            <a:avLst/>
          </a:prstGeom>
          <a:noFill/>
          <a:ln/>
        </p:spPr>
        <p:txBody>
          <a:bodyPr wrap="square" lIns="0" tIns="0" rIns="0" bIns="0" rtlCol="0" anchor="b"/>
          <a:lstStyle/>
          <a:p>
            <a:pPr marL="0" indent="0" algn="l">
              <a:buNone/>
            </a:pPr>
            <a:r>
              <a:rPr lang="en-US" sz="4000" b="1" dirty="0">
                <a:solidFill>
                  <a:schemeClr val="bg1"/>
                </a:solidFill>
              </a:rPr>
              <a:t>Horspool’s String Search &amp; Hashing</a:t>
            </a:r>
            <a:endParaRPr lang="en-US" sz="4000" dirty="0"/>
          </a:p>
        </p:txBody>
      </p:sp>
      <p:sp>
        <p:nvSpPr>
          <p:cNvPr id="12" name="Text 0"/>
          <p:cNvSpPr>
            <a:spLocks noGrp="1"/>
          </p:cNvSpPr>
          <p:nvPr>
            <p:ph type="body" idx="101" hasCustomPrompt="1"/>
          </p:nvPr>
        </p:nvSpPr>
        <p:spPr>
          <a:xfrm>
            <a:off x="548640" y="2743200"/>
            <a:ext cx="8046720" cy="822960"/>
          </a:xfrm>
          <a:prstGeom prst="rect">
            <a:avLst/>
          </a:prstGeom>
          <a:noFill/>
          <a:ln/>
        </p:spPr>
        <p:txBody>
          <a:bodyPr wrap="square" lIns="0" tIns="0" rIns="0" bIns="0" rtlCol="0" anchor="t"/>
          <a:lstStyle/>
          <a:p>
            <a:pPr marL="0" indent="0">
              <a:buNone/>
            </a:pPr>
            <a:r>
              <a:rPr lang="en-US" sz="1800" dirty="0">
                <a:solidFill>
                  <a:schemeClr val="accent6"/>
                </a:solidFill>
              </a:rPr>
              <a:t>COMP90038 Algorithms and Complexity · Tutorial Week 10</a:t>
            </a:r>
            <a:endParaRPr lang="en-US" sz="1800" dirty="0"/>
          </a:p>
        </p:txBody>
      </p:sp>
      <p:sp>
        <p:nvSpPr>
          <p:cNvPr id="13" name="text-10"/>
          <p:cNvSpPr txBox="1"/>
          <p:nvPr/>
        </p:nvSpPr>
        <p:spPr>
          <a:xfrm>
            <a:off x="548640" y="4206240"/>
            <a:ext cx="5486400" cy="320040"/>
          </a:xfrm>
          <a:prstGeom prst="rect">
            <a:avLst/>
          </a:prstGeom>
          <a:noFill/>
          <a:ln/>
        </p:spPr>
        <p:txBody>
          <a:bodyPr wrap="square" lIns="0" tIns="0" rIns="0" bIns="0" rtlCol="0" anchor="t"/>
          <a:lstStyle/>
          <a:p>
            <a:pPr marL="0" indent="0">
              <a:buNone/>
            </a:pPr>
            <a:r>
              <a:rPr lang="en-US" sz="1400" b="1" dirty="0">
                <a:solidFill>
                  <a:schemeClr val="accent2"/>
                </a:solidFill>
              </a:rPr>
              <a:t>Questions 67 · 68 · 69 · 70 · 72 · 73</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Today’s plan</a:t>
            </a:r>
            <a:endParaRPr lang="en-US" sz="3000" dirty="0"/>
          </a:p>
        </p:txBody>
      </p:sp>
      <p:sp>
        <p:nvSpPr>
          <p:cNvPr id="3" name="card-11"/>
          <p:cNvSpPr/>
          <p:nvPr/>
        </p:nvSpPr>
        <p:spPr>
          <a:xfrm>
            <a:off x="457200" y="1143000"/>
            <a:ext cx="3977640" cy="3246120"/>
          </a:xfrm>
          <a:prstGeom prst="roundRect">
            <a:avLst>
              <a:gd name="adj" fmla="val 2254"/>
            </a:avLst>
          </a:prstGeom>
          <a:solidFill>
            <a:schemeClr val="bg2"/>
          </a:solidFill>
          <a:ln w="12700">
            <a:solidFill>
              <a:schemeClr val="bg2"/>
            </a:solidFill>
            <a:prstDash val="solid"/>
          </a:ln>
        </p:spPr>
        <p:txBody>
          <a:bodyPr/>
          <a:lstStyle/>
          <a:p>
            <a:endParaRPr lang="en-US"/>
          </a:p>
        </p:txBody>
      </p:sp>
      <p:sp>
        <p:nvSpPr>
          <p:cNvPr id="4" name="iconbg-12"/>
          <p:cNvSpPr/>
          <p:nvPr/>
        </p:nvSpPr>
        <p:spPr>
          <a:xfrm>
            <a:off x="731520" y="1371600"/>
            <a:ext cx="566928" cy="566928"/>
          </a:xfrm>
          <a:prstGeom prst="ellipse">
            <a:avLst/>
          </a:prstGeom>
          <a:solidFill>
            <a:schemeClr val="tx2"/>
          </a:solidFill>
          <a:ln w="12700">
            <a:solidFill>
              <a:schemeClr val="tx2"/>
            </a:solidFill>
            <a:prstDash val="solid"/>
          </a:ln>
        </p:spPr>
        <p:txBody>
          <a:bodyPr/>
          <a:lstStyle/>
          <a:p>
            <a:endParaRPr lang="en-US"/>
          </a:p>
        </p:txBody>
      </p:sp>
      <p:pic>
        <p:nvPicPr>
          <p:cNvPr id="5" name="icon-13" descr="preencoded.png"/>
          <p:cNvPicPr>
            <a:picLocks noChangeAspect="1"/>
          </p:cNvPicPr>
          <p:nvPr/>
        </p:nvPicPr>
        <p:blipFill>
          <a:blip r:embed="rId3"/>
          <a:stretch>
            <a:fillRect/>
          </a:stretch>
        </p:blipFill>
        <p:spPr>
          <a:xfrm>
            <a:off x="873252" y="1513332"/>
            <a:ext cx="283464" cy="283464"/>
          </a:xfrm>
          <a:prstGeom prst="rect">
            <a:avLst/>
          </a:prstGeom>
        </p:spPr>
      </p:pic>
      <p:sp>
        <p:nvSpPr>
          <p:cNvPr id="6" name="text-14"/>
          <p:cNvSpPr txBox="1"/>
          <p:nvPr/>
        </p:nvSpPr>
        <p:spPr>
          <a:xfrm>
            <a:off x="731520" y="2103120"/>
            <a:ext cx="3474720"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Part 1 · Horspool’s string search</a:t>
            </a:r>
            <a:endParaRPr lang="en-US" sz="1800" dirty="0"/>
          </a:p>
        </p:txBody>
      </p:sp>
      <p:sp>
        <p:nvSpPr>
          <p:cNvPr id="7" name="text-15"/>
          <p:cNvSpPr txBox="1"/>
          <p:nvPr/>
        </p:nvSpPr>
        <p:spPr>
          <a:xfrm>
            <a:off x="731520" y="2560320"/>
            <a:ext cx="3474720" cy="1097280"/>
          </a:xfrm>
          <a:prstGeom prst="rect">
            <a:avLst/>
          </a:prstGeom>
          <a:noFill/>
          <a:ln/>
        </p:spPr>
        <p:txBody>
          <a:bodyPr wrap="square" lIns="0" tIns="0" rIns="0" bIns="0" rtlCol="0" anchor="t"/>
          <a:lstStyle/>
          <a:p>
            <a:pPr marL="0" indent="0">
              <a:buNone/>
            </a:pPr>
            <a:r>
              <a:rPr lang="en-US" sz="1400" dirty="0">
                <a:solidFill>
                  <a:schemeClr val="tx1"/>
                </a:solidFill>
              </a:rPr>
              <a:t>Build shift tables, trace the search by hand, count comparisons — then construct a worst case and show it is Θ(n²).</a:t>
            </a:r>
            <a:endParaRPr lang="en-US" sz="1400" dirty="0"/>
          </a:p>
        </p:txBody>
      </p:sp>
      <p:sp>
        <p:nvSpPr>
          <p:cNvPr id="8" name="badge-16"/>
          <p:cNvSpPr/>
          <p:nvPr/>
        </p:nvSpPr>
        <p:spPr>
          <a:xfrm>
            <a:off x="731520" y="3840480"/>
            <a:ext cx="566928" cy="292608"/>
          </a:xfrm>
          <a:prstGeom prst="roundRect">
            <a:avLst>
              <a:gd name="adj" fmla="val 43750"/>
            </a:avLst>
          </a:prstGeom>
          <a:solidFill>
            <a:schemeClr val="accent2"/>
          </a:solidFill>
          <a:ln>
            <a:solidFill>
              <a:schemeClr val="accent2"/>
            </a:solidFill>
          </a:ln>
        </p:spPr>
        <p:txBody>
          <a:bodyPr wrap="square" lIns="0" tIns="0" rIns="0" bIns="0" rtlCol="0" anchor="ctr"/>
          <a:lstStyle/>
          <a:p>
            <a:pPr marL="0" indent="0" algn="ctr">
              <a:buNone/>
            </a:pPr>
            <a:r>
              <a:rPr lang="en-US" sz="1200" b="1" dirty="0">
                <a:solidFill>
                  <a:schemeClr val="tx1"/>
                </a:solidFill>
              </a:rPr>
              <a:t>Q67</a:t>
            </a:r>
            <a:endParaRPr lang="en-US" sz="1200" dirty="0"/>
          </a:p>
        </p:txBody>
      </p:sp>
      <p:sp>
        <p:nvSpPr>
          <p:cNvPr id="9" name="badge-17"/>
          <p:cNvSpPr/>
          <p:nvPr/>
        </p:nvSpPr>
        <p:spPr>
          <a:xfrm>
            <a:off x="1408176" y="3840480"/>
            <a:ext cx="566928" cy="292608"/>
          </a:xfrm>
          <a:prstGeom prst="roundRect">
            <a:avLst>
              <a:gd name="adj" fmla="val 43750"/>
            </a:avLst>
          </a:prstGeom>
          <a:solidFill>
            <a:schemeClr val="accent2"/>
          </a:solidFill>
          <a:ln>
            <a:solidFill>
              <a:schemeClr val="accent2"/>
            </a:solidFill>
          </a:ln>
        </p:spPr>
        <p:txBody>
          <a:bodyPr wrap="square" lIns="0" tIns="0" rIns="0" bIns="0" rtlCol="0" anchor="ctr"/>
          <a:lstStyle/>
          <a:p>
            <a:pPr marL="0" indent="0" algn="ctr">
              <a:buNone/>
            </a:pPr>
            <a:r>
              <a:rPr lang="en-US" sz="1200" b="1" dirty="0">
                <a:solidFill>
                  <a:schemeClr val="tx1"/>
                </a:solidFill>
              </a:rPr>
              <a:t>Q68</a:t>
            </a:r>
            <a:endParaRPr lang="en-US" sz="1200" dirty="0"/>
          </a:p>
        </p:txBody>
      </p:sp>
      <p:sp>
        <p:nvSpPr>
          <p:cNvPr id="10" name="badge-18"/>
          <p:cNvSpPr/>
          <p:nvPr/>
        </p:nvSpPr>
        <p:spPr>
          <a:xfrm>
            <a:off x="2084832" y="3840480"/>
            <a:ext cx="566928" cy="292608"/>
          </a:xfrm>
          <a:prstGeom prst="roundRect">
            <a:avLst>
              <a:gd name="adj" fmla="val 43750"/>
            </a:avLst>
          </a:prstGeom>
          <a:solidFill>
            <a:schemeClr val="accent2"/>
          </a:solidFill>
          <a:ln>
            <a:solidFill>
              <a:schemeClr val="accent2"/>
            </a:solidFill>
          </a:ln>
        </p:spPr>
        <p:txBody>
          <a:bodyPr wrap="square" lIns="0" tIns="0" rIns="0" bIns="0" rtlCol="0" anchor="ctr"/>
          <a:lstStyle/>
          <a:p>
            <a:pPr marL="0" indent="0" algn="ctr">
              <a:buNone/>
            </a:pPr>
            <a:r>
              <a:rPr lang="en-US" sz="1200" b="1" dirty="0">
                <a:solidFill>
                  <a:schemeClr val="tx1"/>
                </a:solidFill>
              </a:rPr>
              <a:t>Q69</a:t>
            </a:r>
            <a:endParaRPr lang="en-US" sz="1200" dirty="0"/>
          </a:p>
        </p:txBody>
      </p:sp>
      <p:sp>
        <p:nvSpPr>
          <p:cNvPr id="11" name="badge-19"/>
          <p:cNvSpPr/>
          <p:nvPr/>
        </p:nvSpPr>
        <p:spPr>
          <a:xfrm>
            <a:off x="2761488" y="3840480"/>
            <a:ext cx="566928" cy="292608"/>
          </a:xfrm>
          <a:prstGeom prst="roundRect">
            <a:avLst>
              <a:gd name="adj" fmla="val 43750"/>
            </a:avLst>
          </a:prstGeom>
          <a:solidFill>
            <a:schemeClr val="accent2"/>
          </a:solidFill>
          <a:ln>
            <a:solidFill>
              <a:schemeClr val="accent2"/>
            </a:solidFill>
          </a:ln>
        </p:spPr>
        <p:txBody>
          <a:bodyPr wrap="square" lIns="0" tIns="0" rIns="0" bIns="0" rtlCol="0" anchor="ctr"/>
          <a:lstStyle/>
          <a:p>
            <a:pPr marL="0" indent="0" algn="ctr">
              <a:buNone/>
            </a:pPr>
            <a:r>
              <a:rPr lang="en-US" sz="1200" b="1" dirty="0">
                <a:solidFill>
                  <a:schemeClr val="tx1"/>
                </a:solidFill>
              </a:rPr>
              <a:t>Q70</a:t>
            </a:r>
            <a:endParaRPr lang="en-US" sz="1200" dirty="0"/>
          </a:p>
        </p:txBody>
      </p:sp>
      <p:sp>
        <p:nvSpPr>
          <p:cNvPr id="12" name="card-20"/>
          <p:cNvSpPr/>
          <p:nvPr/>
        </p:nvSpPr>
        <p:spPr>
          <a:xfrm>
            <a:off x="4709160" y="1143000"/>
            <a:ext cx="3977640" cy="3246120"/>
          </a:xfrm>
          <a:prstGeom prst="roundRect">
            <a:avLst>
              <a:gd name="adj" fmla="val 2254"/>
            </a:avLst>
          </a:prstGeom>
          <a:solidFill>
            <a:schemeClr val="bg2"/>
          </a:solidFill>
          <a:ln w="12700">
            <a:solidFill>
              <a:schemeClr val="bg2"/>
            </a:solidFill>
            <a:prstDash val="solid"/>
          </a:ln>
        </p:spPr>
        <p:txBody>
          <a:bodyPr/>
          <a:lstStyle/>
          <a:p>
            <a:endParaRPr lang="en-US"/>
          </a:p>
        </p:txBody>
      </p:sp>
      <p:sp>
        <p:nvSpPr>
          <p:cNvPr id="13" name="iconbg-21"/>
          <p:cNvSpPr/>
          <p:nvPr/>
        </p:nvSpPr>
        <p:spPr>
          <a:xfrm>
            <a:off x="4983480" y="1371600"/>
            <a:ext cx="566928" cy="566928"/>
          </a:xfrm>
          <a:prstGeom prst="ellipse">
            <a:avLst/>
          </a:prstGeom>
          <a:solidFill>
            <a:schemeClr val="tx2"/>
          </a:solidFill>
          <a:ln w="12700">
            <a:solidFill>
              <a:schemeClr val="tx2"/>
            </a:solidFill>
            <a:prstDash val="solid"/>
          </a:ln>
        </p:spPr>
        <p:txBody>
          <a:bodyPr/>
          <a:lstStyle/>
          <a:p>
            <a:endParaRPr lang="en-US"/>
          </a:p>
        </p:txBody>
      </p:sp>
      <p:pic>
        <p:nvPicPr>
          <p:cNvPr id="14" name="icon-22" descr="preencoded.png"/>
          <p:cNvPicPr>
            <a:picLocks noChangeAspect="1"/>
          </p:cNvPicPr>
          <p:nvPr/>
        </p:nvPicPr>
        <p:blipFill>
          <a:blip r:embed="rId4"/>
          <a:stretch>
            <a:fillRect/>
          </a:stretch>
        </p:blipFill>
        <p:spPr>
          <a:xfrm>
            <a:off x="5125212" y="1513332"/>
            <a:ext cx="283464" cy="283464"/>
          </a:xfrm>
          <a:prstGeom prst="rect">
            <a:avLst/>
          </a:prstGeom>
        </p:spPr>
      </p:pic>
      <p:sp>
        <p:nvSpPr>
          <p:cNvPr id="15" name="text-23"/>
          <p:cNvSpPr txBox="1"/>
          <p:nvPr/>
        </p:nvSpPr>
        <p:spPr>
          <a:xfrm>
            <a:off x="4983480" y="2103120"/>
            <a:ext cx="3474720"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Part 2 · Hashing</a:t>
            </a:r>
            <a:endParaRPr lang="en-US" sz="1800" dirty="0"/>
          </a:p>
        </p:txBody>
      </p:sp>
      <p:sp>
        <p:nvSpPr>
          <p:cNvPr id="16" name="text-24"/>
          <p:cNvSpPr txBox="1"/>
          <p:nvPr/>
        </p:nvSpPr>
        <p:spPr>
          <a:xfrm>
            <a:off x="4983480" y="2560320"/>
            <a:ext cx="3474720" cy="1097280"/>
          </a:xfrm>
          <a:prstGeom prst="rect">
            <a:avLst/>
          </a:prstGeom>
          <a:noFill/>
          <a:ln/>
        </p:spPr>
        <p:txBody>
          <a:bodyPr wrap="square" lIns="0" tIns="0" rIns="0" bIns="0" rtlCol="0" anchor="t"/>
          <a:lstStyle/>
          <a:p>
            <a:pPr marL="0" indent="0">
              <a:buNone/>
            </a:pPr>
            <a:r>
              <a:rPr lang="en-US" sz="1400" dirty="0">
                <a:solidFill>
                  <a:schemeClr val="tx1"/>
                </a:solidFill>
              </a:rPr>
              <a:t>Insert keys with separate chaining and with linear probing, count key comparisons, then see how double hashing changes the picture.</a:t>
            </a:r>
            <a:endParaRPr lang="en-US" sz="1400" dirty="0"/>
          </a:p>
        </p:txBody>
      </p:sp>
      <p:sp>
        <p:nvSpPr>
          <p:cNvPr id="17" name="badge-25"/>
          <p:cNvSpPr/>
          <p:nvPr/>
        </p:nvSpPr>
        <p:spPr>
          <a:xfrm>
            <a:off x="4983480" y="3840480"/>
            <a:ext cx="566928" cy="292608"/>
          </a:xfrm>
          <a:prstGeom prst="roundRect">
            <a:avLst>
              <a:gd name="adj" fmla="val 43750"/>
            </a:avLst>
          </a:prstGeom>
          <a:solidFill>
            <a:schemeClr val="accent2"/>
          </a:solidFill>
          <a:ln>
            <a:solidFill>
              <a:schemeClr val="accent2"/>
            </a:solidFill>
          </a:ln>
        </p:spPr>
        <p:txBody>
          <a:bodyPr wrap="square" lIns="0" tIns="0" rIns="0" bIns="0" rtlCol="0" anchor="ctr"/>
          <a:lstStyle/>
          <a:p>
            <a:pPr marL="0" indent="0" algn="ctr">
              <a:buNone/>
            </a:pPr>
            <a:r>
              <a:rPr lang="en-US" sz="1200" b="1" dirty="0">
                <a:solidFill>
                  <a:schemeClr val="tx1"/>
                </a:solidFill>
              </a:rPr>
              <a:t>Q72</a:t>
            </a:r>
            <a:endParaRPr lang="en-US" sz="1200" dirty="0"/>
          </a:p>
        </p:txBody>
      </p:sp>
      <p:sp>
        <p:nvSpPr>
          <p:cNvPr id="18" name="badge-26"/>
          <p:cNvSpPr/>
          <p:nvPr/>
        </p:nvSpPr>
        <p:spPr>
          <a:xfrm>
            <a:off x="5660136" y="3840480"/>
            <a:ext cx="566928" cy="292608"/>
          </a:xfrm>
          <a:prstGeom prst="roundRect">
            <a:avLst>
              <a:gd name="adj" fmla="val 43750"/>
            </a:avLst>
          </a:prstGeom>
          <a:solidFill>
            <a:schemeClr val="accent2"/>
          </a:solidFill>
          <a:ln>
            <a:solidFill>
              <a:schemeClr val="accent2"/>
            </a:solidFill>
          </a:ln>
        </p:spPr>
        <p:txBody>
          <a:bodyPr wrap="square" lIns="0" tIns="0" rIns="0" bIns="0" rtlCol="0" anchor="ctr"/>
          <a:lstStyle/>
          <a:p>
            <a:pPr marL="0" indent="0" algn="ctr">
              <a:buNone/>
            </a:pPr>
            <a:r>
              <a:rPr lang="en-US" sz="1200" b="1" dirty="0">
                <a:solidFill>
                  <a:schemeClr val="tx1"/>
                </a:solidFill>
              </a:rPr>
              <a:t>Q73</a:t>
            </a:r>
            <a:endParaRPr lang="en-US" sz="1200" dirty="0"/>
          </a:p>
        </p:txBody>
      </p:sp>
      <p:sp>
        <p:nvSpPr>
          <p:cNvPr id="19" name="badge-27"/>
          <p:cNvSpPr/>
          <p:nvPr/>
        </p:nvSpPr>
        <p:spPr>
          <a:xfrm>
            <a:off x="6336792" y="3840480"/>
            <a:ext cx="1325880" cy="292608"/>
          </a:xfrm>
          <a:prstGeom prst="roundRect">
            <a:avLst>
              <a:gd name="adj" fmla="val 43750"/>
            </a:avLst>
          </a:prstGeom>
          <a:solidFill>
            <a:schemeClr val="accent2"/>
          </a:solidFill>
          <a:ln>
            <a:solidFill>
              <a:schemeClr val="accent2"/>
            </a:solidFill>
          </a:ln>
        </p:spPr>
        <p:txBody>
          <a:bodyPr wrap="square" lIns="0" tIns="0" rIns="0" bIns="0" rtlCol="0" anchor="ctr"/>
          <a:lstStyle/>
          <a:p>
            <a:pPr marL="0" indent="0" algn="ctr">
              <a:buNone/>
            </a:pPr>
            <a:r>
              <a:rPr lang="en-US" sz="1200" b="1" dirty="0">
                <a:solidFill>
                  <a:schemeClr val="tx1"/>
                </a:solidFill>
              </a:rPr>
              <a:t>Double hashing</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37360"/>
            <a:ext cx="8046720" cy="914400"/>
          </a:xfrm>
          <a:prstGeom prst="rect">
            <a:avLst/>
          </a:prstGeom>
          <a:noFill/>
          <a:ln/>
        </p:spPr>
        <p:txBody>
          <a:bodyPr wrap="square" lIns="0" tIns="0" rIns="0" bIns="0" rtlCol="0" anchor="b"/>
          <a:lstStyle/>
          <a:p>
            <a:pPr marL="0" indent="0" algn="l">
              <a:buNone/>
            </a:pPr>
            <a:r>
              <a:rPr lang="en-US" sz="3800" b="1" dirty="0">
                <a:solidFill>
                  <a:schemeClr val="bg1"/>
                </a:solidFill>
              </a:rPr>
              <a:t>Part 1 · Horspool’s string search</a:t>
            </a:r>
            <a:endParaRPr lang="en-US" sz="3800" dirty="0"/>
          </a:p>
        </p:txBody>
      </p:sp>
      <p:sp>
        <p:nvSpPr>
          <p:cNvPr id="3" name="Text 0"/>
          <p:cNvSpPr>
            <a:spLocks noGrp="1"/>
          </p:cNvSpPr>
          <p:nvPr>
            <p:ph type="body" idx="101" hasCustomPrompt="1"/>
          </p:nvPr>
        </p:nvSpPr>
        <p:spPr>
          <a:xfrm>
            <a:off x="548640" y="2743200"/>
            <a:ext cx="8046720" cy="731520"/>
          </a:xfrm>
          <a:prstGeom prst="rect">
            <a:avLst/>
          </a:prstGeom>
          <a:noFill/>
          <a:ln/>
        </p:spPr>
        <p:txBody>
          <a:bodyPr wrap="square" lIns="0" tIns="0" rIns="0" bIns="0" rtlCol="0" anchor="t"/>
          <a:lstStyle/>
          <a:p>
            <a:pPr marL="0" indent="0">
              <a:buNone/>
            </a:pPr>
            <a:r>
              <a:rPr lang="en-US" sz="1800" dirty="0">
                <a:solidFill>
                  <a:schemeClr val="accent6"/>
                </a:solidFill>
              </a:rPr>
              <a:t>Find pattern P (length m) in text T (length n) — but skip ahead whenever we can</a:t>
            </a:r>
            <a:endParaRPr lang="en-US" sz="1800" dirty="0"/>
          </a:p>
        </p:txBody>
      </p:sp>
      <p:sp>
        <p:nvSpPr>
          <p:cNvPr id="4" name="badge-28"/>
          <p:cNvSpPr/>
          <p:nvPr/>
        </p:nvSpPr>
        <p:spPr>
          <a:xfrm>
            <a:off x="548640" y="3840480"/>
            <a:ext cx="621792" cy="292608"/>
          </a:xfrm>
          <a:prstGeom prst="roundRect">
            <a:avLst>
              <a:gd name="adj" fmla="val 43750"/>
            </a:avLst>
          </a:prstGeom>
          <a:solidFill>
            <a:schemeClr val="accent2"/>
          </a:solidFill>
          <a:ln>
            <a:solidFill>
              <a:schemeClr val="accent2"/>
            </a:solidFill>
          </a:ln>
        </p:spPr>
        <p:txBody>
          <a:bodyPr wrap="square" lIns="0" tIns="0" rIns="0" bIns="0" rtlCol="0" anchor="ctr"/>
          <a:lstStyle/>
          <a:p>
            <a:pPr marL="0" indent="0" algn="ctr">
              <a:buNone/>
            </a:pPr>
            <a:r>
              <a:rPr lang="en-US" sz="1200" b="1" dirty="0">
                <a:solidFill>
                  <a:schemeClr val="tx1"/>
                </a:solidFill>
              </a:rPr>
              <a:t>Q67</a:t>
            </a:r>
            <a:endParaRPr lang="en-US" sz="1200" dirty="0"/>
          </a:p>
        </p:txBody>
      </p:sp>
      <p:sp>
        <p:nvSpPr>
          <p:cNvPr id="5" name="badge-29"/>
          <p:cNvSpPr/>
          <p:nvPr/>
        </p:nvSpPr>
        <p:spPr>
          <a:xfrm>
            <a:off x="1280160" y="3840480"/>
            <a:ext cx="621792" cy="292608"/>
          </a:xfrm>
          <a:prstGeom prst="roundRect">
            <a:avLst>
              <a:gd name="adj" fmla="val 43750"/>
            </a:avLst>
          </a:prstGeom>
          <a:solidFill>
            <a:schemeClr val="accent2"/>
          </a:solidFill>
          <a:ln>
            <a:solidFill>
              <a:schemeClr val="accent2"/>
            </a:solidFill>
          </a:ln>
        </p:spPr>
        <p:txBody>
          <a:bodyPr wrap="square" lIns="0" tIns="0" rIns="0" bIns="0" rtlCol="0" anchor="ctr"/>
          <a:lstStyle/>
          <a:p>
            <a:pPr marL="0" indent="0" algn="ctr">
              <a:buNone/>
            </a:pPr>
            <a:r>
              <a:rPr lang="en-US" sz="1200" b="1" dirty="0">
                <a:solidFill>
                  <a:schemeClr val="tx1"/>
                </a:solidFill>
              </a:rPr>
              <a:t>Q68</a:t>
            </a:r>
            <a:endParaRPr lang="en-US" sz="1200" dirty="0"/>
          </a:p>
        </p:txBody>
      </p:sp>
      <p:sp>
        <p:nvSpPr>
          <p:cNvPr id="6" name="badge-30"/>
          <p:cNvSpPr/>
          <p:nvPr/>
        </p:nvSpPr>
        <p:spPr>
          <a:xfrm>
            <a:off x="2011680" y="3840480"/>
            <a:ext cx="621792" cy="292608"/>
          </a:xfrm>
          <a:prstGeom prst="roundRect">
            <a:avLst>
              <a:gd name="adj" fmla="val 43750"/>
            </a:avLst>
          </a:prstGeom>
          <a:solidFill>
            <a:schemeClr val="accent2"/>
          </a:solidFill>
          <a:ln>
            <a:solidFill>
              <a:schemeClr val="accent2"/>
            </a:solidFill>
          </a:ln>
        </p:spPr>
        <p:txBody>
          <a:bodyPr wrap="square" lIns="0" tIns="0" rIns="0" bIns="0" rtlCol="0" anchor="ctr"/>
          <a:lstStyle/>
          <a:p>
            <a:pPr marL="0" indent="0" algn="ctr">
              <a:buNone/>
            </a:pPr>
            <a:r>
              <a:rPr lang="en-US" sz="1200" b="1" dirty="0">
                <a:solidFill>
                  <a:schemeClr val="tx1"/>
                </a:solidFill>
              </a:rPr>
              <a:t>Q69</a:t>
            </a:r>
            <a:endParaRPr lang="en-US" sz="1200" dirty="0"/>
          </a:p>
        </p:txBody>
      </p:sp>
      <p:sp>
        <p:nvSpPr>
          <p:cNvPr id="7" name="badge-31"/>
          <p:cNvSpPr/>
          <p:nvPr/>
        </p:nvSpPr>
        <p:spPr>
          <a:xfrm>
            <a:off x="2743200" y="3840480"/>
            <a:ext cx="621792" cy="292608"/>
          </a:xfrm>
          <a:prstGeom prst="roundRect">
            <a:avLst>
              <a:gd name="adj" fmla="val 43750"/>
            </a:avLst>
          </a:prstGeom>
          <a:solidFill>
            <a:schemeClr val="accent2"/>
          </a:solidFill>
          <a:ln>
            <a:solidFill>
              <a:schemeClr val="accent2"/>
            </a:solidFill>
          </a:ln>
        </p:spPr>
        <p:txBody>
          <a:bodyPr wrap="square" lIns="0" tIns="0" rIns="0" bIns="0" rtlCol="0" anchor="ctr"/>
          <a:lstStyle/>
          <a:p>
            <a:pPr marL="0" indent="0" algn="ctr">
              <a:buNone/>
            </a:pPr>
            <a:r>
              <a:rPr lang="en-US" sz="1200" b="1" dirty="0">
                <a:solidFill>
                  <a:schemeClr val="tx1"/>
                </a:solidFill>
              </a:rPr>
              <a:t>Q70</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Same alignments, smarter jumps</a:t>
            </a:r>
            <a:endParaRPr lang="en-US" sz="3000" dirty="0"/>
          </a:p>
        </p:txBody>
      </p:sp>
      <p:sp>
        <p:nvSpPr>
          <p:cNvPr id="3" name="card-32"/>
          <p:cNvSpPr/>
          <p:nvPr/>
        </p:nvSpPr>
        <p:spPr>
          <a:xfrm>
            <a:off x="457200" y="1097280"/>
            <a:ext cx="3977640" cy="3429000"/>
          </a:xfrm>
          <a:prstGeom prst="roundRect">
            <a:avLst>
              <a:gd name="adj" fmla="val 2133"/>
            </a:avLst>
          </a:prstGeom>
          <a:solidFill>
            <a:schemeClr val="bg2"/>
          </a:solidFill>
          <a:ln w="12700">
            <a:solidFill>
              <a:schemeClr val="bg2"/>
            </a:solidFill>
            <a:prstDash val="solid"/>
          </a:ln>
        </p:spPr>
        <p:txBody>
          <a:bodyPr/>
          <a:lstStyle/>
          <a:p>
            <a:endParaRPr lang="en-US"/>
          </a:p>
        </p:txBody>
      </p:sp>
      <p:sp>
        <p:nvSpPr>
          <p:cNvPr id="4" name="text-33"/>
          <p:cNvSpPr txBox="1"/>
          <p:nvPr/>
        </p:nvSpPr>
        <p:spPr>
          <a:xfrm>
            <a:off x="731520" y="1234440"/>
            <a:ext cx="3474720" cy="36576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Brute force</a:t>
            </a:r>
            <a:endParaRPr lang="en-US" sz="1800" dirty="0"/>
          </a:p>
        </p:txBody>
      </p:sp>
      <p:sp>
        <p:nvSpPr>
          <p:cNvPr id="5" name="tile-34"/>
          <p:cNvSpPr/>
          <p:nvPr/>
        </p:nvSpPr>
        <p:spPr>
          <a:xfrm>
            <a:off x="82296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A</a:t>
            </a:r>
            <a:endParaRPr lang="en-US" sz="1300" dirty="0"/>
          </a:p>
        </p:txBody>
      </p:sp>
      <p:sp>
        <p:nvSpPr>
          <p:cNvPr id="6" name="tile-35"/>
          <p:cNvSpPr/>
          <p:nvPr/>
        </p:nvSpPr>
        <p:spPr>
          <a:xfrm>
            <a:off x="118872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L</a:t>
            </a:r>
            <a:endParaRPr lang="en-US" sz="1300" dirty="0"/>
          </a:p>
        </p:txBody>
      </p:sp>
      <p:sp>
        <p:nvSpPr>
          <p:cNvPr id="7" name="tile-36"/>
          <p:cNvSpPr/>
          <p:nvPr/>
        </p:nvSpPr>
        <p:spPr>
          <a:xfrm>
            <a:off x="155448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G</a:t>
            </a:r>
            <a:endParaRPr lang="en-US" sz="1300" dirty="0"/>
          </a:p>
        </p:txBody>
      </p:sp>
      <p:sp>
        <p:nvSpPr>
          <p:cNvPr id="8" name="tile-37"/>
          <p:cNvSpPr/>
          <p:nvPr/>
        </p:nvSpPr>
        <p:spPr>
          <a:xfrm>
            <a:off x="192024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O</a:t>
            </a:r>
            <a:endParaRPr lang="en-US" sz="1300" dirty="0"/>
          </a:p>
        </p:txBody>
      </p:sp>
      <p:sp>
        <p:nvSpPr>
          <p:cNvPr id="9" name="tile-38"/>
          <p:cNvSpPr/>
          <p:nvPr/>
        </p:nvSpPr>
        <p:spPr>
          <a:xfrm>
            <a:off x="228600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R</a:t>
            </a:r>
            <a:endParaRPr lang="en-US" sz="1300" dirty="0"/>
          </a:p>
        </p:txBody>
      </p:sp>
      <p:sp>
        <p:nvSpPr>
          <p:cNvPr id="10" name="tile-39"/>
          <p:cNvSpPr/>
          <p:nvPr/>
        </p:nvSpPr>
        <p:spPr>
          <a:xfrm>
            <a:off x="265176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I</a:t>
            </a:r>
            <a:endParaRPr lang="en-US" sz="1300" dirty="0"/>
          </a:p>
        </p:txBody>
      </p:sp>
      <p:sp>
        <p:nvSpPr>
          <p:cNvPr id="11" name="tile-40"/>
          <p:cNvSpPr/>
          <p:nvPr/>
        </p:nvSpPr>
        <p:spPr>
          <a:xfrm>
            <a:off x="301752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T</a:t>
            </a:r>
            <a:endParaRPr lang="en-US" sz="1300" dirty="0"/>
          </a:p>
        </p:txBody>
      </p:sp>
      <p:sp>
        <p:nvSpPr>
          <p:cNvPr id="12" name="tile-41"/>
          <p:cNvSpPr/>
          <p:nvPr/>
        </p:nvSpPr>
        <p:spPr>
          <a:xfrm>
            <a:off x="338328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H</a:t>
            </a:r>
            <a:endParaRPr lang="en-US" sz="1300" dirty="0"/>
          </a:p>
        </p:txBody>
      </p:sp>
      <p:sp>
        <p:nvSpPr>
          <p:cNvPr id="13" name="tile-42"/>
          <p:cNvSpPr/>
          <p:nvPr/>
        </p:nvSpPr>
        <p:spPr>
          <a:xfrm>
            <a:off x="374904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M</a:t>
            </a:r>
            <a:endParaRPr lang="en-US" sz="1300" dirty="0"/>
          </a:p>
        </p:txBody>
      </p:sp>
      <p:sp>
        <p:nvSpPr>
          <p:cNvPr id="14" name="tile-43"/>
          <p:cNvSpPr/>
          <p:nvPr/>
        </p:nvSpPr>
        <p:spPr>
          <a:xfrm>
            <a:off x="822960" y="2121408"/>
            <a:ext cx="310896" cy="310896"/>
          </a:xfrm>
          <a:prstGeom prst="roundRect">
            <a:avLst>
              <a:gd name="adj" fmla="val 14706"/>
            </a:avLst>
          </a:prstGeom>
          <a:solidFill>
            <a:schemeClr val="accent4"/>
          </a:solidFill>
          <a:ln w="12700">
            <a:solidFill>
              <a:schemeClr val="accent4"/>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G</a:t>
            </a:r>
            <a:endParaRPr lang="en-US" sz="1300" dirty="0"/>
          </a:p>
        </p:txBody>
      </p:sp>
      <p:sp>
        <p:nvSpPr>
          <p:cNvPr id="15" name="tile-44"/>
          <p:cNvSpPr/>
          <p:nvPr/>
        </p:nvSpPr>
        <p:spPr>
          <a:xfrm>
            <a:off x="1188720" y="2121408"/>
            <a:ext cx="310896" cy="310896"/>
          </a:xfrm>
          <a:prstGeom prst="roundRect">
            <a:avLst>
              <a:gd name="adj" fmla="val 14706"/>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accent5"/>
                </a:solidFill>
                <a:latin typeface="Courier New" pitchFamily="34" charset="0"/>
                <a:ea typeface="Courier New" pitchFamily="34" charset="-122"/>
                <a:cs typeface="Courier New" pitchFamily="34" charset="-120"/>
              </a:rPr>
              <a:t>O</a:t>
            </a:r>
            <a:endParaRPr lang="en-US" sz="1300" dirty="0"/>
          </a:p>
        </p:txBody>
      </p:sp>
      <p:sp>
        <p:nvSpPr>
          <p:cNvPr id="16" name="tile-45"/>
          <p:cNvSpPr/>
          <p:nvPr/>
        </p:nvSpPr>
        <p:spPr>
          <a:xfrm>
            <a:off x="1554480" y="2121408"/>
            <a:ext cx="310896" cy="310896"/>
          </a:xfrm>
          <a:prstGeom prst="roundRect">
            <a:avLst>
              <a:gd name="adj" fmla="val 14706"/>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accent5"/>
                </a:solidFill>
                <a:latin typeface="Courier New" pitchFamily="34" charset="0"/>
                <a:ea typeface="Courier New" pitchFamily="34" charset="-122"/>
                <a:cs typeface="Courier New" pitchFamily="34" charset="-120"/>
              </a:rPr>
              <a:t>R</a:t>
            </a:r>
            <a:endParaRPr lang="en-US" sz="1300" dirty="0"/>
          </a:p>
        </p:txBody>
      </p:sp>
      <p:sp>
        <p:nvSpPr>
          <p:cNvPr id="17" name="tile-46"/>
          <p:cNvSpPr/>
          <p:nvPr/>
        </p:nvSpPr>
        <p:spPr>
          <a:xfrm>
            <a:off x="1920240" y="2121408"/>
            <a:ext cx="310896" cy="310896"/>
          </a:xfrm>
          <a:prstGeom prst="roundRect">
            <a:avLst>
              <a:gd name="adj" fmla="val 14706"/>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accent5"/>
                </a:solidFill>
                <a:latin typeface="Courier New" pitchFamily="34" charset="0"/>
                <a:ea typeface="Courier New" pitchFamily="34" charset="-122"/>
                <a:cs typeface="Courier New" pitchFamily="34" charset="-120"/>
              </a:rPr>
              <a:t>E</a:t>
            </a:r>
            <a:endParaRPr lang="en-US" sz="1300" dirty="0"/>
          </a:p>
        </p:txBody>
      </p:sp>
      <p:sp>
        <p:nvSpPr>
          <p:cNvPr id="18" name="arrow-47"/>
          <p:cNvSpPr/>
          <p:nvPr/>
        </p:nvSpPr>
        <p:spPr>
          <a:xfrm>
            <a:off x="822960" y="2578608"/>
            <a:ext cx="1408176" cy="0"/>
          </a:xfrm>
          <a:prstGeom prst="line">
            <a:avLst/>
          </a:prstGeom>
          <a:noFill/>
          <a:ln w="19050">
            <a:solidFill>
              <a:schemeClr val="accent1"/>
            </a:solidFill>
            <a:prstDash val="solid"/>
            <a:tailEnd type="triangle"/>
          </a:ln>
        </p:spPr>
        <p:txBody>
          <a:bodyPr/>
          <a:lstStyle/>
          <a:p>
            <a:endParaRPr lang="en-US"/>
          </a:p>
        </p:txBody>
      </p:sp>
      <p:sp>
        <p:nvSpPr>
          <p:cNvPr id="19" name="text-48"/>
          <p:cNvSpPr txBox="1"/>
          <p:nvPr/>
        </p:nvSpPr>
        <p:spPr>
          <a:xfrm>
            <a:off x="2423160" y="2121408"/>
            <a:ext cx="1828800" cy="310896"/>
          </a:xfrm>
          <a:prstGeom prst="rect">
            <a:avLst/>
          </a:prstGeom>
          <a:noFill/>
          <a:ln/>
        </p:spPr>
        <p:txBody>
          <a:bodyPr wrap="square" lIns="0" tIns="0" rIns="0" bIns="0" rtlCol="0" anchor="ctr"/>
          <a:lstStyle/>
          <a:p>
            <a:pPr marL="0" indent="0">
              <a:buNone/>
            </a:pPr>
            <a:r>
              <a:rPr lang="en-US" sz="1200" b="1" dirty="0">
                <a:solidFill>
                  <a:schemeClr val="tx2"/>
                </a:solidFill>
              </a:rPr>
              <a:t>then shift by 1</a:t>
            </a:r>
            <a:endParaRPr lang="en-US" sz="1200" dirty="0"/>
          </a:p>
        </p:txBody>
      </p:sp>
      <p:sp>
        <p:nvSpPr>
          <p:cNvPr id="20" name="list-49"/>
          <p:cNvSpPr txBox="1"/>
          <p:nvPr/>
        </p:nvSpPr>
        <p:spPr>
          <a:xfrm>
            <a:off x="731520" y="2834640"/>
            <a:ext cx="34747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Compare left → right</a:t>
            </a:r>
            <a:endParaRPr lang="en-US" sz="1400" dirty="0"/>
          </a:p>
          <a:p>
            <a:pPr marL="342900" indent="-342900">
              <a:spcAft>
                <a:spcPts val="600"/>
              </a:spcAft>
              <a:buSzPct val="100000"/>
              <a:buChar char="•"/>
            </a:pPr>
            <a:r>
              <a:rPr lang="en-US" sz="1400" dirty="0">
                <a:solidFill>
                  <a:schemeClr val="tx1"/>
                </a:solidFill>
              </a:rPr>
              <a:t>On mismatch: always shift by 1</a:t>
            </a:r>
            <a:endParaRPr lang="en-US" sz="1400" dirty="0"/>
          </a:p>
          <a:p>
            <a:pPr marL="342900" indent="-342900">
              <a:spcAft>
                <a:spcPts val="600"/>
              </a:spcAft>
              <a:buSzPct val="100000"/>
              <a:buChar char="•"/>
            </a:pPr>
            <a:r>
              <a:rPr lang="en-US" sz="1400" dirty="0">
                <a:solidFill>
                  <a:schemeClr val="tx1"/>
                </a:solidFill>
              </a:rPr>
              <a:t>Worst case m(n − m + 1) = O(mn)</a:t>
            </a:r>
            <a:endParaRPr lang="en-US" sz="1400" dirty="0"/>
          </a:p>
        </p:txBody>
      </p:sp>
      <p:sp>
        <p:nvSpPr>
          <p:cNvPr id="21" name="card-50"/>
          <p:cNvSpPr/>
          <p:nvPr/>
        </p:nvSpPr>
        <p:spPr>
          <a:xfrm>
            <a:off x="4709160" y="1097280"/>
            <a:ext cx="3977640" cy="3429000"/>
          </a:xfrm>
          <a:prstGeom prst="roundRect">
            <a:avLst>
              <a:gd name="adj" fmla="val 2133"/>
            </a:avLst>
          </a:prstGeom>
          <a:solidFill>
            <a:schemeClr val="bg2"/>
          </a:solidFill>
          <a:ln w="12700">
            <a:solidFill>
              <a:schemeClr val="bg2"/>
            </a:solidFill>
            <a:prstDash val="solid"/>
          </a:ln>
        </p:spPr>
        <p:txBody>
          <a:bodyPr/>
          <a:lstStyle/>
          <a:p>
            <a:endParaRPr lang="en-US"/>
          </a:p>
        </p:txBody>
      </p:sp>
      <p:sp>
        <p:nvSpPr>
          <p:cNvPr id="22" name="text-51"/>
          <p:cNvSpPr txBox="1"/>
          <p:nvPr/>
        </p:nvSpPr>
        <p:spPr>
          <a:xfrm>
            <a:off x="4983480" y="1234440"/>
            <a:ext cx="3474720" cy="36576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Horspool</a:t>
            </a:r>
            <a:endParaRPr lang="en-US" sz="1800" dirty="0"/>
          </a:p>
        </p:txBody>
      </p:sp>
      <p:sp>
        <p:nvSpPr>
          <p:cNvPr id="23" name="tile-52"/>
          <p:cNvSpPr/>
          <p:nvPr/>
        </p:nvSpPr>
        <p:spPr>
          <a:xfrm>
            <a:off x="507492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A</a:t>
            </a:r>
            <a:endParaRPr lang="en-US" sz="1300" dirty="0"/>
          </a:p>
        </p:txBody>
      </p:sp>
      <p:sp>
        <p:nvSpPr>
          <p:cNvPr id="24" name="tile-53"/>
          <p:cNvSpPr/>
          <p:nvPr/>
        </p:nvSpPr>
        <p:spPr>
          <a:xfrm>
            <a:off x="544068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L</a:t>
            </a:r>
            <a:endParaRPr lang="en-US" sz="1300" dirty="0"/>
          </a:p>
        </p:txBody>
      </p:sp>
      <p:sp>
        <p:nvSpPr>
          <p:cNvPr id="25" name="tile-54"/>
          <p:cNvSpPr/>
          <p:nvPr/>
        </p:nvSpPr>
        <p:spPr>
          <a:xfrm>
            <a:off x="580644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G</a:t>
            </a:r>
            <a:endParaRPr lang="en-US" sz="1300" dirty="0"/>
          </a:p>
        </p:txBody>
      </p:sp>
      <p:sp>
        <p:nvSpPr>
          <p:cNvPr id="26" name="tile-55"/>
          <p:cNvSpPr/>
          <p:nvPr/>
        </p:nvSpPr>
        <p:spPr>
          <a:xfrm>
            <a:off x="617220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O</a:t>
            </a:r>
            <a:endParaRPr lang="en-US" sz="1300" dirty="0"/>
          </a:p>
        </p:txBody>
      </p:sp>
      <p:sp>
        <p:nvSpPr>
          <p:cNvPr id="27" name="tile-56"/>
          <p:cNvSpPr/>
          <p:nvPr/>
        </p:nvSpPr>
        <p:spPr>
          <a:xfrm>
            <a:off x="653796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R</a:t>
            </a:r>
            <a:endParaRPr lang="en-US" sz="1300" dirty="0"/>
          </a:p>
        </p:txBody>
      </p:sp>
      <p:sp>
        <p:nvSpPr>
          <p:cNvPr id="28" name="tile-57"/>
          <p:cNvSpPr/>
          <p:nvPr/>
        </p:nvSpPr>
        <p:spPr>
          <a:xfrm>
            <a:off x="690372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I</a:t>
            </a:r>
            <a:endParaRPr lang="en-US" sz="1300" dirty="0"/>
          </a:p>
        </p:txBody>
      </p:sp>
      <p:sp>
        <p:nvSpPr>
          <p:cNvPr id="29" name="tile-58"/>
          <p:cNvSpPr/>
          <p:nvPr/>
        </p:nvSpPr>
        <p:spPr>
          <a:xfrm>
            <a:off x="726948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T</a:t>
            </a:r>
            <a:endParaRPr lang="en-US" sz="1300" dirty="0"/>
          </a:p>
        </p:txBody>
      </p:sp>
      <p:sp>
        <p:nvSpPr>
          <p:cNvPr id="30" name="tile-59"/>
          <p:cNvSpPr/>
          <p:nvPr/>
        </p:nvSpPr>
        <p:spPr>
          <a:xfrm>
            <a:off x="763524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H</a:t>
            </a:r>
            <a:endParaRPr lang="en-US" sz="1300" dirty="0"/>
          </a:p>
        </p:txBody>
      </p:sp>
      <p:sp>
        <p:nvSpPr>
          <p:cNvPr id="31" name="tile-60"/>
          <p:cNvSpPr/>
          <p:nvPr/>
        </p:nvSpPr>
        <p:spPr>
          <a:xfrm>
            <a:off x="8001000" y="1737360"/>
            <a:ext cx="310896" cy="310896"/>
          </a:xfrm>
          <a:prstGeom prst="roundRect">
            <a:avLst>
              <a:gd name="adj" fmla="val 14706"/>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M</a:t>
            </a:r>
            <a:endParaRPr lang="en-US" sz="1300" dirty="0"/>
          </a:p>
        </p:txBody>
      </p:sp>
      <p:sp>
        <p:nvSpPr>
          <p:cNvPr id="32" name="tile-61"/>
          <p:cNvSpPr/>
          <p:nvPr/>
        </p:nvSpPr>
        <p:spPr>
          <a:xfrm>
            <a:off x="5074920" y="2121408"/>
            <a:ext cx="310896" cy="310896"/>
          </a:xfrm>
          <a:prstGeom prst="roundRect">
            <a:avLst>
              <a:gd name="adj" fmla="val 14706"/>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accent5"/>
                </a:solidFill>
                <a:latin typeface="Courier New" pitchFamily="34" charset="0"/>
                <a:ea typeface="Courier New" pitchFamily="34" charset="-122"/>
                <a:cs typeface="Courier New" pitchFamily="34" charset="-120"/>
              </a:rPr>
              <a:t>G</a:t>
            </a:r>
            <a:endParaRPr lang="en-US" sz="1300" dirty="0"/>
          </a:p>
        </p:txBody>
      </p:sp>
      <p:sp>
        <p:nvSpPr>
          <p:cNvPr id="33" name="tile-62"/>
          <p:cNvSpPr/>
          <p:nvPr/>
        </p:nvSpPr>
        <p:spPr>
          <a:xfrm>
            <a:off x="5440680" y="2121408"/>
            <a:ext cx="310896" cy="310896"/>
          </a:xfrm>
          <a:prstGeom prst="roundRect">
            <a:avLst>
              <a:gd name="adj" fmla="val 14706"/>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accent5"/>
                </a:solidFill>
                <a:latin typeface="Courier New" pitchFamily="34" charset="0"/>
                <a:ea typeface="Courier New" pitchFamily="34" charset="-122"/>
                <a:cs typeface="Courier New" pitchFamily="34" charset="-120"/>
              </a:rPr>
              <a:t>O</a:t>
            </a:r>
            <a:endParaRPr lang="en-US" sz="1300" dirty="0"/>
          </a:p>
        </p:txBody>
      </p:sp>
      <p:sp>
        <p:nvSpPr>
          <p:cNvPr id="34" name="tile-63"/>
          <p:cNvSpPr/>
          <p:nvPr/>
        </p:nvSpPr>
        <p:spPr>
          <a:xfrm>
            <a:off x="5806440" y="2121408"/>
            <a:ext cx="310896" cy="310896"/>
          </a:xfrm>
          <a:prstGeom prst="roundRect">
            <a:avLst>
              <a:gd name="adj" fmla="val 14706"/>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accent5"/>
                </a:solidFill>
                <a:latin typeface="Courier New" pitchFamily="34" charset="0"/>
                <a:ea typeface="Courier New" pitchFamily="34" charset="-122"/>
                <a:cs typeface="Courier New" pitchFamily="34" charset="-120"/>
              </a:rPr>
              <a:t>R</a:t>
            </a:r>
            <a:endParaRPr lang="en-US" sz="1300" dirty="0"/>
          </a:p>
        </p:txBody>
      </p:sp>
      <p:sp>
        <p:nvSpPr>
          <p:cNvPr id="35" name="tile-64"/>
          <p:cNvSpPr/>
          <p:nvPr/>
        </p:nvSpPr>
        <p:spPr>
          <a:xfrm>
            <a:off x="6172200" y="2121408"/>
            <a:ext cx="310896" cy="310896"/>
          </a:xfrm>
          <a:prstGeom prst="roundRect">
            <a:avLst>
              <a:gd name="adj" fmla="val 14706"/>
            </a:avLst>
          </a:prstGeom>
          <a:solidFill>
            <a:schemeClr val="accent4"/>
          </a:solidFill>
          <a:ln w="12700">
            <a:solidFill>
              <a:schemeClr val="accent4"/>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E</a:t>
            </a:r>
            <a:endParaRPr lang="en-US" sz="1300" dirty="0"/>
          </a:p>
        </p:txBody>
      </p:sp>
      <p:sp>
        <p:nvSpPr>
          <p:cNvPr id="36" name="arrow-65"/>
          <p:cNvSpPr/>
          <p:nvPr/>
        </p:nvSpPr>
        <p:spPr>
          <a:xfrm flipH="1">
            <a:off x="5074920" y="2578608"/>
            <a:ext cx="1408176" cy="0"/>
          </a:xfrm>
          <a:prstGeom prst="line">
            <a:avLst/>
          </a:prstGeom>
          <a:noFill/>
          <a:ln w="19050">
            <a:solidFill>
              <a:schemeClr val="accent1"/>
            </a:solidFill>
            <a:prstDash val="solid"/>
            <a:tailEnd type="triangle"/>
          </a:ln>
        </p:spPr>
        <p:txBody>
          <a:bodyPr/>
          <a:lstStyle/>
          <a:p>
            <a:endParaRPr lang="en-US"/>
          </a:p>
        </p:txBody>
      </p:sp>
      <p:sp>
        <p:nvSpPr>
          <p:cNvPr id="37" name="text-66"/>
          <p:cNvSpPr txBox="1"/>
          <p:nvPr/>
        </p:nvSpPr>
        <p:spPr>
          <a:xfrm>
            <a:off x="6675120" y="2121408"/>
            <a:ext cx="1828800" cy="310896"/>
          </a:xfrm>
          <a:prstGeom prst="rect">
            <a:avLst/>
          </a:prstGeom>
          <a:noFill/>
          <a:ln/>
        </p:spPr>
        <p:txBody>
          <a:bodyPr wrap="square" lIns="0" tIns="0" rIns="0" bIns="0" rtlCol="0" anchor="ctr"/>
          <a:lstStyle/>
          <a:p>
            <a:pPr marL="0" indent="0">
              <a:buNone/>
            </a:pPr>
            <a:r>
              <a:rPr lang="en-US" sz="1200" b="1" dirty="0">
                <a:solidFill>
                  <a:schemeClr val="tx2"/>
                </a:solidFill>
              </a:rPr>
              <a:t>T[3] = O → shift S[O] = 2</a:t>
            </a:r>
            <a:endParaRPr lang="en-US" sz="1200" dirty="0"/>
          </a:p>
        </p:txBody>
      </p:sp>
      <p:sp>
        <p:nvSpPr>
          <p:cNvPr id="38" name="list-67"/>
          <p:cNvSpPr txBox="1"/>
          <p:nvPr/>
        </p:nvSpPr>
        <p:spPr>
          <a:xfrm>
            <a:off x="4983480" y="2834640"/>
            <a:ext cx="34747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Compare right → left (last char first)</a:t>
            </a:r>
            <a:endParaRPr lang="en-US" sz="1400" dirty="0"/>
          </a:p>
          <a:p>
            <a:pPr marL="342900" indent="-342900">
              <a:spcAft>
                <a:spcPts val="600"/>
              </a:spcAft>
              <a:buSzPct val="100000"/>
              <a:buChar char="•"/>
            </a:pPr>
            <a:r>
              <a:rPr lang="en-US" sz="1400" dirty="0">
                <a:solidFill>
                  <a:schemeClr val="tx1"/>
                </a:solidFill>
              </a:rPr>
              <a:t>On mismatch: look at the text char under the pattern’s last cell and jump by a precomputed amount</a:t>
            </a:r>
            <a:endParaRPr lang="en-US" sz="1400" dirty="0"/>
          </a:p>
          <a:p>
            <a:pPr marL="342900" indent="-342900">
              <a:spcAft>
                <a:spcPts val="600"/>
              </a:spcAft>
              <a:buSzPct val="100000"/>
              <a:buChar char="•"/>
            </a:pPr>
            <a:r>
              <a:rPr lang="en-US" sz="1400" dirty="0">
                <a:solidFill>
                  <a:schemeClr val="tx1"/>
                </a:solidFill>
              </a:rPr>
              <a:t>Worst case still O(mn) — but fast in practice</a:t>
            </a:r>
            <a:endParaRPr lang="en-US" sz="1400" dirty="0"/>
          </a:p>
        </p:txBody>
      </p:sp>
      <p:sp>
        <p:nvSpPr>
          <p:cNvPr id="39"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Building the shift table</a:t>
            </a:r>
            <a:endParaRPr lang="en-US" sz="3000" dirty="0"/>
          </a:p>
        </p:txBody>
      </p:sp>
      <p:sp>
        <p:nvSpPr>
          <p:cNvPr id="3" name="num-68"/>
          <p:cNvSpPr/>
          <p:nvPr/>
        </p:nvSpPr>
        <p:spPr>
          <a:xfrm>
            <a:off x="457200" y="1097280"/>
            <a:ext cx="384048" cy="384048"/>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4" name="text-69"/>
          <p:cNvSpPr txBox="1"/>
          <p:nvPr/>
        </p:nvSpPr>
        <p:spPr>
          <a:xfrm>
            <a:off x="987552" y="1060704"/>
            <a:ext cx="3383280" cy="548640"/>
          </a:xfrm>
          <a:prstGeom prst="rect">
            <a:avLst/>
          </a:prstGeom>
          <a:noFill/>
          <a:ln/>
        </p:spPr>
        <p:txBody>
          <a:bodyPr wrap="square" lIns="0" tIns="0" rIns="0" bIns="0" rtlCol="0" anchor="ctr"/>
          <a:lstStyle/>
          <a:p>
            <a:pPr marL="0" indent="0">
              <a:buNone/>
            </a:pPr>
            <a:r>
              <a:rPr lang="en-US" sz="1400" dirty="0">
                <a:solidFill>
                  <a:schemeClr val="tx1"/>
                </a:solidFill>
              </a:rPr>
              <a:t>Make an array with one cell per alphabet character</a:t>
            </a:r>
            <a:endParaRPr lang="en-US" sz="1400" dirty="0"/>
          </a:p>
        </p:txBody>
      </p:sp>
      <p:sp>
        <p:nvSpPr>
          <p:cNvPr id="5" name="num-70"/>
          <p:cNvSpPr/>
          <p:nvPr/>
        </p:nvSpPr>
        <p:spPr>
          <a:xfrm>
            <a:off x="457200" y="1700784"/>
            <a:ext cx="384048" cy="384048"/>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6" name="text-71"/>
          <p:cNvSpPr txBox="1"/>
          <p:nvPr/>
        </p:nvSpPr>
        <p:spPr>
          <a:xfrm>
            <a:off x="987552" y="1664208"/>
            <a:ext cx="3383280" cy="548640"/>
          </a:xfrm>
          <a:prstGeom prst="rect">
            <a:avLst/>
          </a:prstGeom>
          <a:noFill/>
          <a:ln/>
        </p:spPr>
        <p:txBody>
          <a:bodyPr wrap="square" lIns="0" tIns="0" rIns="0" bIns="0" rtlCol="0" anchor="ctr"/>
          <a:lstStyle/>
          <a:p>
            <a:pPr marL="0" indent="0">
              <a:buNone/>
            </a:pPr>
            <a:r>
              <a:rPr lang="en-US" sz="1400" dirty="0">
                <a:solidFill>
                  <a:schemeClr val="tx1"/>
                </a:solidFill>
              </a:rPr>
              <a:t>Set every cell to m (char not in pattern → jump the whole pattern)</a:t>
            </a:r>
            <a:endParaRPr lang="en-US" sz="1400" dirty="0"/>
          </a:p>
        </p:txBody>
      </p:sp>
      <p:sp>
        <p:nvSpPr>
          <p:cNvPr id="7" name="num-72"/>
          <p:cNvSpPr/>
          <p:nvPr/>
        </p:nvSpPr>
        <p:spPr>
          <a:xfrm>
            <a:off x="457200" y="2304288"/>
            <a:ext cx="384048" cy="384048"/>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8" name="text-73"/>
          <p:cNvSpPr txBox="1"/>
          <p:nvPr/>
        </p:nvSpPr>
        <p:spPr>
          <a:xfrm>
            <a:off x="987552" y="2267712"/>
            <a:ext cx="3383280" cy="548640"/>
          </a:xfrm>
          <a:prstGeom prst="rect">
            <a:avLst/>
          </a:prstGeom>
          <a:noFill/>
          <a:ln/>
        </p:spPr>
        <p:txBody>
          <a:bodyPr wrap="square" lIns="0" tIns="0" rIns="0" bIns="0" rtlCol="0" anchor="ctr"/>
          <a:lstStyle/>
          <a:p>
            <a:pPr marL="0" indent="0">
              <a:buNone/>
            </a:pPr>
            <a:r>
              <a:rPr lang="en-US" sz="1400" dirty="0">
                <a:solidFill>
                  <a:schemeClr val="tx1"/>
                </a:solidFill>
              </a:rPr>
              <a:t>For j = 0 … m − 2 (skip the last char):</a:t>
            </a:r>
            <a:endParaRPr lang="en-US" sz="1400" dirty="0"/>
          </a:p>
          <a:p>
            <a:pPr marL="0" indent="0">
              <a:buNone/>
            </a:pPr>
            <a:r>
              <a:rPr lang="en-US" sz="1400" dirty="0">
                <a:solidFill>
                  <a:schemeClr val="tx1"/>
                </a:solidFill>
              </a:rPr>
              <a:t>S[P[j]] ← m − 1 − j</a:t>
            </a:r>
            <a:endParaRPr lang="en-US" sz="1400" dirty="0"/>
          </a:p>
        </p:txBody>
      </p:sp>
      <p:sp>
        <p:nvSpPr>
          <p:cNvPr id="9" name="card-74"/>
          <p:cNvSpPr/>
          <p:nvPr/>
        </p:nvSpPr>
        <p:spPr>
          <a:xfrm>
            <a:off x="4663440" y="1097280"/>
            <a:ext cx="4023360" cy="1691640"/>
          </a:xfrm>
          <a:prstGeom prst="roundRect">
            <a:avLst>
              <a:gd name="adj" fmla="val 4324"/>
            </a:avLst>
          </a:prstGeom>
          <a:solidFill>
            <a:schemeClr val="bg2"/>
          </a:solidFill>
          <a:ln w="12700">
            <a:solidFill>
              <a:schemeClr val="bg2"/>
            </a:solidFill>
            <a:prstDash val="solid"/>
          </a:ln>
        </p:spPr>
        <p:txBody>
          <a:bodyPr/>
          <a:lstStyle/>
          <a:p>
            <a:endParaRPr lang="en-US"/>
          </a:p>
        </p:txBody>
      </p:sp>
      <p:sp>
        <p:nvSpPr>
          <p:cNvPr id="10" name="code-75"/>
          <p:cNvSpPr txBox="1"/>
          <p:nvPr/>
        </p:nvSpPr>
        <p:spPr>
          <a:xfrm>
            <a:off x="4892040" y="1261872"/>
            <a:ext cx="3566160" cy="1362456"/>
          </a:xfrm>
          <a:prstGeom prst="rect">
            <a:avLst/>
          </a:prstGeom>
          <a:noFill/>
          <a:ln/>
        </p:spPr>
        <p:txBody>
          <a:bodyPr wrap="square" lIns="0" tIns="0" rIns="0" bIns="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function FINDSHIFTS(P[0..m−1])</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for each char c in alphabet:</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Shift[c] ← m</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for j ← 0 to m − 2 do</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Shift[P[j]] ← m − 1 − j</a:t>
            </a:r>
            <a:endParaRPr lang="en-US" sz="1300" dirty="0"/>
          </a:p>
        </p:txBody>
      </p:sp>
      <p:sp>
        <p:nvSpPr>
          <p:cNvPr id="11" name="card-76"/>
          <p:cNvSpPr/>
          <p:nvPr/>
        </p:nvSpPr>
        <p:spPr>
          <a:xfrm>
            <a:off x="457200" y="3017520"/>
            <a:ext cx="8229600" cy="1554480"/>
          </a:xfrm>
          <a:prstGeom prst="roundRect">
            <a:avLst>
              <a:gd name="adj" fmla="val 4706"/>
            </a:avLst>
          </a:prstGeom>
          <a:solidFill>
            <a:schemeClr val="bg2"/>
          </a:solidFill>
          <a:ln w="12700">
            <a:solidFill>
              <a:schemeClr val="bg2"/>
            </a:solidFill>
            <a:prstDash val="solid"/>
          </a:ln>
        </p:spPr>
        <p:txBody>
          <a:bodyPr/>
          <a:lstStyle/>
          <a:p>
            <a:endParaRPr lang="en-US"/>
          </a:p>
        </p:txBody>
      </p:sp>
      <p:sp>
        <p:nvSpPr>
          <p:cNvPr id="12" name="text-77"/>
          <p:cNvSpPr txBox="1"/>
          <p:nvPr/>
        </p:nvSpPr>
        <p:spPr>
          <a:xfrm>
            <a:off x="685800" y="3127248"/>
            <a:ext cx="3200400" cy="274320"/>
          </a:xfrm>
          <a:prstGeom prst="rect">
            <a:avLst/>
          </a:prstGeom>
          <a:noFill/>
          <a:ln/>
        </p:spPr>
        <p:txBody>
          <a:bodyPr wrap="square" lIns="0" tIns="0" rIns="0" bIns="0" rtlCol="0" anchor="t"/>
          <a:lstStyle/>
          <a:p>
            <a:pPr marL="0" indent="0">
              <a:buNone/>
            </a:pPr>
            <a:r>
              <a:rPr lang="en-US" sz="1300" b="1" dirty="0">
                <a:solidFill>
                  <a:schemeClr val="tx2"/>
                </a:solidFill>
              </a:rPr>
              <a:t>e.g. P = BARBER  (m = 6)</a:t>
            </a:r>
            <a:endParaRPr lang="en-US" sz="1300" dirty="0"/>
          </a:p>
        </p:txBody>
      </p:sp>
      <p:sp>
        <p:nvSpPr>
          <p:cNvPr id="13" name="text-78"/>
          <p:cNvSpPr txBox="1"/>
          <p:nvPr/>
        </p:nvSpPr>
        <p:spPr>
          <a:xfrm>
            <a:off x="685800" y="3474720"/>
            <a:ext cx="402336" cy="182880"/>
          </a:xfrm>
          <a:prstGeom prst="rect">
            <a:avLst/>
          </a:prstGeom>
          <a:noFill/>
          <a:ln/>
        </p:spPr>
        <p:txBody>
          <a:bodyPr wrap="square" lIns="0" tIns="0" rIns="0" bIns="0" rtlCol="0" anchor="t"/>
          <a:lstStyle/>
          <a:p>
            <a:pPr marL="0" indent="0" algn="ctr">
              <a:buNone/>
            </a:pPr>
            <a:r>
              <a:rPr lang="en-US" sz="900" dirty="0">
                <a:solidFill>
                  <a:schemeClr val="accent5"/>
                </a:solidFill>
              </a:rPr>
              <a:t>j=0</a:t>
            </a:r>
            <a:endParaRPr lang="en-US" sz="900" dirty="0"/>
          </a:p>
        </p:txBody>
      </p:sp>
      <p:sp>
        <p:nvSpPr>
          <p:cNvPr id="14" name="tile-79"/>
          <p:cNvSpPr/>
          <p:nvPr/>
        </p:nvSpPr>
        <p:spPr>
          <a:xfrm>
            <a:off x="685800" y="3675888"/>
            <a:ext cx="402336" cy="402336"/>
          </a:xfrm>
          <a:prstGeom prst="roundRect">
            <a:avLst>
              <a:gd name="adj" fmla="val 11364"/>
            </a:avLst>
          </a:prstGeom>
          <a:solidFill>
            <a:schemeClr val="tx2"/>
          </a:solidFill>
          <a:ln w="12700">
            <a:solidFill>
              <a:schemeClr val="tx2"/>
            </a:solidFill>
          </a:ln>
        </p:spPr>
        <p:txBody>
          <a:bodyPr wrap="square" lIns="0" tIns="0" rIns="0" bIns="0" rtlCol="0" anchor="ctr"/>
          <a:lstStyle/>
          <a:p>
            <a:pPr marL="0" indent="0" algn="ctr">
              <a:buNone/>
            </a:pPr>
            <a:r>
              <a:rPr lang="en-US" sz="1600" b="1" dirty="0">
                <a:solidFill>
                  <a:schemeClr val="bg1"/>
                </a:solidFill>
                <a:latin typeface="Courier New" pitchFamily="34" charset="0"/>
                <a:ea typeface="Courier New" pitchFamily="34" charset="-122"/>
                <a:cs typeface="Courier New" pitchFamily="34" charset="-120"/>
              </a:rPr>
              <a:t>B</a:t>
            </a:r>
            <a:endParaRPr lang="en-US" sz="1600" dirty="0"/>
          </a:p>
        </p:txBody>
      </p:sp>
      <p:sp>
        <p:nvSpPr>
          <p:cNvPr id="15" name="text-80"/>
          <p:cNvSpPr txBox="1"/>
          <p:nvPr/>
        </p:nvSpPr>
        <p:spPr>
          <a:xfrm>
            <a:off x="1143000" y="3474720"/>
            <a:ext cx="402336" cy="182880"/>
          </a:xfrm>
          <a:prstGeom prst="rect">
            <a:avLst/>
          </a:prstGeom>
          <a:noFill/>
          <a:ln/>
        </p:spPr>
        <p:txBody>
          <a:bodyPr wrap="square" lIns="0" tIns="0" rIns="0" bIns="0" rtlCol="0" anchor="t"/>
          <a:lstStyle/>
          <a:p>
            <a:pPr marL="0" indent="0" algn="ctr">
              <a:buNone/>
            </a:pPr>
            <a:r>
              <a:rPr lang="en-US" sz="900" dirty="0">
                <a:solidFill>
                  <a:schemeClr val="accent5"/>
                </a:solidFill>
              </a:rPr>
              <a:t>j=1</a:t>
            </a:r>
            <a:endParaRPr lang="en-US" sz="900" dirty="0"/>
          </a:p>
        </p:txBody>
      </p:sp>
      <p:sp>
        <p:nvSpPr>
          <p:cNvPr id="16" name="tile-81"/>
          <p:cNvSpPr/>
          <p:nvPr/>
        </p:nvSpPr>
        <p:spPr>
          <a:xfrm>
            <a:off x="1143000" y="3675888"/>
            <a:ext cx="402336" cy="402336"/>
          </a:xfrm>
          <a:prstGeom prst="roundRect">
            <a:avLst>
              <a:gd name="adj" fmla="val 11364"/>
            </a:avLst>
          </a:prstGeom>
          <a:solidFill>
            <a:schemeClr val="tx2"/>
          </a:solidFill>
          <a:ln w="12700">
            <a:solidFill>
              <a:schemeClr val="tx2"/>
            </a:solidFill>
          </a:ln>
        </p:spPr>
        <p:txBody>
          <a:bodyPr wrap="square" lIns="0" tIns="0" rIns="0" bIns="0" rtlCol="0" anchor="ctr"/>
          <a:lstStyle/>
          <a:p>
            <a:pPr marL="0" indent="0" algn="ctr">
              <a:buNone/>
            </a:pPr>
            <a:r>
              <a:rPr lang="en-US" sz="1600" b="1" dirty="0">
                <a:solidFill>
                  <a:schemeClr val="bg1"/>
                </a:solidFill>
                <a:latin typeface="Courier New" pitchFamily="34" charset="0"/>
                <a:ea typeface="Courier New" pitchFamily="34" charset="-122"/>
                <a:cs typeface="Courier New" pitchFamily="34" charset="-120"/>
              </a:rPr>
              <a:t>A</a:t>
            </a:r>
            <a:endParaRPr lang="en-US" sz="1600" dirty="0"/>
          </a:p>
        </p:txBody>
      </p:sp>
      <p:sp>
        <p:nvSpPr>
          <p:cNvPr id="17" name="text-82"/>
          <p:cNvSpPr txBox="1"/>
          <p:nvPr/>
        </p:nvSpPr>
        <p:spPr>
          <a:xfrm>
            <a:off x="1600200" y="3474720"/>
            <a:ext cx="402336" cy="182880"/>
          </a:xfrm>
          <a:prstGeom prst="rect">
            <a:avLst/>
          </a:prstGeom>
          <a:noFill/>
          <a:ln/>
        </p:spPr>
        <p:txBody>
          <a:bodyPr wrap="square" lIns="0" tIns="0" rIns="0" bIns="0" rtlCol="0" anchor="t"/>
          <a:lstStyle/>
          <a:p>
            <a:pPr marL="0" indent="0" algn="ctr">
              <a:buNone/>
            </a:pPr>
            <a:r>
              <a:rPr lang="en-US" sz="900" dirty="0">
                <a:solidFill>
                  <a:schemeClr val="accent5"/>
                </a:solidFill>
              </a:rPr>
              <a:t>j=2</a:t>
            </a:r>
            <a:endParaRPr lang="en-US" sz="900" dirty="0"/>
          </a:p>
        </p:txBody>
      </p:sp>
      <p:sp>
        <p:nvSpPr>
          <p:cNvPr id="18" name="tile-83"/>
          <p:cNvSpPr/>
          <p:nvPr/>
        </p:nvSpPr>
        <p:spPr>
          <a:xfrm>
            <a:off x="1600200" y="3675888"/>
            <a:ext cx="402336" cy="402336"/>
          </a:xfrm>
          <a:prstGeom prst="roundRect">
            <a:avLst>
              <a:gd name="adj" fmla="val 11364"/>
            </a:avLst>
          </a:prstGeom>
          <a:solidFill>
            <a:schemeClr val="tx2"/>
          </a:solidFill>
          <a:ln w="12700">
            <a:solidFill>
              <a:schemeClr val="tx2"/>
            </a:solidFill>
          </a:ln>
        </p:spPr>
        <p:txBody>
          <a:bodyPr wrap="square" lIns="0" tIns="0" rIns="0" bIns="0" rtlCol="0" anchor="ctr"/>
          <a:lstStyle/>
          <a:p>
            <a:pPr marL="0" indent="0" algn="ctr">
              <a:buNone/>
            </a:pPr>
            <a:r>
              <a:rPr lang="en-US" sz="1600" b="1" dirty="0">
                <a:solidFill>
                  <a:schemeClr val="bg1"/>
                </a:solidFill>
                <a:latin typeface="Courier New" pitchFamily="34" charset="0"/>
                <a:ea typeface="Courier New" pitchFamily="34" charset="-122"/>
                <a:cs typeface="Courier New" pitchFamily="34" charset="-120"/>
              </a:rPr>
              <a:t>R</a:t>
            </a:r>
            <a:endParaRPr lang="en-US" sz="1600" dirty="0"/>
          </a:p>
        </p:txBody>
      </p:sp>
      <p:sp>
        <p:nvSpPr>
          <p:cNvPr id="19" name="text-84"/>
          <p:cNvSpPr txBox="1"/>
          <p:nvPr/>
        </p:nvSpPr>
        <p:spPr>
          <a:xfrm>
            <a:off x="2057400" y="3474720"/>
            <a:ext cx="402336" cy="182880"/>
          </a:xfrm>
          <a:prstGeom prst="rect">
            <a:avLst/>
          </a:prstGeom>
          <a:noFill/>
          <a:ln/>
        </p:spPr>
        <p:txBody>
          <a:bodyPr wrap="square" lIns="0" tIns="0" rIns="0" bIns="0" rtlCol="0" anchor="t"/>
          <a:lstStyle/>
          <a:p>
            <a:pPr marL="0" indent="0" algn="ctr">
              <a:buNone/>
            </a:pPr>
            <a:r>
              <a:rPr lang="en-US" sz="900" dirty="0">
                <a:solidFill>
                  <a:schemeClr val="accent5"/>
                </a:solidFill>
              </a:rPr>
              <a:t>j=3</a:t>
            </a:r>
            <a:endParaRPr lang="en-US" sz="900" dirty="0"/>
          </a:p>
        </p:txBody>
      </p:sp>
      <p:sp>
        <p:nvSpPr>
          <p:cNvPr id="20" name="tile-85"/>
          <p:cNvSpPr/>
          <p:nvPr/>
        </p:nvSpPr>
        <p:spPr>
          <a:xfrm>
            <a:off x="2057400" y="3675888"/>
            <a:ext cx="402336" cy="402336"/>
          </a:xfrm>
          <a:prstGeom prst="roundRect">
            <a:avLst>
              <a:gd name="adj" fmla="val 11364"/>
            </a:avLst>
          </a:prstGeom>
          <a:solidFill>
            <a:schemeClr val="tx2"/>
          </a:solidFill>
          <a:ln w="12700">
            <a:solidFill>
              <a:schemeClr val="tx2"/>
            </a:solidFill>
          </a:ln>
        </p:spPr>
        <p:txBody>
          <a:bodyPr wrap="square" lIns="0" tIns="0" rIns="0" bIns="0" rtlCol="0" anchor="ctr"/>
          <a:lstStyle/>
          <a:p>
            <a:pPr marL="0" indent="0" algn="ctr">
              <a:buNone/>
            </a:pPr>
            <a:r>
              <a:rPr lang="en-US" sz="1600" b="1" dirty="0">
                <a:solidFill>
                  <a:schemeClr val="bg1"/>
                </a:solidFill>
                <a:latin typeface="Courier New" pitchFamily="34" charset="0"/>
                <a:ea typeface="Courier New" pitchFamily="34" charset="-122"/>
                <a:cs typeface="Courier New" pitchFamily="34" charset="-120"/>
              </a:rPr>
              <a:t>B</a:t>
            </a:r>
            <a:endParaRPr lang="en-US" sz="1600" dirty="0"/>
          </a:p>
        </p:txBody>
      </p:sp>
      <p:sp>
        <p:nvSpPr>
          <p:cNvPr id="21" name="text-86"/>
          <p:cNvSpPr txBox="1"/>
          <p:nvPr/>
        </p:nvSpPr>
        <p:spPr>
          <a:xfrm>
            <a:off x="2514600" y="3474720"/>
            <a:ext cx="402336" cy="182880"/>
          </a:xfrm>
          <a:prstGeom prst="rect">
            <a:avLst/>
          </a:prstGeom>
          <a:noFill/>
          <a:ln/>
        </p:spPr>
        <p:txBody>
          <a:bodyPr wrap="square" lIns="0" tIns="0" rIns="0" bIns="0" rtlCol="0" anchor="t"/>
          <a:lstStyle/>
          <a:p>
            <a:pPr marL="0" indent="0" algn="ctr">
              <a:buNone/>
            </a:pPr>
            <a:r>
              <a:rPr lang="en-US" sz="900" dirty="0">
                <a:solidFill>
                  <a:schemeClr val="accent5"/>
                </a:solidFill>
              </a:rPr>
              <a:t>j=4</a:t>
            </a:r>
            <a:endParaRPr lang="en-US" sz="900" dirty="0"/>
          </a:p>
        </p:txBody>
      </p:sp>
      <p:sp>
        <p:nvSpPr>
          <p:cNvPr id="22" name="tile-87"/>
          <p:cNvSpPr/>
          <p:nvPr/>
        </p:nvSpPr>
        <p:spPr>
          <a:xfrm>
            <a:off x="2514600" y="3675888"/>
            <a:ext cx="402336" cy="402336"/>
          </a:xfrm>
          <a:prstGeom prst="roundRect">
            <a:avLst>
              <a:gd name="adj" fmla="val 11364"/>
            </a:avLst>
          </a:prstGeom>
          <a:solidFill>
            <a:schemeClr val="tx2"/>
          </a:solidFill>
          <a:ln w="12700">
            <a:solidFill>
              <a:schemeClr val="tx2"/>
            </a:solidFill>
          </a:ln>
        </p:spPr>
        <p:txBody>
          <a:bodyPr wrap="square" lIns="0" tIns="0" rIns="0" bIns="0" rtlCol="0" anchor="ctr"/>
          <a:lstStyle/>
          <a:p>
            <a:pPr marL="0" indent="0" algn="ctr">
              <a:buNone/>
            </a:pPr>
            <a:r>
              <a:rPr lang="en-US" sz="1600" b="1" dirty="0">
                <a:solidFill>
                  <a:schemeClr val="bg1"/>
                </a:solidFill>
                <a:latin typeface="Courier New" pitchFamily="34" charset="0"/>
                <a:ea typeface="Courier New" pitchFamily="34" charset="-122"/>
                <a:cs typeface="Courier New" pitchFamily="34" charset="-120"/>
              </a:rPr>
              <a:t>E</a:t>
            </a:r>
            <a:endParaRPr lang="en-US" sz="1600" dirty="0"/>
          </a:p>
        </p:txBody>
      </p:sp>
      <p:sp>
        <p:nvSpPr>
          <p:cNvPr id="23" name="text-88"/>
          <p:cNvSpPr txBox="1"/>
          <p:nvPr/>
        </p:nvSpPr>
        <p:spPr>
          <a:xfrm>
            <a:off x="2971800" y="3474720"/>
            <a:ext cx="402336" cy="182880"/>
          </a:xfrm>
          <a:prstGeom prst="rect">
            <a:avLst/>
          </a:prstGeom>
          <a:noFill/>
          <a:ln/>
        </p:spPr>
        <p:txBody>
          <a:bodyPr wrap="square" lIns="0" tIns="0" rIns="0" bIns="0" rtlCol="0" anchor="t"/>
          <a:lstStyle/>
          <a:p>
            <a:pPr marL="0" indent="0" algn="ctr">
              <a:buNone/>
            </a:pPr>
            <a:r>
              <a:rPr lang="en-US" sz="900" dirty="0">
                <a:solidFill>
                  <a:schemeClr val="accent5"/>
                </a:solidFill>
              </a:rPr>
              <a:t>j=5</a:t>
            </a:r>
            <a:endParaRPr lang="en-US" sz="900" dirty="0"/>
          </a:p>
        </p:txBody>
      </p:sp>
      <p:sp>
        <p:nvSpPr>
          <p:cNvPr id="24" name="tile-89"/>
          <p:cNvSpPr/>
          <p:nvPr/>
        </p:nvSpPr>
        <p:spPr>
          <a:xfrm>
            <a:off x="2971800" y="3675888"/>
            <a:ext cx="402336" cy="402336"/>
          </a:xfrm>
          <a:prstGeom prst="roundRect">
            <a:avLst>
              <a:gd name="adj" fmla="val 11364"/>
            </a:avLst>
          </a:prstGeom>
          <a:solidFill>
            <a:schemeClr val="bg1"/>
          </a:solidFill>
          <a:ln w="12700">
            <a:solidFill>
              <a:schemeClr val="accent6"/>
            </a:solidFill>
          </a:ln>
        </p:spPr>
        <p:txBody>
          <a:bodyPr wrap="square" lIns="0" tIns="0" rIns="0" bIns="0" rtlCol="0" anchor="ctr"/>
          <a:lstStyle/>
          <a:p>
            <a:pPr marL="0" indent="0" algn="ctr">
              <a:buNone/>
            </a:pPr>
            <a:r>
              <a:rPr lang="en-US" sz="1600" b="1" dirty="0">
                <a:solidFill>
                  <a:schemeClr val="accent5"/>
                </a:solidFill>
                <a:latin typeface="Courier New" pitchFamily="34" charset="0"/>
                <a:ea typeface="Courier New" pitchFamily="34" charset="-122"/>
                <a:cs typeface="Courier New" pitchFamily="34" charset="-120"/>
              </a:rPr>
              <a:t>R</a:t>
            </a:r>
            <a:endParaRPr lang="en-US" sz="1600" dirty="0"/>
          </a:p>
        </p:txBody>
      </p:sp>
      <p:sp>
        <p:nvSpPr>
          <p:cNvPr id="25" name="text-90"/>
          <p:cNvSpPr txBox="1"/>
          <p:nvPr/>
        </p:nvSpPr>
        <p:spPr>
          <a:xfrm>
            <a:off x="2743200" y="4133088"/>
            <a:ext cx="914400" cy="228600"/>
          </a:xfrm>
          <a:prstGeom prst="rect">
            <a:avLst/>
          </a:prstGeom>
          <a:noFill/>
          <a:ln/>
        </p:spPr>
        <p:txBody>
          <a:bodyPr wrap="square" lIns="0" tIns="0" rIns="0" bIns="0" rtlCol="0" anchor="t"/>
          <a:lstStyle/>
          <a:p>
            <a:pPr marL="0" indent="0" algn="ctr">
              <a:buNone/>
            </a:pPr>
            <a:r>
              <a:rPr lang="en-US" sz="900" dirty="0">
                <a:solidFill>
                  <a:schemeClr val="accent5"/>
                </a:solidFill>
              </a:rPr>
              <a:t>last char ignored</a:t>
            </a:r>
            <a:endParaRPr lang="en-US" sz="900" dirty="0"/>
          </a:p>
        </p:txBody>
      </p:sp>
      <p:sp>
        <p:nvSpPr>
          <p:cNvPr id="26" name="text-91"/>
          <p:cNvSpPr txBox="1"/>
          <p:nvPr/>
        </p:nvSpPr>
        <p:spPr>
          <a:xfrm>
            <a:off x="3840480" y="3310128"/>
            <a:ext cx="411480" cy="292608"/>
          </a:xfrm>
          <a:prstGeom prst="rect">
            <a:avLst/>
          </a:prstGeom>
          <a:noFill/>
          <a:ln/>
        </p:spPr>
        <p:txBody>
          <a:bodyPr wrap="square" lIns="0" tIns="0" rIns="0" bIns="0" rtlCol="0" anchor="ctr"/>
          <a:lstStyle/>
          <a:p>
            <a:pPr marL="0" indent="0" algn="r">
              <a:buNone/>
            </a:pPr>
            <a:r>
              <a:rPr lang="en-US" sz="1100" dirty="0">
                <a:solidFill>
                  <a:schemeClr val="accent5"/>
                </a:solidFill>
              </a:rPr>
              <a:t>c</a:t>
            </a:r>
            <a:endParaRPr lang="en-US" sz="1100" dirty="0"/>
          </a:p>
        </p:txBody>
      </p:sp>
      <p:sp>
        <p:nvSpPr>
          <p:cNvPr id="27" name="text-92"/>
          <p:cNvSpPr txBox="1"/>
          <p:nvPr/>
        </p:nvSpPr>
        <p:spPr>
          <a:xfrm>
            <a:off x="3657600" y="3639312"/>
            <a:ext cx="594360" cy="292608"/>
          </a:xfrm>
          <a:prstGeom prst="rect">
            <a:avLst/>
          </a:prstGeom>
          <a:noFill/>
          <a:ln/>
        </p:spPr>
        <p:txBody>
          <a:bodyPr wrap="square" lIns="0" tIns="0" rIns="0" bIns="0" rtlCol="0" anchor="ctr"/>
          <a:lstStyle/>
          <a:p>
            <a:pPr marL="0" indent="0" algn="r">
              <a:buNone/>
            </a:pPr>
            <a:r>
              <a:rPr lang="en-US" sz="1100" dirty="0">
                <a:solidFill>
                  <a:schemeClr val="accent5"/>
                </a:solidFill>
              </a:rPr>
              <a:t>S[c]</a:t>
            </a:r>
            <a:endParaRPr lang="en-US" sz="1100" dirty="0"/>
          </a:p>
        </p:txBody>
      </p:sp>
      <p:sp>
        <p:nvSpPr>
          <p:cNvPr id="28" name="tile-93"/>
          <p:cNvSpPr/>
          <p:nvPr/>
        </p:nvSpPr>
        <p:spPr>
          <a:xfrm>
            <a:off x="4343400" y="3310128"/>
            <a:ext cx="402336" cy="292608"/>
          </a:xfrm>
          <a:prstGeom prst="roundRect">
            <a:avLst>
              <a:gd name="adj" fmla="val 15625"/>
            </a:avLst>
          </a:prstGeom>
          <a:solidFill>
            <a:schemeClr val="bg2"/>
          </a:solidFill>
          <a:ln w="12700">
            <a:solidFill>
              <a:schemeClr val="bg2"/>
            </a:solid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A</a:t>
            </a:r>
            <a:endParaRPr lang="en-US" sz="1300" dirty="0"/>
          </a:p>
        </p:txBody>
      </p:sp>
      <p:sp>
        <p:nvSpPr>
          <p:cNvPr id="29" name="tile-94"/>
          <p:cNvSpPr/>
          <p:nvPr/>
        </p:nvSpPr>
        <p:spPr>
          <a:xfrm>
            <a:off x="4343400" y="3639312"/>
            <a:ext cx="402336" cy="292608"/>
          </a:xfrm>
          <a:prstGeom prst="roundRect">
            <a:avLst>
              <a:gd name="adj" fmla="val 15625"/>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tx1"/>
                </a:solidFill>
                <a:latin typeface="Courier New" pitchFamily="34" charset="0"/>
                <a:ea typeface="Courier New" pitchFamily="34" charset="-122"/>
                <a:cs typeface="Courier New" pitchFamily="34" charset="-120"/>
              </a:rPr>
              <a:t>4</a:t>
            </a:r>
            <a:endParaRPr lang="en-US" sz="1300" dirty="0"/>
          </a:p>
        </p:txBody>
      </p:sp>
      <p:sp>
        <p:nvSpPr>
          <p:cNvPr id="30" name="tile-95"/>
          <p:cNvSpPr/>
          <p:nvPr/>
        </p:nvSpPr>
        <p:spPr>
          <a:xfrm>
            <a:off x="4800600" y="3310128"/>
            <a:ext cx="402336" cy="292608"/>
          </a:xfrm>
          <a:prstGeom prst="roundRect">
            <a:avLst>
              <a:gd name="adj" fmla="val 15625"/>
            </a:avLst>
          </a:prstGeom>
          <a:solidFill>
            <a:schemeClr val="bg2"/>
          </a:solidFill>
          <a:ln w="12700">
            <a:solidFill>
              <a:schemeClr val="bg2"/>
            </a:solid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B</a:t>
            </a:r>
            <a:endParaRPr lang="en-US" sz="1300" dirty="0"/>
          </a:p>
        </p:txBody>
      </p:sp>
      <p:sp>
        <p:nvSpPr>
          <p:cNvPr id="31" name="tile-96"/>
          <p:cNvSpPr/>
          <p:nvPr/>
        </p:nvSpPr>
        <p:spPr>
          <a:xfrm>
            <a:off x="4800600" y="3639312"/>
            <a:ext cx="402336" cy="292608"/>
          </a:xfrm>
          <a:prstGeom prst="roundRect">
            <a:avLst>
              <a:gd name="adj" fmla="val 15625"/>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tx1"/>
                </a:solidFill>
                <a:latin typeface="Courier New" pitchFamily="34" charset="0"/>
                <a:ea typeface="Courier New" pitchFamily="34" charset="-122"/>
                <a:cs typeface="Courier New" pitchFamily="34" charset="-120"/>
              </a:rPr>
              <a:t>2</a:t>
            </a:r>
            <a:endParaRPr lang="en-US" sz="1300" dirty="0"/>
          </a:p>
        </p:txBody>
      </p:sp>
      <p:sp>
        <p:nvSpPr>
          <p:cNvPr id="32" name="tile-97"/>
          <p:cNvSpPr/>
          <p:nvPr/>
        </p:nvSpPr>
        <p:spPr>
          <a:xfrm>
            <a:off x="5257800" y="3310128"/>
            <a:ext cx="402336" cy="292608"/>
          </a:xfrm>
          <a:prstGeom prst="roundRect">
            <a:avLst>
              <a:gd name="adj" fmla="val 15625"/>
            </a:avLst>
          </a:prstGeom>
          <a:solidFill>
            <a:schemeClr val="bg2"/>
          </a:solidFill>
          <a:ln w="12700">
            <a:solidFill>
              <a:schemeClr val="bg2"/>
            </a:solid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E</a:t>
            </a:r>
            <a:endParaRPr lang="en-US" sz="1300" dirty="0"/>
          </a:p>
        </p:txBody>
      </p:sp>
      <p:sp>
        <p:nvSpPr>
          <p:cNvPr id="33" name="tile-98"/>
          <p:cNvSpPr/>
          <p:nvPr/>
        </p:nvSpPr>
        <p:spPr>
          <a:xfrm>
            <a:off x="5257800" y="3639312"/>
            <a:ext cx="402336" cy="292608"/>
          </a:xfrm>
          <a:prstGeom prst="roundRect">
            <a:avLst>
              <a:gd name="adj" fmla="val 15625"/>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tx1"/>
                </a:solidFill>
                <a:latin typeface="Courier New" pitchFamily="34" charset="0"/>
                <a:ea typeface="Courier New" pitchFamily="34" charset="-122"/>
                <a:cs typeface="Courier New" pitchFamily="34" charset="-120"/>
              </a:rPr>
              <a:t>1</a:t>
            </a:r>
            <a:endParaRPr lang="en-US" sz="1300" dirty="0"/>
          </a:p>
        </p:txBody>
      </p:sp>
      <p:sp>
        <p:nvSpPr>
          <p:cNvPr id="34" name="tile-99"/>
          <p:cNvSpPr/>
          <p:nvPr/>
        </p:nvSpPr>
        <p:spPr>
          <a:xfrm>
            <a:off x="5715000" y="3310128"/>
            <a:ext cx="402336" cy="292608"/>
          </a:xfrm>
          <a:prstGeom prst="roundRect">
            <a:avLst>
              <a:gd name="adj" fmla="val 15625"/>
            </a:avLst>
          </a:prstGeom>
          <a:solidFill>
            <a:schemeClr val="bg2"/>
          </a:solidFill>
          <a:ln w="12700">
            <a:solidFill>
              <a:schemeClr val="bg2"/>
            </a:solid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R</a:t>
            </a:r>
            <a:endParaRPr lang="en-US" sz="1300" dirty="0"/>
          </a:p>
        </p:txBody>
      </p:sp>
      <p:sp>
        <p:nvSpPr>
          <p:cNvPr id="35" name="tile-100"/>
          <p:cNvSpPr/>
          <p:nvPr/>
        </p:nvSpPr>
        <p:spPr>
          <a:xfrm>
            <a:off x="5715000" y="3639312"/>
            <a:ext cx="402336" cy="292608"/>
          </a:xfrm>
          <a:prstGeom prst="roundRect">
            <a:avLst>
              <a:gd name="adj" fmla="val 15625"/>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tx1"/>
                </a:solidFill>
                <a:latin typeface="Courier New" pitchFamily="34" charset="0"/>
                <a:ea typeface="Courier New" pitchFamily="34" charset="-122"/>
                <a:cs typeface="Courier New" pitchFamily="34" charset="-120"/>
              </a:rPr>
              <a:t>3</a:t>
            </a:r>
            <a:endParaRPr lang="en-US" sz="1300" dirty="0"/>
          </a:p>
        </p:txBody>
      </p:sp>
      <p:sp>
        <p:nvSpPr>
          <p:cNvPr id="36" name="tile-101"/>
          <p:cNvSpPr/>
          <p:nvPr/>
        </p:nvSpPr>
        <p:spPr>
          <a:xfrm>
            <a:off x="6172200" y="3310128"/>
            <a:ext cx="764438" cy="292608"/>
          </a:xfrm>
          <a:prstGeom prst="roundRect">
            <a:avLst>
              <a:gd name="adj" fmla="val 15625"/>
            </a:avLst>
          </a:prstGeom>
          <a:solidFill>
            <a:schemeClr val="bg2"/>
          </a:solidFill>
          <a:ln w="12700">
            <a:solidFill>
              <a:schemeClr val="bg2"/>
            </a:solidFill>
          </a:ln>
        </p:spPr>
        <p:txBody>
          <a:bodyPr wrap="square" lIns="0" tIns="0" rIns="0" bIns="0" rtlCol="0" anchor="ctr"/>
          <a:lstStyle/>
          <a:p>
            <a:pPr marL="0" indent="0" algn="ctr">
              <a:buNone/>
            </a:pPr>
            <a:r>
              <a:rPr lang="en-US" sz="1100" b="1" dirty="0">
                <a:solidFill>
                  <a:schemeClr val="tx2"/>
                </a:solidFill>
                <a:latin typeface="Calibri" pitchFamily="34" charset="0"/>
                <a:ea typeface="Calibri" pitchFamily="34" charset="-122"/>
                <a:cs typeface="Calibri" pitchFamily="34" charset="-120"/>
              </a:rPr>
              <a:t>other</a:t>
            </a:r>
            <a:endParaRPr lang="en-US" sz="1100" dirty="0"/>
          </a:p>
        </p:txBody>
      </p:sp>
      <p:sp>
        <p:nvSpPr>
          <p:cNvPr id="37" name="tile-102"/>
          <p:cNvSpPr/>
          <p:nvPr/>
        </p:nvSpPr>
        <p:spPr>
          <a:xfrm>
            <a:off x="6172200" y="3639312"/>
            <a:ext cx="764438" cy="292608"/>
          </a:xfrm>
          <a:prstGeom prst="roundRect">
            <a:avLst>
              <a:gd name="adj" fmla="val 15625"/>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tx1"/>
                </a:solidFill>
                <a:latin typeface="Courier New" pitchFamily="34" charset="0"/>
                <a:ea typeface="Courier New" pitchFamily="34" charset="-122"/>
                <a:cs typeface="Courier New" pitchFamily="34" charset="-120"/>
              </a:rPr>
              <a:t>6</a:t>
            </a:r>
            <a:endParaRPr lang="en-US" sz="1300" dirty="0"/>
          </a:p>
        </p:txBody>
      </p:sp>
      <p:sp>
        <p:nvSpPr>
          <p:cNvPr id="38" name="text-103"/>
          <p:cNvSpPr txBox="1"/>
          <p:nvPr/>
        </p:nvSpPr>
        <p:spPr>
          <a:xfrm>
            <a:off x="3657600" y="4041648"/>
            <a:ext cx="4846320" cy="457200"/>
          </a:xfrm>
          <a:prstGeom prst="rect">
            <a:avLst/>
          </a:prstGeom>
          <a:noFill/>
          <a:ln/>
        </p:spPr>
        <p:txBody>
          <a:bodyPr wrap="square" lIns="0" tIns="0" rIns="0" bIns="0" rtlCol="0" anchor="t"/>
          <a:lstStyle/>
          <a:p>
            <a:pPr marL="0" indent="0">
              <a:buNone/>
            </a:pPr>
            <a:r>
              <a:rPr lang="en-US" sz="1200" dirty="0">
                <a:solidFill>
                  <a:schemeClr val="tx1"/>
                </a:solidFill>
              </a:rPr>
              <a:t>B appears twice → the later one (j = 3) overwrites.  R’s shift comes from j = 2, not the final R.</a:t>
            </a:r>
            <a:endParaRPr lang="en-US" sz="1200" dirty="0"/>
          </a:p>
        </p:txBody>
      </p:sp>
      <p:sp>
        <p:nvSpPr>
          <p:cNvPr id="39"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The search loop</a:t>
            </a:r>
            <a:endParaRPr lang="en-US" sz="3000" dirty="0"/>
          </a:p>
        </p:txBody>
      </p:sp>
      <p:sp>
        <p:nvSpPr>
          <p:cNvPr id="3" name="card-104"/>
          <p:cNvSpPr/>
          <p:nvPr/>
        </p:nvSpPr>
        <p:spPr>
          <a:xfrm>
            <a:off x="457200" y="1097280"/>
            <a:ext cx="5120640" cy="3429000"/>
          </a:xfrm>
          <a:prstGeom prst="roundRect">
            <a:avLst>
              <a:gd name="adj" fmla="val 2133"/>
            </a:avLst>
          </a:prstGeom>
          <a:solidFill>
            <a:schemeClr val="bg2"/>
          </a:solidFill>
          <a:ln w="12700">
            <a:solidFill>
              <a:schemeClr val="bg2"/>
            </a:solidFill>
            <a:prstDash val="solid"/>
          </a:ln>
        </p:spPr>
        <p:txBody>
          <a:bodyPr/>
          <a:lstStyle/>
          <a:p>
            <a:endParaRPr lang="en-US"/>
          </a:p>
        </p:txBody>
      </p:sp>
      <p:sp>
        <p:nvSpPr>
          <p:cNvPr id="4" name="code-105"/>
          <p:cNvSpPr txBox="1"/>
          <p:nvPr/>
        </p:nvSpPr>
        <p:spPr>
          <a:xfrm>
            <a:off x="685800" y="1261872"/>
            <a:ext cx="4663440" cy="3099816"/>
          </a:xfrm>
          <a:prstGeom prst="rect">
            <a:avLst/>
          </a:prstGeom>
          <a:noFill/>
          <a:ln/>
        </p:spPr>
        <p:txBody>
          <a:bodyPr wrap="square" lIns="0" tIns="0" rIns="0" bIns="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function HORSPOOL(P[0..m−1], T[0..n−1])</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FINDSHIFTS(P)</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i ← m − 1      // under P's last char</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while i &lt; n do</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k ← 0        // # chars matched</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while k &lt; m and P[m−1−k] = T[i−k] do</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k ← k + 1</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if k = m then return i − m + 1</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else i ← i + Shift[T[i]]</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return −1</a:t>
            </a:r>
            <a:endParaRPr lang="en-US" sz="1200" dirty="0"/>
          </a:p>
        </p:txBody>
      </p:sp>
      <p:sp>
        <p:nvSpPr>
          <p:cNvPr id="5" name="card-106"/>
          <p:cNvSpPr/>
          <p:nvPr/>
        </p:nvSpPr>
        <p:spPr>
          <a:xfrm>
            <a:off x="5852160" y="1097280"/>
            <a:ext cx="2834640" cy="1024128"/>
          </a:xfrm>
          <a:prstGeom prst="roundRect">
            <a:avLst>
              <a:gd name="adj" fmla="val 7143"/>
            </a:avLst>
          </a:prstGeom>
          <a:solidFill>
            <a:schemeClr val="bg2"/>
          </a:solidFill>
          <a:ln w="12700">
            <a:solidFill>
              <a:schemeClr val="bg2"/>
            </a:solidFill>
            <a:prstDash val="solid"/>
          </a:ln>
        </p:spPr>
        <p:txBody>
          <a:bodyPr/>
          <a:lstStyle/>
          <a:p>
            <a:endParaRPr lang="en-US"/>
          </a:p>
        </p:txBody>
      </p:sp>
      <p:sp>
        <p:nvSpPr>
          <p:cNvPr id="6" name="text-107"/>
          <p:cNvSpPr txBox="1"/>
          <p:nvPr/>
        </p:nvSpPr>
        <p:spPr>
          <a:xfrm>
            <a:off x="6035040" y="1207008"/>
            <a:ext cx="2514600" cy="274320"/>
          </a:xfrm>
          <a:prstGeom prst="rect">
            <a:avLst/>
          </a:prstGeom>
          <a:noFill/>
          <a:ln/>
        </p:spPr>
        <p:txBody>
          <a:bodyPr wrap="square" lIns="0" tIns="0" rIns="0" bIns="0" rtlCol="0" anchor="t"/>
          <a:lstStyle/>
          <a:p>
            <a:pPr marL="0" indent="0">
              <a:buNone/>
            </a:pPr>
            <a:r>
              <a:rPr lang="en-US" sz="1400" b="1" dirty="0">
                <a:solidFill>
                  <a:schemeClr val="tx2"/>
                </a:solidFill>
              </a:rPr>
              <a:t>Compare right → left</a:t>
            </a:r>
            <a:endParaRPr lang="en-US" sz="1400" dirty="0"/>
          </a:p>
        </p:txBody>
      </p:sp>
      <p:sp>
        <p:nvSpPr>
          <p:cNvPr id="7" name="text-108"/>
          <p:cNvSpPr txBox="1"/>
          <p:nvPr/>
        </p:nvSpPr>
        <p:spPr>
          <a:xfrm>
            <a:off x="6035040" y="1499616"/>
            <a:ext cx="2514600" cy="566928"/>
          </a:xfrm>
          <a:prstGeom prst="rect">
            <a:avLst/>
          </a:prstGeom>
          <a:noFill/>
          <a:ln/>
        </p:spPr>
        <p:txBody>
          <a:bodyPr wrap="square" lIns="0" tIns="0" rIns="0" bIns="0" rtlCol="0" anchor="t"/>
          <a:lstStyle/>
          <a:p>
            <a:pPr marL="0" indent="0">
              <a:buNone/>
            </a:pPr>
            <a:r>
              <a:rPr lang="en-US" sz="1200" dirty="0">
                <a:solidFill>
                  <a:schemeClr val="tx1"/>
                </a:solidFill>
              </a:rPr>
              <a:t>k counts how many characters have matched from the end.</a:t>
            </a:r>
            <a:endParaRPr lang="en-US" sz="1200" dirty="0"/>
          </a:p>
        </p:txBody>
      </p:sp>
      <p:sp>
        <p:nvSpPr>
          <p:cNvPr id="8" name="card-109"/>
          <p:cNvSpPr/>
          <p:nvPr/>
        </p:nvSpPr>
        <p:spPr>
          <a:xfrm>
            <a:off x="5852160" y="2258568"/>
            <a:ext cx="2834640" cy="1024128"/>
          </a:xfrm>
          <a:prstGeom prst="roundRect">
            <a:avLst>
              <a:gd name="adj" fmla="val 7143"/>
            </a:avLst>
          </a:prstGeom>
          <a:solidFill>
            <a:schemeClr val="bg2"/>
          </a:solidFill>
          <a:ln w="12700">
            <a:solidFill>
              <a:schemeClr val="bg2"/>
            </a:solidFill>
            <a:prstDash val="solid"/>
          </a:ln>
        </p:spPr>
        <p:txBody>
          <a:bodyPr/>
          <a:lstStyle/>
          <a:p>
            <a:endParaRPr lang="en-US"/>
          </a:p>
        </p:txBody>
      </p:sp>
      <p:sp>
        <p:nvSpPr>
          <p:cNvPr id="9" name="text-110"/>
          <p:cNvSpPr txBox="1"/>
          <p:nvPr/>
        </p:nvSpPr>
        <p:spPr>
          <a:xfrm>
            <a:off x="6035040" y="2368296"/>
            <a:ext cx="2514600" cy="274320"/>
          </a:xfrm>
          <a:prstGeom prst="rect">
            <a:avLst/>
          </a:prstGeom>
          <a:noFill/>
          <a:ln/>
        </p:spPr>
        <p:txBody>
          <a:bodyPr wrap="square" lIns="0" tIns="0" rIns="0" bIns="0" rtlCol="0" anchor="t"/>
          <a:lstStyle/>
          <a:p>
            <a:pPr marL="0" indent="0">
              <a:buNone/>
            </a:pPr>
            <a:r>
              <a:rPr lang="en-US" sz="1400" b="1" dirty="0">
                <a:solidFill>
                  <a:schemeClr val="tx2"/>
                </a:solidFill>
              </a:rPr>
              <a:t>Shift on T[i], always</a:t>
            </a:r>
            <a:endParaRPr lang="en-US" sz="1400" dirty="0"/>
          </a:p>
        </p:txBody>
      </p:sp>
      <p:sp>
        <p:nvSpPr>
          <p:cNvPr id="10" name="text-111"/>
          <p:cNvSpPr txBox="1"/>
          <p:nvPr/>
        </p:nvSpPr>
        <p:spPr>
          <a:xfrm>
            <a:off x="6035040" y="2660904"/>
            <a:ext cx="2514600" cy="566928"/>
          </a:xfrm>
          <a:prstGeom prst="rect">
            <a:avLst/>
          </a:prstGeom>
          <a:noFill/>
          <a:ln/>
        </p:spPr>
        <p:txBody>
          <a:bodyPr wrap="square" lIns="0" tIns="0" rIns="0" bIns="0" rtlCol="0" anchor="t"/>
          <a:lstStyle/>
          <a:p>
            <a:pPr marL="0" indent="0">
              <a:buNone/>
            </a:pPr>
            <a:r>
              <a:rPr lang="en-US" sz="1200" dirty="0">
                <a:solidFill>
                  <a:schemeClr val="tx1"/>
                </a:solidFill>
              </a:rPr>
              <a:t>Even if the mismatch is further left, the jump is looked up for the text char under the pattern’s last cell.</a:t>
            </a:r>
            <a:endParaRPr lang="en-US" sz="1200" dirty="0"/>
          </a:p>
        </p:txBody>
      </p:sp>
      <p:sp>
        <p:nvSpPr>
          <p:cNvPr id="11" name="card-112"/>
          <p:cNvSpPr/>
          <p:nvPr/>
        </p:nvSpPr>
        <p:spPr>
          <a:xfrm>
            <a:off x="5852160" y="3419856"/>
            <a:ext cx="2834640" cy="1024128"/>
          </a:xfrm>
          <a:prstGeom prst="roundRect">
            <a:avLst>
              <a:gd name="adj" fmla="val 7143"/>
            </a:avLst>
          </a:prstGeom>
          <a:solidFill>
            <a:schemeClr val="bg2"/>
          </a:solidFill>
          <a:ln w="12700">
            <a:solidFill>
              <a:schemeClr val="bg2"/>
            </a:solidFill>
            <a:prstDash val="solid"/>
          </a:ln>
        </p:spPr>
        <p:txBody>
          <a:bodyPr/>
          <a:lstStyle/>
          <a:p>
            <a:endParaRPr lang="en-US"/>
          </a:p>
        </p:txBody>
      </p:sp>
      <p:sp>
        <p:nvSpPr>
          <p:cNvPr id="12" name="text-113"/>
          <p:cNvSpPr txBox="1"/>
          <p:nvPr/>
        </p:nvSpPr>
        <p:spPr>
          <a:xfrm>
            <a:off x="6035040" y="3529584"/>
            <a:ext cx="2514600" cy="274320"/>
          </a:xfrm>
          <a:prstGeom prst="rect">
            <a:avLst/>
          </a:prstGeom>
          <a:noFill/>
          <a:ln/>
        </p:spPr>
        <p:txBody>
          <a:bodyPr wrap="square" lIns="0" tIns="0" rIns="0" bIns="0" rtlCol="0" anchor="t"/>
          <a:lstStyle/>
          <a:p>
            <a:pPr marL="0" indent="0">
              <a:buNone/>
            </a:pPr>
            <a:r>
              <a:rPr lang="en-US" sz="1400" b="1" dirty="0">
                <a:solidFill>
                  <a:schemeClr val="tx2"/>
                </a:solidFill>
              </a:rPr>
              <a:t>Count every comparison</a:t>
            </a:r>
            <a:endParaRPr lang="en-US" sz="1400" dirty="0"/>
          </a:p>
        </p:txBody>
      </p:sp>
      <p:sp>
        <p:nvSpPr>
          <p:cNvPr id="13" name="text-114"/>
          <p:cNvSpPr txBox="1"/>
          <p:nvPr/>
        </p:nvSpPr>
        <p:spPr>
          <a:xfrm>
            <a:off x="6035040" y="3822192"/>
            <a:ext cx="2514600" cy="566928"/>
          </a:xfrm>
          <a:prstGeom prst="rect">
            <a:avLst/>
          </a:prstGeom>
          <a:noFill/>
          <a:ln/>
        </p:spPr>
        <p:txBody>
          <a:bodyPr wrap="square" lIns="0" tIns="0" rIns="0" bIns="0" rtlCol="0" anchor="t"/>
          <a:lstStyle/>
          <a:p>
            <a:pPr marL="0" indent="0">
              <a:buNone/>
            </a:pPr>
            <a:r>
              <a:rPr lang="en-US" sz="1200" dirty="0">
                <a:solidFill>
                  <a:schemeClr val="tx1"/>
                </a:solidFill>
              </a:rPr>
              <a:t>A failed comparison counts too — that’s what Q68 and Q69 ask for.</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Q67 · Search GORE in ALGORITHM</a:t>
            </a:r>
            <a:endParaRPr lang="en-US" sz="3000" dirty="0"/>
          </a:p>
        </p:txBody>
      </p:sp>
      <p:sp>
        <p:nvSpPr>
          <p:cNvPr id="3" name="text-115"/>
          <p:cNvSpPr txBox="1"/>
          <p:nvPr/>
        </p:nvSpPr>
        <p:spPr>
          <a:xfrm>
            <a:off x="640080" y="1097280"/>
            <a:ext cx="411480" cy="292608"/>
          </a:xfrm>
          <a:prstGeom prst="rect">
            <a:avLst/>
          </a:prstGeom>
          <a:noFill/>
          <a:ln/>
        </p:spPr>
        <p:txBody>
          <a:bodyPr wrap="square" lIns="0" tIns="0" rIns="0" bIns="0" rtlCol="0" anchor="ctr"/>
          <a:lstStyle/>
          <a:p>
            <a:pPr marL="0" indent="0" algn="r">
              <a:buNone/>
            </a:pPr>
            <a:r>
              <a:rPr lang="en-US" sz="1100" dirty="0">
                <a:solidFill>
                  <a:schemeClr val="accent5"/>
                </a:solidFill>
              </a:rPr>
              <a:t>c</a:t>
            </a:r>
            <a:endParaRPr lang="en-US" sz="1100" dirty="0"/>
          </a:p>
        </p:txBody>
      </p:sp>
      <p:sp>
        <p:nvSpPr>
          <p:cNvPr id="4" name="text-116"/>
          <p:cNvSpPr txBox="1"/>
          <p:nvPr/>
        </p:nvSpPr>
        <p:spPr>
          <a:xfrm>
            <a:off x="457200" y="1426464"/>
            <a:ext cx="594360" cy="292608"/>
          </a:xfrm>
          <a:prstGeom prst="rect">
            <a:avLst/>
          </a:prstGeom>
          <a:noFill/>
          <a:ln/>
        </p:spPr>
        <p:txBody>
          <a:bodyPr wrap="square" lIns="0" tIns="0" rIns="0" bIns="0" rtlCol="0" anchor="ctr"/>
          <a:lstStyle/>
          <a:p>
            <a:pPr marL="0" indent="0" algn="r">
              <a:buNone/>
            </a:pPr>
            <a:r>
              <a:rPr lang="en-US" sz="1100" dirty="0">
                <a:solidFill>
                  <a:schemeClr val="accent5"/>
                </a:solidFill>
              </a:rPr>
              <a:t>S[c]</a:t>
            </a:r>
            <a:endParaRPr lang="en-US" sz="1100" dirty="0"/>
          </a:p>
        </p:txBody>
      </p:sp>
      <p:sp>
        <p:nvSpPr>
          <p:cNvPr id="5" name="tile-117"/>
          <p:cNvSpPr/>
          <p:nvPr/>
        </p:nvSpPr>
        <p:spPr>
          <a:xfrm>
            <a:off x="1143000" y="1097280"/>
            <a:ext cx="402336" cy="292608"/>
          </a:xfrm>
          <a:prstGeom prst="roundRect">
            <a:avLst>
              <a:gd name="adj" fmla="val 15625"/>
            </a:avLst>
          </a:prstGeom>
          <a:solidFill>
            <a:schemeClr val="bg2"/>
          </a:solidFill>
          <a:ln w="12700">
            <a:solidFill>
              <a:schemeClr val="bg2"/>
            </a:solid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G</a:t>
            </a:r>
            <a:endParaRPr lang="en-US" sz="1300" dirty="0"/>
          </a:p>
        </p:txBody>
      </p:sp>
      <p:sp>
        <p:nvSpPr>
          <p:cNvPr id="6" name="tile-118"/>
          <p:cNvSpPr/>
          <p:nvPr/>
        </p:nvSpPr>
        <p:spPr>
          <a:xfrm>
            <a:off x="1143000" y="1426464"/>
            <a:ext cx="402336" cy="292608"/>
          </a:xfrm>
          <a:prstGeom prst="roundRect">
            <a:avLst>
              <a:gd name="adj" fmla="val 15625"/>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tx1"/>
                </a:solidFill>
                <a:latin typeface="Courier New" pitchFamily="34" charset="0"/>
                <a:ea typeface="Courier New" pitchFamily="34" charset="-122"/>
                <a:cs typeface="Courier New" pitchFamily="34" charset="-120"/>
              </a:rPr>
              <a:t>3</a:t>
            </a:r>
            <a:endParaRPr lang="en-US" sz="1300" dirty="0"/>
          </a:p>
        </p:txBody>
      </p:sp>
      <p:sp>
        <p:nvSpPr>
          <p:cNvPr id="7" name="tile-119"/>
          <p:cNvSpPr/>
          <p:nvPr/>
        </p:nvSpPr>
        <p:spPr>
          <a:xfrm>
            <a:off x="1600200" y="1097280"/>
            <a:ext cx="402336" cy="292608"/>
          </a:xfrm>
          <a:prstGeom prst="roundRect">
            <a:avLst>
              <a:gd name="adj" fmla="val 15625"/>
            </a:avLst>
          </a:prstGeom>
          <a:solidFill>
            <a:schemeClr val="bg2"/>
          </a:solidFill>
          <a:ln w="12700">
            <a:solidFill>
              <a:schemeClr val="bg2"/>
            </a:solid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O</a:t>
            </a:r>
            <a:endParaRPr lang="en-US" sz="1300" dirty="0"/>
          </a:p>
        </p:txBody>
      </p:sp>
      <p:sp>
        <p:nvSpPr>
          <p:cNvPr id="8" name="tile-120"/>
          <p:cNvSpPr/>
          <p:nvPr/>
        </p:nvSpPr>
        <p:spPr>
          <a:xfrm>
            <a:off x="1600200" y="1426464"/>
            <a:ext cx="402336" cy="292608"/>
          </a:xfrm>
          <a:prstGeom prst="roundRect">
            <a:avLst>
              <a:gd name="adj" fmla="val 15625"/>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tx1"/>
                </a:solidFill>
                <a:latin typeface="Courier New" pitchFamily="34" charset="0"/>
                <a:ea typeface="Courier New" pitchFamily="34" charset="-122"/>
                <a:cs typeface="Courier New" pitchFamily="34" charset="-120"/>
              </a:rPr>
              <a:t>2</a:t>
            </a:r>
            <a:endParaRPr lang="en-US" sz="1300" dirty="0"/>
          </a:p>
        </p:txBody>
      </p:sp>
      <p:sp>
        <p:nvSpPr>
          <p:cNvPr id="9" name="tile-121"/>
          <p:cNvSpPr/>
          <p:nvPr/>
        </p:nvSpPr>
        <p:spPr>
          <a:xfrm>
            <a:off x="2057400" y="1097280"/>
            <a:ext cx="402336" cy="292608"/>
          </a:xfrm>
          <a:prstGeom prst="roundRect">
            <a:avLst>
              <a:gd name="adj" fmla="val 15625"/>
            </a:avLst>
          </a:prstGeom>
          <a:solidFill>
            <a:schemeClr val="bg2"/>
          </a:solidFill>
          <a:ln w="12700">
            <a:solidFill>
              <a:schemeClr val="bg2"/>
            </a:solid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R</a:t>
            </a:r>
            <a:endParaRPr lang="en-US" sz="1300" dirty="0"/>
          </a:p>
        </p:txBody>
      </p:sp>
      <p:sp>
        <p:nvSpPr>
          <p:cNvPr id="10" name="tile-122"/>
          <p:cNvSpPr/>
          <p:nvPr/>
        </p:nvSpPr>
        <p:spPr>
          <a:xfrm>
            <a:off x="2057400" y="1426464"/>
            <a:ext cx="402336" cy="292608"/>
          </a:xfrm>
          <a:prstGeom prst="roundRect">
            <a:avLst>
              <a:gd name="adj" fmla="val 15625"/>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tx1"/>
                </a:solidFill>
                <a:latin typeface="Courier New" pitchFamily="34" charset="0"/>
                <a:ea typeface="Courier New" pitchFamily="34" charset="-122"/>
                <a:cs typeface="Courier New" pitchFamily="34" charset="-120"/>
              </a:rPr>
              <a:t>1</a:t>
            </a:r>
            <a:endParaRPr lang="en-US" sz="1300" dirty="0"/>
          </a:p>
        </p:txBody>
      </p:sp>
      <p:sp>
        <p:nvSpPr>
          <p:cNvPr id="11" name="tile-123"/>
          <p:cNvSpPr/>
          <p:nvPr/>
        </p:nvSpPr>
        <p:spPr>
          <a:xfrm>
            <a:off x="2514600" y="1097280"/>
            <a:ext cx="764438" cy="292608"/>
          </a:xfrm>
          <a:prstGeom prst="roundRect">
            <a:avLst>
              <a:gd name="adj" fmla="val 15625"/>
            </a:avLst>
          </a:prstGeom>
          <a:solidFill>
            <a:schemeClr val="bg2"/>
          </a:solidFill>
          <a:ln w="12700">
            <a:solidFill>
              <a:schemeClr val="bg2"/>
            </a:solidFill>
          </a:ln>
        </p:spPr>
        <p:txBody>
          <a:bodyPr wrap="square" lIns="0" tIns="0" rIns="0" bIns="0" rtlCol="0" anchor="ctr"/>
          <a:lstStyle/>
          <a:p>
            <a:pPr marL="0" indent="0" algn="ctr">
              <a:buNone/>
            </a:pPr>
            <a:r>
              <a:rPr lang="en-US" sz="1100" b="1" dirty="0">
                <a:solidFill>
                  <a:schemeClr val="tx2"/>
                </a:solidFill>
                <a:latin typeface="Calibri" pitchFamily="34" charset="0"/>
                <a:ea typeface="Calibri" pitchFamily="34" charset="-122"/>
                <a:cs typeface="Calibri" pitchFamily="34" charset="-120"/>
              </a:rPr>
              <a:t>other</a:t>
            </a:r>
            <a:endParaRPr lang="en-US" sz="1100" dirty="0"/>
          </a:p>
        </p:txBody>
      </p:sp>
      <p:sp>
        <p:nvSpPr>
          <p:cNvPr id="12" name="tile-124"/>
          <p:cNvSpPr/>
          <p:nvPr/>
        </p:nvSpPr>
        <p:spPr>
          <a:xfrm>
            <a:off x="2514600" y="1426464"/>
            <a:ext cx="764438" cy="292608"/>
          </a:xfrm>
          <a:prstGeom prst="roundRect">
            <a:avLst>
              <a:gd name="adj" fmla="val 15625"/>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tx1"/>
                </a:solidFill>
                <a:latin typeface="Courier New" pitchFamily="34" charset="0"/>
                <a:ea typeface="Courier New" pitchFamily="34" charset="-122"/>
                <a:cs typeface="Courier New" pitchFamily="34" charset="-120"/>
              </a:rPr>
              <a:t>4</a:t>
            </a:r>
            <a:endParaRPr lang="en-US" sz="1300" dirty="0"/>
          </a:p>
        </p:txBody>
      </p:sp>
      <p:sp>
        <p:nvSpPr>
          <p:cNvPr id="13" name="lg-125"/>
          <p:cNvSpPr/>
          <p:nvPr/>
        </p:nvSpPr>
        <p:spPr>
          <a:xfrm>
            <a:off x="5349240" y="2432304"/>
            <a:ext cx="182880" cy="182880"/>
          </a:xfrm>
          <a:prstGeom prst="roundRect">
            <a:avLst>
              <a:gd name="adj" fmla="val 15000"/>
            </a:avLst>
          </a:prstGeom>
          <a:solidFill>
            <a:schemeClr val="accent3"/>
          </a:solidFill>
          <a:ln w="12700">
            <a:solidFill>
              <a:schemeClr val="accent3"/>
            </a:solidFill>
            <a:prstDash val="solid"/>
          </a:ln>
        </p:spPr>
        <p:txBody>
          <a:bodyPr/>
          <a:lstStyle/>
          <a:p>
            <a:endParaRPr lang="en-US"/>
          </a:p>
        </p:txBody>
      </p:sp>
      <p:sp>
        <p:nvSpPr>
          <p:cNvPr id="14" name="text-126"/>
          <p:cNvSpPr txBox="1"/>
          <p:nvPr/>
        </p:nvSpPr>
        <p:spPr>
          <a:xfrm>
            <a:off x="5605272" y="2395728"/>
            <a:ext cx="822960" cy="256032"/>
          </a:xfrm>
          <a:prstGeom prst="rect">
            <a:avLst/>
          </a:prstGeom>
          <a:noFill/>
          <a:ln/>
        </p:spPr>
        <p:txBody>
          <a:bodyPr wrap="square" lIns="0" tIns="0" rIns="0" bIns="0" rtlCol="0" anchor="ctr"/>
          <a:lstStyle/>
          <a:p>
            <a:pPr marL="0" indent="0">
              <a:buNone/>
            </a:pPr>
            <a:r>
              <a:rPr lang="en-US" sz="1100" dirty="0">
                <a:solidFill>
                  <a:schemeClr val="accent5"/>
                </a:solidFill>
              </a:rPr>
              <a:t>match</a:t>
            </a:r>
            <a:endParaRPr lang="en-US" sz="1100" dirty="0"/>
          </a:p>
        </p:txBody>
      </p:sp>
      <p:sp>
        <p:nvSpPr>
          <p:cNvPr id="15" name="lg-127"/>
          <p:cNvSpPr/>
          <p:nvPr/>
        </p:nvSpPr>
        <p:spPr>
          <a:xfrm>
            <a:off x="6492240" y="2432304"/>
            <a:ext cx="182880" cy="182880"/>
          </a:xfrm>
          <a:prstGeom prst="roundRect">
            <a:avLst>
              <a:gd name="adj" fmla="val 15000"/>
            </a:avLst>
          </a:prstGeom>
          <a:solidFill>
            <a:schemeClr val="accent4"/>
          </a:solidFill>
          <a:ln w="12700">
            <a:solidFill>
              <a:schemeClr val="accent4"/>
            </a:solidFill>
            <a:prstDash val="solid"/>
          </a:ln>
        </p:spPr>
        <p:txBody>
          <a:bodyPr/>
          <a:lstStyle/>
          <a:p>
            <a:endParaRPr lang="en-US"/>
          </a:p>
        </p:txBody>
      </p:sp>
      <p:sp>
        <p:nvSpPr>
          <p:cNvPr id="16" name="text-128"/>
          <p:cNvSpPr txBox="1"/>
          <p:nvPr/>
        </p:nvSpPr>
        <p:spPr>
          <a:xfrm>
            <a:off x="6748272" y="2395728"/>
            <a:ext cx="822960" cy="256032"/>
          </a:xfrm>
          <a:prstGeom prst="rect">
            <a:avLst/>
          </a:prstGeom>
          <a:noFill/>
          <a:ln/>
        </p:spPr>
        <p:txBody>
          <a:bodyPr wrap="square" lIns="0" tIns="0" rIns="0" bIns="0" rtlCol="0" anchor="ctr"/>
          <a:lstStyle/>
          <a:p>
            <a:pPr marL="0" indent="0">
              <a:buNone/>
            </a:pPr>
            <a:r>
              <a:rPr lang="en-US" sz="1100" dirty="0">
                <a:solidFill>
                  <a:schemeClr val="accent5"/>
                </a:solidFill>
              </a:rPr>
              <a:t>mismatch</a:t>
            </a:r>
            <a:endParaRPr lang="en-US" sz="1100" dirty="0"/>
          </a:p>
        </p:txBody>
      </p:sp>
      <p:sp>
        <p:nvSpPr>
          <p:cNvPr id="17" name="text-129"/>
          <p:cNvSpPr txBox="1"/>
          <p:nvPr/>
        </p:nvSpPr>
        <p:spPr>
          <a:xfrm>
            <a:off x="548640" y="2331720"/>
            <a:ext cx="502920" cy="384048"/>
          </a:xfrm>
          <a:prstGeom prst="rect">
            <a:avLst/>
          </a:prstGeom>
          <a:noFill/>
          <a:ln/>
        </p:spPr>
        <p:txBody>
          <a:bodyPr wrap="square" lIns="0" tIns="0" rIns="0" bIns="0" rtlCol="0" anchor="ctr"/>
          <a:lstStyle/>
          <a:p>
            <a:pPr marL="0" indent="0" algn="r">
              <a:buNone/>
            </a:pPr>
            <a:r>
              <a:rPr lang="en-US" sz="1100" dirty="0">
                <a:solidFill>
                  <a:schemeClr val="accent5"/>
                </a:solidFill>
              </a:rPr>
              <a:t>text</a:t>
            </a:r>
            <a:endParaRPr lang="en-US" sz="1100" dirty="0"/>
          </a:p>
        </p:txBody>
      </p:sp>
      <p:sp>
        <p:nvSpPr>
          <p:cNvPr id="18" name="text-130"/>
          <p:cNvSpPr txBox="1"/>
          <p:nvPr/>
        </p:nvSpPr>
        <p:spPr>
          <a:xfrm>
            <a:off x="1143000" y="2148840"/>
            <a:ext cx="384048" cy="164592"/>
          </a:xfrm>
          <a:prstGeom prst="rect">
            <a:avLst/>
          </a:prstGeom>
          <a:noFill/>
          <a:ln/>
        </p:spPr>
        <p:txBody>
          <a:bodyPr wrap="square" lIns="0" tIns="0" rIns="0" bIns="0" rtlCol="0" anchor="t"/>
          <a:lstStyle/>
          <a:p>
            <a:pPr marL="0" indent="0" algn="ctr">
              <a:buNone/>
            </a:pPr>
            <a:r>
              <a:rPr lang="en-US" sz="900" dirty="0">
                <a:solidFill>
                  <a:schemeClr val="accent5"/>
                </a:solidFill>
              </a:rPr>
              <a:t>0</a:t>
            </a:r>
            <a:endParaRPr lang="en-US" sz="900" dirty="0"/>
          </a:p>
        </p:txBody>
      </p:sp>
      <p:sp>
        <p:nvSpPr>
          <p:cNvPr id="19" name="tile-131"/>
          <p:cNvSpPr/>
          <p:nvPr/>
        </p:nvSpPr>
        <p:spPr>
          <a:xfrm>
            <a:off x="1143000" y="2331720"/>
            <a:ext cx="384048" cy="384048"/>
          </a:xfrm>
          <a:prstGeom prst="roundRect">
            <a:avLst>
              <a:gd name="adj" fmla="val 11905"/>
            </a:avLst>
          </a:prstGeom>
          <a:solidFill>
            <a:schemeClr val="tx2"/>
          </a:solidFill>
          <a:ln w="12700">
            <a:solidFill>
              <a:schemeClr val="tx2"/>
            </a:solid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A</a:t>
            </a:r>
            <a:endParaRPr lang="en-US" sz="1500" dirty="0"/>
          </a:p>
        </p:txBody>
      </p:sp>
      <p:sp>
        <p:nvSpPr>
          <p:cNvPr id="20" name="text-132"/>
          <p:cNvSpPr txBox="1"/>
          <p:nvPr/>
        </p:nvSpPr>
        <p:spPr>
          <a:xfrm>
            <a:off x="1581912" y="2148840"/>
            <a:ext cx="384048" cy="164592"/>
          </a:xfrm>
          <a:prstGeom prst="rect">
            <a:avLst/>
          </a:prstGeom>
          <a:noFill/>
          <a:ln/>
        </p:spPr>
        <p:txBody>
          <a:bodyPr wrap="square" lIns="0" tIns="0" rIns="0" bIns="0" rtlCol="0" anchor="t"/>
          <a:lstStyle/>
          <a:p>
            <a:pPr marL="0" indent="0" algn="ctr">
              <a:buNone/>
            </a:pPr>
            <a:r>
              <a:rPr lang="en-US" sz="900" dirty="0">
                <a:solidFill>
                  <a:schemeClr val="accent5"/>
                </a:solidFill>
              </a:rPr>
              <a:t>1</a:t>
            </a:r>
            <a:endParaRPr lang="en-US" sz="900" dirty="0"/>
          </a:p>
        </p:txBody>
      </p:sp>
      <p:sp>
        <p:nvSpPr>
          <p:cNvPr id="21" name="tile-133"/>
          <p:cNvSpPr/>
          <p:nvPr/>
        </p:nvSpPr>
        <p:spPr>
          <a:xfrm>
            <a:off x="1581912" y="2331720"/>
            <a:ext cx="384048" cy="384048"/>
          </a:xfrm>
          <a:prstGeom prst="roundRect">
            <a:avLst>
              <a:gd name="adj" fmla="val 11905"/>
            </a:avLst>
          </a:prstGeom>
          <a:solidFill>
            <a:schemeClr val="tx2"/>
          </a:solidFill>
          <a:ln w="12700">
            <a:solidFill>
              <a:schemeClr val="tx2"/>
            </a:solid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L</a:t>
            </a:r>
            <a:endParaRPr lang="en-US" sz="1500" dirty="0"/>
          </a:p>
        </p:txBody>
      </p:sp>
      <p:sp>
        <p:nvSpPr>
          <p:cNvPr id="22" name="text-134"/>
          <p:cNvSpPr txBox="1"/>
          <p:nvPr/>
        </p:nvSpPr>
        <p:spPr>
          <a:xfrm>
            <a:off x="2020824" y="2148840"/>
            <a:ext cx="384048" cy="164592"/>
          </a:xfrm>
          <a:prstGeom prst="rect">
            <a:avLst/>
          </a:prstGeom>
          <a:noFill/>
          <a:ln/>
        </p:spPr>
        <p:txBody>
          <a:bodyPr wrap="square" lIns="0" tIns="0" rIns="0" bIns="0" rtlCol="0" anchor="t"/>
          <a:lstStyle/>
          <a:p>
            <a:pPr marL="0" indent="0" algn="ctr">
              <a:buNone/>
            </a:pPr>
            <a:r>
              <a:rPr lang="en-US" sz="900" dirty="0">
                <a:solidFill>
                  <a:schemeClr val="accent5"/>
                </a:solidFill>
              </a:rPr>
              <a:t>2</a:t>
            </a:r>
            <a:endParaRPr lang="en-US" sz="900" dirty="0"/>
          </a:p>
        </p:txBody>
      </p:sp>
      <p:sp>
        <p:nvSpPr>
          <p:cNvPr id="23" name="tile-135"/>
          <p:cNvSpPr/>
          <p:nvPr/>
        </p:nvSpPr>
        <p:spPr>
          <a:xfrm>
            <a:off x="2020824" y="2331720"/>
            <a:ext cx="384048" cy="384048"/>
          </a:xfrm>
          <a:prstGeom prst="roundRect">
            <a:avLst>
              <a:gd name="adj" fmla="val 11905"/>
            </a:avLst>
          </a:prstGeom>
          <a:solidFill>
            <a:schemeClr val="tx2"/>
          </a:solidFill>
          <a:ln w="12700">
            <a:solidFill>
              <a:schemeClr val="tx2"/>
            </a:solid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G</a:t>
            </a:r>
            <a:endParaRPr lang="en-US" sz="1500" dirty="0"/>
          </a:p>
        </p:txBody>
      </p:sp>
      <p:sp>
        <p:nvSpPr>
          <p:cNvPr id="24" name="text-136"/>
          <p:cNvSpPr txBox="1"/>
          <p:nvPr/>
        </p:nvSpPr>
        <p:spPr>
          <a:xfrm>
            <a:off x="2459736" y="2148840"/>
            <a:ext cx="384048" cy="164592"/>
          </a:xfrm>
          <a:prstGeom prst="rect">
            <a:avLst/>
          </a:prstGeom>
          <a:noFill/>
          <a:ln/>
        </p:spPr>
        <p:txBody>
          <a:bodyPr wrap="square" lIns="0" tIns="0" rIns="0" bIns="0" rtlCol="0" anchor="t"/>
          <a:lstStyle/>
          <a:p>
            <a:pPr marL="0" indent="0" algn="ctr">
              <a:buNone/>
            </a:pPr>
            <a:r>
              <a:rPr lang="en-US" sz="900" dirty="0">
                <a:solidFill>
                  <a:schemeClr val="accent5"/>
                </a:solidFill>
              </a:rPr>
              <a:t>3</a:t>
            </a:r>
            <a:endParaRPr lang="en-US" sz="900" dirty="0"/>
          </a:p>
        </p:txBody>
      </p:sp>
      <p:sp>
        <p:nvSpPr>
          <p:cNvPr id="25" name="tile-137"/>
          <p:cNvSpPr/>
          <p:nvPr/>
        </p:nvSpPr>
        <p:spPr>
          <a:xfrm>
            <a:off x="2459736" y="2331720"/>
            <a:ext cx="384048" cy="384048"/>
          </a:xfrm>
          <a:prstGeom prst="roundRect">
            <a:avLst>
              <a:gd name="adj" fmla="val 11905"/>
            </a:avLst>
          </a:prstGeom>
          <a:solidFill>
            <a:schemeClr val="tx2"/>
          </a:solidFill>
          <a:ln w="12700">
            <a:solidFill>
              <a:schemeClr val="tx2"/>
            </a:solid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O</a:t>
            </a:r>
            <a:endParaRPr lang="en-US" sz="1500" dirty="0"/>
          </a:p>
        </p:txBody>
      </p:sp>
      <p:sp>
        <p:nvSpPr>
          <p:cNvPr id="26" name="text-138"/>
          <p:cNvSpPr txBox="1"/>
          <p:nvPr/>
        </p:nvSpPr>
        <p:spPr>
          <a:xfrm>
            <a:off x="2898648" y="2148840"/>
            <a:ext cx="384048" cy="164592"/>
          </a:xfrm>
          <a:prstGeom prst="rect">
            <a:avLst/>
          </a:prstGeom>
          <a:noFill/>
          <a:ln/>
        </p:spPr>
        <p:txBody>
          <a:bodyPr wrap="square" lIns="0" tIns="0" rIns="0" bIns="0" rtlCol="0" anchor="t"/>
          <a:lstStyle/>
          <a:p>
            <a:pPr marL="0" indent="0" algn="ctr">
              <a:buNone/>
            </a:pPr>
            <a:r>
              <a:rPr lang="en-US" sz="900" dirty="0">
                <a:solidFill>
                  <a:schemeClr val="accent5"/>
                </a:solidFill>
              </a:rPr>
              <a:t>4</a:t>
            </a:r>
            <a:endParaRPr lang="en-US" sz="900" dirty="0"/>
          </a:p>
        </p:txBody>
      </p:sp>
      <p:sp>
        <p:nvSpPr>
          <p:cNvPr id="27" name="tile-139"/>
          <p:cNvSpPr/>
          <p:nvPr/>
        </p:nvSpPr>
        <p:spPr>
          <a:xfrm>
            <a:off x="2898648" y="2331720"/>
            <a:ext cx="384048" cy="384048"/>
          </a:xfrm>
          <a:prstGeom prst="roundRect">
            <a:avLst>
              <a:gd name="adj" fmla="val 11905"/>
            </a:avLst>
          </a:prstGeom>
          <a:solidFill>
            <a:schemeClr val="tx2"/>
          </a:solidFill>
          <a:ln w="12700">
            <a:solidFill>
              <a:schemeClr val="tx2"/>
            </a:solid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R</a:t>
            </a:r>
            <a:endParaRPr lang="en-US" sz="1500" dirty="0"/>
          </a:p>
        </p:txBody>
      </p:sp>
      <p:sp>
        <p:nvSpPr>
          <p:cNvPr id="28" name="text-140"/>
          <p:cNvSpPr txBox="1"/>
          <p:nvPr/>
        </p:nvSpPr>
        <p:spPr>
          <a:xfrm>
            <a:off x="3337560" y="2148840"/>
            <a:ext cx="384048" cy="164592"/>
          </a:xfrm>
          <a:prstGeom prst="rect">
            <a:avLst/>
          </a:prstGeom>
          <a:noFill/>
          <a:ln/>
        </p:spPr>
        <p:txBody>
          <a:bodyPr wrap="square" lIns="0" tIns="0" rIns="0" bIns="0" rtlCol="0" anchor="t"/>
          <a:lstStyle/>
          <a:p>
            <a:pPr marL="0" indent="0" algn="ctr">
              <a:buNone/>
            </a:pPr>
            <a:r>
              <a:rPr lang="en-US" sz="900" dirty="0">
                <a:solidFill>
                  <a:schemeClr val="accent5"/>
                </a:solidFill>
              </a:rPr>
              <a:t>5</a:t>
            </a:r>
            <a:endParaRPr lang="en-US" sz="900" dirty="0"/>
          </a:p>
        </p:txBody>
      </p:sp>
      <p:sp>
        <p:nvSpPr>
          <p:cNvPr id="29" name="tile-141"/>
          <p:cNvSpPr/>
          <p:nvPr/>
        </p:nvSpPr>
        <p:spPr>
          <a:xfrm>
            <a:off x="3337560" y="2331720"/>
            <a:ext cx="384048" cy="384048"/>
          </a:xfrm>
          <a:prstGeom prst="roundRect">
            <a:avLst>
              <a:gd name="adj" fmla="val 11905"/>
            </a:avLst>
          </a:prstGeom>
          <a:solidFill>
            <a:schemeClr val="tx2"/>
          </a:solidFill>
          <a:ln w="12700">
            <a:solidFill>
              <a:schemeClr val="tx2"/>
            </a:solid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I</a:t>
            </a:r>
            <a:endParaRPr lang="en-US" sz="1500" dirty="0"/>
          </a:p>
        </p:txBody>
      </p:sp>
      <p:sp>
        <p:nvSpPr>
          <p:cNvPr id="30" name="text-142"/>
          <p:cNvSpPr txBox="1"/>
          <p:nvPr/>
        </p:nvSpPr>
        <p:spPr>
          <a:xfrm>
            <a:off x="3776472" y="2148840"/>
            <a:ext cx="384048" cy="164592"/>
          </a:xfrm>
          <a:prstGeom prst="rect">
            <a:avLst/>
          </a:prstGeom>
          <a:noFill/>
          <a:ln/>
        </p:spPr>
        <p:txBody>
          <a:bodyPr wrap="square" lIns="0" tIns="0" rIns="0" bIns="0" rtlCol="0" anchor="t"/>
          <a:lstStyle/>
          <a:p>
            <a:pPr marL="0" indent="0" algn="ctr">
              <a:buNone/>
            </a:pPr>
            <a:r>
              <a:rPr lang="en-US" sz="900" dirty="0">
                <a:solidFill>
                  <a:schemeClr val="accent5"/>
                </a:solidFill>
              </a:rPr>
              <a:t>6</a:t>
            </a:r>
            <a:endParaRPr lang="en-US" sz="900" dirty="0"/>
          </a:p>
        </p:txBody>
      </p:sp>
      <p:sp>
        <p:nvSpPr>
          <p:cNvPr id="31" name="tile-143"/>
          <p:cNvSpPr/>
          <p:nvPr/>
        </p:nvSpPr>
        <p:spPr>
          <a:xfrm>
            <a:off x="3776472" y="2331720"/>
            <a:ext cx="384048" cy="384048"/>
          </a:xfrm>
          <a:prstGeom prst="roundRect">
            <a:avLst>
              <a:gd name="adj" fmla="val 11905"/>
            </a:avLst>
          </a:prstGeom>
          <a:solidFill>
            <a:schemeClr val="tx2"/>
          </a:solidFill>
          <a:ln w="12700">
            <a:solidFill>
              <a:schemeClr val="tx2"/>
            </a:solid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T</a:t>
            </a:r>
            <a:endParaRPr lang="en-US" sz="1500" dirty="0"/>
          </a:p>
        </p:txBody>
      </p:sp>
      <p:sp>
        <p:nvSpPr>
          <p:cNvPr id="32" name="text-144"/>
          <p:cNvSpPr txBox="1"/>
          <p:nvPr/>
        </p:nvSpPr>
        <p:spPr>
          <a:xfrm>
            <a:off x="4215384" y="2148840"/>
            <a:ext cx="384048" cy="164592"/>
          </a:xfrm>
          <a:prstGeom prst="rect">
            <a:avLst/>
          </a:prstGeom>
          <a:noFill/>
          <a:ln/>
        </p:spPr>
        <p:txBody>
          <a:bodyPr wrap="square" lIns="0" tIns="0" rIns="0" bIns="0" rtlCol="0" anchor="t"/>
          <a:lstStyle/>
          <a:p>
            <a:pPr marL="0" indent="0" algn="ctr">
              <a:buNone/>
            </a:pPr>
            <a:r>
              <a:rPr lang="en-US" sz="900" dirty="0">
                <a:solidFill>
                  <a:schemeClr val="accent5"/>
                </a:solidFill>
              </a:rPr>
              <a:t>7</a:t>
            </a:r>
            <a:endParaRPr lang="en-US" sz="900" dirty="0"/>
          </a:p>
        </p:txBody>
      </p:sp>
      <p:sp>
        <p:nvSpPr>
          <p:cNvPr id="33" name="tile-145"/>
          <p:cNvSpPr/>
          <p:nvPr/>
        </p:nvSpPr>
        <p:spPr>
          <a:xfrm>
            <a:off x="4215384" y="2331720"/>
            <a:ext cx="384048" cy="384048"/>
          </a:xfrm>
          <a:prstGeom prst="roundRect">
            <a:avLst>
              <a:gd name="adj" fmla="val 11905"/>
            </a:avLst>
          </a:prstGeom>
          <a:solidFill>
            <a:schemeClr val="tx2"/>
          </a:solidFill>
          <a:ln w="12700">
            <a:solidFill>
              <a:schemeClr val="tx2"/>
            </a:solid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H</a:t>
            </a:r>
            <a:endParaRPr lang="en-US" sz="1500" dirty="0"/>
          </a:p>
        </p:txBody>
      </p:sp>
      <p:sp>
        <p:nvSpPr>
          <p:cNvPr id="34" name="text-146"/>
          <p:cNvSpPr txBox="1"/>
          <p:nvPr/>
        </p:nvSpPr>
        <p:spPr>
          <a:xfrm>
            <a:off x="4654296" y="2148840"/>
            <a:ext cx="384048" cy="164592"/>
          </a:xfrm>
          <a:prstGeom prst="rect">
            <a:avLst/>
          </a:prstGeom>
          <a:noFill/>
          <a:ln/>
        </p:spPr>
        <p:txBody>
          <a:bodyPr wrap="square" lIns="0" tIns="0" rIns="0" bIns="0" rtlCol="0" anchor="t"/>
          <a:lstStyle/>
          <a:p>
            <a:pPr marL="0" indent="0" algn="ctr">
              <a:buNone/>
            </a:pPr>
            <a:r>
              <a:rPr lang="en-US" sz="900" dirty="0">
                <a:solidFill>
                  <a:schemeClr val="accent5"/>
                </a:solidFill>
              </a:rPr>
              <a:t>8</a:t>
            </a:r>
            <a:endParaRPr lang="en-US" sz="900" dirty="0"/>
          </a:p>
        </p:txBody>
      </p:sp>
      <p:sp>
        <p:nvSpPr>
          <p:cNvPr id="35" name="tile-147"/>
          <p:cNvSpPr/>
          <p:nvPr/>
        </p:nvSpPr>
        <p:spPr>
          <a:xfrm>
            <a:off x="4654296" y="2331720"/>
            <a:ext cx="384048" cy="384048"/>
          </a:xfrm>
          <a:prstGeom prst="roundRect">
            <a:avLst>
              <a:gd name="adj" fmla="val 11905"/>
            </a:avLst>
          </a:prstGeom>
          <a:solidFill>
            <a:schemeClr val="tx2"/>
          </a:solidFill>
          <a:ln w="12700">
            <a:solidFill>
              <a:schemeClr val="tx2"/>
            </a:solid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M</a:t>
            </a:r>
            <a:endParaRPr lang="en-US" sz="1500" dirty="0"/>
          </a:p>
        </p:txBody>
      </p:sp>
      <p:sp>
        <p:nvSpPr>
          <p:cNvPr id="36" name="text-148"/>
          <p:cNvSpPr txBox="1"/>
          <p:nvPr/>
        </p:nvSpPr>
        <p:spPr>
          <a:xfrm>
            <a:off x="548640" y="2880360"/>
            <a:ext cx="502920" cy="384048"/>
          </a:xfrm>
          <a:prstGeom prst="rect">
            <a:avLst/>
          </a:prstGeom>
          <a:noFill/>
          <a:ln/>
        </p:spPr>
        <p:txBody>
          <a:bodyPr wrap="square" lIns="0" tIns="0" rIns="0" bIns="0" rtlCol="0" anchor="ctr"/>
          <a:lstStyle/>
          <a:p>
            <a:pPr marL="0" indent="0" algn="r">
              <a:buNone/>
            </a:pPr>
            <a:r>
              <a:rPr lang="en-US" sz="1100" dirty="0">
                <a:solidFill>
                  <a:schemeClr val="accent5"/>
                </a:solidFill>
              </a:rPr>
              <a:t>#1</a:t>
            </a:r>
            <a:endParaRPr lang="en-US" sz="1100" dirty="0"/>
          </a:p>
        </p:txBody>
      </p:sp>
      <p:sp>
        <p:nvSpPr>
          <p:cNvPr id="37" name="tile-149"/>
          <p:cNvSpPr/>
          <p:nvPr/>
        </p:nvSpPr>
        <p:spPr>
          <a:xfrm>
            <a:off x="1143000" y="2880360"/>
            <a:ext cx="384048" cy="384048"/>
          </a:xfrm>
          <a:prstGeom prst="roundRect">
            <a:avLst>
              <a:gd name="adj" fmla="val 11905"/>
            </a:avLst>
          </a:prstGeom>
          <a:solidFill>
            <a:schemeClr val="bg1"/>
          </a:solidFill>
          <a:ln w="12700">
            <a:solidFill>
              <a:schemeClr val="accent6"/>
            </a:solidFill>
          </a:ln>
        </p:spPr>
        <p:txBody>
          <a:bodyPr wrap="square" lIns="0" tIns="0" rIns="0" bIns="0" rtlCol="0" anchor="ctr"/>
          <a:lstStyle/>
          <a:p>
            <a:pPr marL="0" indent="0" algn="ctr">
              <a:buNone/>
            </a:pPr>
            <a:r>
              <a:rPr lang="en-US" sz="1500" b="1" dirty="0">
                <a:solidFill>
                  <a:schemeClr val="accent5"/>
                </a:solidFill>
                <a:latin typeface="Courier New" pitchFamily="34" charset="0"/>
                <a:ea typeface="Courier New" pitchFamily="34" charset="-122"/>
                <a:cs typeface="Courier New" pitchFamily="34" charset="-120"/>
              </a:rPr>
              <a:t>G</a:t>
            </a:r>
            <a:endParaRPr lang="en-US" sz="1500" dirty="0"/>
          </a:p>
        </p:txBody>
      </p:sp>
      <p:sp>
        <p:nvSpPr>
          <p:cNvPr id="38" name="tile-150"/>
          <p:cNvSpPr/>
          <p:nvPr/>
        </p:nvSpPr>
        <p:spPr>
          <a:xfrm>
            <a:off x="1581912" y="2880360"/>
            <a:ext cx="384048" cy="384048"/>
          </a:xfrm>
          <a:prstGeom prst="roundRect">
            <a:avLst>
              <a:gd name="adj" fmla="val 11905"/>
            </a:avLst>
          </a:prstGeom>
          <a:solidFill>
            <a:schemeClr val="bg1"/>
          </a:solidFill>
          <a:ln w="12700">
            <a:solidFill>
              <a:schemeClr val="accent6"/>
            </a:solidFill>
          </a:ln>
        </p:spPr>
        <p:txBody>
          <a:bodyPr wrap="square" lIns="0" tIns="0" rIns="0" bIns="0" rtlCol="0" anchor="ctr"/>
          <a:lstStyle/>
          <a:p>
            <a:pPr marL="0" indent="0" algn="ctr">
              <a:buNone/>
            </a:pPr>
            <a:r>
              <a:rPr lang="en-US" sz="1500" b="1" dirty="0">
                <a:solidFill>
                  <a:schemeClr val="accent5"/>
                </a:solidFill>
                <a:latin typeface="Courier New" pitchFamily="34" charset="0"/>
                <a:ea typeface="Courier New" pitchFamily="34" charset="-122"/>
                <a:cs typeface="Courier New" pitchFamily="34" charset="-120"/>
              </a:rPr>
              <a:t>O</a:t>
            </a:r>
            <a:endParaRPr lang="en-US" sz="1500" dirty="0"/>
          </a:p>
        </p:txBody>
      </p:sp>
      <p:sp>
        <p:nvSpPr>
          <p:cNvPr id="39" name="tile-151"/>
          <p:cNvSpPr/>
          <p:nvPr/>
        </p:nvSpPr>
        <p:spPr>
          <a:xfrm>
            <a:off x="2020824" y="2880360"/>
            <a:ext cx="384048" cy="384048"/>
          </a:xfrm>
          <a:prstGeom prst="roundRect">
            <a:avLst>
              <a:gd name="adj" fmla="val 11905"/>
            </a:avLst>
          </a:prstGeom>
          <a:solidFill>
            <a:schemeClr val="bg1"/>
          </a:solidFill>
          <a:ln w="12700">
            <a:solidFill>
              <a:schemeClr val="accent6"/>
            </a:solidFill>
          </a:ln>
        </p:spPr>
        <p:txBody>
          <a:bodyPr wrap="square" lIns="0" tIns="0" rIns="0" bIns="0" rtlCol="0" anchor="ctr"/>
          <a:lstStyle/>
          <a:p>
            <a:pPr marL="0" indent="0" algn="ctr">
              <a:buNone/>
            </a:pPr>
            <a:r>
              <a:rPr lang="en-US" sz="1500" b="1" dirty="0">
                <a:solidFill>
                  <a:schemeClr val="accent5"/>
                </a:solidFill>
                <a:latin typeface="Courier New" pitchFamily="34" charset="0"/>
                <a:ea typeface="Courier New" pitchFamily="34" charset="-122"/>
                <a:cs typeface="Courier New" pitchFamily="34" charset="-120"/>
              </a:rPr>
              <a:t>R</a:t>
            </a:r>
            <a:endParaRPr lang="en-US" sz="1500" dirty="0"/>
          </a:p>
        </p:txBody>
      </p:sp>
      <p:sp>
        <p:nvSpPr>
          <p:cNvPr id="40" name="tile-152"/>
          <p:cNvSpPr/>
          <p:nvPr/>
        </p:nvSpPr>
        <p:spPr>
          <a:xfrm>
            <a:off x="2459736" y="2880360"/>
            <a:ext cx="384048" cy="384048"/>
          </a:xfrm>
          <a:prstGeom prst="roundRect">
            <a:avLst>
              <a:gd name="adj" fmla="val 11905"/>
            </a:avLst>
          </a:prstGeom>
          <a:solidFill>
            <a:schemeClr val="accent4"/>
          </a:solidFill>
          <a:ln w="12700">
            <a:solidFill>
              <a:schemeClr val="accent4"/>
            </a:solid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E</a:t>
            </a:r>
            <a:endParaRPr lang="en-US" sz="1500" dirty="0"/>
          </a:p>
        </p:txBody>
      </p:sp>
      <p:sp>
        <p:nvSpPr>
          <p:cNvPr id="41" name="ann-153"/>
          <p:cNvSpPr txBox="1"/>
          <p:nvPr/>
        </p:nvSpPr>
        <p:spPr>
          <a:xfrm>
            <a:off x="5349240" y="2880360"/>
            <a:ext cx="3337560" cy="384048"/>
          </a:xfrm>
          <a:prstGeom prst="rect">
            <a:avLst/>
          </a:prstGeom>
          <a:noFill/>
          <a:ln/>
        </p:spPr>
        <p:txBody>
          <a:bodyPr wrap="square" lIns="0" tIns="0" rIns="0" bIns="0" rtlCol="0" anchor="ctr"/>
          <a:lstStyle/>
          <a:p>
            <a:pPr marL="0" indent="0">
              <a:buNone/>
            </a:pPr>
            <a:r>
              <a:rPr lang="en-US" sz="1200" b="1" dirty="0">
                <a:solidFill>
                  <a:schemeClr val="tx2"/>
                </a:solidFill>
              </a:rPr>
              <a:t>1 comp</a:t>
            </a:r>
            <a:r>
              <a:rPr lang="en-US" sz="1200" dirty="0">
                <a:solidFill>
                  <a:schemeClr val="tx1"/>
                </a:solidFill>
              </a:rPr>
              <a:t>  ·  shift S[O] = 2</a:t>
            </a:r>
            <a:endParaRPr lang="en-US" sz="1200" dirty="0"/>
          </a:p>
        </p:txBody>
      </p:sp>
      <p:sp>
        <p:nvSpPr>
          <p:cNvPr id="42" name="text-154"/>
          <p:cNvSpPr txBox="1"/>
          <p:nvPr/>
        </p:nvSpPr>
        <p:spPr>
          <a:xfrm>
            <a:off x="548640" y="3392424"/>
            <a:ext cx="502920" cy="384048"/>
          </a:xfrm>
          <a:prstGeom prst="rect">
            <a:avLst/>
          </a:prstGeom>
          <a:noFill/>
          <a:ln/>
        </p:spPr>
        <p:txBody>
          <a:bodyPr wrap="square" lIns="0" tIns="0" rIns="0" bIns="0" rtlCol="0" anchor="ctr"/>
          <a:lstStyle/>
          <a:p>
            <a:pPr marL="0" indent="0" algn="r">
              <a:buNone/>
            </a:pPr>
            <a:r>
              <a:rPr lang="en-US" sz="1100" dirty="0">
                <a:solidFill>
                  <a:schemeClr val="accent5"/>
                </a:solidFill>
              </a:rPr>
              <a:t>#2</a:t>
            </a:r>
            <a:endParaRPr lang="en-US" sz="1100" dirty="0"/>
          </a:p>
        </p:txBody>
      </p:sp>
      <p:sp>
        <p:nvSpPr>
          <p:cNvPr id="43" name="tile-155"/>
          <p:cNvSpPr/>
          <p:nvPr/>
        </p:nvSpPr>
        <p:spPr>
          <a:xfrm>
            <a:off x="2020824" y="3392424"/>
            <a:ext cx="384048" cy="384048"/>
          </a:xfrm>
          <a:prstGeom prst="roundRect">
            <a:avLst>
              <a:gd name="adj" fmla="val 11905"/>
            </a:avLst>
          </a:prstGeom>
          <a:solidFill>
            <a:schemeClr val="bg1"/>
          </a:solidFill>
          <a:ln w="12700">
            <a:solidFill>
              <a:schemeClr val="accent6"/>
            </a:solidFill>
          </a:ln>
        </p:spPr>
        <p:txBody>
          <a:bodyPr wrap="square" lIns="0" tIns="0" rIns="0" bIns="0" rtlCol="0" anchor="ctr"/>
          <a:lstStyle/>
          <a:p>
            <a:pPr marL="0" indent="0" algn="ctr">
              <a:buNone/>
            </a:pPr>
            <a:r>
              <a:rPr lang="en-US" sz="1500" b="1" dirty="0">
                <a:solidFill>
                  <a:schemeClr val="accent5"/>
                </a:solidFill>
                <a:latin typeface="Courier New" pitchFamily="34" charset="0"/>
                <a:ea typeface="Courier New" pitchFamily="34" charset="-122"/>
                <a:cs typeface="Courier New" pitchFamily="34" charset="-120"/>
              </a:rPr>
              <a:t>G</a:t>
            </a:r>
            <a:endParaRPr lang="en-US" sz="1500" dirty="0"/>
          </a:p>
        </p:txBody>
      </p:sp>
      <p:sp>
        <p:nvSpPr>
          <p:cNvPr id="44" name="tile-156"/>
          <p:cNvSpPr/>
          <p:nvPr/>
        </p:nvSpPr>
        <p:spPr>
          <a:xfrm>
            <a:off x="2459736" y="3392424"/>
            <a:ext cx="384048" cy="384048"/>
          </a:xfrm>
          <a:prstGeom prst="roundRect">
            <a:avLst>
              <a:gd name="adj" fmla="val 11905"/>
            </a:avLst>
          </a:prstGeom>
          <a:solidFill>
            <a:schemeClr val="bg1"/>
          </a:solidFill>
          <a:ln w="12700">
            <a:solidFill>
              <a:schemeClr val="accent6"/>
            </a:solidFill>
          </a:ln>
        </p:spPr>
        <p:txBody>
          <a:bodyPr wrap="square" lIns="0" tIns="0" rIns="0" bIns="0" rtlCol="0" anchor="ctr"/>
          <a:lstStyle/>
          <a:p>
            <a:pPr marL="0" indent="0" algn="ctr">
              <a:buNone/>
            </a:pPr>
            <a:r>
              <a:rPr lang="en-US" sz="1500" b="1" dirty="0">
                <a:solidFill>
                  <a:schemeClr val="accent5"/>
                </a:solidFill>
                <a:latin typeface="Courier New" pitchFamily="34" charset="0"/>
                <a:ea typeface="Courier New" pitchFamily="34" charset="-122"/>
                <a:cs typeface="Courier New" pitchFamily="34" charset="-120"/>
              </a:rPr>
              <a:t>O</a:t>
            </a:r>
            <a:endParaRPr lang="en-US" sz="1500" dirty="0"/>
          </a:p>
        </p:txBody>
      </p:sp>
      <p:sp>
        <p:nvSpPr>
          <p:cNvPr id="45" name="tile-157"/>
          <p:cNvSpPr/>
          <p:nvPr/>
        </p:nvSpPr>
        <p:spPr>
          <a:xfrm>
            <a:off x="2898648" y="3392424"/>
            <a:ext cx="384048" cy="384048"/>
          </a:xfrm>
          <a:prstGeom prst="roundRect">
            <a:avLst>
              <a:gd name="adj" fmla="val 11905"/>
            </a:avLst>
          </a:prstGeom>
          <a:solidFill>
            <a:schemeClr val="bg1"/>
          </a:solidFill>
          <a:ln w="12700">
            <a:solidFill>
              <a:schemeClr val="accent6"/>
            </a:solidFill>
          </a:ln>
        </p:spPr>
        <p:txBody>
          <a:bodyPr wrap="square" lIns="0" tIns="0" rIns="0" bIns="0" rtlCol="0" anchor="ctr"/>
          <a:lstStyle/>
          <a:p>
            <a:pPr marL="0" indent="0" algn="ctr">
              <a:buNone/>
            </a:pPr>
            <a:r>
              <a:rPr lang="en-US" sz="1500" b="1" dirty="0">
                <a:solidFill>
                  <a:schemeClr val="accent5"/>
                </a:solidFill>
                <a:latin typeface="Courier New" pitchFamily="34" charset="0"/>
                <a:ea typeface="Courier New" pitchFamily="34" charset="-122"/>
                <a:cs typeface="Courier New" pitchFamily="34" charset="-120"/>
              </a:rPr>
              <a:t>R</a:t>
            </a:r>
            <a:endParaRPr lang="en-US" sz="1500" dirty="0"/>
          </a:p>
        </p:txBody>
      </p:sp>
      <p:sp>
        <p:nvSpPr>
          <p:cNvPr id="46" name="tile-158"/>
          <p:cNvSpPr/>
          <p:nvPr/>
        </p:nvSpPr>
        <p:spPr>
          <a:xfrm>
            <a:off x="3337560" y="3392424"/>
            <a:ext cx="384048" cy="384048"/>
          </a:xfrm>
          <a:prstGeom prst="roundRect">
            <a:avLst>
              <a:gd name="adj" fmla="val 11905"/>
            </a:avLst>
          </a:prstGeom>
          <a:solidFill>
            <a:schemeClr val="accent4"/>
          </a:solidFill>
          <a:ln w="12700">
            <a:solidFill>
              <a:schemeClr val="accent4"/>
            </a:solid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E</a:t>
            </a:r>
            <a:endParaRPr lang="en-US" sz="1500" dirty="0"/>
          </a:p>
        </p:txBody>
      </p:sp>
      <p:sp>
        <p:nvSpPr>
          <p:cNvPr id="47" name="ann-159"/>
          <p:cNvSpPr txBox="1"/>
          <p:nvPr/>
        </p:nvSpPr>
        <p:spPr>
          <a:xfrm>
            <a:off x="5349240" y="3392424"/>
            <a:ext cx="3337560" cy="384048"/>
          </a:xfrm>
          <a:prstGeom prst="rect">
            <a:avLst/>
          </a:prstGeom>
          <a:noFill/>
          <a:ln/>
        </p:spPr>
        <p:txBody>
          <a:bodyPr wrap="square" lIns="0" tIns="0" rIns="0" bIns="0" rtlCol="0" anchor="ctr"/>
          <a:lstStyle/>
          <a:p>
            <a:pPr marL="0" indent="0">
              <a:buNone/>
            </a:pPr>
            <a:r>
              <a:rPr lang="en-US" sz="1200" b="1" dirty="0">
                <a:solidFill>
                  <a:schemeClr val="tx2"/>
                </a:solidFill>
              </a:rPr>
              <a:t>1 comp</a:t>
            </a:r>
            <a:r>
              <a:rPr lang="en-US" sz="1200" dirty="0">
                <a:solidFill>
                  <a:schemeClr val="tx1"/>
                </a:solidFill>
              </a:rPr>
              <a:t>  ·  shift S[I] = 4 → past end, stop</a:t>
            </a:r>
            <a:endParaRPr lang="en-US" sz="1200" dirty="0"/>
          </a:p>
        </p:txBody>
      </p:sp>
      <p:sp>
        <p:nvSpPr>
          <p:cNvPr id="48" name="card-160"/>
          <p:cNvSpPr/>
          <p:nvPr/>
        </p:nvSpPr>
        <p:spPr>
          <a:xfrm>
            <a:off x="5349240" y="1051560"/>
            <a:ext cx="333756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49" name="text-161"/>
          <p:cNvSpPr txBox="1"/>
          <p:nvPr/>
        </p:nvSpPr>
        <p:spPr>
          <a:xfrm>
            <a:off x="5532120" y="1161288"/>
            <a:ext cx="2971800" cy="457200"/>
          </a:xfrm>
          <a:prstGeom prst="rect">
            <a:avLst/>
          </a:prstGeom>
          <a:noFill/>
          <a:ln/>
        </p:spPr>
        <p:txBody>
          <a:bodyPr wrap="square" lIns="0" tIns="0" rIns="0" bIns="0" rtlCol="0" anchor="ctr"/>
          <a:lstStyle/>
          <a:p>
            <a:pPr marL="0" indent="0">
              <a:buNone/>
            </a:pPr>
            <a:r>
              <a:rPr lang="en-US" sz="2600" b="1" dirty="0">
                <a:solidFill>
                  <a:schemeClr val="tx2"/>
                </a:solidFill>
              </a:rPr>
              <a:t>2 comparisons</a:t>
            </a:r>
            <a:endParaRPr lang="en-US" sz="2600" dirty="0"/>
          </a:p>
        </p:txBody>
      </p:sp>
      <p:sp>
        <p:nvSpPr>
          <p:cNvPr id="50" name="text-162"/>
          <p:cNvSpPr txBox="1"/>
          <p:nvPr/>
        </p:nvSpPr>
        <p:spPr>
          <a:xfrm>
            <a:off x="5532120" y="1618488"/>
            <a:ext cx="2971800" cy="237744"/>
          </a:xfrm>
          <a:prstGeom prst="rect">
            <a:avLst/>
          </a:prstGeom>
          <a:noFill/>
          <a:ln/>
        </p:spPr>
        <p:txBody>
          <a:bodyPr wrap="square" lIns="0" tIns="0" rIns="0" bIns="0" rtlCol="0" anchor="t"/>
          <a:lstStyle/>
          <a:p>
            <a:pPr marL="0" indent="0">
              <a:buNone/>
            </a:pPr>
            <a:r>
              <a:rPr lang="en-US" sz="1200" dirty="0">
                <a:solidFill>
                  <a:schemeClr val="tx1"/>
                </a:solidFill>
              </a:rPr>
              <a:t>Not found — 2nd jump runs off the end</a:t>
            </a:r>
            <a:endParaRPr lang="en-US" sz="1200" dirty="0"/>
          </a:p>
        </p:txBody>
      </p:sp>
      <p:sp>
        <p:nvSpPr>
          <p:cNvPr id="51"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Q68 · CAB in ABRACADABRA</a:t>
            </a:r>
            <a:endParaRPr lang="en-US" sz="3000" dirty="0"/>
          </a:p>
        </p:txBody>
      </p:sp>
      <p:sp>
        <p:nvSpPr>
          <p:cNvPr id="3" name="text-163"/>
          <p:cNvSpPr txBox="1"/>
          <p:nvPr/>
        </p:nvSpPr>
        <p:spPr>
          <a:xfrm>
            <a:off x="640080" y="1097280"/>
            <a:ext cx="411480" cy="292608"/>
          </a:xfrm>
          <a:prstGeom prst="rect">
            <a:avLst/>
          </a:prstGeom>
          <a:noFill/>
          <a:ln/>
        </p:spPr>
        <p:txBody>
          <a:bodyPr wrap="square" lIns="0" tIns="0" rIns="0" bIns="0" rtlCol="0" anchor="ctr"/>
          <a:lstStyle/>
          <a:p>
            <a:pPr marL="0" indent="0" algn="r">
              <a:buNone/>
            </a:pPr>
            <a:r>
              <a:rPr lang="en-US" sz="1100" dirty="0">
                <a:solidFill>
                  <a:schemeClr val="accent5"/>
                </a:solidFill>
              </a:rPr>
              <a:t>c</a:t>
            </a:r>
            <a:endParaRPr lang="en-US" sz="1100" dirty="0"/>
          </a:p>
        </p:txBody>
      </p:sp>
      <p:sp>
        <p:nvSpPr>
          <p:cNvPr id="4" name="text-164"/>
          <p:cNvSpPr txBox="1"/>
          <p:nvPr/>
        </p:nvSpPr>
        <p:spPr>
          <a:xfrm>
            <a:off x="457200" y="1426464"/>
            <a:ext cx="594360" cy="292608"/>
          </a:xfrm>
          <a:prstGeom prst="rect">
            <a:avLst/>
          </a:prstGeom>
          <a:noFill/>
          <a:ln/>
        </p:spPr>
        <p:txBody>
          <a:bodyPr wrap="square" lIns="0" tIns="0" rIns="0" bIns="0" rtlCol="0" anchor="ctr"/>
          <a:lstStyle/>
          <a:p>
            <a:pPr marL="0" indent="0" algn="r">
              <a:buNone/>
            </a:pPr>
            <a:r>
              <a:rPr lang="en-US" sz="1100" dirty="0">
                <a:solidFill>
                  <a:schemeClr val="accent5"/>
                </a:solidFill>
              </a:rPr>
              <a:t>S[c]</a:t>
            </a:r>
            <a:endParaRPr lang="en-US" sz="1100" dirty="0"/>
          </a:p>
        </p:txBody>
      </p:sp>
      <p:sp>
        <p:nvSpPr>
          <p:cNvPr id="5" name="tile-165"/>
          <p:cNvSpPr/>
          <p:nvPr/>
        </p:nvSpPr>
        <p:spPr>
          <a:xfrm>
            <a:off x="1143000" y="1097280"/>
            <a:ext cx="384048" cy="292608"/>
          </a:xfrm>
          <a:prstGeom prst="roundRect">
            <a:avLst>
              <a:gd name="adj" fmla="val 15625"/>
            </a:avLst>
          </a:prstGeom>
          <a:solidFill>
            <a:schemeClr val="bg2"/>
          </a:solidFill>
          <a:ln w="12700">
            <a:solidFill>
              <a:schemeClr val="bg2"/>
            </a:solid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C</a:t>
            </a:r>
            <a:endParaRPr lang="en-US" sz="1300" dirty="0"/>
          </a:p>
        </p:txBody>
      </p:sp>
      <p:sp>
        <p:nvSpPr>
          <p:cNvPr id="6" name="tile-166"/>
          <p:cNvSpPr/>
          <p:nvPr/>
        </p:nvSpPr>
        <p:spPr>
          <a:xfrm>
            <a:off x="1143000" y="1426464"/>
            <a:ext cx="384048" cy="292608"/>
          </a:xfrm>
          <a:prstGeom prst="roundRect">
            <a:avLst>
              <a:gd name="adj" fmla="val 15625"/>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tx1"/>
                </a:solidFill>
                <a:latin typeface="Courier New" pitchFamily="34" charset="0"/>
                <a:ea typeface="Courier New" pitchFamily="34" charset="-122"/>
                <a:cs typeface="Courier New" pitchFamily="34" charset="-120"/>
              </a:rPr>
              <a:t>2</a:t>
            </a:r>
            <a:endParaRPr lang="en-US" sz="1300" dirty="0"/>
          </a:p>
        </p:txBody>
      </p:sp>
      <p:sp>
        <p:nvSpPr>
          <p:cNvPr id="7" name="tile-167"/>
          <p:cNvSpPr/>
          <p:nvPr/>
        </p:nvSpPr>
        <p:spPr>
          <a:xfrm>
            <a:off x="1581912" y="1097280"/>
            <a:ext cx="384048" cy="292608"/>
          </a:xfrm>
          <a:prstGeom prst="roundRect">
            <a:avLst>
              <a:gd name="adj" fmla="val 15625"/>
            </a:avLst>
          </a:prstGeom>
          <a:solidFill>
            <a:schemeClr val="bg2"/>
          </a:solidFill>
          <a:ln w="12700">
            <a:solidFill>
              <a:schemeClr val="bg2"/>
            </a:solid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A</a:t>
            </a:r>
            <a:endParaRPr lang="en-US" sz="1300" dirty="0"/>
          </a:p>
        </p:txBody>
      </p:sp>
      <p:sp>
        <p:nvSpPr>
          <p:cNvPr id="8" name="tile-168"/>
          <p:cNvSpPr/>
          <p:nvPr/>
        </p:nvSpPr>
        <p:spPr>
          <a:xfrm>
            <a:off x="1581912" y="1426464"/>
            <a:ext cx="384048" cy="292608"/>
          </a:xfrm>
          <a:prstGeom prst="roundRect">
            <a:avLst>
              <a:gd name="adj" fmla="val 15625"/>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tx1"/>
                </a:solidFill>
                <a:latin typeface="Courier New" pitchFamily="34" charset="0"/>
                <a:ea typeface="Courier New" pitchFamily="34" charset="-122"/>
                <a:cs typeface="Courier New" pitchFamily="34" charset="-120"/>
              </a:rPr>
              <a:t>1</a:t>
            </a:r>
            <a:endParaRPr lang="en-US" sz="1300" dirty="0"/>
          </a:p>
        </p:txBody>
      </p:sp>
      <p:sp>
        <p:nvSpPr>
          <p:cNvPr id="9" name="tile-169"/>
          <p:cNvSpPr/>
          <p:nvPr/>
        </p:nvSpPr>
        <p:spPr>
          <a:xfrm>
            <a:off x="2020824" y="1097280"/>
            <a:ext cx="729691" cy="292608"/>
          </a:xfrm>
          <a:prstGeom prst="roundRect">
            <a:avLst>
              <a:gd name="adj" fmla="val 15625"/>
            </a:avLst>
          </a:prstGeom>
          <a:solidFill>
            <a:schemeClr val="bg2"/>
          </a:solidFill>
          <a:ln w="12700">
            <a:solidFill>
              <a:schemeClr val="bg2"/>
            </a:solidFill>
          </a:ln>
        </p:spPr>
        <p:txBody>
          <a:bodyPr wrap="square" lIns="0" tIns="0" rIns="0" bIns="0" rtlCol="0" anchor="ctr"/>
          <a:lstStyle/>
          <a:p>
            <a:pPr marL="0" indent="0" algn="ctr">
              <a:buNone/>
            </a:pPr>
            <a:r>
              <a:rPr lang="en-US" sz="1100" b="1" dirty="0">
                <a:solidFill>
                  <a:schemeClr val="tx2"/>
                </a:solidFill>
                <a:latin typeface="Calibri" pitchFamily="34" charset="0"/>
                <a:ea typeface="Calibri" pitchFamily="34" charset="-122"/>
                <a:cs typeface="Calibri" pitchFamily="34" charset="-120"/>
              </a:rPr>
              <a:t>other</a:t>
            </a:r>
            <a:endParaRPr lang="en-US" sz="1100" dirty="0"/>
          </a:p>
        </p:txBody>
      </p:sp>
      <p:sp>
        <p:nvSpPr>
          <p:cNvPr id="10" name="tile-170"/>
          <p:cNvSpPr/>
          <p:nvPr/>
        </p:nvSpPr>
        <p:spPr>
          <a:xfrm>
            <a:off x="2020824" y="1426464"/>
            <a:ext cx="729691" cy="292608"/>
          </a:xfrm>
          <a:prstGeom prst="roundRect">
            <a:avLst>
              <a:gd name="adj" fmla="val 15625"/>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tx1"/>
                </a:solidFill>
                <a:latin typeface="Courier New" pitchFamily="34" charset="0"/>
                <a:ea typeface="Courier New" pitchFamily="34" charset="-122"/>
                <a:cs typeface="Courier New" pitchFamily="34" charset="-120"/>
              </a:rPr>
              <a:t>3</a:t>
            </a:r>
            <a:endParaRPr lang="en-US" sz="1300" dirty="0"/>
          </a:p>
        </p:txBody>
      </p:sp>
      <p:sp>
        <p:nvSpPr>
          <p:cNvPr id="11" name="lg-171"/>
          <p:cNvSpPr/>
          <p:nvPr/>
        </p:nvSpPr>
        <p:spPr>
          <a:xfrm>
            <a:off x="5623560" y="2322576"/>
            <a:ext cx="182880" cy="182880"/>
          </a:xfrm>
          <a:prstGeom prst="roundRect">
            <a:avLst>
              <a:gd name="adj" fmla="val 15000"/>
            </a:avLst>
          </a:prstGeom>
          <a:solidFill>
            <a:schemeClr val="accent3"/>
          </a:solidFill>
          <a:ln w="12700">
            <a:solidFill>
              <a:schemeClr val="accent3"/>
            </a:solidFill>
            <a:prstDash val="solid"/>
          </a:ln>
        </p:spPr>
        <p:txBody>
          <a:bodyPr/>
          <a:lstStyle/>
          <a:p>
            <a:endParaRPr lang="en-US"/>
          </a:p>
        </p:txBody>
      </p:sp>
      <p:sp>
        <p:nvSpPr>
          <p:cNvPr id="12" name="text-172"/>
          <p:cNvSpPr txBox="1"/>
          <p:nvPr/>
        </p:nvSpPr>
        <p:spPr>
          <a:xfrm>
            <a:off x="5879592" y="2286000"/>
            <a:ext cx="822960" cy="256032"/>
          </a:xfrm>
          <a:prstGeom prst="rect">
            <a:avLst/>
          </a:prstGeom>
          <a:noFill/>
          <a:ln/>
        </p:spPr>
        <p:txBody>
          <a:bodyPr wrap="square" lIns="0" tIns="0" rIns="0" bIns="0" rtlCol="0" anchor="ctr"/>
          <a:lstStyle/>
          <a:p>
            <a:pPr marL="0" indent="0">
              <a:buNone/>
            </a:pPr>
            <a:r>
              <a:rPr lang="en-US" sz="1100" dirty="0">
                <a:solidFill>
                  <a:schemeClr val="accent5"/>
                </a:solidFill>
              </a:rPr>
              <a:t>match</a:t>
            </a:r>
            <a:endParaRPr lang="en-US" sz="1100" dirty="0"/>
          </a:p>
        </p:txBody>
      </p:sp>
      <p:sp>
        <p:nvSpPr>
          <p:cNvPr id="13" name="lg-173"/>
          <p:cNvSpPr/>
          <p:nvPr/>
        </p:nvSpPr>
        <p:spPr>
          <a:xfrm>
            <a:off x="6766560" y="2322576"/>
            <a:ext cx="182880" cy="182880"/>
          </a:xfrm>
          <a:prstGeom prst="roundRect">
            <a:avLst>
              <a:gd name="adj" fmla="val 15000"/>
            </a:avLst>
          </a:prstGeom>
          <a:solidFill>
            <a:schemeClr val="accent4"/>
          </a:solidFill>
          <a:ln w="12700">
            <a:solidFill>
              <a:schemeClr val="accent4"/>
            </a:solidFill>
            <a:prstDash val="solid"/>
          </a:ln>
        </p:spPr>
        <p:txBody>
          <a:bodyPr/>
          <a:lstStyle/>
          <a:p>
            <a:endParaRPr lang="en-US"/>
          </a:p>
        </p:txBody>
      </p:sp>
      <p:sp>
        <p:nvSpPr>
          <p:cNvPr id="14" name="text-174"/>
          <p:cNvSpPr txBox="1"/>
          <p:nvPr/>
        </p:nvSpPr>
        <p:spPr>
          <a:xfrm>
            <a:off x="7022592" y="2286000"/>
            <a:ext cx="822960" cy="256032"/>
          </a:xfrm>
          <a:prstGeom prst="rect">
            <a:avLst/>
          </a:prstGeom>
          <a:noFill/>
          <a:ln/>
        </p:spPr>
        <p:txBody>
          <a:bodyPr wrap="square" lIns="0" tIns="0" rIns="0" bIns="0" rtlCol="0" anchor="ctr"/>
          <a:lstStyle/>
          <a:p>
            <a:pPr marL="0" indent="0">
              <a:buNone/>
            </a:pPr>
            <a:r>
              <a:rPr lang="en-US" sz="1100" dirty="0">
                <a:solidFill>
                  <a:schemeClr val="accent5"/>
                </a:solidFill>
              </a:rPr>
              <a:t>mismatch</a:t>
            </a:r>
            <a:endParaRPr lang="en-US" sz="1100" dirty="0"/>
          </a:p>
        </p:txBody>
      </p:sp>
      <p:sp>
        <p:nvSpPr>
          <p:cNvPr id="15" name="text-175"/>
          <p:cNvSpPr txBox="1"/>
          <p:nvPr/>
        </p:nvSpPr>
        <p:spPr>
          <a:xfrm>
            <a:off x="548640" y="2240280"/>
            <a:ext cx="502920" cy="347472"/>
          </a:xfrm>
          <a:prstGeom prst="rect">
            <a:avLst/>
          </a:prstGeom>
          <a:noFill/>
          <a:ln/>
        </p:spPr>
        <p:txBody>
          <a:bodyPr wrap="square" lIns="0" tIns="0" rIns="0" bIns="0" rtlCol="0" anchor="ctr"/>
          <a:lstStyle/>
          <a:p>
            <a:pPr marL="0" indent="0" algn="r">
              <a:buNone/>
            </a:pPr>
            <a:r>
              <a:rPr lang="en-US" sz="1100" dirty="0">
                <a:solidFill>
                  <a:schemeClr val="accent5"/>
                </a:solidFill>
              </a:rPr>
              <a:t>text</a:t>
            </a:r>
            <a:endParaRPr lang="en-US" sz="1100" dirty="0"/>
          </a:p>
        </p:txBody>
      </p:sp>
      <p:sp>
        <p:nvSpPr>
          <p:cNvPr id="16" name="text-176"/>
          <p:cNvSpPr txBox="1"/>
          <p:nvPr/>
        </p:nvSpPr>
        <p:spPr>
          <a:xfrm>
            <a:off x="1143000"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0</a:t>
            </a:r>
            <a:endParaRPr lang="en-US" sz="900" dirty="0"/>
          </a:p>
        </p:txBody>
      </p:sp>
      <p:sp>
        <p:nvSpPr>
          <p:cNvPr id="17" name="tile-177"/>
          <p:cNvSpPr/>
          <p:nvPr/>
        </p:nvSpPr>
        <p:spPr>
          <a:xfrm>
            <a:off x="1143000"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A</a:t>
            </a:r>
            <a:endParaRPr lang="en-US" sz="1400" dirty="0"/>
          </a:p>
        </p:txBody>
      </p:sp>
      <p:sp>
        <p:nvSpPr>
          <p:cNvPr id="18" name="text-178"/>
          <p:cNvSpPr txBox="1"/>
          <p:nvPr/>
        </p:nvSpPr>
        <p:spPr>
          <a:xfrm>
            <a:off x="1527048"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1</a:t>
            </a:r>
            <a:endParaRPr lang="en-US" sz="900" dirty="0"/>
          </a:p>
        </p:txBody>
      </p:sp>
      <p:sp>
        <p:nvSpPr>
          <p:cNvPr id="19" name="tile-179"/>
          <p:cNvSpPr/>
          <p:nvPr/>
        </p:nvSpPr>
        <p:spPr>
          <a:xfrm>
            <a:off x="1527048"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B</a:t>
            </a:r>
            <a:endParaRPr lang="en-US" sz="1400" dirty="0"/>
          </a:p>
        </p:txBody>
      </p:sp>
      <p:sp>
        <p:nvSpPr>
          <p:cNvPr id="20" name="text-180"/>
          <p:cNvSpPr txBox="1"/>
          <p:nvPr/>
        </p:nvSpPr>
        <p:spPr>
          <a:xfrm>
            <a:off x="1911096"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2</a:t>
            </a:r>
            <a:endParaRPr lang="en-US" sz="900" dirty="0"/>
          </a:p>
        </p:txBody>
      </p:sp>
      <p:sp>
        <p:nvSpPr>
          <p:cNvPr id="21" name="tile-181"/>
          <p:cNvSpPr/>
          <p:nvPr/>
        </p:nvSpPr>
        <p:spPr>
          <a:xfrm>
            <a:off x="1911096"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R</a:t>
            </a:r>
            <a:endParaRPr lang="en-US" sz="1400" dirty="0"/>
          </a:p>
        </p:txBody>
      </p:sp>
      <p:sp>
        <p:nvSpPr>
          <p:cNvPr id="22" name="text-182"/>
          <p:cNvSpPr txBox="1"/>
          <p:nvPr/>
        </p:nvSpPr>
        <p:spPr>
          <a:xfrm>
            <a:off x="2295144"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3</a:t>
            </a:r>
            <a:endParaRPr lang="en-US" sz="900" dirty="0"/>
          </a:p>
        </p:txBody>
      </p:sp>
      <p:sp>
        <p:nvSpPr>
          <p:cNvPr id="23" name="tile-183"/>
          <p:cNvSpPr/>
          <p:nvPr/>
        </p:nvSpPr>
        <p:spPr>
          <a:xfrm>
            <a:off x="2295144"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A</a:t>
            </a:r>
            <a:endParaRPr lang="en-US" sz="1400" dirty="0"/>
          </a:p>
        </p:txBody>
      </p:sp>
      <p:sp>
        <p:nvSpPr>
          <p:cNvPr id="24" name="text-184"/>
          <p:cNvSpPr txBox="1"/>
          <p:nvPr/>
        </p:nvSpPr>
        <p:spPr>
          <a:xfrm>
            <a:off x="2679192"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4</a:t>
            </a:r>
            <a:endParaRPr lang="en-US" sz="900" dirty="0"/>
          </a:p>
        </p:txBody>
      </p:sp>
      <p:sp>
        <p:nvSpPr>
          <p:cNvPr id="25" name="tile-185"/>
          <p:cNvSpPr/>
          <p:nvPr/>
        </p:nvSpPr>
        <p:spPr>
          <a:xfrm>
            <a:off x="2679192"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C</a:t>
            </a:r>
            <a:endParaRPr lang="en-US" sz="1400" dirty="0"/>
          </a:p>
        </p:txBody>
      </p:sp>
      <p:sp>
        <p:nvSpPr>
          <p:cNvPr id="26" name="text-186"/>
          <p:cNvSpPr txBox="1"/>
          <p:nvPr/>
        </p:nvSpPr>
        <p:spPr>
          <a:xfrm>
            <a:off x="3063240"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5</a:t>
            </a:r>
            <a:endParaRPr lang="en-US" sz="900" dirty="0"/>
          </a:p>
        </p:txBody>
      </p:sp>
      <p:sp>
        <p:nvSpPr>
          <p:cNvPr id="27" name="tile-187"/>
          <p:cNvSpPr/>
          <p:nvPr/>
        </p:nvSpPr>
        <p:spPr>
          <a:xfrm>
            <a:off x="3063240"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A</a:t>
            </a:r>
            <a:endParaRPr lang="en-US" sz="1400" dirty="0"/>
          </a:p>
        </p:txBody>
      </p:sp>
      <p:sp>
        <p:nvSpPr>
          <p:cNvPr id="28" name="text-188"/>
          <p:cNvSpPr txBox="1"/>
          <p:nvPr/>
        </p:nvSpPr>
        <p:spPr>
          <a:xfrm>
            <a:off x="3447288"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6</a:t>
            </a:r>
            <a:endParaRPr lang="en-US" sz="900" dirty="0"/>
          </a:p>
        </p:txBody>
      </p:sp>
      <p:sp>
        <p:nvSpPr>
          <p:cNvPr id="29" name="tile-189"/>
          <p:cNvSpPr/>
          <p:nvPr/>
        </p:nvSpPr>
        <p:spPr>
          <a:xfrm>
            <a:off x="3447288"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D</a:t>
            </a:r>
            <a:endParaRPr lang="en-US" sz="1400" dirty="0"/>
          </a:p>
        </p:txBody>
      </p:sp>
      <p:sp>
        <p:nvSpPr>
          <p:cNvPr id="30" name="text-190"/>
          <p:cNvSpPr txBox="1"/>
          <p:nvPr/>
        </p:nvSpPr>
        <p:spPr>
          <a:xfrm>
            <a:off x="3831336"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7</a:t>
            </a:r>
            <a:endParaRPr lang="en-US" sz="900" dirty="0"/>
          </a:p>
        </p:txBody>
      </p:sp>
      <p:sp>
        <p:nvSpPr>
          <p:cNvPr id="31" name="tile-191"/>
          <p:cNvSpPr/>
          <p:nvPr/>
        </p:nvSpPr>
        <p:spPr>
          <a:xfrm>
            <a:off x="3831336"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A</a:t>
            </a:r>
            <a:endParaRPr lang="en-US" sz="1400" dirty="0"/>
          </a:p>
        </p:txBody>
      </p:sp>
      <p:sp>
        <p:nvSpPr>
          <p:cNvPr id="32" name="text-192"/>
          <p:cNvSpPr txBox="1"/>
          <p:nvPr/>
        </p:nvSpPr>
        <p:spPr>
          <a:xfrm>
            <a:off x="4215384"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8</a:t>
            </a:r>
            <a:endParaRPr lang="en-US" sz="900" dirty="0"/>
          </a:p>
        </p:txBody>
      </p:sp>
      <p:sp>
        <p:nvSpPr>
          <p:cNvPr id="33" name="tile-193"/>
          <p:cNvSpPr/>
          <p:nvPr/>
        </p:nvSpPr>
        <p:spPr>
          <a:xfrm>
            <a:off x="4215384"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B</a:t>
            </a:r>
            <a:endParaRPr lang="en-US" sz="1400" dirty="0"/>
          </a:p>
        </p:txBody>
      </p:sp>
      <p:sp>
        <p:nvSpPr>
          <p:cNvPr id="34" name="text-194"/>
          <p:cNvSpPr txBox="1"/>
          <p:nvPr/>
        </p:nvSpPr>
        <p:spPr>
          <a:xfrm>
            <a:off x="4599432"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9</a:t>
            </a:r>
            <a:endParaRPr lang="en-US" sz="900" dirty="0"/>
          </a:p>
        </p:txBody>
      </p:sp>
      <p:sp>
        <p:nvSpPr>
          <p:cNvPr id="35" name="tile-195"/>
          <p:cNvSpPr/>
          <p:nvPr/>
        </p:nvSpPr>
        <p:spPr>
          <a:xfrm>
            <a:off x="4599432"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R</a:t>
            </a:r>
            <a:endParaRPr lang="en-US" sz="1400" dirty="0"/>
          </a:p>
        </p:txBody>
      </p:sp>
      <p:sp>
        <p:nvSpPr>
          <p:cNvPr id="36" name="text-196"/>
          <p:cNvSpPr txBox="1"/>
          <p:nvPr/>
        </p:nvSpPr>
        <p:spPr>
          <a:xfrm>
            <a:off x="4983480"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10</a:t>
            </a:r>
            <a:endParaRPr lang="en-US" sz="900" dirty="0"/>
          </a:p>
        </p:txBody>
      </p:sp>
      <p:sp>
        <p:nvSpPr>
          <p:cNvPr id="37" name="tile-197"/>
          <p:cNvSpPr/>
          <p:nvPr/>
        </p:nvSpPr>
        <p:spPr>
          <a:xfrm>
            <a:off x="4983480"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A</a:t>
            </a:r>
            <a:endParaRPr lang="en-US" sz="1400" dirty="0"/>
          </a:p>
        </p:txBody>
      </p:sp>
      <p:sp>
        <p:nvSpPr>
          <p:cNvPr id="38" name="text-198"/>
          <p:cNvSpPr txBox="1"/>
          <p:nvPr/>
        </p:nvSpPr>
        <p:spPr>
          <a:xfrm>
            <a:off x="548640" y="2752344"/>
            <a:ext cx="502920" cy="347472"/>
          </a:xfrm>
          <a:prstGeom prst="rect">
            <a:avLst/>
          </a:prstGeom>
          <a:noFill/>
          <a:ln/>
        </p:spPr>
        <p:txBody>
          <a:bodyPr wrap="square" lIns="0" tIns="0" rIns="0" bIns="0" rtlCol="0" anchor="ctr"/>
          <a:lstStyle/>
          <a:p>
            <a:pPr marL="0" indent="0" algn="r">
              <a:buNone/>
            </a:pPr>
            <a:r>
              <a:rPr lang="en-US" sz="1100" dirty="0">
                <a:solidFill>
                  <a:schemeClr val="accent5"/>
                </a:solidFill>
              </a:rPr>
              <a:t>#1</a:t>
            </a:r>
            <a:endParaRPr lang="en-US" sz="1100" dirty="0"/>
          </a:p>
        </p:txBody>
      </p:sp>
      <p:sp>
        <p:nvSpPr>
          <p:cNvPr id="39" name="tile-199"/>
          <p:cNvSpPr/>
          <p:nvPr/>
        </p:nvSpPr>
        <p:spPr>
          <a:xfrm>
            <a:off x="1143000" y="2752344"/>
            <a:ext cx="347472" cy="347472"/>
          </a:xfrm>
          <a:prstGeom prst="roundRect">
            <a:avLst>
              <a:gd name="adj" fmla="val 13158"/>
            </a:avLst>
          </a:prstGeom>
          <a:solidFill>
            <a:schemeClr val="bg1"/>
          </a:solidFill>
          <a:ln w="12700">
            <a:solidFill>
              <a:schemeClr val="accent6"/>
            </a:solidFill>
          </a:ln>
        </p:spPr>
        <p:txBody>
          <a:bodyPr wrap="square" lIns="0" tIns="0" rIns="0" bIns="0" rtlCol="0" anchor="ctr"/>
          <a:lstStyle/>
          <a:p>
            <a:pPr marL="0" indent="0" algn="ctr">
              <a:buNone/>
            </a:pPr>
            <a:r>
              <a:rPr lang="en-US" sz="1400" b="1" dirty="0">
                <a:solidFill>
                  <a:schemeClr val="accent5"/>
                </a:solidFill>
                <a:latin typeface="Courier New" pitchFamily="34" charset="0"/>
                <a:ea typeface="Courier New" pitchFamily="34" charset="-122"/>
                <a:cs typeface="Courier New" pitchFamily="34" charset="-120"/>
              </a:rPr>
              <a:t>C</a:t>
            </a:r>
            <a:endParaRPr lang="en-US" sz="1400" dirty="0"/>
          </a:p>
        </p:txBody>
      </p:sp>
      <p:sp>
        <p:nvSpPr>
          <p:cNvPr id="40" name="tile-200"/>
          <p:cNvSpPr/>
          <p:nvPr/>
        </p:nvSpPr>
        <p:spPr>
          <a:xfrm>
            <a:off x="1527048" y="2752344"/>
            <a:ext cx="347472" cy="347472"/>
          </a:xfrm>
          <a:prstGeom prst="roundRect">
            <a:avLst>
              <a:gd name="adj" fmla="val 13158"/>
            </a:avLst>
          </a:prstGeom>
          <a:solidFill>
            <a:schemeClr val="bg1"/>
          </a:solidFill>
          <a:ln w="12700">
            <a:solidFill>
              <a:schemeClr val="accent6"/>
            </a:solidFill>
          </a:ln>
        </p:spPr>
        <p:txBody>
          <a:bodyPr wrap="square" lIns="0" tIns="0" rIns="0" bIns="0" rtlCol="0" anchor="ctr"/>
          <a:lstStyle/>
          <a:p>
            <a:pPr marL="0" indent="0" algn="ctr">
              <a:buNone/>
            </a:pPr>
            <a:r>
              <a:rPr lang="en-US" sz="1400" b="1" dirty="0">
                <a:solidFill>
                  <a:schemeClr val="accent5"/>
                </a:solidFill>
                <a:latin typeface="Courier New" pitchFamily="34" charset="0"/>
                <a:ea typeface="Courier New" pitchFamily="34" charset="-122"/>
                <a:cs typeface="Courier New" pitchFamily="34" charset="-120"/>
              </a:rPr>
              <a:t>A</a:t>
            </a:r>
            <a:endParaRPr lang="en-US" sz="1400" dirty="0"/>
          </a:p>
        </p:txBody>
      </p:sp>
      <p:sp>
        <p:nvSpPr>
          <p:cNvPr id="41" name="tile-201"/>
          <p:cNvSpPr/>
          <p:nvPr/>
        </p:nvSpPr>
        <p:spPr>
          <a:xfrm>
            <a:off x="1911096" y="2752344"/>
            <a:ext cx="347472" cy="347472"/>
          </a:xfrm>
          <a:prstGeom prst="roundRect">
            <a:avLst>
              <a:gd name="adj" fmla="val 13158"/>
            </a:avLst>
          </a:prstGeom>
          <a:solidFill>
            <a:schemeClr val="accent4"/>
          </a:solidFill>
          <a:ln w="12700">
            <a:solidFill>
              <a:schemeClr val="accent4"/>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B</a:t>
            </a:r>
            <a:endParaRPr lang="en-US" sz="1400" dirty="0"/>
          </a:p>
        </p:txBody>
      </p:sp>
      <p:sp>
        <p:nvSpPr>
          <p:cNvPr id="42" name="ann-202"/>
          <p:cNvSpPr txBox="1"/>
          <p:nvPr/>
        </p:nvSpPr>
        <p:spPr>
          <a:xfrm>
            <a:off x="5623560" y="2752344"/>
            <a:ext cx="3108960" cy="347472"/>
          </a:xfrm>
          <a:prstGeom prst="rect">
            <a:avLst/>
          </a:prstGeom>
          <a:noFill/>
          <a:ln/>
        </p:spPr>
        <p:txBody>
          <a:bodyPr wrap="square" lIns="0" tIns="0" rIns="0" bIns="0" rtlCol="0" anchor="ctr"/>
          <a:lstStyle/>
          <a:p>
            <a:pPr marL="0" indent="0">
              <a:buNone/>
            </a:pPr>
            <a:r>
              <a:rPr lang="en-US" sz="1200" b="1" dirty="0">
                <a:solidFill>
                  <a:schemeClr val="tx2"/>
                </a:solidFill>
              </a:rPr>
              <a:t>1 comp</a:t>
            </a:r>
            <a:r>
              <a:rPr lang="en-US" sz="1200" dirty="0">
                <a:solidFill>
                  <a:schemeClr val="tx1"/>
                </a:solidFill>
              </a:rPr>
              <a:t>  ·  shift S[R] = 3</a:t>
            </a:r>
            <a:endParaRPr lang="en-US" sz="1200" dirty="0"/>
          </a:p>
        </p:txBody>
      </p:sp>
      <p:sp>
        <p:nvSpPr>
          <p:cNvPr id="43" name="text-203"/>
          <p:cNvSpPr txBox="1"/>
          <p:nvPr/>
        </p:nvSpPr>
        <p:spPr>
          <a:xfrm>
            <a:off x="548640" y="3209544"/>
            <a:ext cx="502920" cy="347472"/>
          </a:xfrm>
          <a:prstGeom prst="rect">
            <a:avLst/>
          </a:prstGeom>
          <a:noFill/>
          <a:ln/>
        </p:spPr>
        <p:txBody>
          <a:bodyPr wrap="square" lIns="0" tIns="0" rIns="0" bIns="0" rtlCol="0" anchor="ctr"/>
          <a:lstStyle/>
          <a:p>
            <a:pPr marL="0" indent="0" algn="r">
              <a:buNone/>
            </a:pPr>
            <a:r>
              <a:rPr lang="en-US" sz="1100" dirty="0">
                <a:solidFill>
                  <a:schemeClr val="accent5"/>
                </a:solidFill>
              </a:rPr>
              <a:t>#2</a:t>
            </a:r>
            <a:endParaRPr lang="en-US" sz="1100" dirty="0"/>
          </a:p>
        </p:txBody>
      </p:sp>
      <p:sp>
        <p:nvSpPr>
          <p:cNvPr id="44" name="tile-204"/>
          <p:cNvSpPr/>
          <p:nvPr/>
        </p:nvSpPr>
        <p:spPr>
          <a:xfrm>
            <a:off x="2295144" y="3209544"/>
            <a:ext cx="347472" cy="347472"/>
          </a:xfrm>
          <a:prstGeom prst="roundRect">
            <a:avLst>
              <a:gd name="adj" fmla="val 13158"/>
            </a:avLst>
          </a:prstGeom>
          <a:solidFill>
            <a:schemeClr val="bg1"/>
          </a:solidFill>
          <a:ln w="12700">
            <a:solidFill>
              <a:schemeClr val="accent6"/>
            </a:solidFill>
          </a:ln>
        </p:spPr>
        <p:txBody>
          <a:bodyPr wrap="square" lIns="0" tIns="0" rIns="0" bIns="0" rtlCol="0" anchor="ctr"/>
          <a:lstStyle/>
          <a:p>
            <a:pPr marL="0" indent="0" algn="ctr">
              <a:buNone/>
            </a:pPr>
            <a:r>
              <a:rPr lang="en-US" sz="1400" b="1" dirty="0">
                <a:solidFill>
                  <a:schemeClr val="accent5"/>
                </a:solidFill>
                <a:latin typeface="Courier New" pitchFamily="34" charset="0"/>
                <a:ea typeface="Courier New" pitchFamily="34" charset="-122"/>
                <a:cs typeface="Courier New" pitchFamily="34" charset="-120"/>
              </a:rPr>
              <a:t>C</a:t>
            </a:r>
            <a:endParaRPr lang="en-US" sz="1400" dirty="0"/>
          </a:p>
        </p:txBody>
      </p:sp>
      <p:sp>
        <p:nvSpPr>
          <p:cNvPr id="45" name="tile-205"/>
          <p:cNvSpPr/>
          <p:nvPr/>
        </p:nvSpPr>
        <p:spPr>
          <a:xfrm>
            <a:off x="2679192" y="3209544"/>
            <a:ext cx="347472" cy="347472"/>
          </a:xfrm>
          <a:prstGeom prst="roundRect">
            <a:avLst>
              <a:gd name="adj" fmla="val 13158"/>
            </a:avLst>
          </a:prstGeom>
          <a:solidFill>
            <a:schemeClr val="bg1"/>
          </a:solidFill>
          <a:ln w="12700">
            <a:solidFill>
              <a:schemeClr val="accent6"/>
            </a:solidFill>
          </a:ln>
        </p:spPr>
        <p:txBody>
          <a:bodyPr wrap="square" lIns="0" tIns="0" rIns="0" bIns="0" rtlCol="0" anchor="ctr"/>
          <a:lstStyle/>
          <a:p>
            <a:pPr marL="0" indent="0" algn="ctr">
              <a:buNone/>
            </a:pPr>
            <a:r>
              <a:rPr lang="en-US" sz="1400" b="1" dirty="0">
                <a:solidFill>
                  <a:schemeClr val="accent5"/>
                </a:solidFill>
                <a:latin typeface="Courier New" pitchFamily="34" charset="0"/>
                <a:ea typeface="Courier New" pitchFamily="34" charset="-122"/>
                <a:cs typeface="Courier New" pitchFamily="34" charset="-120"/>
              </a:rPr>
              <a:t>A</a:t>
            </a:r>
            <a:endParaRPr lang="en-US" sz="1400" dirty="0"/>
          </a:p>
        </p:txBody>
      </p:sp>
      <p:sp>
        <p:nvSpPr>
          <p:cNvPr id="46" name="tile-206"/>
          <p:cNvSpPr/>
          <p:nvPr/>
        </p:nvSpPr>
        <p:spPr>
          <a:xfrm>
            <a:off x="3063240" y="3209544"/>
            <a:ext cx="347472" cy="347472"/>
          </a:xfrm>
          <a:prstGeom prst="roundRect">
            <a:avLst>
              <a:gd name="adj" fmla="val 13158"/>
            </a:avLst>
          </a:prstGeom>
          <a:solidFill>
            <a:schemeClr val="accent4"/>
          </a:solidFill>
          <a:ln w="12700">
            <a:solidFill>
              <a:schemeClr val="accent4"/>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B</a:t>
            </a:r>
            <a:endParaRPr lang="en-US" sz="1400" dirty="0"/>
          </a:p>
        </p:txBody>
      </p:sp>
      <p:sp>
        <p:nvSpPr>
          <p:cNvPr id="47" name="ann-207"/>
          <p:cNvSpPr txBox="1"/>
          <p:nvPr/>
        </p:nvSpPr>
        <p:spPr>
          <a:xfrm>
            <a:off x="5623560" y="3209544"/>
            <a:ext cx="3108960" cy="347472"/>
          </a:xfrm>
          <a:prstGeom prst="rect">
            <a:avLst/>
          </a:prstGeom>
          <a:noFill/>
          <a:ln/>
        </p:spPr>
        <p:txBody>
          <a:bodyPr wrap="square" lIns="0" tIns="0" rIns="0" bIns="0" rtlCol="0" anchor="ctr"/>
          <a:lstStyle/>
          <a:p>
            <a:pPr marL="0" indent="0">
              <a:buNone/>
            </a:pPr>
            <a:r>
              <a:rPr lang="en-US" sz="1200" b="1" dirty="0">
                <a:solidFill>
                  <a:schemeClr val="tx2"/>
                </a:solidFill>
              </a:rPr>
              <a:t>1 comp</a:t>
            </a:r>
            <a:r>
              <a:rPr lang="en-US" sz="1200" dirty="0">
                <a:solidFill>
                  <a:schemeClr val="tx1"/>
                </a:solidFill>
              </a:rPr>
              <a:t>  ·  shift S[A] = 1</a:t>
            </a:r>
            <a:endParaRPr lang="en-US" sz="1200" dirty="0"/>
          </a:p>
        </p:txBody>
      </p:sp>
      <p:sp>
        <p:nvSpPr>
          <p:cNvPr id="48" name="text-208"/>
          <p:cNvSpPr txBox="1"/>
          <p:nvPr/>
        </p:nvSpPr>
        <p:spPr>
          <a:xfrm>
            <a:off x="548640" y="3666744"/>
            <a:ext cx="502920" cy="347472"/>
          </a:xfrm>
          <a:prstGeom prst="rect">
            <a:avLst/>
          </a:prstGeom>
          <a:noFill/>
          <a:ln/>
        </p:spPr>
        <p:txBody>
          <a:bodyPr wrap="square" lIns="0" tIns="0" rIns="0" bIns="0" rtlCol="0" anchor="ctr"/>
          <a:lstStyle/>
          <a:p>
            <a:pPr marL="0" indent="0" algn="r">
              <a:buNone/>
            </a:pPr>
            <a:r>
              <a:rPr lang="en-US" sz="1100" dirty="0">
                <a:solidFill>
                  <a:schemeClr val="accent5"/>
                </a:solidFill>
              </a:rPr>
              <a:t>#3</a:t>
            </a:r>
            <a:endParaRPr lang="en-US" sz="1100" dirty="0"/>
          </a:p>
        </p:txBody>
      </p:sp>
      <p:sp>
        <p:nvSpPr>
          <p:cNvPr id="49" name="tile-209"/>
          <p:cNvSpPr/>
          <p:nvPr/>
        </p:nvSpPr>
        <p:spPr>
          <a:xfrm>
            <a:off x="2679192" y="3666744"/>
            <a:ext cx="347472" cy="347472"/>
          </a:xfrm>
          <a:prstGeom prst="roundRect">
            <a:avLst>
              <a:gd name="adj" fmla="val 13158"/>
            </a:avLst>
          </a:prstGeom>
          <a:solidFill>
            <a:schemeClr val="bg1"/>
          </a:solidFill>
          <a:ln w="12700">
            <a:solidFill>
              <a:schemeClr val="accent6"/>
            </a:solidFill>
          </a:ln>
        </p:spPr>
        <p:txBody>
          <a:bodyPr wrap="square" lIns="0" tIns="0" rIns="0" bIns="0" rtlCol="0" anchor="ctr"/>
          <a:lstStyle/>
          <a:p>
            <a:pPr marL="0" indent="0" algn="ctr">
              <a:buNone/>
            </a:pPr>
            <a:r>
              <a:rPr lang="en-US" sz="1400" b="1" dirty="0">
                <a:solidFill>
                  <a:schemeClr val="accent5"/>
                </a:solidFill>
                <a:latin typeface="Courier New" pitchFamily="34" charset="0"/>
                <a:ea typeface="Courier New" pitchFamily="34" charset="-122"/>
                <a:cs typeface="Courier New" pitchFamily="34" charset="-120"/>
              </a:rPr>
              <a:t>C</a:t>
            </a:r>
            <a:endParaRPr lang="en-US" sz="1400" dirty="0"/>
          </a:p>
        </p:txBody>
      </p:sp>
      <p:sp>
        <p:nvSpPr>
          <p:cNvPr id="50" name="tile-210"/>
          <p:cNvSpPr/>
          <p:nvPr/>
        </p:nvSpPr>
        <p:spPr>
          <a:xfrm>
            <a:off x="3063240" y="3666744"/>
            <a:ext cx="347472" cy="347472"/>
          </a:xfrm>
          <a:prstGeom prst="roundRect">
            <a:avLst>
              <a:gd name="adj" fmla="val 13158"/>
            </a:avLst>
          </a:prstGeom>
          <a:solidFill>
            <a:schemeClr val="bg1"/>
          </a:solidFill>
          <a:ln w="12700">
            <a:solidFill>
              <a:schemeClr val="accent6"/>
            </a:solidFill>
          </a:ln>
        </p:spPr>
        <p:txBody>
          <a:bodyPr wrap="square" lIns="0" tIns="0" rIns="0" bIns="0" rtlCol="0" anchor="ctr"/>
          <a:lstStyle/>
          <a:p>
            <a:pPr marL="0" indent="0" algn="ctr">
              <a:buNone/>
            </a:pPr>
            <a:r>
              <a:rPr lang="en-US" sz="1400" b="1" dirty="0">
                <a:solidFill>
                  <a:schemeClr val="accent5"/>
                </a:solidFill>
                <a:latin typeface="Courier New" pitchFamily="34" charset="0"/>
                <a:ea typeface="Courier New" pitchFamily="34" charset="-122"/>
                <a:cs typeface="Courier New" pitchFamily="34" charset="-120"/>
              </a:rPr>
              <a:t>A</a:t>
            </a:r>
            <a:endParaRPr lang="en-US" sz="1400" dirty="0"/>
          </a:p>
        </p:txBody>
      </p:sp>
      <p:sp>
        <p:nvSpPr>
          <p:cNvPr id="51" name="tile-211"/>
          <p:cNvSpPr/>
          <p:nvPr/>
        </p:nvSpPr>
        <p:spPr>
          <a:xfrm>
            <a:off x="3447288" y="3666744"/>
            <a:ext cx="347472" cy="347472"/>
          </a:xfrm>
          <a:prstGeom prst="roundRect">
            <a:avLst>
              <a:gd name="adj" fmla="val 13158"/>
            </a:avLst>
          </a:prstGeom>
          <a:solidFill>
            <a:schemeClr val="accent4"/>
          </a:solidFill>
          <a:ln w="12700">
            <a:solidFill>
              <a:schemeClr val="accent4"/>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B</a:t>
            </a:r>
            <a:endParaRPr lang="en-US" sz="1400" dirty="0"/>
          </a:p>
        </p:txBody>
      </p:sp>
      <p:sp>
        <p:nvSpPr>
          <p:cNvPr id="52" name="ann-212"/>
          <p:cNvSpPr txBox="1"/>
          <p:nvPr/>
        </p:nvSpPr>
        <p:spPr>
          <a:xfrm>
            <a:off x="5623560" y="3666744"/>
            <a:ext cx="3108960" cy="347472"/>
          </a:xfrm>
          <a:prstGeom prst="rect">
            <a:avLst/>
          </a:prstGeom>
          <a:noFill/>
          <a:ln/>
        </p:spPr>
        <p:txBody>
          <a:bodyPr wrap="square" lIns="0" tIns="0" rIns="0" bIns="0" rtlCol="0" anchor="ctr"/>
          <a:lstStyle/>
          <a:p>
            <a:pPr marL="0" indent="0">
              <a:buNone/>
            </a:pPr>
            <a:r>
              <a:rPr lang="en-US" sz="1200" b="1" dirty="0">
                <a:solidFill>
                  <a:schemeClr val="tx2"/>
                </a:solidFill>
              </a:rPr>
              <a:t>1 comp</a:t>
            </a:r>
            <a:r>
              <a:rPr lang="en-US" sz="1200" dirty="0">
                <a:solidFill>
                  <a:schemeClr val="tx1"/>
                </a:solidFill>
              </a:rPr>
              <a:t>  ·  shift S[D] = 3</a:t>
            </a:r>
            <a:endParaRPr lang="en-US" sz="1200" dirty="0"/>
          </a:p>
        </p:txBody>
      </p:sp>
      <p:sp>
        <p:nvSpPr>
          <p:cNvPr id="53" name="text-213"/>
          <p:cNvSpPr txBox="1"/>
          <p:nvPr/>
        </p:nvSpPr>
        <p:spPr>
          <a:xfrm>
            <a:off x="548640" y="4123944"/>
            <a:ext cx="502920" cy="347472"/>
          </a:xfrm>
          <a:prstGeom prst="rect">
            <a:avLst/>
          </a:prstGeom>
          <a:noFill/>
          <a:ln/>
        </p:spPr>
        <p:txBody>
          <a:bodyPr wrap="square" lIns="0" tIns="0" rIns="0" bIns="0" rtlCol="0" anchor="ctr"/>
          <a:lstStyle/>
          <a:p>
            <a:pPr marL="0" indent="0" algn="r">
              <a:buNone/>
            </a:pPr>
            <a:r>
              <a:rPr lang="en-US" sz="1100" dirty="0">
                <a:solidFill>
                  <a:schemeClr val="accent5"/>
                </a:solidFill>
              </a:rPr>
              <a:t>#4</a:t>
            </a:r>
            <a:endParaRPr lang="en-US" sz="1100" dirty="0"/>
          </a:p>
        </p:txBody>
      </p:sp>
      <p:sp>
        <p:nvSpPr>
          <p:cNvPr id="54" name="tile-214"/>
          <p:cNvSpPr/>
          <p:nvPr/>
        </p:nvSpPr>
        <p:spPr>
          <a:xfrm>
            <a:off x="3831336" y="4123944"/>
            <a:ext cx="347472" cy="347472"/>
          </a:xfrm>
          <a:prstGeom prst="roundRect">
            <a:avLst>
              <a:gd name="adj" fmla="val 13158"/>
            </a:avLst>
          </a:prstGeom>
          <a:solidFill>
            <a:schemeClr val="bg1"/>
          </a:solidFill>
          <a:ln w="12700">
            <a:solidFill>
              <a:schemeClr val="accent6"/>
            </a:solidFill>
          </a:ln>
        </p:spPr>
        <p:txBody>
          <a:bodyPr wrap="square" lIns="0" tIns="0" rIns="0" bIns="0" rtlCol="0" anchor="ctr"/>
          <a:lstStyle/>
          <a:p>
            <a:pPr marL="0" indent="0" algn="ctr">
              <a:buNone/>
            </a:pPr>
            <a:r>
              <a:rPr lang="en-US" sz="1400" b="1" dirty="0">
                <a:solidFill>
                  <a:schemeClr val="accent5"/>
                </a:solidFill>
                <a:latin typeface="Courier New" pitchFamily="34" charset="0"/>
                <a:ea typeface="Courier New" pitchFamily="34" charset="-122"/>
                <a:cs typeface="Courier New" pitchFamily="34" charset="-120"/>
              </a:rPr>
              <a:t>C</a:t>
            </a:r>
            <a:endParaRPr lang="en-US" sz="1400" dirty="0"/>
          </a:p>
        </p:txBody>
      </p:sp>
      <p:sp>
        <p:nvSpPr>
          <p:cNvPr id="55" name="tile-215"/>
          <p:cNvSpPr/>
          <p:nvPr/>
        </p:nvSpPr>
        <p:spPr>
          <a:xfrm>
            <a:off x="4215384" y="4123944"/>
            <a:ext cx="347472" cy="347472"/>
          </a:xfrm>
          <a:prstGeom prst="roundRect">
            <a:avLst>
              <a:gd name="adj" fmla="val 13158"/>
            </a:avLst>
          </a:prstGeom>
          <a:solidFill>
            <a:schemeClr val="bg1"/>
          </a:solidFill>
          <a:ln w="12700">
            <a:solidFill>
              <a:schemeClr val="accent6"/>
            </a:solidFill>
          </a:ln>
        </p:spPr>
        <p:txBody>
          <a:bodyPr wrap="square" lIns="0" tIns="0" rIns="0" bIns="0" rtlCol="0" anchor="ctr"/>
          <a:lstStyle/>
          <a:p>
            <a:pPr marL="0" indent="0" algn="ctr">
              <a:buNone/>
            </a:pPr>
            <a:r>
              <a:rPr lang="en-US" sz="1400" b="1" dirty="0">
                <a:solidFill>
                  <a:schemeClr val="accent5"/>
                </a:solidFill>
                <a:latin typeface="Courier New" pitchFamily="34" charset="0"/>
                <a:ea typeface="Courier New" pitchFamily="34" charset="-122"/>
                <a:cs typeface="Courier New" pitchFamily="34" charset="-120"/>
              </a:rPr>
              <a:t>A</a:t>
            </a:r>
            <a:endParaRPr lang="en-US" sz="1400" dirty="0"/>
          </a:p>
        </p:txBody>
      </p:sp>
      <p:sp>
        <p:nvSpPr>
          <p:cNvPr id="56" name="tile-216"/>
          <p:cNvSpPr/>
          <p:nvPr/>
        </p:nvSpPr>
        <p:spPr>
          <a:xfrm>
            <a:off x="4599432" y="4123944"/>
            <a:ext cx="347472" cy="347472"/>
          </a:xfrm>
          <a:prstGeom prst="roundRect">
            <a:avLst>
              <a:gd name="adj" fmla="val 13158"/>
            </a:avLst>
          </a:prstGeom>
          <a:solidFill>
            <a:schemeClr val="accent4"/>
          </a:solidFill>
          <a:ln w="12700">
            <a:solidFill>
              <a:schemeClr val="accent4"/>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B</a:t>
            </a:r>
            <a:endParaRPr lang="en-US" sz="1400" dirty="0"/>
          </a:p>
        </p:txBody>
      </p:sp>
      <p:sp>
        <p:nvSpPr>
          <p:cNvPr id="57" name="ann-217"/>
          <p:cNvSpPr txBox="1"/>
          <p:nvPr/>
        </p:nvSpPr>
        <p:spPr>
          <a:xfrm>
            <a:off x="5623560" y="4123944"/>
            <a:ext cx="3108960" cy="347472"/>
          </a:xfrm>
          <a:prstGeom prst="rect">
            <a:avLst/>
          </a:prstGeom>
          <a:noFill/>
          <a:ln/>
        </p:spPr>
        <p:txBody>
          <a:bodyPr wrap="square" lIns="0" tIns="0" rIns="0" bIns="0" rtlCol="0" anchor="ctr"/>
          <a:lstStyle/>
          <a:p>
            <a:pPr marL="0" indent="0">
              <a:buNone/>
            </a:pPr>
            <a:r>
              <a:rPr lang="en-US" sz="1200" b="1" dirty="0">
                <a:solidFill>
                  <a:schemeClr val="tx2"/>
                </a:solidFill>
              </a:rPr>
              <a:t>1 comp</a:t>
            </a:r>
            <a:r>
              <a:rPr lang="en-US" sz="1200" dirty="0">
                <a:solidFill>
                  <a:schemeClr val="tx1"/>
                </a:solidFill>
              </a:rPr>
              <a:t>  ·  shift S[R] = 3 → past end, stop</a:t>
            </a:r>
            <a:endParaRPr lang="en-US" sz="1200" dirty="0"/>
          </a:p>
        </p:txBody>
      </p:sp>
      <p:sp>
        <p:nvSpPr>
          <p:cNvPr id="58" name="card-218"/>
          <p:cNvSpPr/>
          <p:nvPr/>
        </p:nvSpPr>
        <p:spPr>
          <a:xfrm>
            <a:off x="5623560" y="1051560"/>
            <a:ext cx="306324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59" name="text-219"/>
          <p:cNvSpPr txBox="1"/>
          <p:nvPr/>
        </p:nvSpPr>
        <p:spPr>
          <a:xfrm>
            <a:off x="5806440" y="1161288"/>
            <a:ext cx="2697480" cy="457200"/>
          </a:xfrm>
          <a:prstGeom prst="rect">
            <a:avLst/>
          </a:prstGeom>
          <a:noFill/>
          <a:ln/>
        </p:spPr>
        <p:txBody>
          <a:bodyPr wrap="square" lIns="0" tIns="0" rIns="0" bIns="0" rtlCol="0" anchor="ctr"/>
          <a:lstStyle/>
          <a:p>
            <a:pPr marL="0" indent="0">
              <a:buNone/>
            </a:pPr>
            <a:r>
              <a:rPr lang="en-US" sz="2600" b="1" dirty="0">
                <a:solidFill>
                  <a:schemeClr val="tx2"/>
                </a:solidFill>
              </a:rPr>
              <a:t>4 comparisons</a:t>
            </a:r>
            <a:endParaRPr lang="en-US" sz="2600" dirty="0"/>
          </a:p>
        </p:txBody>
      </p:sp>
      <p:sp>
        <p:nvSpPr>
          <p:cNvPr id="60" name="text-220"/>
          <p:cNvSpPr txBox="1"/>
          <p:nvPr/>
        </p:nvSpPr>
        <p:spPr>
          <a:xfrm>
            <a:off x="5806440" y="1618488"/>
            <a:ext cx="2697480" cy="237744"/>
          </a:xfrm>
          <a:prstGeom prst="rect">
            <a:avLst/>
          </a:prstGeom>
          <a:noFill/>
          <a:ln/>
        </p:spPr>
        <p:txBody>
          <a:bodyPr wrap="square" lIns="0" tIns="0" rIns="0" bIns="0" rtlCol="0" anchor="t"/>
          <a:lstStyle/>
          <a:p>
            <a:pPr marL="0" indent="0">
              <a:buNone/>
            </a:pPr>
            <a:r>
              <a:rPr lang="en-US" sz="1200" dirty="0">
                <a:solidFill>
                  <a:schemeClr val="tx1"/>
                </a:solidFill>
              </a:rPr>
              <a:t>Every alignment fails on the first check (B)</a:t>
            </a:r>
            <a:endParaRPr lang="en-US" sz="1200" dirty="0"/>
          </a:p>
        </p:txBody>
      </p:sp>
      <p:sp>
        <p:nvSpPr>
          <p:cNvPr id="61"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Q68 · DRAC in ABRACADABRA</a:t>
            </a:r>
            <a:endParaRPr lang="en-US" sz="3000" dirty="0"/>
          </a:p>
        </p:txBody>
      </p:sp>
      <p:sp>
        <p:nvSpPr>
          <p:cNvPr id="3" name="text-221"/>
          <p:cNvSpPr txBox="1"/>
          <p:nvPr/>
        </p:nvSpPr>
        <p:spPr>
          <a:xfrm>
            <a:off x="640080" y="1097280"/>
            <a:ext cx="411480" cy="292608"/>
          </a:xfrm>
          <a:prstGeom prst="rect">
            <a:avLst/>
          </a:prstGeom>
          <a:noFill/>
          <a:ln/>
        </p:spPr>
        <p:txBody>
          <a:bodyPr wrap="square" lIns="0" tIns="0" rIns="0" bIns="0" rtlCol="0" anchor="ctr"/>
          <a:lstStyle/>
          <a:p>
            <a:pPr marL="0" indent="0" algn="r">
              <a:buNone/>
            </a:pPr>
            <a:r>
              <a:rPr lang="en-US" sz="1100" dirty="0">
                <a:solidFill>
                  <a:schemeClr val="accent5"/>
                </a:solidFill>
              </a:rPr>
              <a:t>c</a:t>
            </a:r>
            <a:endParaRPr lang="en-US" sz="1100" dirty="0"/>
          </a:p>
        </p:txBody>
      </p:sp>
      <p:sp>
        <p:nvSpPr>
          <p:cNvPr id="4" name="text-222"/>
          <p:cNvSpPr txBox="1"/>
          <p:nvPr/>
        </p:nvSpPr>
        <p:spPr>
          <a:xfrm>
            <a:off x="457200" y="1426464"/>
            <a:ext cx="594360" cy="292608"/>
          </a:xfrm>
          <a:prstGeom prst="rect">
            <a:avLst/>
          </a:prstGeom>
          <a:noFill/>
          <a:ln/>
        </p:spPr>
        <p:txBody>
          <a:bodyPr wrap="square" lIns="0" tIns="0" rIns="0" bIns="0" rtlCol="0" anchor="ctr"/>
          <a:lstStyle/>
          <a:p>
            <a:pPr marL="0" indent="0" algn="r">
              <a:buNone/>
            </a:pPr>
            <a:r>
              <a:rPr lang="en-US" sz="1100" dirty="0">
                <a:solidFill>
                  <a:schemeClr val="accent5"/>
                </a:solidFill>
              </a:rPr>
              <a:t>S[c]</a:t>
            </a:r>
            <a:endParaRPr lang="en-US" sz="1100" dirty="0"/>
          </a:p>
        </p:txBody>
      </p:sp>
      <p:sp>
        <p:nvSpPr>
          <p:cNvPr id="5" name="tile-223"/>
          <p:cNvSpPr/>
          <p:nvPr/>
        </p:nvSpPr>
        <p:spPr>
          <a:xfrm>
            <a:off x="1143000" y="1097280"/>
            <a:ext cx="384048" cy="292608"/>
          </a:xfrm>
          <a:prstGeom prst="roundRect">
            <a:avLst>
              <a:gd name="adj" fmla="val 15625"/>
            </a:avLst>
          </a:prstGeom>
          <a:solidFill>
            <a:schemeClr val="bg2"/>
          </a:solidFill>
          <a:ln w="12700">
            <a:solidFill>
              <a:schemeClr val="bg2"/>
            </a:solid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D</a:t>
            </a:r>
            <a:endParaRPr lang="en-US" sz="1300" dirty="0"/>
          </a:p>
        </p:txBody>
      </p:sp>
      <p:sp>
        <p:nvSpPr>
          <p:cNvPr id="6" name="tile-224"/>
          <p:cNvSpPr/>
          <p:nvPr/>
        </p:nvSpPr>
        <p:spPr>
          <a:xfrm>
            <a:off x="1143000" y="1426464"/>
            <a:ext cx="384048" cy="292608"/>
          </a:xfrm>
          <a:prstGeom prst="roundRect">
            <a:avLst>
              <a:gd name="adj" fmla="val 15625"/>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tx1"/>
                </a:solidFill>
                <a:latin typeface="Courier New" pitchFamily="34" charset="0"/>
                <a:ea typeface="Courier New" pitchFamily="34" charset="-122"/>
                <a:cs typeface="Courier New" pitchFamily="34" charset="-120"/>
              </a:rPr>
              <a:t>3</a:t>
            </a:r>
            <a:endParaRPr lang="en-US" sz="1300" dirty="0"/>
          </a:p>
        </p:txBody>
      </p:sp>
      <p:sp>
        <p:nvSpPr>
          <p:cNvPr id="7" name="tile-225"/>
          <p:cNvSpPr/>
          <p:nvPr/>
        </p:nvSpPr>
        <p:spPr>
          <a:xfrm>
            <a:off x="1581912" y="1097280"/>
            <a:ext cx="384048" cy="292608"/>
          </a:xfrm>
          <a:prstGeom prst="roundRect">
            <a:avLst>
              <a:gd name="adj" fmla="val 15625"/>
            </a:avLst>
          </a:prstGeom>
          <a:solidFill>
            <a:schemeClr val="bg2"/>
          </a:solidFill>
          <a:ln w="12700">
            <a:solidFill>
              <a:schemeClr val="bg2"/>
            </a:solid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R</a:t>
            </a:r>
            <a:endParaRPr lang="en-US" sz="1300" dirty="0"/>
          </a:p>
        </p:txBody>
      </p:sp>
      <p:sp>
        <p:nvSpPr>
          <p:cNvPr id="8" name="tile-226"/>
          <p:cNvSpPr/>
          <p:nvPr/>
        </p:nvSpPr>
        <p:spPr>
          <a:xfrm>
            <a:off x="1581912" y="1426464"/>
            <a:ext cx="384048" cy="292608"/>
          </a:xfrm>
          <a:prstGeom prst="roundRect">
            <a:avLst>
              <a:gd name="adj" fmla="val 15625"/>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tx1"/>
                </a:solidFill>
                <a:latin typeface="Courier New" pitchFamily="34" charset="0"/>
                <a:ea typeface="Courier New" pitchFamily="34" charset="-122"/>
                <a:cs typeface="Courier New" pitchFamily="34" charset="-120"/>
              </a:rPr>
              <a:t>2</a:t>
            </a:r>
            <a:endParaRPr lang="en-US" sz="1300" dirty="0"/>
          </a:p>
        </p:txBody>
      </p:sp>
      <p:sp>
        <p:nvSpPr>
          <p:cNvPr id="9" name="tile-227"/>
          <p:cNvSpPr/>
          <p:nvPr/>
        </p:nvSpPr>
        <p:spPr>
          <a:xfrm>
            <a:off x="2020824" y="1097280"/>
            <a:ext cx="384048" cy="292608"/>
          </a:xfrm>
          <a:prstGeom prst="roundRect">
            <a:avLst>
              <a:gd name="adj" fmla="val 15625"/>
            </a:avLst>
          </a:prstGeom>
          <a:solidFill>
            <a:schemeClr val="bg2"/>
          </a:solidFill>
          <a:ln w="12700">
            <a:solidFill>
              <a:schemeClr val="bg2"/>
            </a:solidFill>
          </a:ln>
        </p:spPr>
        <p:txBody>
          <a:bodyPr wrap="square" lIns="0" tIns="0" rIns="0" bIns="0" rtlCol="0" anchor="ctr"/>
          <a:lstStyle/>
          <a:p>
            <a:pPr marL="0" indent="0" algn="ctr">
              <a:buNone/>
            </a:pPr>
            <a:r>
              <a:rPr lang="en-US" sz="1300" b="1" dirty="0">
                <a:solidFill>
                  <a:schemeClr val="tx2"/>
                </a:solidFill>
                <a:latin typeface="Courier New" pitchFamily="34" charset="0"/>
                <a:ea typeface="Courier New" pitchFamily="34" charset="-122"/>
                <a:cs typeface="Courier New" pitchFamily="34" charset="-120"/>
              </a:rPr>
              <a:t>A</a:t>
            </a:r>
            <a:endParaRPr lang="en-US" sz="1300" dirty="0"/>
          </a:p>
        </p:txBody>
      </p:sp>
      <p:sp>
        <p:nvSpPr>
          <p:cNvPr id="10" name="tile-228"/>
          <p:cNvSpPr/>
          <p:nvPr/>
        </p:nvSpPr>
        <p:spPr>
          <a:xfrm>
            <a:off x="2020824" y="1426464"/>
            <a:ext cx="384048" cy="292608"/>
          </a:xfrm>
          <a:prstGeom prst="roundRect">
            <a:avLst>
              <a:gd name="adj" fmla="val 15625"/>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tx1"/>
                </a:solidFill>
                <a:latin typeface="Courier New" pitchFamily="34" charset="0"/>
                <a:ea typeface="Courier New" pitchFamily="34" charset="-122"/>
                <a:cs typeface="Courier New" pitchFamily="34" charset="-120"/>
              </a:rPr>
              <a:t>1</a:t>
            </a:r>
            <a:endParaRPr lang="en-US" sz="1300" dirty="0"/>
          </a:p>
        </p:txBody>
      </p:sp>
      <p:sp>
        <p:nvSpPr>
          <p:cNvPr id="11" name="tile-229"/>
          <p:cNvSpPr/>
          <p:nvPr/>
        </p:nvSpPr>
        <p:spPr>
          <a:xfrm>
            <a:off x="2459736" y="1097280"/>
            <a:ext cx="729691" cy="292608"/>
          </a:xfrm>
          <a:prstGeom prst="roundRect">
            <a:avLst>
              <a:gd name="adj" fmla="val 15625"/>
            </a:avLst>
          </a:prstGeom>
          <a:solidFill>
            <a:schemeClr val="bg2"/>
          </a:solidFill>
          <a:ln w="12700">
            <a:solidFill>
              <a:schemeClr val="bg2"/>
            </a:solidFill>
          </a:ln>
        </p:spPr>
        <p:txBody>
          <a:bodyPr wrap="square" lIns="0" tIns="0" rIns="0" bIns="0" rtlCol="0" anchor="ctr"/>
          <a:lstStyle/>
          <a:p>
            <a:pPr marL="0" indent="0" algn="ctr">
              <a:buNone/>
            </a:pPr>
            <a:r>
              <a:rPr lang="en-US" sz="1100" b="1" dirty="0">
                <a:solidFill>
                  <a:schemeClr val="tx2"/>
                </a:solidFill>
                <a:latin typeface="Calibri" pitchFamily="34" charset="0"/>
                <a:ea typeface="Calibri" pitchFamily="34" charset="-122"/>
                <a:cs typeface="Calibri" pitchFamily="34" charset="-120"/>
              </a:rPr>
              <a:t>other</a:t>
            </a:r>
            <a:endParaRPr lang="en-US" sz="1100" dirty="0"/>
          </a:p>
        </p:txBody>
      </p:sp>
      <p:sp>
        <p:nvSpPr>
          <p:cNvPr id="12" name="tile-230"/>
          <p:cNvSpPr/>
          <p:nvPr/>
        </p:nvSpPr>
        <p:spPr>
          <a:xfrm>
            <a:off x="2459736" y="1426464"/>
            <a:ext cx="729691" cy="292608"/>
          </a:xfrm>
          <a:prstGeom prst="roundRect">
            <a:avLst>
              <a:gd name="adj" fmla="val 15625"/>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tx1"/>
                </a:solidFill>
                <a:latin typeface="Courier New" pitchFamily="34" charset="0"/>
                <a:ea typeface="Courier New" pitchFamily="34" charset="-122"/>
                <a:cs typeface="Courier New" pitchFamily="34" charset="-120"/>
              </a:rPr>
              <a:t>4</a:t>
            </a:r>
            <a:endParaRPr lang="en-US" sz="1300" dirty="0"/>
          </a:p>
        </p:txBody>
      </p:sp>
      <p:sp>
        <p:nvSpPr>
          <p:cNvPr id="13" name="lg-231"/>
          <p:cNvSpPr/>
          <p:nvPr/>
        </p:nvSpPr>
        <p:spPr>
          <a:xfrm>
            <a:off x="5623560" y="2322576"/>
            <a:ext cx="182880" cy="182880"/>
          </a:xfrm>
          <a:prstGeom prst="roundRect">
            <a:avLst>
              <a:gd name="adj" fmla="val 15000"/>
            </a:avLst>
          </a:prstGeom>
          <a:solidFill>
            <a:schemeClr val="accent3"/>
          </a:solidFill>
          <a:ln w="12700">
            <a:solidFill>
              <a:schemeClr val="accent3"/>
            </a:solidFill>
            <a:prstDash val="solid"/>
          </a:ln>
        </p:spPr>
        <p:txBody>
          <a:bodyPr/>
          <a:lstStyle/>
          <a:p>
            <a:endParaRPr lang="en-US"/>
          </a:p>
        </p:txBody>
      </p:sp>
      <p:sp>
        <p:nvSpPr>
          <p:cNvPr id="14" name="text-232"/>
          <p:cNvSpPr txBox="1"/>
          <p:nvPr/>
        </p:nvSpPr>
        <p:spPr>
          <a:xfrm>
            <a:off x="5879592" y="2286000"/>
            <a:ext cx="822960" cy="256032"/>
          </a:xfrm>
          <a:prstGeom prst="rect">
            <a:avLst/>
          </a:prstGeom>
          <a:noFill/>
          <a:ln/>
        </p:spPr>
        <p:txBody>
          <a:bodyPr wrap="square" lIns="0" tIns="0" rIns="0" bIns="0" rtlCol="0" anchor="ctr"/>
          <a:lstStyle/>
          <a:p>
            <a:pPr marL="0" indent="0">
              <a:buNone/>
            </a:pPr>
            <a:r>
              <a:rPr lang="en-US" sz="1100" dirty="0">
                <a:solidFill>
                  <a:schemeClr val="accent5"/>
                </a:solidFill>
              </a:rPr>
              <a:t>match</a:t>
            </a:r>
            <a:endParaRPr lang="en-US" sz="1100" dirty="0"/>
          </a:p>
        </p:txBody>
      </p:sp>
      <p:sp>
        <p:nvSpPr>
          <p:cNvPr id="15" name="lg-233"/>
          <p:cNvSpPr/>
          <p:nvPr/>
        </p:nvSpPr>
        <p:spPr>
          <a:xfrm>
            <a:off x="6766560" y="2322576"/>
            <a:ext cx="182880" cy="182880"/>
          </a:xfrm>
          <a:prstGeom prst="roundRect">
            <a:avLst>
              <a:gd name="adj" fmla="val 15000"/>
            </a:avLst>
          </a:prstGeom>
          <a:solidFill>
            <a:schemeClr val="accent4"/>
          </a:solidFill>
          <a:ln w="12700">
            <a:solidFill>
              <a:schemeClr val="accent4"/>
            </a:solidFill>
            <a:prstDash val="solid"/>
          </a:ln>
        </p:spPr>
        <p:txBody>
          <a:bodyPr/>
          <a:lstStyle/>
          <a:p>
            <a:endParaRPr lang="en-US"/>
          </a:p>
        </p:txBody>
      </p:sp>
      <p:sp>
        <p:nvSpPr>
          <p:cNvPr id="16" name="text-234"/>
          <p:cNvSpPr txBox="1"/>
          <p:nvPr/>
        </p:nvSpPr>
        <p:spPr>
          <a:xfrm>
            <a:off x="7022592" y="2286000"/>
            <a:ext cx="822960" cy="256032"/>
          </a:xfrm>
          <a:prstGeom prst="rect">
            <a:avLst/>
          </a:prstGeom>
          <a:noFill/>
          <a:ln/>
        </p:spPr>
        <p:txBody>
          <a:bodyPr wrap="square" lIns="0" tIns="0" rIns="0" bIns="0" rtlCol="0" anchor="ctr"/>
          <a:lstStyle/>
          <a:p>
            <a:pPr marL="0" indent="0">
              <a:buNone/>
            </a:pPr>
            <a:r>
              <a:rPr lang="en-US" sz="1100" dirty="0">
                <a:solidFill>
                  <a:schemeClr val="accent5"/>
                </a:solidFill>
              </a:rPr>
              <a:t>mismatch</a:t>
            </a:r>
            <a:endParaRPr lang="en-US" sz="1100" dirty="0"/>
          </a:p>
        </p:txBody>
      </p:sp>
      <p:sp>
        <p:nvSpPr>
          <p:cNvPr id="17" name="text-235"/>
          <p:cNvSpPr txBox="1"/>
          <p:nvPr/>
        </p:nvSpPr>
        <p:spPr>
          <a:xfrm>
            <a:off x="548640" y="2240280"/>
            <a:ext cx="502920" cy="347472"/>
          </a:xfrm>
          <a:prstGeom prst="rect">
            <a:avLst/>
          </a:prstGeom>
          <a:noFill/>
          <a:ln/>
        </p:spPr>
        <p:txBody>
          <a:bodyPr wrap="square" lIns="0" tIns="0" rIns="0" bIns="0" rtlCol="0" anchor="ctr"/>
          <a:lstStyle/>
          <a:p>
            <a:pPr marL="0" indent="0" algn="r">
              <a:buNone/>
            </a:pPr>
            <a:r>
              <a:rPr lang="en-US" sz="1100" dirty="0">
                <a:solidFill>
                  <a:schemeClr val="accent5"/>
                </a:solidFill>
              </a:rPr>
              <a:t>text</a:t>
            </a:r>
            <a:endParaRPr lang="en-US" sz="1100" dirty="0"/>
          </a:p>
        </p:txBody>
      </p:sp>
      <p:sp>
        <p:nvSpPr>
          <p:cNvPr id="18" name="text-236"/>
          <p:cNvSpPr txBox="1"/>
          <p:nvPr/>
        </p:nvSpPr>
        <p:spPr>
          <a:xfrm>
            <a:off x="1143000"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0</a:t>
            </a:r>
            <a:endParaRPr lang="en-US" sz="900" dirty="0"/>
          </a:p>
        </p:txBody>
      </p:sp>
      <p:sp>
        <p:nvSpPr>
          <p:cNvPr id="19" name="tile-237"/>
          <p:cNvSpPr/>
          <p:nvPr/>
        </p:nvSpPr>
        <p:spPr>
          <a:xfrm>
            <a:off x="1143000"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A</a:t>
            </a:r>
            <a:endParaRPr lang="en-US" sz="1400" dirty="0"/>
          </a:p>
        </p:txBody>
      </p:sp>
      <p:sp>
        <p:nvSpPr>
          <p:cNvPr id="20" name="text-238"/>
          <p:cNvSpPr txBox="1"/>
          <p:nvPr/>
        </p:nvSpPr>
        <p:spPr>
          <a:xfrm>
            <a:off x="1527048"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1</a:t>
            </a:r>
            <a:endParaRPr lang="en-US" sz="900" dirty="0"/>
          </a:p>
        </p:txBody>
      </p:sp>
      <p:sp>
        <p:nvSpPr>
          <p:cNvPr id="21" name="tile-239"/>
          <p:cNvSpPr/>
          <p:nvPr/>
        </p:nvSpPr>
        <p:spPr>
          <a:xfrm>
            <a:off x="1527048"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B</a:t>
            </a:r>
            <a:endParaRPr lang="en-US" sz="1400" dirty="0"/>
          </a:p>
        </p:txBody>
      </p:sp>
      <p:sp>
        <p:nvSpPr>
          <p:cNvPr id="22" name="text-240"/>
          <p:cNvSpPr txBox="1"/>
          <p:nvPr/>
        </p:nvSpPr>
        <p:spPr>
          <a:xfrm>
            <a:off x="1911096"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2</a:t>
            </a:r>
            <a:endParaRPr lang="en-US" sz="900" dirty="0"/>
          </a:p>
        </p:txBody>
      </p:sp>
      <p:sp>
        <p:nvSpPr>
          <p:cNvPr id="23" name="tile-241"/>
          <p:cNvSpPr/>
          <p:nvPr/>
        </p:nvSpPr>
        <p:spPr>
          <a:xfrm>
            <a:off x="1911096"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R</a:t>
            </a:r>
            <a:endParaRPr lang="en-US" sz="1400" dirty="0"/>
          </a:p>
        </p:txBody>
      </p:sp>
      <p:sp>
        <p:nvSpPr>
          <p:cNvPr id="24" name="text-242"/>
          <p:cNvSpPr txBox="1"/>
          <p:nvPr/>
        </p:nvSpPr>
        <p:spPr>
          <a:xfrm>
            <a:off x="2295144"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3</a:t>
            </a:r>
            <a:endParaRPr lang="en-US" sz="900" dirty="0"/>
          </a:p>
        </p:txBody>
      </p:sp>
      <p:sp>
        <p:nvSpPr>
          <p:cNvPr id="25" name="tile-243"/>
          <p:cNvSpPr/>
          <p:nvPr/>
        </p:nvSpPr>
        <p:spPr>
          <a:xfrm>
            <a:off x="2295144"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A</a:t>
            </a:r>
            <a:endParaRPr lang="en-US" sz="1400" dirty="0"/>
          </a:p>
        </p:txBody>
      </p:sp>
      <p:sp>
        <p:nvSpPr>
          <p:cNvPr id="26" name="text-244"/>
          <p:cNvSpPr txBox="1"/>
          <p:nvPr/>
        </p:nvSpPr>
        <p:spPr>
          <a:xfrm>
            <a:off x="2679192"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4</a:t>
            </a:r>
            <a:endParaRPr lang="en-US" sz="900" dirty="0"/>
          </a:p>
        </p:txBody>
      </p:sp>
      <p:sp>
        <p:nvSpPr>
          <p:cNvPr id="27" name="tile-245"/>
          <p:cNvSpPr/>
          <p:nvPr/>
        </p:nvSpPr>
        <p:spPr>
          <a:xfrm>
            <a:off x="2679192"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C</a:t>
            </a:r>
            <a:endParaRPr lang="en-US" sz="1400" dirty="0"/>
          </a:p>
        </p:txBody>
      </p:sp>
      <p:sp>
        <p:nvSpPr>
          <p:cNvPr id="28" name="text-246"/>
          <p:cNvSpPr txBox="1"/>
          <p:nvPr/>
        </p:nvSpPr>
        <p:spPr>
          <a:xfrm>
            <a:off x="3063240"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5</a:t>
            </a:r>
            <a:endParaRPr lang="en-US" sz="900" dirty="0"/>
          </a:p>
        </p:txBody>
      </p:sp>
      <p:sp>
        <p:nvSpPr>
          <p:cNvPr id="29" name="tile-247"/>
          <p:cNvSpPr/>
          <p:nvPr/>
        </p:nvSpPr>
        <p:spPr>
          <a:xfrm>
            <a:off x="3063240"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A</a:t>
            </a:r>
            <a:endParaRPr lang="en-US" sz="1400" dirty="0"/>
          </a:p>
        </p:txBody>
      </p:sp>
      <p:sp>
        <p:nvSpPr>
          <p:cNvPr id="30" name="text-248"/>
          <p:cNvSpPr txBox="1"/>
          <p:nvPr/>
        </p:nvSpPr>
        <p:spPr>
          <a:xfrm>
            <a:off x="3447288"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6</a:t>
            </a:r>
            <a:endParaRPr lang="en-US" sz="900" dirty="0"/>
          </a:p>
        </p:txBody>
      </p:sp>
      <p:sp>
        <p:nvSpPr>
          <p:cNvPr id="31" name="tile-249"/>
          <p:cNvSpPr/>
          <p:nvPr/>
        </p:nvSpPr>
        <p:spPr>
          <a:xfrm>
            <a:off x="3447288"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D</a:t>
            </a:r>
            <a:endParaRPr lang="en-US" sz="1400" dirty="0"/>
          </a:p>
        </p:txBody>
      </p:sp>
      <p:sp>
        <p:nvSpPr>
          <p:cNvPr id="32" name="text-250"/>
          <p:cNvSpPr txBox="1"/>
          <p:nvPr/>
        </p:nvSpPr>
        <p:spPr>
          <a:xfrm>
            <a:off x="3831336"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7</a:t>
            </a:r>
            <a:endParaRPr lang="en-US" sz="900" dirty="0"/>
          </a:p>
        </p:txBody>
      </p:sp>
      <p:sp>
        <p:nvSpPr>
          <p:cNvPr id="33" name="tile-251"/>
          <p:cNvSpPr/>
          <p:nvPr/>
        </p:nvSpPr>
        <p:spPr>
          <a:xfrm>
            <a:off x="3831336"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A</a:t>
            </a:r>
            <a:endParaRPr lang="en-US" sz="1400" dirty="0"/>
          </a:p>
        </p:txBody>
      </p:sp>
      <p:sp>
        <p:nvSpPr>
          <p:cNvPr id="34" name="text-252"/>
          <p:cNvSpPr txBox="1"/>
          <p:nvPr/>
        </p:nvSpPr>
        <p:spPr>
          <a:xfrm>
            <a:off x="4215384"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8</a:t>
            </a:r>
            <a:endParaRPr lang="en-US" sz="900" dirty="0"/>
          </a:p>
        </p:txBody>
      </p:sp>
      <p:sp>
        <p:nvSpPr>
          <p:cNvPr id="35" name="tile-253"/>
          <p:cNvSpPr/>
          <p:nvPr/>
        </p:nvSpPr>
        <p:spPr>
          <a:xfrm>
            <a:off x="4215384"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B</a:t>
            </a:r>
            <a:endParaRPr lang="en-US" sz="1400" dirty="0"/>
          </a:p>
        </p:txBody>
      </p:sp>
      <p:sp>
        <p:nvSpPr>
          <p:cNvPr id="36" name="text-254"/>
          <p:cNvSpPr txBox="1"/>
          <p:nvPr/>
        </p:nvSpPr>
        <p:spPr>
          <a:xfrm>
            <a:off x="4599432"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9</a:t>
            </a:r>
            <a:endParaRPr lang="en-US" sz="900" dirty="0"/>
          </a:p>
        </p:txBody>
      </p:sp>
      <p:sp>
        <p:nvSpPr>
          <p:cNvPr id="37" name="tile-255"/>
          <p:cNvSpPr/>
          <p:nvPr/>
        </p:nvSpPr>
        <p:spPr>
          <a:xfrm>
            <a:off x="4599432"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R</a:t>
            </a:r>
            <a:endParaRPr lang="en-US" sz="1400" dirty="0"/>
          </a:p>
        </p:txBody>
      </p:sp>
      <p:sp>
        <p:nvSpPr>
          <p:cNvPr id="38" name="text-256"/>
          <p:cNvSpPr txBox="1"/>
          <p:nvPr/>
        </p:nvSpPr>
        <p:spPr>
          <a:xfrm>
            <a:off x="4983480" y="2057400"/>
            <a:ext cx="347472" cy="164592"/>
          </a:xfrm>
          <a:prstGeom prst="rect">
            <a:avLst/>
          </a:prstGeom>
          <a:noFill/>
          <a:ln/>
        </p:spPr>
        <p:txBody>
          <a:bodyPr wrap="square" lIns="0" tIns="0" rIns="0" bIns="0" rtlCol="0" anchor="t"/>
          <a:lstStyle/>
          <a:p>
            <a:pPr marL="0" indent="0" algn="ctr">
              <a:buNone/>
            </a:pPr>
            <a:r>
              <a:rPr lang="en-US" sz="900" dirty="0">
                <a:solidFill>
                  <a:schemeClr val="accent5"/>
                </a:solidFill>
              </a:rPr>
              <a:t>10</a:t>
            </a:r>
            <a:endParaRPr lang="en-US" sz="900" dirty="0"/>
          </a:p>
        </p:txBody>
      </p:sp>
      <p:sp>
        <p:nvSpPr>
          <p:cNvPr id="39" name="tile-257"/>
          <p:cNvSpPr/>
          <p:nvPr/>
        </p:nvSpPr>
        <p:spPr>
          <a:xfrm>
            <a:off x="4983480" y="2240280"/>
            <a:ext cx="347472" cy="347472"/>
          </a:xfrm>
          <a:prstGeom prst="roundRect">
            <a:avLst>
              <a:gd name="adj" fmla="val 13158"/>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A</a:t>
            </a:r>
            <a:endParaRPr lang="en-US" sz="1400" dirty="0"/>
          </a:p>
        </p:txBody>
      </p:sp>
      <p:sp>
        <p:nvSpPr>
          <p:cNvPr id="40" name="text-258"/>
          <p:cNvSpPr txBox="1"/>
          <p:nvPr/>
        </p:nvSpPr>
        <p:spPr>
          <a:xfrm>
            <a:off x="548640" y="2752344"/>
            <a:ext cx="502920" cy="347472"/>
          </a:xfrm>
          <a:prstGeom prst="rect">
            <a:avLst/>
          </a:prstGeom>
          <a:noFill/>
          <a:ln/>
        </p:spPr>
        <p:txBody>
          <a:bodyPr wrap="square" lIns="0" tIns="0" rIns="0" bIns="0" rtlCol="0" anchor="ctr"/>
          <a:lstStyle/>
          <a:p>
            <a:pPr marL="0" indent="0" algn="r">
              <a:buNone/>
            </a:pPr>
            <a:r>
              <a:rPr lang="en-US" sz="1100" dirty="0">
                <a:solidFill>
                  <a:schemeClr val="accent5"/>
                </a:solidFill>
              </a:rPr>
              <a:t>#1</a:t>
            </a:r>
            <a:endParaRPr lang="en-US" sz="1100" dirty="0"/>
          </a:p>
        </p:txBody>
      </p:sp>
      <p:sp>
        <p:nvSpPr>
          <p:cNvPr id="41" name="tile-259"/>
          <p:cNvSpPr/>
          <p:nvPr/>
        </p:nvSpPr>
        <p:spPr>
          <a:xfrm>
            <a:off x="1143000" y="2752344"/>
            <a:ext cx="347472" cy="347472"/>
          </a:xfrm>
          <a:prstGeom prst="roundRect">
            <a:avLst>
              <a:gd name="adj" fmla="val 13158"/>
            </a:avLst>
          </a:prstGeom>
          <a:solidFill>
            <a:schemeClr val="bg1"/>
          </a:solidFill>
          <a:ln w="12700">
            <a:solidFill>
              <a:schemeClr val="accent6"/>
            </a:solidFill>
          </a:ln>
        </p:spPr>
        <p:txBody>
          <a:bodyPr wrap="square" lIns="0" tIns="0" rIns="0" bIns="0" rtlCol="0" anchor="ctr"/>
          <a:lstStyle/>
          <a:p>
            <a:pPr marL="0" indent="0" algn="ctr">
              <a:buNone/>
            </a:pPr>
            <a:r>
              <a:rPr lang="en-US" sz="1400" b="1" dirty="0">
                <a:solidFill>
                  <a:schemeClr val="accent5"/>
                </a:solidFill>
                <a:latin typeface="Courier New" pitchFamily="34" charset="0"/>
                <a:ea typeface="Courier New" pitchFamily="34" charset="-122"/>
                <a:cs typeface="Courier New" pitchFamily="34" charset="-120"/>
              </a:rPr>
              <a:t>D</a:t>
            </a:r>
            <a:endParaRPr lang="en-US" sz="1400" dirty="0"/>
          </a:p>
        </p:txBody>
      </p:sp>
      <p:sp>
        <p:nvSpPr>
          <p:cNvPr id="42" name="tile-260"/>
          <p:cNvSpPr/>
          <p:nvPr/>
        </p:nvSpPr>
        <p:spPr>
          <a:xfrm>
            <a:off x="1527048" y="2752344"/>
            <a:ext cx="347472" cy="347472"/>
          </a:xfrm>
          <a:prstGeom prst="roundRect">
            <a:avLst>
              <a:gd name="adj" fmla="val 13158"/>
            </a:avLst>
          </a:prstGeom>
          <a:solidFill>
            <a:schemeClr val="bg1"/>
          </a:solidFill>
          <a:ln w="12700">
            <a:solidFill>
              <a:schemeClr val="accent6"/>
            </a:solidFill>
          </a:ln>
        </p:spPr>
        <p:txBody>
          <a:bodyPr wrap="square" lIns="0" tIns="0" rIns="0" bIns="0" rtlCol="0" anchor="ctr"/>
          <a:lstStyle/>
          <a:p>
            <a:pPr marL="0" indent="0" algn="ctr">
              <a:buNone/>
            </a:pPr>
            <a:r>
              <a:rPr lang="en-US" sz="1400" b="1" dirty="0">
                <a:solidFill>
                  <a:schemeClr val="accent5"/>
                </a:solidFill>
                <a:latin typeface="Courier New" pitchFamily="34" charset="0"/>
                <a:ea typeface="Courier New" pitchFamily="34" charset="-122"/>
                <a:cs typeface="Courier New" pitchFamily="34" charset="-120"/>
              </a:rPr>
              <a:t>R</a:t>
            </a:r>
            <a:endParaRPr lang="en-US" sz="1400" dirty="0"/>
          </a:p>
        </p:txBody>
      </p:sp>
      <p:sp>
        <p:nvSpPr>
          <p:cNvPr id="43" name="tile-261"/>
          <p:cNvSpPr/>
          <p:nvPr/>
        </p:nvSpPr>
        <p:spPr>
          <a:xfrm>
            <a:off x="1911096" y="2752344"/>
            <a:ext cx="347472" cy="347472"/>
          </a:xfrm>
          <a:prstGeom prst="roundRect">
            <a:avLst>
              <a:gd name="adj" fmla="val 13158"/>
            </a:avLst>
          </a:prstGeom>
          <a:solidFill>
            <a:schemeClr val="bg1"/>
          </a:solidFill>
          <a:ln w="12700">
            <a:solidFill>
              <a:schemeClr val="accent6"/>
            </a:solidFill>
          </a:ln>
        </p:spPr>
        <p:txBody>
          <a:bodyPr wrap="square" lIns="0" tIns="0" rIns="0" bIns="0" rtlCol="0" anchor="ctr"/>
          <a:lstStyle/>
          <a:p>
            <a:pPr marL="0" indent="0" algn="ctr">
              <a:buNone/>
            </a:pPr>
            <a:r>
              <a:rPr lang="en-US" sz="1400" b="1" dirty="0">
                <a:solidFill>
                  <a:schemeClr val="accent5"/>
                </a:solidFill>
                <a:latin typeface="Courier New" pitchFamily="34" charset="0"/>
                <a:ea typeface="Courier New" pitchFamily="34" charset="-122"/>
                <a:cs typeface="Courier New" pitchFamily="34" charset="-120"/>
              </a:rPr>
              <a:t>A</a:t>
            </a:r>
            <a:endParaRPr lang="en-US" sz="1400" dirty="0"/>
          </a:p>
        </p:txBody>
      </p:sp>
      <p:sp>
        <p:nvSpPr>
          <p:cNvPr id="44" name="tile-262"/>
          <p:cNvSpPr/>
          <p:nvPr/>
        </p:nvSpPr>
        <p:spPr>
          <a:xfrm>
            <a:off x="2295144" y="2752344"/>
            <a:ext cx="347472" cy="347472"/>
          </a:xfrm>
          <a:prstGeom prst="roundRect">
            <a:avLst>
              <a:gd name="adj" fmla="val 13158"/>
            </a:avLst>
          </a:prstGeom>
          <a:solidFill>
            <a:schemeClr val="accent4"/>
          </a:solidFill>
          <a:ln w="12700">
            <a:solidFill>
              <a:schemeClr val="accent4"/>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C</a:t>
            </a:r>
            <a:endParaRPr lang="en-US" sz="1400" dirty="0"/>
          </a:p>
        </p:txBody>
      </p:sp>
      <p:sp>
        <p:nvSpPr>
          <p:cNvPr id="45" name="ann-263"/>
          <p:cNvSpPr txBox="1"/>
          <p:nvPr/>
        </p:nvSpPr>
        <p:spPr>
          <a:xfrm>
            <a:off x="5623560" y="2752344"/>
            <a:ext cx="3108960" cy="347472"/>
          </a:xfrm>
          <a:prstGeom prst="rect">
            <a:avLst/>
          </a:prstGeom>
          <a:noFill/>
          <a:ln/>
        </p:spPr>
        <p:txBody>
          <a:bodyPr wrap="square" lIns="0" tIns="0" rIns="0" bIns="0" rtlCol="0" anchor="ctr"/>
          <a:lstStyle/>
          <a:p>
            <a:pPr marL="0" indent="0">
              <a:buNone/>
            </a:pPr>
            <a:r>
              <a:rPr lang="en-US" sz="1200" b="1" dirty="0">
                <a:solidFill>
                  <a:schemeClr val="tx2"/>
                </a:solidFill>
              </a:rPr>
              <a:t>1 comp</a:t>
            </a:r>
            <a:r>
              <a:rPr lang="en-US" sz="1200" dirty="0">
                <a:solidFill>
                  <a:schemeClr val="tx1"/>
                </a:solidFill>
              </a:rPr>
              <a:t>  ·  shift S[A] = 1</a:t>
            </a:r>
            <a:endParaRPr lang="en-US" sz="1200" dirty="0"/>
          </a:p>
        </p:txBody>
      </p:sp>
      <p:sp>
        <p:nvSpPr>
          <p:cNvPr id="46" name="text-264"/>
          <p:cNvSpPr txBox="1"/>
          <p:nvPr/>
        </p:nvSpPr>
        <p:spPr>
          <a:xfrm>
            <a:off x="548640" y="3209544"/>
            <a:ext cx="502920" cy="347472"/>
          </a:xfrm>
          <a:prstGeom prst="rect">
            <a:avLst/>
          </a:prstGeom>
          <a:noFill/>
          <a:ln/>
        </p:spPr>
        <p:txBody>
          <a:bodyPr wrap="square" lIns="0" tIns="0" rIns="0" bIns="0" rtlCol="0" anchor="ctr"/>
          <a:lstStyle/>
          <a:p>
            <a:pPr marL="0" indent="0" algn="r">
              <a:buNone/>
            </a:pPr>
            <a:r>
              <a:rPr lang="en-US" sz="1100" dirty="0">
                <a:solidFill>
                  <a:schemeClr val="accent5"/>
                </a:solidFill>
              </a:rPr>
              <a:t>#2</a:t>
            </a:r>
            <a:endParaRPr lang="en-US" sz="1100" dirty="0"/>
          </a:p>
        </p:txBody>
      </p:sp>
      <p:sp>
        <p:nvSpPr>
          <p:cNvPr id="47" name="tile-265"/>
          <p:cNvSpPr/>
          <p:nvPr/>
        </p:nvSpPr>
        <p:spPr>
          <a:xfrm>
            <a:off x="1527048" y="3209544"/>
            <a:ext cx="347472" cy="347472"/>
          </a:xfrm>
          <a:prstGeom prst="roundRect">
            <a:avLst>
              <a:gd name="adj" fmla="val 13158"/>
            </a:avLst>
          </a:prstGeom>
          <a:solidFill>
            <a:schemeClr val="accent4"/>
          </a:solidFill>
          <a:ln w="12700">
            <a:solidFill>
              <a:schemeClr val="accent4"/>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D</a:t>
            </a:r>
            <a:endParaRPr lang="en-US" sz="1400" dirty="0"/>
          </a:p>
        </p:txBody>
      </p:sp>
      <p:sp>
        <p:nvSpPr>
          <p:cNvPr id="48" name="tile-266"/>
          <p:cNvSpPr/>
          <p:nvPr/>
        </p:nvSpPr>
        <p:spPr>
          <a:xfrm>
            <a:off x="1911096" y="3209544"/>
            <a:ext cx="347472" cy="347472"/>
          </a:xfrm>
          <a:prstGeom prst="roundRect">
            <a:avLst>
              <a:gd name="adj" fmla="val 13158"/>
            </a:avLst>
          </a:prstGeom>
          <a:solidFill>
            <a:schemeClr val="accent3"/>
          </a:solidFill>
          <a:ln w="12700">
            <a:solidFill>
              <a:schemeClr val="accent3"/>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R</a:t>
            </a:r>
            <a:endParaRPr lang="en-US" sz="1400" dirty="0"/>
          </a:p>
        </p:txBody>
      </p:sp>
      <p:sp>
        <p:nvSpPr>
          <p:cNvPr id="49" name="tile-267"/>
          <p:cNvSpPr/>
          <p:nvPr/>
        </p:nvSpPr>
        <p:spPr>
          <a:xfrm>
            <a:off x="2295144" y="3209544"/>
            <a:ext cx="347472" cy="347472"/>
          </a:xfrm>
          <a:prstGeom prst="roundRect">
            <a:avLst>
              <a:gd name="adj" fmla="val 13158"/>
            </a:avLst>
          </a:prstGeom>
          <a:solidFill>
            <a:schemeClr val="accent3"/>
          </a:solidFill>
          <a:ln w="12700">
            <a:solidFill>
              <a:schemeClr val="accent3"/>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A</a:t>
            </a:r>
            <a:endParaRPr lang="en-US" sz="1400" dirty="0"/>
          </a:p>
        </p:txBody>
      </p:sp>
      <p:sp>
        <p:nvSpPr>
          <p:cNvPr id="50" name="tile-268"/>
          <p:cNvSpPr/>
          <p:nvPr/>
        </p:nvSpPr>
        <p:spPr>
          <a:xfrm>
            <a:off x="2679192" y="3209544"/>
            <a:ext cx="347472" cy="347472"/>
          </a:xfrm>
          <a:prstGeom prst="roundRect">
            <a:avLst>
              <a:gd name="adj" fmla="val 13158"/>
            </a:avLst>
          </a:prstGeom>
          <a:solidFill>
            <a:schemeClr val="accent3"/>
          </a:solidFill>
          <a:ln w="12700">
            <a:solidFill>
              <a:schemeClr val="accent3"/>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C</a:t>
            </a:r>
            <a:endParaRPr lang="en-US" sz="1400" dirty="0"/>
          </a:p>
        </p:txBody>
      </p:sp>
      <p:sp>
        <p:nvSpPr>
          <p:cNvPr id="51" name="ann-269"/>
          <p:cNvSpPr txBox="1"/>
          <p:nvPr/>
        </p:nvSpPr>
        <p:spPr>
          <a:xfrm>
            <a:off x="5623560" y="3209544"/>
            <a:ext cx="3108960" cy="347472"/>
          </a:xfrm>
          <a:prstGeom prst="rect">
            <a:avLst/>
          </a:prstGeom>
          <a:noFill/>
          <a:ln/>
        </p:spPr>
        <p:txBody>
          <a:bodyPr wrap="square" lIns="0" tIns="0" rIns="0" bIns="0" rtlCol="0" anchor="ctr"/>
          <a:lstStyle/>
          <a:p>
            <a:pPr marL="0" indent="0">
              <a:buNone/>
            </a:pPr>
            <a:r>
              <a:rPr lang="en-US" sz="1200" b="1" dirty="0">
                <a:solidFill>
                  <a:schemeClr val="tx2"/>
                </a:solidFill>
              </a:rPr>
              <a:t>4 comps</a:t>
            </a:r>
            <a:r>
              <a:rPr lang="en-US" sz="1200" dirty="0">
                <a:solidFill>
                  <a:schemeClr val="tx1"/>
                </a:solidFill>
              </a:rPr>
              <a:t>  ·  shift S[C] = 4</a:t>
            </a:r>
            <a:endParaRPr lang="en-US" sz="1200" dirty="0"/>
          </a:p>
        </p:txBody>
      </p:sp>
      <p:sp>
        <p:nvSpPr>
          <p:cNvPr id="52" name="text-270"/>
          <p:cNvSpPr txBox="1"/>
          <p:nvPr/>
        </p:nvSpPr>
        <p:spPr>
          <a:xfrm>
            <a:off x="548640" y="3666744"/>
            <a:ext cx="502920" cy="347472"/>
          </a:xfrm>
          <a:prstGeom prst="rect">
            <a:avLst/>
          </a:prstGeom>
          <a:noFill/>
          <a:ln/>
        </p:spPr>
        <p:txBody>
          <a:bodyPr wrap="square" lIns="0" tIns="0" rIns="0" bIns="0" rtlCol="0" anchor="ctr"/>
          <a:lstStyle/>
          <a:p>
            <a:pPr marL="0" indent="0" algn="r">
              <a:buNone/>
            </a:pPr>
            <a:r>
              <a:rPr lang="en-US" sz="1100" dirty="0">
                <a:solidFill>
                  <a:schemeClr val="accent5"/>
                </a:solidFill>
              </a:rPr>
              <a:t>#3</a:t>
            </a:r>
            <a:endParaRPr lang="en-US" sz="1100" dirty="0"/>
          </a:p>
        </p:txBody>
      </p:sp>
      <p:sp>
        <p:nvSpPr>
          <p:cNvPr id="53" name="tile-271"/>
          <p:cNvSpPr/>
          <p:nvPr/>
        </p:nvSpPr>
        <p:spPr>
          <a:xfrm>
            <a:off x="3063240" y="3666744"/>
            <a:ext cx="347472" cy="347472"/>
          </a:xfrm>
          <a:prstGeom prst="roundRect">
            <a:avLst>
              <a:gd name="adj" fmla="val 13158"/>
            </a:avLst>
          </a:prstGeom>
          <a:solidFill>
            <a:schemeClr val="bg1"/>
          </a:solidFill>
          <a:ln w="12700">
            <a:solidFill>
              <a:schemeClr val="accent6"/>
            </a:solidFill>
          </a:ln>
        </p:spPr>
        <p:txBody>
          <a:bodyPr wrap="square" lIns="0" tIns="0" rIns="0" bIns="0" rtlCol="0" anchor="ctr"/>
          <a:lstStyle/>
          <a:p>
            <a:pPr marL="0" indent="0" algn="ctr">
              <a:buNone/>
            </a:pPr>
            <a:r>
              <a:rPr lang="en-US" sz="1400" b="1" dirty="0">
                <a:solidFill>
                  <a:schemeClr val="accent5"/>
                </a:solidFill>
                <a:latin typeface="Courier New" pitchFamily="34" charset="0"/>
                <a:ea typeface="Courier New" pitchFamily="34" charset="-122"/>
                <a:cs typeface="Courier New" pitchFamily="34" charset="-120"/>
              </a:rPr>
              <a:t>D</a:t>
            </a:r>
            <a:endParaRPr lang="en-US" sz="1400" dirty="0"/>
          </a:p>
        </p:txBody>
      </p:sp>
      <p:sp>
        <p:nvSpPr>
          <p:cNvPr id="54" name="tile-272"/>
          <p:cNvSpPr/>
          <p:nvPr/>
        </p:nvSpPr>
        <p:spPr>
          <a:xfrm>
            <a:off x="3447288" y="3666744"/>
            <a:ext cx="347472" cy="347472"/>
          </a:xfrm>
          <a:prstGeom prst="roundRect">
            <a:avLst>
              <a:gd name="adj" fmla="val 13158"/>
            </a:avLst>
          </a:prstGeom>
          <a:solidFill>
            <a:schemeClr val="bg1"/>
          </a:solidFill>
          <a:ln w="12700">
            <a:solidFill>
              <a:schemeClr val="accent6"/>
            </a:solidFill>
          </a:ln>
        </p:spPr>
        <p:txBody>
          <a:bodyPr wrap="square" lIns="0" tIns="0" rIns="0" bIns="0" rtlCol="0" anchor="ctr"/>
          <a:lstStyle/>
          <a:p>
            <a:pPr marL="0" indent="0" algn="ctr">
              <a:buNone/>
            </a:pPr>
            <a:r>
              <a:rPr lang="en-US" sz="1400" b="1" dirty="0">
                <a:solidFill>
                  <a:schemeClr val="accent5"/>
                </a:solidFill>
                <a:latin typeface="Courier New" pitchFamily="34" charset="0"/>
                <a:ea typeface="Courier New" pitchFamily="34" charset="-122"/>
                <a:cs typeface="Courier New" pitchFamily="34" charset="-120"/>
              </a:rPr>
              <a:t>R</a:t>
            </a:r>
            <a:endParaRPr lang="en-US" sz="1400" dirty="0"/>
          </a:p>
        </p:txBody>
      </p:sp>
      <p:sp>
        <p:nvSpPr>
          <p:cNvPr id="55" name="tile-273"/>
          <p:cNvSpPr/>
          <p:nvPr/>
        </p:nvSpPr>
        <p:spPr>
          <a:xfrm>
            <a:off x="3831336" y="3666744"/>
            <a:ext cx="347472" cy="347472"/>
          </a:xfrm>
          <a:prstGeom prst="roundRect">
            <a:avLst>
              <a:gd name="adj" fmla="val 13158"/>
            </a:avLst>
          </a:prstGeom>
          <a:solidFill>
            <a:schemeClr val="bg1"/>
          </a:solidFill>
          <a:ln w="12700">
            <a:solidFill>
              <a:schemeClr val="accent6"/>
            </a:solidFill>
          </a:ln>
        </p:spPr>
        <p:txBody>
          <a:bodyPr wrap="square" lIns="0" tIns="0" rIns="0" bIns="0" rtlCol="0" anchor="ctr"/>
          <a:lstStyle/>
          <a:p>
            <a:pPr marL="0" indent="0" algn="ctr">
              <a:buNone/>
            </a:pPr>
            <a:r>
              <a:rPr lang="en-US" sz="1400" b="1" dirty="0">
                <a:solidFill>
                  <a:schemeClr val="accent5"/>
                </a:solidFill>
                <a:latin typeface="Courier New" pitchFamily="34" charset="0"/>
                <a:ea typeface="Courier New" pitchFamily="34" charset="-122"/>
                <a:cs typeface="Courier New" pitchFamily="34" charset="-120"/>
              </a:rPr>
              <a:t>A</a:t>
            </a:r>
            <a:endParaRPr lang="en-US" sz="1400" dirty="0"/>
          </a:p>
        </p:txBody>
      </p:sp>
      <p:sp>
        <p:nvSpPr>
          <p:cNvPr id="56" name="tile-274"/>
          <p:cNvSpPr/>
          <p:nvPr/>
        </p:nvSpPr>
        <p:spPr>
          <a:xfrm>
            <a:off x="4215384" y="3666744"/>
            <a:ext cx="347472" cy="347472"/>
          </a:xfrm>
          <a:prstGeom prst="roundRect">
            <a:avLst>
              <a:gd name="adj" fmla="val 13158"/>
            </a:avLst>
          </a:prstGeom>
          <a:solidFill>
            <a:schemeClr val="accent4"/>
          </a:solidFill>
          <a:ln w="12700">
            <a:solidFill>
              <a:schemeClr val="accent4"/>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C</a:t>
            </a:r>
            <a:endParaRPr lang="en-US" sz="1400" dirty="0"/>
          </a:p>
        </p:txBody>
      </p:sp>
      <p:sp>
        <p:nvSpPr>
          <p:cNvPr id="57" name="ann-275"/>
          <p:cNvSpPr txBox="1"/>
          <p:nvPr/>
        </p:nvSpPr>
        <p:spPr>
          <a:xfrm>
            <a:off x="5623560" y="3666744"/>
            <a:ext cx="3108960" cy="347472"/>
          </a:xfrm>
          <a:prstGeom prst="rect">
            <a:avLst/>
          </a:prstGeom>
          <a:noFill/>
          <a:ln/>
        </p:spPr>
        <p:txBody>
          <a:bodyPr wrap="square" lIns="0" tIns="0" rIns="0" bIns="0" rtlCol="0" anchor="ctr"/>
          <a:lstStyle/>
          <a:p>
            <a:pPr marL="0" indent="0">
              <a:buNone/>
            </a:pPr>
            <a:r>
              <a:rPr lang="en-US" sz="1200" b="1" dirty="0">
                <a:solidFill>
                  <a:schemeClr val="tx2"/>
                </a:solidFill>
              </a:rPr>
              <a:t>1 comp</a:t>
            </a:r>
            <a:r>
              <a:rPr lang="en-US" sz="1200" dirty="0">
                <a:solidFill>
                  <a:schemeClr val="tx1"/>
                </a:solidFill>
              </a:rPr>
              <a:t>  ·  shift S[B] = 4 → past end, stop</a:t>
            </a:r>
            <a:endParaRPr lang="en-US" sz="1200" dirty="0"/>
          </a:p>
        </p:txBody>
      </p:sp>
      <p:sp>
        <p:nvSpPr>
          <p:cNvPr id="58" name="card-276"/>
          <p:cNvSpPr/>
          <p:nvPr/>
        </p:nvSpPr>
        <p:spPr>
          <a:xfrm>
            <a:off x="5623560" y="1051560"/>
            <a:ext cx="306324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59" name="text-277"/>
          <p:cNvSpPr txBox="1"/>
          <p:nvPr/>
        </p:nvSpPr>
        <p:spPr>
          <a:xfrm>
            <a:off x="5806440" y="1161288"/>
            <a:ext cx="2697480" cy="457200"/>
          </a:xfrm>
          <a:prstGeom prst="rect">
            <a:avLst/>
          </a:prstGeom>
          <a:noFill/>
          <a:ln/>
        </p:spPr>
        <p:txBody>
          <a:bodyPr wrap="square" lIns="0" tIns="0" rIns="0" bIns="0" rtlCol="0" anchor="ctr"/>
          <a:lstStyle/>
          <a:p>
            <a:pPr marL="0" indent="0">
              <a:buNone/>
            </a:pPr>
            <a:r>
              <a:rPr lang="en-US" sz="2600" b="1" dirty="0">
                <a:solidFill>
                  <a:schemeClr val="tx2"/>
                </a:solidFill>
              </a:rPr>
              <a:t>6 comparisons</a:t>
            </a:r>
            <a:endParaRPr lang="en-US" sz="2600" dirty="0"/>
          </a:p>
        </p:txBody>
      </p:sp>
      <p:sp>
        <p:nvSpPr>
          <p:cNvPr id="60" name="text-278"/>
          <p:cNvSpPr txBox="1"/>
          <p:nvPr/>
        </p:nvSpPr>
        <p:spPr>
          <a:xfrm>
            <a:off x="5806440" y="1618488"/>
            <a:ext cx="2697480" cy="237744"/>
          </a:xfrm>
          <a:prstGeom prst="rect">
            <a:avLst/>
          </a:prstGeom>
          <a:noFill/>
          <a:ln/>
        </p:spPr>
        <p:txBody>
          <a:bodyPr wrap="square" lIns="0" tIns="0" rIns="0" bIns="0" rtlCol="0" anchor="t"/>
          <a:lstStyle/>
          <a:p>
            <a:pPr marL="0" indent="0">
              <a:buNone/>
            </a:pPr>
            <a:r>
              <a:rPr lang="en-US" sz="1200" dirty="0">
                <a:solidFill>
                  <a:schemeClr val="tx1"/>
                </a:solidFill>
              </a:rPr>
              <a:t>Alignment #2 matches C, A, R before failing on D vs B</a:t>
            </a:r>
            <a:endParaRPr lang="en-US" sz="1200" dirty="0"/>
          </a:p>
        </p:txBody>
      </p:sp>
      <p:sp>
        <p:nvSpPr>
          <p:cNvPr id="61" name="card-279"/>
          <p:cNvSpPr/>
          <p:nvPr/>
        </p:nvSpPr>
        <p:spPr>
          <a:xfrm>
            <a:off x="5623560" y="3520440"/>
            <a:ext cx="3063240" cy="868680"/>
          </a:xfrm>
          <a:prstGeom prst="roundRect">
            <a:avLst>
              <a:gd name="adj" fmla="val 8421"/>
            </a:avLst>
          </a:prstGeom>
          <a:solidFill>
            <a:schemeClr val="bg2"/>
          </a:solidFill>
          <a:ln w="12700">
            <a:solidFill>
              <a:schemeClr val="bg2"/>
            </a:solidFill>
            <a:prstDash val="solid"/>
          </a:ln>
        </p:spPr>
        <p:txBody>
          <a:bodyPr/>
          <a:lstStyle/>
          <a:p>
            <a:endParaRPr lang="en-US"/>
          </a:p>
        </p:txBody>
      </p:sp>
      <p:sp>
        <p:nvSpPr>
          <p:cNvPr id="62" name="text-280"/>
          <p:cNvSpPr txBox="1"/>
          <p:nvPr/>
        </p:nvSpPr>
        <p:spPr>
          <a:xfrm>
            <a:off x="5760720" y="3593592"/>
            <a:ext cx="2788920" cy="731520"/>
          </a:xfrm>
          <a:prstGeom prst="rect">
            <a:avLst/>
          </a:prstGeom>
          <a:noFill/>
          <a:ln/>
        </p:spPr>
        <p:txBody>
          <a:bodyPr wrap="square" lIns="0" tIns="0" rIns="0" bIns="0" rtlCol="0" anchor="ctr"/>
          <a:lstStyle/>
          <a:p>
            <a:pPr marL="0" indent="0">
              <a:buNone/>
            </a:pPr>
            <a:r>
              <a:rPr lang="en-US" sz="1200" dirty="0">
                <a:solidFill>
                  <a:schemeClr val="tx1"/>
                </a:solidFill>
              </a:rPr>
              <a:t>In #2 the shift uses T[C] = 4 (under the last cell), not the mismatched B → S[C] = 4.</a:t>
            </a:r>
            <a:endParaRPr lang="en-US" sz="1200" dirty="0"/>
          </a:p>
        </p:txBody>
      </p:sp>
      <p:sp>
        <p:nvSpPr>
          <p:cNvPr id="6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Q69 · Patterns in 1,000,000 zeros</a:t>
            </a:r>
            <a:endParaRPr lang="en-US" sz="3000" dirty="0"/>
          </a:p>
        </p:txBody>
      </p:sp>
      <p:sp>
        <p:nvSpPr>
          <p:cNvPr id="3" name="card-281"/>
          <p:cNvSpPr/>
          <p:nvPr/>
        </p:nvSpPr>
        <p:spPr>
          <a:xfrm>
            <a:off x="457200" y="1051560"/>
            <a:ext cx="2606040" cy="3474720"/>
          </a:xfrm>
          <a:prstGeom prst="roundRect">
            <a:avLst>
              <a:gd name="adj" fmla="val 2807"/>
            </a:avLst>
          </a:prstGeom>
          <a:solidFill>
            <a:schemeClr val="bg2"/>
          </a:solidFill>
          <a:ln w="12700">
            <a:solidFill>
              <a:schemeClr val="bg2"/>
            </a:solidFill>
            <a:prstDash val="solid"/>
          </a:ln>
        </p:spPr>
        <p:txBody>
          <a:bodyPr/>
          <a:lstStyle/>
          <a:p>
            <a:endParaRPr lang="en-US"/>
          </a:p>
        </p:txBody>
      </p:sp>
      <p:sp>
        <p:nvSpPr>
          <p:cNvPr id="4" name="text-282"/>
          <p:cNvSpPr txBox="1"/>
          <p:nvPr/>
        </p:nvSpPr>
        <p:spPr>
          <a:xfrm>
            <a:off x="640080" y="1170432"/>
            <a:ext cx="2240280" cy="292608"/>
          </a:xfrm>
          <a:prstGeom prst="rect">
            <a:avLst/>
          </a:prstGeom>
          <a:noFill/>
          <a:ln/>
        </p:spPr>
        <p:txBody>
          <a:bodyPr wrap="square" lIns="0" tIns="0" rIns="0" bIns="0" rtlCol="0" anchor="t"/>
          <a:lstStyle/>
          <a:p>
            <a:pPr marL="0" indent="0">
              <a:buNone/>
            </a:pPr>
            <a:r>
              <a:rPr lang="en-US" sz="1500" b="1" dirty="0">
                <a:solidFill>
                  <a:schemeClr val="tx2"/>
                </a:solidFill>
              </a:rPr>
              <a:t>(a)  P = 01001</a:t>
            </a:r>
            <a:endParaRPr lang="en-US" sz="1500" dirty="0"/>
          </a:p>
        </p:txBody>
      </p:sp>
      <p:sp>
        <p:nvSpPr>
          <p:cNvPr id="5" name="tile-283"/>
          <p:cNvSpPr/>
          <p:nvPr/>
        </p:nvSpPr>
        <p:spPr>
          <a:xfrm>
            <a:off x="827532" y="160020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6" name="tile-284"/>
          <p:cNvSpPr/>
          <p:nvPr/>
        </p:nvSpPr>
        <p:spPr>
          <a:xfrm>
            <a:off x="1211580" y="160020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7" name="tile-285"/>
          <p:cNvSpPr/>
          <p:nvPr/>
        </p:nvSpPr>
        <p:spPr>
          <a:xfrm>
            <a:off x="1595628" y="160020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8" name="tile-286"/>
          <p:cNvSpPr/>
          <p:nvPr/>
        </p:nvSpPr>
        <p:spPr>
          <a:xfrm>
            <a:off x="1979676" y="160020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9" name="tile-287"/>
          <p:cNvSpPr/>
          <p:nvPr/>
        </p:nvSpPr>
        <p:spPr>
          <a:xfrm>
            <a:off x="2363724" y="160020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10" name="tile-288"/>
          <p:cNvSpPr/>
          <p:nvPr/>
        </p:nvSpPr>
        <p:spPr>
          <a:xfrm>
            <a:off x="827532" y="1984248"/>
            <a:ext cx="329184" cy="329184"/>
          </a:xfrm>
          <a:prstGeom prst="roundRect">
            <a:avLst>
              <a:gd name="adj" fmla="val 13889"/>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accent5"/>
                </a:solidFill>
                <a:latin typeface="Courier New" pitchFamily="34" charset="0"/>
                <a:ea typeface="Courier New" pitchFamily="34" charset="-122"/>
                <a:cs typeface="Courier New" pitchFamily="34" charset="-120"/>
              </a:rPr>
              <a:t>0</a:t>
            </a:r>
            <a:endParaRPr lang="en-US" sz="1300" dirty="0"/>
          </a:p>
        </p:txBody>
      </p:sp>
      <p:sp>
        <p:nvSpPr>
          <p:cNvPr id="11" name="tile-289"/>
          <p:cNvSpPr/>
          <p:nvPr/>
        </p:nvSpPr>
        <p:spPr>
          <a:xfrm>
            <a:off x="1211580" y="1984248"/>
            <a:ext cx="329184" cy="329184"/>
          </a:xfrm>
          <a:prstGeom prst="roundRect">
            <a:avLst>
              <a:gd name="adj" fmla="val 13889"/>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accent5"/>
                </a:solidFill>
                <a:latin typeface="Courier New" pitchFamily="34" charset="0"/>
                <a:ea typeface="Courier New" pitchFamily="34" charset="-122"/>
                <a:cs typeface="Courier New" pitchFamily="34" charset="-120"/>
              </a:rPr>
              <a:t>1</a:t>
            </a:r>
            <a:endParaRPr lang="en-US" sz="1300" dirty="0"/>
          </a:p>
        </p:txBody>
      </p:sp>
      <p:sp>
        <p:nvSpPr>
          <p:cNvPr id="12" name="tile-290"/>
          <p:cNvSpPr/>
          <p:nvPr/>
        </p:nvSpPr>
        <p:spPr>
          <a:xfrm>
            <a:off x="1595628" y="1984248"/>
            <a:ext cx="329184" cy="329184"/>
          </a:xfrm>
          <a:prstGeom prst="roundRect">
            <a:avLst>
              <a:gd name="adj" fmla="val 13889"/>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accent5"/>
                </a:solidFill>
                <a:latin typeface="Courier New" pitchFamily="34" charset="0"/>
                <a:ea typeface="Courier New" pitchFamily="34" charset="-122"/>
                <a:cs typeface="Courier New" pitchFamily="34" charset="-120"/>
              </a:rPr>
              <a:t>0</a:t>
            </a:r>
            <a:endParaRPr lang="en-US" sz="1300" dirty="0"/>
          </a:p>
        </p:txBody>
      </p:sp>
      <p:sp>
        <p:nvSpPr>
          <p:cNvPr id="13" name="tile-291"/>
          <p:cNvSpPr/>
          <p:nvPr/>
        </p:nvSpPr>
        <p:spPr>
          <a:xfrm>
            <a:off x="1979676" y="1984248"/>
            <a:ext cx="329184" cy="329184"/>
          </a:xfrm>
          <a:prstGeom prst="roundRect">
            <a:avLst>
              <a:gd name="adj" fmla="val 13889"/>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accent5"/>
                </a:solidFill>
                <a:latin typeface="Courier New" pitchFamily="34" charset="0"/>
                <a:ea typeface="Courier New" pitchFamily="34" charset="-122"/>
                <a:cs typeface="Courier New" pitchFamily="34" charset="-120"/>
              </a:rPr>
              <a:t>0</a:t>
            </a:r>
            <a:endParaRPr lang="en-US" sz="1300" dirty="0"/>
          </a:p>
        </p:txBody>
      </p:sp>
      <p:sp>
        <p:nvSpPr>
          <p:cNvPr id="14" name="tile-292"/>
          <p:cNvSpPr/>
          <p:nvPr/>
        </p:nvSpPr>
        <p:spPr>
          <a:xfrm>
            <a:off x="2363724" y="1984248"/>
            <a:ext cx="329184" cy="329184"/>
          </a:xfrm>
          <a:prstGeom prst="roundRect">
            <a:avLst>
              <a:gd name="adj" fmla="val 13889"/>
            </a:avLst>
          </a:prstGeom>
          <a:solidFill>
            <a:schemeClr val="accent4"/>
          </a:solidFill>
          <a:ln w="12700">
            <a:solidFill>
              <a:schemeClr val="accent4"/>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15" name="text-293"/>
          <p:cNvSpPr txBox="1"/>
          <p:nvPr/>
        </p:nvSpPr>
        <p:spPr>
          <a:xfrm>
            <a:off x="640080" y="2450592"/>
            <a:ext cx="2240280" cy="457200"/>
          </a:xfrm>
          <a:prstGeom prst="rect">
            <a:avLst/>
          </a:prstGeom>
          <a:noFill/>
          <a:ln/>
        </p:spPr>
        <p:txBody>
          <a:bodyPr wrap="square" lIns="0" tIns="0" rIns="0" bIns="0" rtlCol="0" anchor="t"/>
          <a:lstStyle/>
          <a:p>
            <a:pPr marL="0" indent="0">
              <a:buNone/>
            </a:pPr>
            <a:r>
              <a:rPr lang="en-US" sz="1200" dirty="0">
                <a:solidFill>
                  <a:schemeClr val="tx1"/>
                </a:solidFill>
              </a:rPr>
              <a:t>last char 1 fails at once; S[0] = 1</a:t>
            </a:r>
            <a:endParaRPr lang="en-US" sz="1200" dirty="0"/>
          </a:p>
        </p:txBody>
      </p:sp>
      <p:sp>
        <p:nvSpPr>
          <p:cNvPr id="16" name="text-294"/>
          <p:cNvSpPr txBox="1"/>
          <p:nvPr/>
        </p:nvSpPr>
        <p:spPr>
          <a:xfrm>
            <a:off x="640080" y="2926080"/>
            <a:ext cx="2240280" cy="457200"/>
          </a:xfrm>
          <a:prstGeom prst="rect">
            <a:avLst/>
          </a:prstGeom>
          <a:noFill/>
          <a:ln/>
        </p:spPr>
        <p:txBody>
          <a:bodyPr wrap="square" lIns="0" tIns="0" rIns="0" bIns="0" rtlCol="0" anchor="t"/>
          <a:lstStyle/>
          <a:p>
            <a:pPr marL="0" indent="0">
              <a:buNone/>
            </a:pPr>
            <a:r>
              <a:rPr lang="en-US" sz="1200" dirty="0">
                <a:solidFill>
                  <a:schemeClr val="accent5"/>
                </a:solidFill>
              </a:rPr>
              <a:t>1 comp × 999,996 alignments</a:t>
            </a:r>
            <a:endParaRPr lang="en-US" sz="1200" dirty="0"/>
          </a:p>
        </p:txBody>
      </p:sp>
      <p:sp>
        <p:nvSpPr>
          <p:cNvPr id="17" name="text-295"/>
          <p:cNvSpPr txBox="1"/>
          <p:nvPr/>
        </p:nvSpPr>
        <p:spPr>
          <a:xfrm>
            <a:off x="640080" y="3474720"/>
            <a:ext cx="2240280" cy="502920"/>
          </a:xfrm>
          <a:prstGeom prst="rect">
            <a:avLst/>
          </a:prstGeom>
          <a:noFill/>
          <a:ln/>
        </p:spPr>
        <p:txBody>
          <a:bodyPr wrap="square" lIns="0" tIns="0" rIns="0" bIns="0" rtlCol="0" anchor="t"/>
          <a:lstStyle/>
          <a:p>
            <a:pPr marL="0" indent="0">
              <a:buNone/>
            </a:pPr>
            <a:r>
              <a:rPr lang="en-US" sz="3000" b="1" dirty="0">
                <a:solidFill>
                  <a:schemeClr val="tx2"/>
                </a:solidFill>
              </a:rPr>
              <a:t>999,996</a:t>
            </a:r>
            <a:endParaRPr lang="en-US" sz="3000" dirty="0"/>
          </a:p>
        </p:txBody>
      </p:sp>
      <p:sp>
        <p:nvSpPr>
          <p:cNvPr id="18" name="text-296"/>
          <p:cNvSpPr txBox="1"/>
          <p:nvPr/>
        </p:nvSpPr>
        <p:spPr>
          <a:xfrm>
            <a:off x="640080" y="4005072"/>
            <a:ext cx="2240280" cy="274320"/>
          </a:xfrm>
          <a:prstGeom prst="rect">
            <a:avLst/>
          </a:prstGeom>
          <a:noFill/>
          <a:ln/>
        </p:spPr>
        <p:txBody>
          <a:bodyPr wrap="square" lIns="0" tIns="0" rIns="0" bIns="0" rtlCol="0" anchor="t"/>
          <a:lstStyle/>
          <a:p>
            <a:pPr marL="0" indent="0">
              <a:buNone/>
            </a:pPr>
            <a:r>
              <a:rPr lang="en-US" sz="1200" dirty="0">
                <a:solidFill>
                  <a:schemeClr val="accent5"/>
                </a:solidFill>
              </a:rPr>
              <a:t>comparisons</a:t>
            </a:r>
            <a:endParaRPr lang="en-US" sz="1200" dirty="0"/>
          </a:p>
        </p:txBody>
      </p:sp>
      <p:sp>
        <p:nvSpPr>
          <p:cNvPr id="19" name="card-297"/>
          <p:cNvSpPr/>
          <p:nvPr/>
        </p:nvSpPr>
        <p:spPr>
          <a:xfrm>
            <a:off x="3273552" y="1051560"/>
            <a:ext cx="2606040" cy="3474720"/>
          </a:xfrm>
          <a:prstGeom prst="roundRect">
            <a:avLst>
              <a:gd name="adj" fmla="val 2807"/>
            </a:avLst>
          </a:prstGeom>
          <a:solidFill>
            <a:schemeClr val="bg2"/>
          </a:solidFill>
          <a:ln w="12700">
            <a:solidFill>
              <a:schemeClr val="bg2"/>
            </a:solidFill>
            <a:prstDash val="solid"/>
          </a:ln>
        </p:spPr>
        <p:txBody>
          <a:bodyPr/>
          <a:lstStyle/>
          <a:p>
            <a:endParaRPr lang="en-US"/>
          </a:p>
        </p:txBody>
      </p:sp>
      <p:sp>
        <p:nvSpPr>
          <p:cNvPr id="20" name="text-298"/>
          <p:cNvSpPr txBox="1"/>
          <p:nvPr/>
        </p:nvSpPr>
        <p:spPr>
          <a:xfrm>
            <a:off x="3456432" y="1170432"/>
            <a:ext cx="2240280" cy="292608"/>
          </a:xfrm>
          <a:prstGeom prst="rect">
            <a:avLst/>
          </a:prstGeom>
          <a:noFill/>
          <a:ln/>
        </p:spPr>
        <p:txBody>
          <a:bodyPr wrap="square" lIns="0" tIns="0" rIns="0" bIns="0" rtlCol="0" anchor="t"/>
          <a:lstStyle/>
          <a:p>
            <a:pPr marL="0" indent="0">
              <a:buNone/>
            </a:pPr>
            <a:r>
              <a:rPr lang="en-US" sz="1500" b="1" dirty="0">
                <a:solidFill>
                  <a:schemeClr val="tx2"/>
                </a:solidFill>
              </a:rPr>
              <a:t>(b)  P = 00010</a:t>
            </a:r>
            <a:endParaRPr lang="en-US" sz="1500" dirty="0"/>
          </a:p>
        </p:txBody>
      </p:sp>
      <p:sp>
        <p:nvSpPr>
          <p:cNvPr id="21" name="tile-299"/>
          <p:cNvSpPr/>
          <p:nvPr/>
        </p:nvSpPr>
        <p:spPr>
          <a:xfrm>
            <a:off x="3643884" y="160020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22" name="tile-300"/>
          <p:cNvSpPr/>
          <p:nvPr/>
        </p:nvSpPr>
        <p:spPr>
          <a:xfrm>
            <a:off x="4027932" y="160020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23" name="tile-301"/>
          <p:cNvSpPr/>
          <p:nvPr/>
        </p:nvSpPr>
        <p:spPr>
          <a:xfrm>
            <a:off x="4411980" y="160020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24" name="tile-302"/>
          <p:cNvSpPr/>
          <p:nvPr/>
        </p:nvSpPr>
        <p:spPr>
          <a:xfrm>
            <a:off x="4796028" y="160020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25" name="tile-303"/>
          <p:cNvSpPr/>
          <p:nvPr/>
        </p:nvSpPr>
        <p:spPr>
          <a:xfrm>
            <a:off x="5180076" y="160020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26" name="tile-304"/>
          <p:cNvSpPr/>
          <p:nvPr/>
        </p:nvSpPr>
        <p:spPr>
          <a:xfrm>
            <a:off x="3643884" y="1984248"/>
            <a:ext cx="329184" cy="329184"/>
          </a:xfrm>
          <a:prstGeom prst="roundRect">
            <a:avLst>
              <a:gd name="adj" fmla="val 13889"/>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accent5"/>
                </a:solidFill>
                <a:latin typeface="Courier New" pitchFamily="34" charset="0"/>
                <a:ea typeface="Courier New" pitchFamily="34" charset="-122"/>
                <a:cs typeface="Courier New" pitchFamily="34" charset="-120"/>
              </a:rPr>
              <a:t>0</a:t>
            </a:r>
            <a:endParaRPr lang="en-US" sz="1300" dirty="0"/>
          </a:p>
        </p:txBody>
      </p:sp>
      <p:sp>
        <p:nvSpPr>
          <p:cNvPr id="27" name="tile-305"/>
          <p:cNvSpPr/>
          <p:nvPr/>
        </p:nvSpPr>
        <p:spPr>
          <a:xfrm>
            <a:off x="4027932" y="1984248"/>
            <a:ext cx="329184" cy="329184"/>
          </a:xfrm>
          <a:prstGeom prst="roundRect">
            <a:avLst>
              <a:gd name="adj" fmla="val 13889"/>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accent5"/>
                </a:solidFill>
                <a:latin typeface="Courier New" pitchFamily="34" charset="0"/>
                <a:ea typeface="Courier New" pitchFamily="34" charset="-122"/>
                <a:cs typeface="Courier New" pitchFamily="34" charset="-120"/>
              </a:rPr>
              <a:t>0</a:t>
            </a:r>
            <a:endParaRPr lang="en-US" sz="1300" dirty="0"/>
          </a:p>
        </p:txBody>
      </p:sp>
      <p:sp>
        <p:nvSpPr>
          <p:cNvPr id="28" name="tile-306"/>
          <p:cNvSpPr/>
          <p:nvPr/>
        </p:nvSpPr>
        <p:spPr>
          <a:xfrm>
            <a:off x="4411980" y="1984248"/>
            <a:ext cx="329184" cy="329184"/>
          </a:xfrm>
          <a:prstGeom prst="roundRect">
            <a:avLst>
              <a:gd name="adj" fmla="val 13889"/>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accent5"/>
                </a:solidFill>
                <a:latin typeface="Courier New" pitchFamily="34" charset="0"/>
                <a:ea typeface="Courier New" pitchFamily="34" charset="-122"/>
                <a:cs typeface="Courier New" pitchFamily="34" charset="-120"/>
              </a:rPr>
              <a:t>0</a:t>
            </a:r>
            <a:endParaRPr lang="en-US" sz="1300" dirty="0"/>
          </a:p>
        </p:txBody>
      </p:sp>
      <p:sp>
        <p:nvSpPr>
          <p:cNvPr id="29" name="tile-307"/>
          <p:cNvSpPr/>
          <p:nvPr/>
        </p:nvSpPr>
        <p:spPr>
          <a:xfrm>
            <a:off x="4796028" y="1984248"/>
            <a:ext cx="329184" cy="329184"/>
          </a:xfrm>
          <a:prstGeom prst="roundRect">
            <a:avLst>
              <a:gd name="adj" fmla="val 13889"/>
            </a:avLst>
          </a:prstGeom>
          <a:solidFill>
            <a:schemeClr val="accent4"/>
          </a:solidFill>
          <a:ln w="12700">
            <a:solidFill>
              <a:schemeClr val="accent4"/>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30" name="tile-308"/>
          <p:cNvSpPr/>
          <p:nvPr/>
        </p:nvSpPr>
        <p:spPr>
          <a:xfrm>
            <a:off x="5180076" y="1984248"/>
            <a:ext cx="329184" cy="329184"/>
          </a:xfrm>
          <a:prstGeom prst="roundRect">
            <a:avLst>
              <a:gd name="adj" fmla="val 13889"/>
            </a:avLst>
          </a:prstGeom>
          <a:solidFill>
            <a:schemeClr val="accent3"/>
          </a:solidFill>
          <a:ln w="12700">
            <a:solidFill>
              <a:schemeClr val="accent3"/>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31" name="text-309"/>
          <p:cNvSpPr txBox="1"/>
          <p:nvPr/>
        </p:nvSpPr>
        <p:spPr>
          <a:xfrm>
            <a:off x="3456432" y="2450592"/>
            <a:ext cx="2240280" cy="457200"/>
          </a:xfrm>
          <a:prstGeom prst="rect">
            <a:avLst/>
          </a:prstGeom>
          <a:noFill/>
          <a:ln/>
        </p:spPr>
        <p:txBody>
          <a:bodyPr wrap="square" lIns="0" tIns="0" rIns="0" bIns="0" rtlCol="0" anchor="t"/>
          <a:lstStyle/>
          <a:p>
            <a:pPr marL="0" indent="0">
              <a:buNone/>
            </a:pPr>
            <a:r>
              <a:rPr lang="en-US" sz="1200" dirty="0">
                <a:solidFill>
                  <a:schemeClr val="tx1"/>
                </a:solidFill>
              </a:rPr>
              <a:t>0 matches, then 1 fails; S[0] = 2</a:t>
            </a:r>
            <a:endParaRPr lang="en-US" sz="1200" dirty="0"/>
          </a:p>
        </p:txBody>
      </p:sp>
      <p:sp>
        <p:nvSpPr>
          <p:cNvPr id="32" name="text-310"/>
          <p:cNvSpPr txBox="1"/>
          <p:nvPr/>
        </p:nvSpPr>
        <p:spPr>
          <a:xfrm>
            <a:off x="3456432" y="2926080"/>
            <a:ext cx="2240280" cy="457200"/>
          </a:xfrm>
          <a:prstGeom prst="rect">
            <a:avLst/>
          </a:prstGeom>
          <a:noFill/>
          <a:ln/>
        </p:spPr>
        <p:txBody>
          <a:bodyPr wrap="square" lIns="0" tIns="0" rIns="0" bIns="0" rtlCol="0" anchor="t"/>
          <a:lstStyle/>
          <a:p>
            <a:pPr marL="0" indent="0">
              <a:buNone/>
            </a:pPr>
            <a:r>
              <a:rPr lang="en-US" sz="1200" dirty="0">
                <a:solidFill>
                  <a:schemeClr val="accent5"/>
                </a:solidFill>
              </a:rPr>
              <a:t>2 comp × 499,998 alignments</a:t>
            </a:r>
            <a:endParaRPr lang="en-US" sz="1200" dirty="0"/>
          </a:p>
        </p:txBody>
      </p:sp>
      <p:sp>
        <p:nvSpPr>
          <p:cNvPr id="33" name="text-311"/>
          <p:cNvSpPr txBox="1"/>
          <p:nvPr/>
        </p:nvSpPr>
        <p:spPr>
          <a:xfrm>
            <a:off x="3456432" y="3474720"/>
            <a:ext cx="2240280" cy="502920"/>
          </a:xfrm>
          <a:prstGeom prst="rect">
            <a:avLst/>
          </a:prstGeom>
          <a:noFill/>
          <a:ln/>
        </p:spPr>
        <p:txBody>
          <a:bodyPr wrap="square" lIns="0" tIns="0" rIns="0" bIns="0" rtlCol="0" anchor="t"/>
          <a:lstStyle/>
          <a:p>
            <a:pPr marL="0" indent="0">
              <a:buNone/>
            </a:pPr>
            <a:r>
              <a:rPr lang="en-US" sz="3000" b="1" dirty="0">
                <a:solidFill>
                  <a:schemeClr val="tx2"/>
                </a:solidFill>
              </a:rPr>
              <a:t>999,996</a:t>
            </a:r>
            <a:endParaRPr lang="en-US" sz="3000" dirty="0"/>
          </a:p>
        </p:txBody>
      </p:sp>
      <p:sp>
        <p:nvSpPr>
          <p:cNvPr id="34" name="text-312"/>
          <p:cNvSpPr txBox="1"/>
          <p:nvPr/>
        </p:nvSpPr>
        <p:spPr>
          <a:xfrm>
            <a:off x="3456432" y="4005072"/>
            <a:ext cx="2240280" cy="274320"/>
          </a:xfrm>
          <a:prstGeom prst="rect">
            <a:avLst/>
          </a:prstGeom>
          <a:noFill/>
          <a:ln/>
        </p:spPr>
        <p:txBody>
          <a:bodyPr wrap="square" lIns="0" tIns="0" rIns="0" bIns="0" rtlCol="0" anchor="t"/>
          <a:lstStyle/>
          <a:p>
            <a:pPr marL="0" indent="0">
              <a:buNone/>
            </a:pPr>
            <a:r>
              <a:rPr lang="en-US" sz="1200" dirty="0">
                <a:solidFill>
                  <a:schemeClr val="accent5"/>
                </a:solidFill>
              </a:rPr>
              <a:t>comparisons</a:t>
            </a:r>
            <a:endParaRPr lang="en-US" sz="1200" dirty="0"/>
          </a:p>
        </p:txBody>
      </p:sp>
      <p:sp>
        <p:nvSpPr>
          <p:cNvPr id="35" name="card-313"/>
          <p:cNvSpPr/>
          <p:nvPr/>
        </p:nvSpPr>
        <p:spPr>
          <a:xfrm>
            <a:off x="6089904" y="1051560"/>
            <a:ext cx="2606040" cy="3474720"/>
          </a:xfrm>
          <a:prstGeom prst="roundRect">
            <a:avLst>
              <a:gd name="adj" fmla="val 2807"/>
            </a:avLst>
          </a:prstGeom>
          <a:solidFill>
            <a:schemeClr val="bg2"/>
          </a:solidFill>
          <a:ln w="12700">
            <a:solidFill>
              <a:schemeClr val="bg2"/>
            </a:solidFill>
            <a:prstDash val="solid"/>
          </a:ln>
        </p:spPr>
        <p:txBody>
          <a:bodyPr/>
          <a:lstStyle/>
          <a:p>
            <a:endParaRPr lang="en-US"/>
          </a:p>
        </p:txBody>
      </p:sp>
      <p:sp>
        <p:nvSpPr>
          <p:cNvPr id="36" name="text-314"/>
          <p:cNvSpPr txBox="1"/>
          <p:nvPr/>
        </p:nvSpPr>
        <p:spPr>
          <a:xfrm>
            <a:off x="6272784" y="1170432"/>
            <a:ext cx="2240280" cy="292608"/>
          </a:xfrm>
          <a:prstGeom prst="rect">
            <a:avLst/>
          </a:prstGeom>
          <a:noFill/>
          <a:ln/>
        </p:spPr>
        <p:txBody>
          <a:bodyPr wrap="square" lIns="0" tIns="0" rIns="0" bIns="0" rtlCol="0" anchor="t"/>
          <a:lstStyle/>
          <a:p>
            <a:pPr marL="0" indent="0">
              <a:buNone/>
            </a:pPr>
            <a:r>
              <a:rPr lang="en-US" sz="1500" b="1" dirty="0">
                <a:solidFill>
                  <a:schemeClr val="tx2"/>
                </a:solidFill>
              </a:rPr>
              <a:t>(c)  P = 01111</a:t>
            </a:r>
            <a:endParaRPr lang="en-US" sz="1500" dirty="0"/>
          </a:p>
        </p:txBody>
      </p:sp>
      <p:sp>
        <p:nvSpPr>
          <p:cNvPr id="37" name="tile-315"/>
          <p:cNvSpPr/>
          <p:nvPr/>
        </p:nvSpPr>
        <p:spPr>
          <a:xfrm>
            <a:off x="6460236" y="160020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38" name="tile-316"/>
          <p:cNvSpPr/>
          <p:nvPr/>
        </p:nvSpPr>
        <p:spPr>
          <a:xfrm>
            <a:off x="6844284" y="160020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39" name="tile-317"/>
          <p:cNvSpPr/>
          <p:nvPr/>
        </p:nvSpPr>
        <p:spPr>
          <a:xfrm>
            <a:off x="7228332" y="160020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40" name="tile-318"/>
          <p:cNvSpPr/>
          <p:nvPr/>
        </p:nvSpPr>
        <p:spPr>
          <a:xfrm>
            <a:off x="7612380" y="160020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41" name="tile-319"/>
          <p:cNvSpPr/>
          <p:nvPr/>
        </p:nvSpPr>
        <p:spPr>
          <a:xfrm>
            <a:off x="7996428" y="160020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42" name="tile-320"/>
          <p:cNvSpPr/>
          <p:nvPr/>
        </p:nvSpPr>
        <p:spPr>
          <a:xfrm>
            <a:off x="6460236" y="1984248"/>
            <a:ext cx="329184" cy="329184"/>
          </a:xfrm>
          <a:prstGeom prst="roundRect">
            <a:avLst>
              <a:gd name="adj" fmla="val 13889"/>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accent5"/>
                </a:solidFill>
                <a:latin typeface="Courier New" pitchFamily="34" charset="0"/>
                <a:ea typeface="Courier New" pitchFamily="34" charset="-122"/>
                <a:cs typeface="Courier New" pitchFamily="34" charset="-120"/>
              </a:rPr>
              <a:t>0</a:t>
            </a:r>
            <a:endParaRPr lang="en-US" sz="1300" dirty="0"/>
          </a:p>
        </p:txBody>
      </p:sp>
      <p:sp>
        <p:nvSpPr>
          <p:cNvPr id="43" name="tile-321"/>
          <p:cNvSpPr/>
          <p:nvPr/>
        </p:nvSpPr>
        <p:spPr>
          <a:xfrm>
            <a:off x="6844284" y="1984248"/>
            <a:ext cx="329184" cy="329184"/>
          </a:xfrm>
          <a:prstGeom prst="roundRect">
            <a:avLst>
              <a:gd name="adj" fmla="val 13889"/>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accent5"/>
                </a:solidFill>
                <a:latin typeface="Courier New" pitchFamily="34" charset="0"/>
                <a:ea typeface="Courier New" pitchFamily="34" charset="-122"/>
                <a:cs typeface="Courier New" pitchFamily="34" charset="-120"/>
              </a:rPr>
              <a:t>1</a:t>
            </a:r>
            <a:endParaRPr lang="en-US" sz="1300" dirty="0"/>
          </a:p>
        </p:txBody>
      </p:sp>
      <p:sp>
        <p:nvSpPr>
          <p:cNvPr id="44" name="tile-322"/>
          <p:cNvSpPr/>
          <p:nvPr/>
        </p:nvSpPr>
        <p:spPr>
          <a:xfrm>
            <a:off x="7228332" y="1984248"/>
            <a:ext cx="329184" cy="329184"/>
          </a:xfrm>
          <a:prstGeom prst="roundRect">
            <a:avLst>
              <a:gd name="adj" fmla="val 13889"/>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accent5"/>
                </a:solidFill>
                <a:latin typeface="Courier New" pitchFamily="34" charset="0"/>
                <a:ea typeface="Courier New" pitchFamily="34" charset="-122"/>
                <a:cs typeface="Courier New" pitchFamily="34" charset="-120"/>
              </a:rPr>
              <a:t>1</a:t>
            </a:r>
            <a:endParaRPr lang="en-US" sz="1300" dirty="0"/>
          </a:p>
        </p:txBody>
      </p:sp>
      <p:sp>
        <p:nvSpPr>
          <p:cNvPr id="45" name="tile-323"/>
          <p:cNvSpPr/>
          <p:nvPr/>
        </p:nvSpPr>
        <p:spPr>
          <a:xfrm>
            <a:off x="7612380" y="1984248"/>
            <a:ext cx="329184" cy="329184"/>
          </a:xfrm>
          <a:prstGeom prst="roundRect">
            <a:avLst>
              <a:gd name="adj" fmla="val 13889"/>
            </a:avLst>
          </a:prstGeom>
          <a:solidFill>
            <a:schemeClr val="bg1"/>
          </a:solidFill>
          <a:ln w="12700">
            <a:solidFill>
              <a:schemeClr val="accent6"/>
            </a:solidFill>
          </a:ln>
        </p:spPr>
        <p:txBody>
          <a:bodyPr wrap="square" lIns="0" tIns="0" rIns="0" bIns="0" rtlCol="0" anchor="ctr"/>
          <a:lstStyle/>
          <a:p>
            <a:pPr marL="0" indent="0" algn="ctr">
              <a:buNone/>
            </a:pPr>
            <a:r>
              <a:rPr lang="en-US" sz="1300" b="1" dirty="0">
                <a:solidFill>
                  <a:schemeClr val="accent5"/>
                </a:solidFill>
                <a:latin typeface="Courier New" pitchFamily="34" charset="0"/>
                <a:ea typeface="Courier New" pitchFamily="34" charset="-122"/>
                <a:cs typeface="Courier New" pitchFamily="34" charset="-120"/>
              </a:rPr>
              <a:t>1</a:t>
            </a:r>
            <a:endParaRPr lang="en-US" sz="1300" dirty="0"/>
          </a:p>
        </p:txBody>
      </p:sp>
      <p:sp>
        <p:nvSpPr>
          <p:cNvPr id="46" name="tile-324"/>
          <p:cNvSpPr/>
          <p:nvPr/>
        </p:nvSpPr>
        <p:spPr>
          <a:xfrm>
            <a:off x="7996428" y="1984248"/>
            <a:ext cx="329184" cy="329184"/>
          </a:xfrm>
          <a:prstGeom prst="roundRect">
            <a:avLst>
              <a:gd name="adj" fmla="val 13889"/>
            </a:avLst>
          </a:prstGeom>
          <a:solidFill>
            <a:schemeClr val="accent4"/>
          </a:solidFill>
          <a:ln w="12700">
            <a:solidFill>
              <a:schemeClr val="accent4"/>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47" name="text-325"/>
          <p:cNvSpPr txBox="1"/>
          <p:nvPr/>
        </p:nvSpPr>
        <p:spPr>
          <a:xfrm>
            <a:off x="6272784" y="2450592"/>
            <a:ext cx="2240280" cy="457200"/>
          </a:xfrm>
          <a:prstGeom prst="rect">
            <a:avLst/>
          </a:prstGeom>
          <a:noFill/>
          <a:ln/>
        </p:spPr>
        <p:txBody>
          <a:bodyPr wrap="square" lIns="0" tIns="0" rIns="0" bIns="0" rtlCol="0" anchor="t"/>
          <a:lstStyle/>
          <a:p>
            <a:pPr marL="0" indent="0">
              <a:buNone/>
            </a:pPr>
            <a:r>
              <a:rPr lang="en-US" sz="1200" dirty="0">
                <a:solidFill>
                  <a:schemeClr val="tx1"/>
                </a:solidFill>
              </a:rPr>
              <a:t>last char 1 fails at once; S[0] = 4</a:t>
            </a:r>
            <a:endParaRPr lang="en-US" sz="1200" dirty="0"/>
          </a:p>
        </p:txBody>
      </p:sp>
      <p:sp>
        <p:nvSpPr>
          <p:cNvPr id="48" name="text-326"/>
          <p:cNvSpPr txBox="1"/>
          <p:nvPr/>
        </p:nvSpPr>
        <p:spPr>
          <a:xfrm>
            <a:off x="6272784" y="2926080"/>
            <a:ext cx="2240280" cy="457200"/>
          </a:xfrm>
          <a:prstGeom prst="rect">
            <a:avLst/>
          </a:prstGeom>
          <a:noFill/>
          <a:ln/>
        </p:spPr>
        <p:txBody>
          <a:bodyPr wrap="square" lIns="0" tIns="0" rIns="0" bIns="0" rtlCol="0" anchor="t"/>
          <a:lstStyle/>
          <a:p>
            <a:pPr marL="0" indent="0">
              <a:buNone/>
            </a:pPr>
            <a:r>
              <a:rPr lang="en-US" sz="1200" dirty="0">
                <a:solidFill>
                  <a:schemeClr val="accent5"/>
                </a:solidFill>
              </a:rPr>
              <a:t>1 comp × 249,999 alignments</a:t>
            </a:r>
            <a:endParaRPr lang="en-US" sz="1200" dirty="0"/>
          </a:p>
        </p:txBody>
      </p:sp>
      <p:sp>
        <p:nvSpPr>
          <p:cNvPr id="49" name="text-327"/>
          <p:cNvSpPr txBox="1"/>
          <p:nvPr/>
        </p:nvSpPr>
        <p:spPr>
          <a:xfrm>
            <a:off x="6272784" y="3474720"/>
            <a:ext cx="2240280" cy="502920"/>
          </a:xfrm>
          <a:prstGeom prst="rect">
            <a:avLst/>
          </a:prstGeom>
          <a:noFill/>
          <a:ln/>
        </p:spPr>
        <p:txBody>
          <a:bodyPr wrap="square" lIns="0" tIns="0" rIns="0" bIns="0" rtlCol="0" anchor="t"/>
          <a:lstStyle/>
          <a:p>
            <a:pPr marL="0" indent="0">
              <a:buNone/>
            </a:pPr>
            <a:r>
              <a:rPr lang="en-US" sz="3000" b="1" dirty="0">
                <a:solidFill>
                  <a:schemeClr val="tx2"/>
                </a:solidFill>
              </a:rPr>
              <a:t>249,999</a:t>
            </a:r>
            <a:endParaRPr lang="en-US" sz="3000" dirty="0"/>
          </a:p>
        </p:txBody>
      </p:sp>
      <p:sp>
        <p:nvSpPr>
          <p:cNvPr id="50" name="text-328"/>
          <p:cNvSpPr txBox="1"/>
          <p:nvPr/>
        </p:nvSpPr>
        <p:spPr>
          <a:xfrm>
            <a:off x="6272784" y="4005072"/>
            <a:ext cx="2240280" cy="274320"/>
          </a:xfrm>
          <a:prstGeom prst="rect">
            <a:avLst/>
          </a:prstGeom>
          <a:noFill/>
          <a:ln/>
        </p:spPr>
        <p:txBody>
          <a:bodyPr wrap="square" lIns="0" tIns="0" rIns="0" bIns="0" rtlCol="0" anchor="t"/>
          <a:lstStyle/>
          <a:p>
            <a:pPr marL="0" indent="0">
              <a:buNone/>
            </a:pPr>
            <a:r>
              <a:rPr lang="en-US" sz="1200" dirty="0">
                <a:solidFill>
                  <a:schemeClr val="accent5"/>
                </a:solidFill>
              </a:rPr>
              <a:t>comparisons</a:t>
            </a:r>
            <a:endParaRPr lang="en-US" sz="1200" dirty="0"/>
          </a:p>
        </p:txBody>
      </p:sp>
      <p:sp>
        <p:nvSpPr>
          <p:cNvPr id="51"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Q70 · Building a worst case</a:t>
            </a:r>
            <a:endParaRPr lang="en-US" sz="3000" dirty="0"/>
          </a:p>
        </p:txBody>
      </p:sp>
      <p:sp>
        <p:nvSpPr>
          <p:cNvPr id="3" name="text-329"/>
          <p:cNvSpPr txBox="1"/>
          <p:nvPr/>
        </p:nvSpPr>
        <p:spPr>
          <a:xfrm>
            <a:off x="457200" y="1005840"/>
            <a:ext cx="8229600" cy="292608"/>
          </a:xfrm>
          <a:prstGeom prst="rect">
            <a:avLst/>
          </a:prstGeom>
          <a:noFill/>
          <a:ln/>
        </p:spPr>
        <p:txBody>
          <a:bodyPr wrap="square" lIns="0" tIns="0" rIns="0" bIns="0" rtlCol="0" anchor="t"/>
          <a:lstStyle/>
          <a:p>
            <a:pPr marL="0" indent="0">
              <a:buNone/>
            </a:pPr>
            <a:r>
              <a:rPr lang="en-US" sz="1400" dirty="0">
                <a:solidFill>
                  <a:schemeClr val="tx1"/>
                </a:solidFill>
              </a:rPr>
              <a:t>Text = n zeros.  Pattern = 1 followed by m − 1 zeros.  (n = 10, m = 5 shown)</a:t>
            </a:r>
            <a:endParaRPr lang="en-US" sz="1400" dirty="0"/>
          </a:p>
        </p:txBody>
      </p:sp>
      <p:sp>
        <p:nvSpPr>
          <p:cNvPr id="4" name="text-330"/>
          <p:cNvSpPr txBox="1"/>
          <p:nvPr/>
        </p:nvSpPr>
        <p:spPr>
          <a:xfrm>
            <a:off x="1051560" y="1463040"/>
            <a:ext cx="329184" cy="164592"/>
          </a:xfrm>
          <a:prstGeom prst="rect">
            <a:avLst/>
          </a:prstGeom>
          <a:noFill/>
          <a:ln/>
        </p:spPr>
        <p:txBody>
          <a:bodyPr wrap="square" lIns="0" tIns="0" rIns="0" bIns="0" rtlCol="0" anchor="t"/>
          <a:lstStyle/>
          <a:p>
            <a:pPr marL="0" indent="0" algn="ctr">
              <a:buNone/>
            </a:pPr>
            <a:r>
              <a:rPr lang="en-US" sz="900" dirty="0">
                <a:solidFill>
                  <a:schemeClr val="accent5"/>
                </a:solidFill>
              </a:rPr>
              <a:t>0</a:t>
            </a:r>
            <a:endParaRPr lang="en-US" sz="900" dirty="0"/>
          </a:p>
        </p:txBody>
      </p:sp>
      <p:sp>
        <p:nvSpPr>
          <p:cNvPr id="5" name="tile-331"/>
          <p:cNvSpPr/>
          <p:nvPr/>
        </p:nvSpPr>
        <p:spPr>
          <a:xfrm>
            <a:off x="1051560" y="164592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6" name="text-332"/>
          <p:cNvSpPr txBox="1"/>
          <p:nvPr/>
        </p:nvSpPr>
        <p:spPr>
          <a:xfrm>
            <a:off x="1435608" y="1463040"/>
            <a:ext cx="329184" cy="164592"/>
          </a:xfrm>
          <a:prstGeom prst="rect">
            <a:avLst/>
          </a:prstGeom>
          <a:noFill/>
          <a:ln/>
        </p:spPr>
        <p:txBody>
          <a:bodyPr wrap="square" lIns="0" tIns="0" rIns="0" bIns="0" rtlCol="0" anchor="t"/>
          <a:lstStyle/>
          <a:p>
            <a:pPr marL="0" indent="0" algn="ctr">
              <a:buNone/>
            </a:pPr>
            <a:r>
              <a:rPr lang="en-US" sz="900" dirty="0">
                <a:solidFill>
                  <a:schemeClr val="accent5"/>
                </a:solidFill>
              </a:rPr>
              <a:t>1</a:t>
            </a:r>
            <a:endParaRPr lang="en-US" sz="900" dirty="0"/>
          </a:p>
        </p:txBody>
      </p:sp>
      <p:sp>
        <p:nvSpPr>
          <p:cNvPr id="7" name="tile-333"/>
          <p:cNvSpPr/>
          <p:nvPr/>
        </p:nvSpPr>
        <p:spPr>
          <a:xfrm>
            <a:off x="1435608" y="164592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8" name="text-334"/>
          <p:cNvSpPr txBox="1"/>
          <p:nvPr/>
        </p:nvSpPr>
        <p:spPr>
          <a:xfrm>
            <a:off x="1819656" y="1463040"/>
            <a:ext cx="329184" cy="164592"/>
          </a:xfrm>
          <a:prstGeom prst="rect">
            <a:avLst/>
          </a:prstGeom>
          <a:noFill/>
          <a:ln/>
        </p:spPr>
        <p:txBody>
          <a:bodyPr wrap="square" lIns="0" tIns="0" rIns="0" bIns="0" rtlCol="0" anchor="t"/>
          <a:lstStyle/>
          <a:p>
            <a:pPr marL="0" indent="0" algn="ctr">
              <a:buNone/>
            </a:pPr>
            <a:r>
              <a:rPr lang="en-US" sz="900" dirty="0">
                <a:solidFill>
                  <a:schemeClr val="accent5"/>
                </a:solidFill>
              </a:rPr>
              <a:t>2</a:t>
            </a:r>
            <a:endParaRPr lang="en-US" sz="900" dirty="0"/>
          </a:p>
        </p:txBody>
      </p:sp>
      <p:sp>
        <p:nvSpPr>
          <p:cNvPr id="9" name="tile-335"/>
          <p:cNvSpPr/>
          <p:nvPr/>
        </p:nvSpPr>
        <p:spPr>
          <a:xfrm>
            <a:off x="1819656" y="164592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10" name="text-336"/>
          <p:cNvSpPr txBox="1"/>
          <p:nvPr/>
        </p:nvSpPr>
        <p:spPr>
          <a:xfrm>
            <a:off x="2203704" y="1463040"/>
            <a:ext cx="329184" cy="164592"/>
          </a:xfrm>
          <a:prstGeom prst="rect">
            <a:avLst/>
          </a:prstGeom>
          <a:noFill/>
          <a:ln/>
        </p:spPr>
        <p:txBody>
          <a:bodyPr wrap="square" lIns="0" tIns="0" rIns="0" bIns="0" rtlCol="0" anchor="t"/>
          <a:lstStyle/>
          <a:p>
            <a:pPr marL="0" indent="0" algn="ctr">
              <a:buNone/>
            </a:pPr>
            <a:r>
              <a:rPr lang="en-US" sz="900" dirty="0">
                <a:solidFill>
                  <a:schemeClr val="accent5"/>
                </a:solidFill>
              </a:rPr>
              <a:t>3</a:t>
            </a:r>
            <a:endParaRPr lang="en-US" sz="900" dirty="0"/>
          </a:p>
        </p:txBody>
      </p:sp>
      <p:sp>
        <p:nvSpPr>
          <p:cNvPr id="11" name="tile-337"/>
          <p:cNvSpPr/>
          <p:nvPr/>
        </p:nvSpPr>
        <p:spPr>
          <a:xfrm>
            <a:off x="2203704" y="164592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12" name="text-338"/>
          <p:cNvSpPr txBox="1"/>
          <p:nvPr/>
        </p:nvSpPr>
        <p:spPr>
          <a:xfrm>
            <a:off x="2587752" y="1463040"/>
            <a:ext cx="329184" cy="164592"/>
          </a:xfrm>
          <a:prstGeom prst="rect">
            <a:avLst/>
          </a:prstGeom>
          <a:noFill/>
          <a:ln/>
        </p:spPr>
        <p:txBody>
          <a:bodyPr wrap="square" lIns="0" tIns="0" rIns="0" bIns="0" rtlCol="0" anchor="t"/>
          <a:lstStyle/>
          <a:p>
            <a:pPr marL="0" indent="0" algn="ctr">
              <a:buNone/>
            </a:pPr>
            <a:r>
              <a:rPr lang="en-US" sz="900" dirty="0">
                <a:solidFill>
                  <a:schemeClr val="accent5"/>
                </a:solidFill>
              </a:rPr>
              <a:t>4</a:t>
            </a:r>
            <a:endParaRPr lang="en-US" sz="900" dirty="0"/>
          </a:p>
        </p:txBody>
      </p:sp>
      <p:sp>
        <p:nvSpPr>
          <p:cNvPr id="13" name="tile-339"/>
          <p:cNvSpPr/>
          <p:nvPr/>
        </p:nvSpPr>
        <p:spPr>
          <a:xfrm>
            <a:off x="2587752" y="164592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14" name="text-340"/>
          <p:cNvSpPr txBox="1"/>
          <p:nvPr/>
        </p:nvSpPr>
        <p:spPr>
          <a:xfrm>
            <a:off x="2971800" y="1463040"/>
            <a:ext cx="329184" cy="164592"/>
          </a:xfrm>
          <a:prstGeom prst="rect">
            <a:avLst/>
          </a:prstGeom>
          <a:noFill/>
          <a:ln/>
        </p:spPr>
        <p:txBody>
          <a:bodyPr wrap="square" lIns="0" tIns="0" rIns="0" bIns="0" rtlCol="0" anchor="t"/>
          <a:lstStyle/>
          <a:p>
            <a:pPr marL="0" indent="0" algn="ctr">
              <a:buNone/>
            </a:pPr>
            <a:r>
              <a:rPr lang="en-US" sz="900" dirty="0">
                <a:solidFill>
                  <a:schemeClr val="accent5"/>
                </a:solidFill>
              </a:rPr>
              <a:t>5</a:t>
            </a:r>
            <a:endParaRPr lang="en-US" sz="900" dirty="0"/>
          </a:p>
        </p:txBody>
      </p:sp>
      <p:sp>
        <p:nvSpPr>
          <p:cNvPr id="15" name="tile-341"/>
          <p:cNvSpPr/>
          <p:nvPr/>
        </p:nvSpPr>
        <p:spPr>
          <a:xfrm>
            <a:off x="2971800" y="164592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16" name="text-342"/>
          <p:cNvSpPr txBox="1"/>
          <p:nvPr/>
        </p:nvSpPr>
        <p:spPr>
          <a:xfrm>
            <a:off x="3355848" y="1463040"/>
            <a:ext cx="329184" cy="164592"/>
          </a:xfrm>
          <a:prstGeom prst="rect">
            <a:avLst/>
          </a:prstGeom>
          <a:noFill/>
          <a:ln/>
        </p:spPr>
        <p:txBody>
          <a:bodyPr wrap="square" lIns="0" tIns="0" rIns="0" bIns="0" rtlCol="0" anchor="t"/>
          <a:lstStyle/>
          <a:p>
            <a:pPr marL="0" indent="0" algn="ctr">
              <a:buNone/>
            </a:pPr>
            <a:r>
              <a:rPr lang="en-US" sz="900" dirty="0">
                <a:solidFill>
                  <a:schemeClr val="accent5"/>
                </a:solidFill>
              </a:rPr>
              <a:t>6</a:t>
            </a:r>
            <a:endParaRPr lang="en-US" sz="900" dirty="0"/>
          </a:p>
        </p:txBody>
      </p:sp>
      <p:sp>
        <p:nvSpPr>
          <p:cNvPr id="17" name="tile-343"/>
          <p:cNvSpPr/>
          <p:nvPr/>
        </p:nvSpPr>
        <p:spPr>
          <a:xfrm>
            <a:off x="3355848" y="164592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18" name="text-344"/>
          <p:cNvSpPr txBox="1"/>
          <p:nvPr/>
        </p:nvSpPr>
        <p:spPr>
          <a:xfrm>
            <a:off x="3739896" y="1463040"/>
            <a:ext cx="329184" cy="164592"/>
          </a:xfrm>
          <a:prstGeom prst="rect">
            <a:avLst/>
          </a:prstGeom>
          <a:noFill/>
          <a:ln/>
        </p:spPr>
        <p:txBody>
          <a:bodyPr wrap="square" lIns="0" tIns="0" rIns="0" bIns="0" rtlCol="0" anchor="t"/>
          <a:lstStyle/>
          <a:p>
            <a:pPr marL="0" indent="0" algn="ctr">
              <a:buNone/>
            </a:pPr>
            <a:r>
              <a:rPr lang="en-US" sz="900" dirty="0">
                <a:solidFill>
                  <a:schemeClr val="accent5"/>
                </a:solidFill>
              </a:rPr>
              <a:t>7</a:t>
            </a:r>
            <a:endParaRPr lang="en-US" sz="900" dirty="0"/>
          </a:p>
        </p:txBody>
      </p:sp>
      <p:sp>
        <p:nvSpPr>
          <p:cNvPr id="19" name="tile-345"/>
          <p:cNvSpPr/>
          <p:nvPr/>
        </p:nvSpPr>
        <p:spPr>
          <a:xfrm>
            <a:off x="3739896" y="164592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20" name="text-346"/>
          <p:cNvSpPr txBox="1"/>
          <p:nvPr/>
        </p:nvSpPr>
        <p:spPr>
          <a:xfrm>
            <a:off x="4123944" y="1463040"/>
            <a:ext cx="329184" cy="164592"/>
          </a:xfrm>
          <a:prstGeom prst="rect">
            <a:avLst/>
          </a:prstGeom>
          <a:noFill/>
          <a:ln/>
        </p:spPr>
        <p:txBody>
          <a:bodyPr wrap="square" lIns="0" tIns="0" rIns="0" bIns="0" rtlCol="0" anchor="t"/>
          <a:lstStyle/>
          <a:p>
            <a:pPr marL="0" indent="0" algn="ctr">
              <a:buNone/>
            </a:pPr>
            <a:r>
              <a:rPr lang="en-US" sz="900" dirty="0">
                <a:solidFill>
                  <a:schemeClr val="accent5"/>
                </a:solidFill>
              </a:rPr>
              <a:t>8</a:t>
            </a:r>
            <a:endParaRPr lang="en-US" sz="900" dirty="0"/>
          </a:p>
        </p:txBody>
      </p:sp>
      <p:sp>
        <p:nvSpPr>
          <p:cNvPr id="21" name="tile-347"/>
          <p:cNvSpPr/>
          <p:nvPr/>
        </p:nvSpPr>
        <p:spPr>
          <a:xfrm>
            <a:off x="4123944" y="164592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22" name="text-348"/>
          <p:cNvSpPr txBox="1"/>
          <p:nvPr/>
        </p:nvSpPr>
        <p:spPr>
          <a:xfrm>
            <a:off x="4507992" y="1463040"/>
            <a:ext cx="329184" cy="164592"/>
          </a:xfrm>
          <a:prstGeom prst="rect">
            <a:avLst/>
          </a:prstGeom>
          <a:noFill/>
          <a:ln/>
        </p:spPr>
        <p:txBody>
          <a:bodyPr wrap="square" lIns="0" tIns="0" rIns="0" bIns="0" rtlCol="0" anchor="t"/>
          <a:lstStyle/>
          <a:p>
            <a:pPr marL="0" indent="0" algn="ctr">
              <a:buNone/>
            </a:pPr>
            <a:r>
              <a:rPr lang="en-US" sz="900" dirty="0">
                <a:solidFill>
                  <a:schemeClr val="accent5"/>
                </a:solidFill>
              </a:rPr>
              <a:t>9</a:t>
            </a:r>
            <a:endParaRPr lang="en-US" sz="900" dirty="0"/>
          </a:p>
        </p:txBody>
      </p:sp>
      <p:sp>
        <p:nvSpPr>
          <p:cNvPr id="23" name="tile-349"/>
          <p:cNvSpPr/>
          <p:nvPr/>
        </p:nvSpPr>
        <p:spPr>
          <a:xfrm>
            <a:off x="4507992" y="1645920"/>
            <a:ext cx="329184" cy="329184"/>
          </a:xfrm>
          <a:prstGeom prst="roundRect">
            <a:avLst>
              <a:gd name="adj" fmla="val 13889"/>
            </a:avLst>
          </a:prstGeom>
          <a:solidFill>
            <a:schemeClr val="tx2"/>
          </a:solidFill>
          <a:ln w="12700">
            <a:solidFill>
              <a:schemeClr val="tx2"/>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24" name="text-350"/>
          <p:cNvSpPr txBox="1"/>
          <p:nvPr/>
        </p:nvSpPr>
        <p:spPr>
          <a:xfrm>
            <a:off x="502920" y="2148840"/>
            <a:ext cx="457200" cy="329184"/>
          </a:xfrm>
          <a:prstGeom prst="rect">
            <a:avLst/>
          </a:prstGeom>
          <a:noFill/>
          <a:ln/>
        </p:spPr>
        <p:txBody>
          <a:bodyPr wrap="square" lIns="0" tIns="0" rIns="0" bIns="0" rtlCol="0" anchor="ctr"/>
          <a:lstStyle/>
          <a:p>
            <a:pPr marL="0" indent="0" algn="r">
              <a:buNone/>
            </a:pPr>
            <a:r>
              <a:rPr lang="en-US" sz="1100" dirty="0">
                <a:solidFill>
                  <a:schemeClr val="accent5"/>
                </a:solidFill>
              </a:rPr>
              <a:t>#1</a:t>
            </a:r>
            <a:endParaRPr lang="en-US" sz="1100" dirty="0"/>
          </a:p>
        </p:txBody>
      </p:sp>
      <p:sp>
        <p:nvSpPr>
          <p:cNvPr id="25" name="tile-351"/>
          <p:cNvSpPr/>
          <p:nvPr/>
        </p:nvSpPr>
        <p:spPr>
          <a:xfrm>
            <a:off x="1051560" y="2148840"/>
            <a:ext cx="329184" cy="329184"/>
          </a:xfrm>
          <a:prstGeom prst="roundRect">
            <a:avLst>
              <a:gd name="adj" fmla="val 13889"/>
            </a:avLst>
          </a:prstGeom>
          <a:solidFill>
            <a:schemeClr val="accent4"/>
          </a:solidFill>
          <a:ln w="12700">
            <a:solidFill>
              <a:schemeClr val="accent4"/>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26" name="tile-352"/>
          <p:cNvSpPr/>
          <p:nvPr/>
        </p:nvSpPr>
        <p:spPr>
          <a:xfrm>
            <a:off x="1435608" y="2148840"/>
            <a:ext cx="329184" cy="329184"/>
          </a:xfrm>
          <a:prstGeom prst="roundRect">
            <a:avLst>
              <a:gd name="adj" fmla="val 13889"/>
            </a:avLst>
          </a:prstGeom>
          <a:solidFill>
            <a:schemeClr val="accent3"/>
          </a:solidFill>
          <a:ln w="12700">
            <a:solidFill>
              <a:schemeClr val="accent3"/>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27" name="tile-353"/>
          <p:cNvSpPr/>
          <p:nvPr/>
        </p:nvSpPr>
        <p:spPr>
          <a:xfrm>
            <a:off x="1819656" y="2148840"/>
            <a:ext cx="329184" cy="329184"/>
          </a:xfrm>
          <a:prstGeom prst="roundRect">
            <a:avLst>
              <a:gd name="adj" fmla="val 13889"/>
            </a:avLst>
          </a:prstGeom>
          <a:solidFill>
            <a:schemeClr val="accent3"/>
          </a:solidFill>
          <a:ln w="12700">
            <a:solidFill>
              <a:schemeClr val="accent3"/>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28" name="tile-354"/>
          <p:cNvSpPr/>
          <p:nvPr/>
        </p:nvSpPr>
        <p:spPr>
          <a:xfrm>
            <a:off x="2203704" y="2148840"/>
            <a:ext cx="329184" cy="329184"/>
          </a:xfrm>
          <a:prstGeom prst="roundRect">
            <a:avLst>
              <a:gd name="adj" fmla="val 13889"/>
            </a:avLst>
          </a:prstGeom>
          <a:solidFill>
            <a:schemeClr val="accent3"/>
          </a:solidFill>
          <a:ln w="12700">
            <a:solidFill>
              <a:schemeClr val="accent3"/>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29" name="tile-355"/>
          <p:cNvSpPr/>
          <p:nvPr/>
        </p:nvSpPr>
        <p:spPr>
          <a:xfrm>
            <a:off x="2587752" y="2148840"/>
            <a:ext cx="329184" cy="329184"/>
          </a:xfrm>
          <a:prstGeom prst="roundRect">
            <a:avLst>
              <a:gd name="adj" fmla="val 13889"/>
            </a:avLst>
          </a:prstGeom>
          <a:solidFill>
            <a:schemeClr val="accent3"/>
          </a:solidFill>
          <a:ln w="12700">
            <a:solidFill>
              <a:schemeClr val="accent3"/>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30" name="text-356"/>
          <p:cNvSpPr txBox="1"/>
          <p:nvPr/>
        </p:nvSpPr>
        <p:spPr>
          <a:xfrm>
            <a:off x="502920" y="2569464"/>
            <a:ext cx="457200" cy="329184"/>
          </a:xfrm>
          <a:prstGeom prst="rect">
            <a:avLst/>
          </a:prstGeom>
          <a:noFill/>
          <a:ln/>
        </p:spPr>
        <p:txBody>
          <a:bodyPr wrap="square" lIns="0" tIns="0" rIns="0" bIns="0" rtlCol="0" anchor="ctr"/>
          <a:lstStyle/>
          <a:p>
            <a:pPr marL="0" indent="0" algn="r">
              <a:buNone/>
            </a:pPr>
            <a:r>
              <a:rPr lang="en-US" sz="1100" dirty="0">
                <a:solidFill>
                  <a:schemeClr val="accent5"/>
                </a:solidFill>
              </a:rPr>
              <a:t>#2</a:t>
            </a:r>
            <a:endParaRPr lang="en-US" sz="1100" dirty="0"/>
          </a:p>
        </p:txBody>
      </p:sp>
      <p:sp>
        <p:nvSpPr>
          <p:cNvPr id="31" name="tile-357"/>
          <p:cNvSpPr/>
          <p:nvPr/>
        </p:nvSpPr>
        <p:spPr>
          <a:xfrm>
            <a:off x="1435608" y="2569464"/>
            <a:ext cx="329184" cy="329184"/>
          </a:xfrm>
          <a:prstGeom prst="roundRect">
            <a:avLst>
              <a:gd name="adj" fmla="val 13889"/>
            </a:avLst>
          </a:prstGeom>
          <a:solidFill>
            <a:schemeClr val="accent4"/>
          </a:solidFill>
          <a:ln w="12700">
            <a:solidFill>
              <a:schemeClr val="accent4"/>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32" name="tile-358"/>
          <p:cNvSpPr/>
          <p:nvPr/>
        </p:nvSpPr>
        <p:spPr>
          <a:xfrm>
            <a:off x="1819656" y="2569464"/>
            <a:ext cx="329184" cy="329184"/>
          </a:xfrm>
          <a:prstGeom prst="roundRect">
            <a:avLst>
              <a:gd name="adj" fmla="val 13889"/>
            </a:avLst>
          </a:prstGeom>
          <a:solidFill>
            <a:schemeClr val="accent3"/>
          </a:solidFill>
          <a:ln w="12700">
            <a:solidFill>
              <a:schemeClr val="accent3"/>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33" name="tile-359"/>
          <p:cNvSpPr/>
          <p:nvPr/>
        </p:nvSpPr>
        <p:spPr>
          <a:xfrm>
            <a:off x="2203704" y="2569464"/>
            <a:ext cx="329184" cy="329184"/>
          </a:xfrm>
          <a:prstGeom prst="roundRect">
            <a:avLst>
              <a:gd name="adj" fmla="val 13889"/>
            </a:avLst>
          </a:prstGeom>
          <a:solidFill>
            <a:schemeClr val="accent3"/>
          </a:solidFill>
          <a:ln w="12700">
            <a:solidFill>
              <a:schemeClr val="accent3"/>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34" name="tile-360"/>
          <p:cNvSpPr/>
          <p:nvPr/>
        </p:nvSpPr>
        <p:spPr>
          <a:xfrm>
            <a:off x="2587752" y="2569464"/>
            <a:ext cx="329184" cy="329184"/>
          </a:xfrm>
          <a:prstGeom prst="roundRect">
            <a:avLst>
              <a:gd name="adj" fmla="val 13889"/>
            </a:avLst>
          </a:prstGeom>
          <a:solidFill>
            <a:schemeClr val="accent3"/>
          </a:solidFill>
          <a:ln w="12700">
            <a:solidFill>
              <a:schemeClr val="accent3"/>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35" name="tile-361"/>
          <p:cNvSpPr/>
          <p:nvPr/>
        </p:nvSpPr>
        <p:spPr>
          <a:xfrm>
            <a:off x="2971800" y="2569464"/>
            <a:ext cx="329184" cy="329184"/>
          </a:xfrm>
          <a:prstGeom prst="roundRect">
            <a:avLst>
              <a:gd name="adj" fmla="val 13889"/>
            </a:avLst>
          </a:prstGeom>
          <a:solidFill>
            <a:schemeClr val="accent3"/>
          </a:solidFill>
          <a:ln w="12700">
            <a:solidFill>
              <a:schemeClr val="accent3"/>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36" name="text-362"/>
          <p:cNvSpPr txBox="1"/>
          <p:nvPr/>
        </p:nvSpPr>
        <p:spPr>
          <a:xfrm>
            <a:off x="502920" y="2990088"/>
            <a:ext cx="457200" cy="329184"/>
          </a:xfrm>
          <a:prstGeom prst="rect">
            <a:avLst/>
          </a:prstGeom>
          <a:noFill/>
          <a:ln/>
        </p:spPr>
        <p:txBody>
          <a:bodyPr wrap="square" lIns="0" tIns="0" rIns="0" bIns="0" rtlCol="0" anchor="ctr"/>
          <a:lstStyle/>
          <a:p>
            <a:pPr marL="0" indent="0" algn="r">
              <a:buNone/>
            </a:pPr>
            <a:r>
              <a:rPr lang="en-US" sz="1100" dirty="0">
                <a:solidFill>
                  <a:schemeClr val="accent5"/>
                </a:solidFill>
              </a:rPr>
              <a:t>#3</a:t>
            </a:r>
            <a:endParaRPr lang="en-US" sz="1100" dirty="0"/>
          </a:p>
        </p:txBody>
      </p:sp>
      <p:sp>
        <p:nvSpPr>
          <p:cNvPr id="37" name="tile-363"/>
          <p:cNvSpPr/>
          <p:nvPr/>
        </p:nvSpPr>
        <p:spPr>
          <a:xfrm>
            <a:off x="1819656" y="2990088"/>
            <a:ext cx="329184" cy="329184"/>
          </a:xfrm>
          <a:prstGeom prst="roundRect">
            <a:avLst>
              <a:gd name="adj" fmla="val 13889"/>
            </a:avLst>
          </a:prstGeom>
          <a:solidFill>
            <a:schemeClr val="accent4"/>
          </a:solidFill>
          <a:ln w="12700">
            <a:solidFill>
              <a:schemeClr val="accent4"/>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1</a:t>
            </a:r>
            <a:endParaRPr lang="en-US" sz="1300" dirty="0"/>
          </a:p>
        </p:txBody>
      </p:sp>
      <p:sp>
        <p:nvSpPr>
          <p:cNvPr id="38" name="tile-364"/>
          <p:cNvSpPr/>
          <p:nvPr/>
        </p:nvSpPr>
        <p:spPr>
          <a:xfrm>
            <a:off x="2203704" y="2990088"/>
            <a:ext cx="329184" cy="329184"/>
          </a:xfrm>
          <a:prstGeom prst="roundRect">
            <a:avLst>
              <a:gd name="adj" fmla="val 13889"/>
            </a:avLst>
          </a:prstGeom>
          <a:solidFill>
            <a:schemeClr val="accent3"/>
          </a:solidFill>
          <a:ln w="12700">
            <a:solidFill>
              <a:schemeClr val="accent3"/>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39" name="tile-365"/>
          <p:cNvSpPr/>
          <p:nvPr/>
        </p:nvSpPr>
        <p:spPr>
          <a:xfrm>
            <a:off x="2587752" y="2990088"/>
            <a:ext cx="329184" cy="329184"/>
          </a:xfrm>
          <a:prstGeom prst="roundRect">
            <a:avLst>
              <a:gd name="adj" fmla="val 13889"/>
            </a:avLst>
          </a:prstGeom>
          <a:solidFill>
            <a:schemeClr val="accent3"/>
          </a:solidFill>
          <a:ln w="12700">
            <a:solidFill>
              <a:schemeClr val="accent3"/>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40" name="tile-366"/>
          <p:cNvSpPr/>
          <p:nvPr/>
        </p:nvSpPr>
        <p:spPr>
          <a:xfrm>
            <a:off x="2971800" y="2990088"/>
            <a:ext cx="329184" cy="329184"/>
          </a:xfrm>
          <a:prstGeom prst="roundRect">
            <a:avLst>
              <a:gd name="adj" fmla="val 13889"/>
            </a:avLst>
          </a:prstGeom>
          <a:solidFill>
            <a:schemeClr val="accent3"/>
          </a:solidFill>
          <a:ln w="12700">
            <a:solidFill>
              <a:schemeClr val="accent3"/>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41" name="tile-367"/>
          <p:cNvSpPr/>
          <p:nvPr/>
        </p:nvSpPr>
        <p:spPr>
          <a:xfrm>
            <a:off x="3355848" y="2990088"/>
            <a:ext cx="329184" cy="329184"/>
          </a:xfrm>
          <a:prstGeom prst="roundRect">
            <a:avLst>
              <a:gd name="adj" fmla="val 13889"/>
            </a:avLst>
          </a:prstGeom>
          <a:solidFill>
            <a:schemeClr val="accent3"/>
          </a:solidFill>
          <a:ln w="12700">
            <a:solidFill>
              <a:schemeClr val="accent3"/>
            </a:solid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0</a:t>
            </a:r>
            <a:endParaRPr lang="en-US" sz="1300" dirty="0"/>
          </a:p>
        </p:txBody>
      </p:sp>
      <p:sp>
        <p:nvSpPr>
          <p:cNvPr id="42" name="text-368"/>
          <p:cNvSpPr txBox="1"/>
          <p:nvPr/>
        </p:nvSpPr>
        <p:spPr>
          <a:xfrm>
            <a:off x="1051560" y="3410712"/>
            <a:ext cx="3657600" cy="274320"/>
          </a:xfrm>
          <a:prstGeom prst="rect">
            <a:avLst/>
          </a:prstGeom>
          <a:noFill/>
          <a:ln/>
        </p:spPr>
        <p:txBody>
          <a:bodyPr wrap="square" lIns="0" tIns="0" rIns="0" bIns="0" rtlCol="0" anchor="t"/>
          <a:lstStyle/>
          <a:p>
            <a:pPr marL="0" indent="0">
              <a:buNone/>
            </a:pPr>
            <a:r>
              <a:rPr lang="en-US" sz="1200" dirty="0">
                <a:solidFill>
                  <a:schemeClr val="accent5"/>
                </a:solidFill>
              </a:rPr>
              <a:t>…  6 alignments in total</a:t>
            </a:r>
            <a:endParaRPr lang="en-US" sz="1200" dirty="0"/>
          </a:p>
        </p:txBody>
      </p:sp>
      <p:sp>
        <p:nvSpPr>
          <p:cNvPr id="43" name="card-369"/>
          <p:cNvSpPr/>
          <p:nvPr/>
        </p:nvSpPr>
        <p:spPr>
          <a:xfrm>
            <a:off x="5440680" y="1463040"/>
            <a:ext cx="3246120" cy="658368"/>
          </a:xfrm>
          <a:prstGeom prst="roundRect">
            <a:avLst>
              <a:gd name="adj" fmla="val 11111"/>
            </a:avLst>
          </a:prstGeom>
          <a:solidFill>
            <a:schemeClr val="bg2"/>
          </a:solidFill>
          <a:ln w="12700">
            <a:solidFill>
              <a:schemeClr val="bg2"/>
            </a:solidFill>
            <a:prstDash val="solid"/>
          </a:ln>
        </p:spPr>
        <p:txBody>
          <a:bodyPr/>
          <a:lstStyle/>
          <a:p>
            <a:endParaRPr lang="en-US"/>
          </a:p>
        </p:txBody>
      </p:sp>
      <p:sp>
        <p:nvSpPr>
          <p:cNvPr id="44" name="text-370"/>
          <p:cNvSpPr txBox="1"/>
          <p:nvPr/>
        </p:nvSpPr>
        <p:spPr>
          <a:xfrm>
            <a:off x="5596128" y="1536192"/>
            <a:ext cx="2971800" cy="256032"/>
          </a:xfrm>
          <a:prstGeom prst="rect">
            <a:avLst/>
          </a:prstGeom>
          <a:noFill/>
          <a:ln/>
        </p:spPr>
        <p:txBody>
          <a:bodyPr wrap="square" lIns="0" tIns="0" rIns="0" bIns="0" rtlCol="0" anchor="t"/>
          <a:lstStyle/>
          <a:p>
            <a:pPr marL="0" indent="0">
              <a:buNone/>
            </a:pPr>
            <a:r>
              <a:rPr lang="en-US" sz="1400" b="1" dirty="0">
                <a:solidFill>
                  <a:schemeClr val="tx2"/>
                </a:solidFill>
              </a:rPr>
              <a:t>Each alignment costs m</a:t>
            </a:r>
            <a:endParaRPr lang="en-US" sz="1400" dirty="0"/>
          </a:p>
        </p:txBody>
      </p:sp>
      <p:sp>
        <p:nvSpPr>
          <p:cNvPr id="45" name="text-371"/>
          <p:cNvSpPr txBox="1"/>
          <p:nvPr/>
        </p:nvSpPr>
        <p:spPr>
          <a:xfrm>
            <a:off x="5596128" y="1810512"/>
            <a:ext cx="2971800" cy="256032"/>
          </a:xfrm>
          <a:prstGeom prst="rect">
            <a:avLst/>
          </a:prstGeom>
          <a:noFill/>
          <a:ln/>
        </p:spPr>
        <p:txBody>
          <a:bodyPr wrap="square" lIns="0" tIns="0" rIns="0" bIns="0" rtlCol="0" anchor="t"/>
          <a:lstStyle/>
          <a:p>
            <a:pPr marL="0" indent="0">
              <a:buNone/>
            </a:pPr>
            <a:r>
              <a:rPr lang="en-US" sz="1200" dirty="0">
                <a:solidFill>
                  <a:schemeClr val="tx1"/>
                </a:solidFill>
              </a:rPr>
              <a:t>m − 1 zeros match, then the 1 fails</a:t>
            </a:r>
            <a:endParaRPr lang="en-US" sz="1200" dirty="0"/>
          </a:p>
        </p:txBody>
      </p:sp>
      <p:sp>
        <p:nvSpPr>
          <p:cNvPr id="46" name="card-372"/>
          <p:cNvSpPr/>
          <p:nvPr/>
        </p:nvSpPr>
        <p:spPr>
          <a:xfrm>
            <a:off x="5440680" y="2240280"/>
            <a:ext cx="3246120" cy="658368"/>
          </a:xfrm>
          <a:prstGeom prst="roundRect">
            <a:avLst>
              <a:gd name="adj" fmla="val 11111"/>
            </a:avLst>
          </a:prstGeom>
          <a:solidFill>
            <a:schemeClr val="bg2"/>
          </a:solidFill>
          <a:ln w="12700">
            <a:solidFill>
              <a:schemeClr val="bg2"/>
            </a:solidFill>
            <a:prstDash val="solid"/>
          </a:ln>
        </p:spPr>
        <p:txBody>
          <a:bodyPr/>
          <a:lstStyle/>
          <a:p>
            <a:endParaRPr lang="en-US"/>
          </a:p>
        </p:txBody>
      </p:sp>
      <p:sp>
        <p:nvSpPr>
          <p:cNvPr id="47" name="text-373"/>
          <p:cNvSpPr txBox="1"/>
          <p:nvPr/>
        </p:nvSpPr>
        <p:spPr>
          <a:xfrm>
            <a:off x="5596128" y="2313432"/>
            <a:ext cx="2971800" cy="256032"/>
          </a:xfrm>
          <a:prstGeom prst="rect">
            <a:avLst/>
          </a:prstGeom>
          <a:noFill/>
          <a:ln/>
        </p:spPr>
        <p:txBody>
          <a:bodyPr wrap="square" lIns="0" tIns="0" rIns="0" bIns="0" rtlCol="0" anchor="t"/>
          <a:lstStyle/>
          <a:p>
            <a:pPr marL="0" indent="0">
              <a:buNone/>
            </a:pPr>
            <a:r>
              <a:rPr lang="en-US" sz="1400" b="1" dirty="0">
                <a:solidFill>
                  <a:schemeClr val="tx2"/>
                </a:solidFill>
              </a:rPr>
              <a:t>Each shift is 1</a:t>
            </a:r>
            <a:endParaRPr lang="en-US" sz="1400" dirty="0"/>
          </a:p>
        </p:txBody>
      </p:sp>
      <p:sp>
        <p:nvSpPr>
          <p:cNvPr id="48" name="text-374"/>
          <p:cNvSpPr txBox="1"/>
          <p:nvPr/>
        </p:nvSpPr>
        <p:spPr>
          <a:xfrm>
            <a:off x="5596128" y="2587752"/>
            <a:ext cx="2971800" cy="256032"/>
          </a:xfrm>
          <a:prstGeom prst="rect">
            <a:avLst/>
          </a:prstGeom>
          <a:noFill/>
          <a:ln/>
        </p:spPr>
        <p:txBody>
          <a:bodyPr wrap="square" lIns="0" tIns="0" rIns="0" bIns="0" rtlCol="0" anchor="t"/>
          <a:lstStyle/>
          <a:p>
            <a:pPr marL="0" indent="0">
              <a:buNone/>
            </a:pPr>
            <a:r>
              <a:rPr lang="en-US" sz="1200" dirty="0">
                <a:solidFill>
                  <a:schemeClr val="tx1"/>
                </a:solidFill>
              </a:rPr>
              <a:t>S[0] = 1, since P[m − 2] = 0</a:t>
            </a:r>
            <a:endParaRPr lang="en-US" sz="1200" dirty="0"/>
          </a:p>
        </p:txBody>
      </p:sp>
      <p:sp>
        <p:nvSpPr>
          <p:cNvPr id="49" name="card-375"/>
          <p:cNvSpPr/>
          <p:nvPr/>
        </p:nvSpPr>
        <p:spPr>
          <a:xfrm>
            <a:off x="5440680" y="3017520"/>
            <a:ext cx="3246120" cy="658368"/>
          </a:xfrm>
          <a:prstGeom prst="roundRect">
            <a:avLst>
              <a:gd name="adj" fmla="val 11111"/>
            </a:avLst>
          </a:prstGeom>
          <a:solidFill>
            <a:schemeClr val="bg2"/>
          </a:solidFill>
          <a:ln w="12700">
            <a:solidFill>
              <a:schemeClr val="bg2"/>
            </a:solidFill>
            <a:prstDash val="solid"/>
          </a:ln>
        </p:spPr>
        <p:txBody>
          <a:bodyPr/>
          <a:lstStyle/>
          <a:p>
            <a:endParaRPr lang="en-US"/>
          </a:p>
        </p:txBody>
      </p:sp>
      <p:sp>
        <p:nvSpPr>
          <p:cNvPr id="50" name="text-376"/>
          <p:cNvSpPr txBox="1"/>
          <p:nvPr/>
        </p:nvSpPr>
        <p:spPr>
          <a:xfrm>
            <a:off x="5596128" y="3090672"/>
            <a:ext cx="2971800" cy="256032"/>
          </a:xfrm>
          <a:prstGeom prst="rect">
            <a:avLst/>
          </a:prstGeom>
          <a:noFill/>
          <a:ln/>
        </p:spPr>
        <p:txBody>
          <a:bodyPr wrap="square" lIns="0" tIns="0" rIns="0" bIns="0" rtlCol="0" anchor="t"/>
          <a:lstStyle/>
          <a:p>
            <a:pPr marL="0" indent="0">
              <a:buNone/>
            </a:pPr>
            <a:r>
              <a:rPr lang="en-US" sz="1400" b="1" dirty="0">
                <a:solidFill>
                  <a:schemeClr val="tx2"/>
                </a:solidFill>
              </a:rPr>
              <a:t>n − m + 1 alignments</a:t>
            </a:r>
            <a:endParaRPr lang="en-US" sz="1400" dirty="0"/>
          </a:p>
        </p:txBody>
      </p:sp>
      <p:sp>
        <p:nvSpPr>
          <p:cNvPr id="51" name="text-377"/>
          <p:cNvSpPr txBox="1"/>
          <p:nvPr/>
        </p:nvSpPr>
        <p:spPr>
          <a:xfrm>
            <a:off x="5596128" y="3364992"/>
            <a:ext cx="2971800" cy="256032"/>
          </a:xfrm>
          <a:prstGeom prst="rect">
            <a:avLst/>
          </a:prstGeom>
          <a:noFill/>
          <a:ln/>
        </p:spPr>
        <p:txBody>
          <a:bodyPr wrap="square" lIns="0" tIns="0" rIns="0" bIns="0" rtlCol="0" anchor="t"/>
          <a:lstStyle/>
          <a:p>
            <a:pPr marL="0" indent="0">
              <a:buNone/>
            </a:pPr>
            <a:r>
              <a:rPr lang="en-US" sz="1200" dirty="0">
                <a:solidFill>
                  <a:schemeClr val="tx1"/>
                </a:solidFill>
              </a:rPr>
              <a:t>the pattern visits every position</a:t>
            </a:r>
            <a:endParaRPr lang="en-US" sz="1200" dirty="0"/>
          </a:p>
        </p:txBody>
      </p:sp>
      <p:sp>
        <p:nvSpPr>
          <p:cNvPr id="52" name="card-378"/>
          <p:cNvSpPr/>
          <p:nvPr/>
        </p:nvSpPr>
        <p:spPr>
          <a:xfrm>
            <a:off x="457200" y="3931920"/>
            <a:ext cx="8229600" cy="640080"/>
          </a:xfrm>
          <a:prstGeom prst="roundRect">
            <a:avLst>
              <a:gd name="adj" fmla="val 11429"/>
            </a:avLst>
          </a:prstGeom>
          <a:solidFill>
            <a:schemeClr val="tx2"/>
          </a:solidFill>
          <a:ln w="12700">
            <a:solidFill>
              <a:schemeClr val="tx2"/>
            </a:solidFill>
            <a:prstDash val="solid"/>
          </a:ln>
        </p:spPr>
        <p:txBody>
          <a:bodyPr/>
          <a:lstStyle/>
          <a:p>
            <a:endParaRPr lang="en-US"/>
          </a:p>
        </p:txBody>
      </p:sp>
      <p:sp>
        <p:nvSpPr>
          <p:cNvPr id="53" name="formula-379"/>
          <p:cNvSpPr txBox="1"/>
          <p:nvPr/>
        </p:nvSpPr>
        <p:spPr>
          <a:xfrm>
            <a:off x="685800" y="3931920"/>
            <a:ext cx="7772400" cy="640080"/>
          </a:xfrm>
          <a:prstGeom prst="rect">
            <a:avLst/>
          </a:prstGeom>
          <a:noFill/>
          <a:ln/>
        </p:spPr>
        <p:txBody>
          <a:bodyPr wrap="square" lIns="0" tIns="0" rIns="0" bIns="0" rtlCol="0" anchor="ctr"/>
          <a:lstStyle/>
          <a:p>
            <a:pPr marL="0" indent="0">
              <a:buNone/>
            </a:pPr>
            <a:r>
              <a:rPr lang="en-US" sz="1800" dirty="0">
                <a:solidFill>
                  <a:schemeClr val="accent6"/>
                </a:solidFill>
              </a:rPr>
              <a:t>Total comparisons = </a:t>
            </a:r>
            <a:r>
              <a:rPr lang="en-US" sz="1800" b="1" dirty="0">
                <a:solidFill>
                  <a:schemeClr val="bg1"/>
                </a:solidFill>
                <a:latin typeface="Courier New" pitchFamily="34" charset="0"/>
                <a:ea typeface="Courier New" pitchFamily="34" charset="-122"/>
                <a:cs typeface="Courier New" pitchFamily="34" charset="-120"/>
              </a:rPr>
              <a:t>m (n − m + 1)</a:t>
            </a:r>
            <a:r>
              <a:rPr lang="en-US" sz="1800" dirty="0">
                <a:solidFill>
                  <a:schemeClr val="accent6"/>
                </a:solidFill>
              </a:rPr>
              <a:t>   = Θ(mn) whenever m ≤ n/2</a:t>
            </a:r>
            <a:endParaRPr lang="en-US" sz="1800" dirty="0"/>
          </a:p>
        </p:txBody>
      </p:sp>
      <p:sp>
        <p:nvSpPr>
          <p:cNvPr id="54"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Q70 · Choosing m makes it quadratic</a:t>
            </a:r>
            <a:endParaRPr lang="en-US" sz="3000" dirty="0"/>
          </a:p>
        </p:txBody>
      </p:sp>
      <p:graphicFrame>
        <p:nvGraphicFramePr>
          <p:cNvPr id="3" name="Chart 0"/>
          <p:cNvGraphicFramePr/>
          <p:nvPr/>
        </p:nvGraphicFramePr>
        <p:xfrm>
          <a:off x="457200" y="1005840"/>
          <a:ext cx="475488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d-380"/>
          <p:cNvSpPr/>
          <p:nvPr/>
        </p:nvSpPr>
        <p:spPr>
          <a:xfrm>
            <a:off x="5486400" y="1005840"/>
            <a:ext cx="3200400" cy="3566160"/>
          </a:xfrm>
          <a:prstGeom prst="roundRect">
            <a:avLst>
              <a:gd name="adj" fmla="val 2286"/>
            </a:avLst>
          </a:prstGeom>
          <a:solidFill>
            <a:schemeClr val="bg2"/>
          </a:solidFill>
          <a:ln w="12700">
            <a:solidFill>
              <a:schemeClr val="bg2"/>
            </a:solidFill>
            <a:prstDash val="solid"/>
          </a:ln>
        </p:spPr>
        <p:txBody>
          <a:bodyPr/>
          <a:lstStyle/>
          <a:p>
            <a:endParaRPr lang="en-US"/>
          </a:p>
        </p:txBody>
      </p:sp>
      <p:sp>
        <p:nvSpPr>
          <p:cNvPr id="5" name="text-381"/>
          <p:cNvSpPr txBox="1"/>
          <p:nvPr/>
        </p:nvSpPr>
        <p:spPr>
          <a:xfrm>
            <a:off x="5669280" y="1143000"/>
            <a:ext cx="2834640" cy="320040"/>
          </a:xfrm>
          <a:prstGeom prst="rect">
            <a:avLst/>
          </a:prstGeom>
          <a:noFill/>
          <a:ln/>
        </p:spPr>
        <p:txBody>
          <a:bodyPr wrap="square" lIns="0" tIns="0" rIns="0" bIns="0" rtlCol="0" anchor="t"/>
          <a:lstStyle/>
          <a:p>
            <a:pPr marL="0" indent="0">
              <a:buNone/>
            </a:pPr>
            <a:r>
              <a:rPr lang="en-US" sz="1600" b="1" u="sng" dirty="0">
                <a:solidFill>
                  <a:schemeClr val="tx2"/>
                </a:solidFill>
                <a:latin typeface="Cambria" pitchFamily="34" charset="0"/>
                <a:ea typeface="Cambria" pitchFamily="34" charset="-122"/>
                <a:cs typeface="Cambria" pitchFamily="34" charset="-120"/>
              </a:rPr>
              <a:t>Peak at m ≈ n/2</a:t>
            </a:r>
            <a:endParaRPr lang="en-US" sz="1600" u="sng" dirty="0"/>
          </a:p>
        </p:txBody>
      </p:sp>
      <p:sp>
        <p:nvSpPr>
          <p:cNvPr id="6" name="deriv-382"/>
          <p:cNvSpPr txBox="1"/>
          <p:nvPr/>
        </p:nvSpPr>
        <p:spPr>
          <a:xfrm>
            <a:off x="5669280" y="1554480"/>
            <a:ext cx="2834640" cy="1371600"/>
          </a:xfrm>
          <a:prstGeom prst="rect">
            <a:avLst/>
          </a:prstGeom>
          <a:noFill/>
          <a:ln/>
        </p:spPr>
        <p:txBody>
          <a:bodyPr wrap="square" lIns="0" tIns="0" rIns="0" bIns="0" rtlCol="0" anchor="t"/>
          <a:lstStyle/>
          <a:p>
            <a:pPr marL="0" indent="0">
              <a:spcAft>
                <a:spcPts val="400"/>
              </a:spcAft>
              <a:buNone/>
            </a:pPr>
            <a:r>
              <a:rPr lang="en-US" sz="1300" dirty="0">
                <a:solidFill>
                  <a:schemeClr val="tx1"/>
                </a:solidFill>
              </a:rPr>
              <a:t>Take m = ⌈n/2⌉:</a:t>
            </a:r>
            <a:endParaRPr lang="en-US" sz="1300" dirty="0"/>
          </a:p>
          <a:p>
            <a:pPr marL="0" indent="0">
              <a:spcAft>
                <a:spcPts val="400"/>
              </a:spcAft>
              <a:buNone/>
            </a:pPr>
            <a:r>
              <a:rPr lang="en-US" sz="1300" b="1" dirty="0">
                <a:solidFill>
                  <a:schemeClr val="tx2"/>
                </a:solidFill>
                <a:latin typeface="Courier New" pitchFamily="34" charset="0"/>
                <a:ea typeface="Courier New" pitchFamily="34" charset="-122"/>
                <a:cs typeface="Courier New" pitchFamily="34" charset="-120"/>
              </a:rPr>
              <a:t>(⌊n/2⌋ + 1)·⌈n/2⌉</a:t>
            </a:r>
            <a:endParaRPr lang="en-US" sz="1300" dirty="0"/>
          </a:p>
          <a:p>
            <a:pPr marL="0" indent="0">
              <a:spcAft>
                <a:spcPts val="400"/>
              </a:spcAft>
              <a:buNone/>
            </a:pPr>
            <a:r>
              <a:rPr lang="en-US" sz="1300" dirty="0">
                <a:solidFill>
                  <a:schemeClr val="tx1"/>
                </a:solidFill>
              </a:rPr>
              <a:t>n even: (n² + 2n)/4</a:t>
            </a:r>
            <a:endParaRPr lang="en-US" sz="1300" dirty="0"/>
          </a:p>
          <a:p>
            <a:pPr marL="0" indent="0">
              <a:spcAft>
                <a:spcPts val="400"/>
              </a:spcAft>
              <a:buNone/>
            </a:pPr>
            <a:r>
              <a:rPr lang="en-US" sz="1300" dirty="0">
                <a:solidFill>
                  <a:schemeClr val="tx1"/>
                </a:solidFill>
              </a:rPr>
              <a:t>n odd: (n² + 2n + 1)/4</a:t>
            </a:r>
            <a:endParaRPr lang="en-US" sz="1300" dirty="0"/>
          </a:p>
        </p:txBody>
      </p:sp>
      <p:sp>
        <p:nvSpPr>
          <p:cNvPr id="7" name="card-383"/>
          <p:cNvSpPr/>
          <p:nvPr/>
        </p:nvSpPr>
        <p:spPr>
          <a:xfrm>
            <a:off x="5669280" y="3063240"/>
            <a:ext cx="2834640" cy="1325880"/>
          </a:xfrm>
          <a:prstGeom prst="roundRect">
            <a:avLst>
              <a:gd name="adj" fmla="val 5517"/>
            </a:avLst>
          </a:prstGeom>
          <a:solidFill>
            <a:schemeClr val="tx2"/>
          </a:solidFill>
          <a:ln w="12700">
            <a:solidFill>
              <a:schemeClr val="tx2"/>
            </a:solidFill>
            <a:prstDash val="solid"/>
          </a:ln>
        </p:spPr>
        <p:txBody>
          <a:bodyPr/>
          <a:lstStyle/>
          <a:p>
            <a:endParaRPr lang="en-US"/>
          </a:p>
        </p:txBody>
      </p:sp>
      <p:sp>
        <p:nvSpPr>
          <p:cNvPr id="8" name="text-384"/>
          <p:cNvSpPr txBox="1"/>
          <p:nvPr/>
        </p:nvSpPr>
        <p:spPr>
          <a:xfrm>
            <a:off x="5852160" y="3154680"/>
            <a:ext cx="2468880" cy="548640"/>
          </a:xfrm>
          <a:prstGeom prst="rect">
            <a:avLst/>
          </a:prstGeom>
          <a:noFill/>
          <a:ln/>
        </p:spPr>
        <p:txBody>
          <a:bodyPr wrap="square" lIns="0" tIns="0" rIns="0" bIns="0" rtlCol="0" anchor="t"/>
          <a:lstStyle/>
          <a:p>
            <a:pPr marL="0" indent="0">
              <a:buNone/>
            </a:pPr>
            <a:r>
              <a:rPr lang="en-US" sz="3000" b="1" dirty="0">
                <a:solidFill>
                  <a:schemeClr val="accent2"/>
                </a:solidFill>
              </a:rPr>
              <a:t>Θ(n²)</a:t>
            </a:r>
            <a:endParaRPr lang="en-US" sz="3000" dirty="0"/>
          </a:p>
        </p:txBody>
      </p:sp>
      <p:sp>
        <p:nvSpPr>
          <p:cNvPr id="9" name="text-385"/>
          <p:cNvSpPr txBox="1"/>
          <p:nvPr/>
        </p:nvSpPr>
        <p:spPr>
          <a:xfrm>
            <a:off x="5852160" y="3703320"/>
            <a:ext cx="2468880" cy="594360"/>
          </a:xfrm>
          <a:prstGeom prst="rect">
            <a:avLst/>
          </a:prstGeom>
          <a:noFill/>
          <a:ln/>
        </p:spPr>
        <p:txBody>
          <a:bodyPr wrap="square" lIns="0" tIns="0" rIns="0" bIns="0" rtlCol="0" anchor="t"/>
          <a:lstStyle/>
          <a:p>
            <a:pPr marL="0" indent="0">
              <a:buNone/>
            </a:pPr>
            <a:r>
              <a:rPr lang="en-US" sz="1200" dirty="0">
                <a:solidFill>
                  <a:schemeClr val="bg1"/>
                </a:solidFill>
              </a:rPr>
              <a:t>Same worst case as brute-force string search.</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So why bother with Horspool?</a:t>
            </a:r>
            <a:endParaRPr lang="en-US" sz="3000" dirty="0"/>
          </a:p>
        </p:txBody>
      </p:sp>
      <p:graphicFrame>
        <p:nvGraphicFramePr>
          <p:cNvPr id="14" name="table-386"/>
          <p:cNvGraphicFramePr>
            <a:graphicFrameLocks noGrp="1"/>
          </p:cNvGraphicFramePr>
          <p:nvPr>
            <p:extLst>
              <p:ext uri="{D42A27DB-BD31-4B8C-83A1-F6EECF244321}">
                <p14:modId xmlns:p14="http://schemas.microsoft.com/office/powerpoint/2010/main" val="311986417"/>
              </p:ext>
            </p:extLst>
          </p:nvPr>
        </p:nvGraphicFramePr>
        <p:xfrm>
          <a:off x="457200" y="1051560"/>
          <a:ext cx="5120640" cy="2206752"/>
        </p:xfrm>
        <a:graphic>
          <a:graphicData uri="http://schemas.openxmlformats.org/drawingml/2006/table">
            <a:tbl>
              <a:tblPr/>
              <a:tblGrid>
                <a:gridCol w="137160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438912">
                <a:tc>
                  <a:txBody>
                    <a:bodyPr/>
                    <a:lstStyle/>
                    <a:p>
                      <a:pPr marL="0" indent="0">
                        <a:buNone/>
                      </a:pP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300" b="1" dirty="0">
                          <a:solidFill>
                            <a:schemeClr val="bg1"/>
                          </a:solidFill>
                        </a:rPr>
                        <a:t>Brute force</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5"/>
                    </a:solidFill>
                  </a:tcPr>
                </a:tc>
                <a:tc>
                  <a:txBody>
                    <a:bodyPr/>
                    <a:lstStyle/>
                    <a:p>
                      <a:pPr marL="0" indent="0">
                        <a:buNone/>
                      </a:pPr>
                      <a:r>
                        <a:rPr lang="en-US" sz="1300" b="1" dirty="0">
                          <a:solidFill>
                            <a:schemeClr val="bg1"/>
                          </a:solidFill>
                        </a:rPr>
                        <a:t>Horspool</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38912">
                <a:tc>
                  <a:txBody>
                    <a:bodyPr/>
                    <a:lstStyle/>
                    <a:p>
                      <a:pPr marL="0" indent="0">
                        <a:buNone/>
                      </a:pPr>
                      <a:r>
                        <a:rPr lang="en-US" sz="1300" b="1" dirty="0">
                          <a:solidFill>
                            <a:schemeClr val="tx2"/>
                          </a:solidFill>
                        </a:rPr>
                        <a:t>Preprocessing</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none</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shift table: O(m + |Σ|)</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38912">
                <a:tc>
                  <a:txBody>
                    <a:bodyPr/>
                    <a:lstStyle/>
                    <a:p>
                      <a:pPr marL="0" indent="0">
                        <a:buNone/>
                      </a:pPr>
                      <a:r>
                        <a:rPr lang="en-US" sz="1300" b="1" dirty="0">
                          <a:solidFill>
                            <a:schemeClr val="tx2"/>
                          </a:solidFill>
                        </a:rPr>
                        <a:t>Worst case</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Θ(mn)</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Θ(mn) — Q70</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38912">
                <a:tc>
                  <a:txBody>
                    <a:bodyPr/>
                    <a:lstStyle/>
                    <a:p>
                      <a:pPr marL="0" indent="0">
                        <a:buNone/>
                      </a:pPr>
                      <a:r>
                        <a:rPr lang="en-US" sz="1300" b="1" dirty="0">
                          <a:solidFill>
                            <a:schemeClr val="tx2"/>
                          </a:solidFill>
                        </a:rPr>
                        <a:t>Average case</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Θ(n) on random text</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Θ(n), </a:t>
                      </a:r>
                      <a:r>
                        <a:rPr lang="en-US" sz="1300" b="1" dirty="0">
                          <a:solidFill>
                            <a:schemeClr val="tx1"/>
                          </a:solidFill>
                        </a:rPr>
                        <a:t>with far fewer comparisons</a:t>
                      </a:r>
                      <a:endParaRPr lang="en-US" sz="1300" b="1"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38912">
                <a:tc>
                  <a:txBody>
                    <a:bodyPr/>
                    <a:lstStyle/>
                    <a:p>
                      <a:pPr marL="0" indent="0">
                        <a:buNone/>
                      </a:pPr>
                      <a:r>
                        <a:rPr lang="en-US" sz="1300" b="1" dirty="0">
                          <a:solidFill>
                            <a:schemeClr val="tx2"/>
                          </a:solidFill>
                        </a:rPr>
                        <a:t>Typical shift</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often close to m</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 name="card-388"/>
          <p:cNvSpPr/>
          <p:nvPr/>
        </p:nvSpPr>
        <p:spPr>
          <a:xfrm>
            <a:off x="5897880" y="1051560"/>
            <a:ext cx="2788920" cy="1325880"/>
          </a:xfrm>
          <a:prstGeom prst="roundRect">
            <a:avLst>
              <a:gd name="adj" fmla="val 5517"/>
            </a:avLst>
          </a:prstGeom>
          <a:solidFill>
            <a:schemeClr val="bg2"/>
          </a:solidFill>
          <a:ln w="12700">
            <a:solidFill>
              <a:schemeClr val="bg2"/>
            </a:solidFill>
            <a:prstDash val="solid"/>
          </a:ln>
        </p:spPr>
        <p:txBody>
          <a:bodyPr/>
          <a:lstStyle/>
          <a:p>
            <a:endParaRPr lang="en-US"/>
          </a:p>
        </p:txBody>
      </p:sp>
      <p:sp>
        <p:nvSpPr>
          <p:cNvPr id="6" name="text-389"/>
          <p:cNvSpPr txBox="1"/>
          <p:nvPr/>
        </p:nvSpPr>
        <p:spPr>
          <a:xfrm>
            <a:off x="6080760" y="1161288"/>
            <a:ext cx="2423160" cy="662940"/>
          </a:xfrm>
          <a:prstGeom prst="rect">
            <a:avLst/>
          </a:prstGeom>
          <a:noFill/>
          <a:ln/>
        </p:spPr>
        <p:txBody>
          <a:bodyPr wrap="square" lIns="0" tIns="0" rIns="0" bIns="0" rtlCol="0" anchor="ctr"/>
          <a:lstStyle/>
          <a:p>
            <a:pPr marL="0" indent="0">
              <a:buNone/>
            </a:pPr>
            <a:r>
              <a:rPr lang="en-US" sz="3000" b="1" dirty="0">
                <a:solidFill>
                  <a:schemeClr val="tx2"/>
                </a:solidFill>
              </a:rPr>
              <a:t>9 → 2</a:t>
            </a:r>
            <a:endParaRPr lang="en-US" sz="3000" dirty="0"/>
          </a:p>
        </p:txBody>
      </p:sp>
      <p:sp>
        <p:nvSpPr>
          <p:cNvPr id="7" name="text-390"/>
          <p:cNvSpPr txBox="1"/>
          <p:nvPr/>
        </p:nvSpPr>
        <p:spPr>
          <a:xfrm>
            <a:off x="6080760" y="1824228"/>
            <a:ext cx="2423160" cy="443484"/>
          </a:xfrm>
          <a:prstGeom prst="rect">
            <a:avLst/>
          </a:prstGeom>
          <a:noFill/>
          <a:ln/>
        </p:spPr>
        <p:txBody>
          <a:bodyPr wrap="square" lIns="0" tIns="0" rIns="0" bIns="0" rtlCol="0" anchor="t"/>
          <a:lstStyle/>
          <a:p>
            <a:pPr marL="0" indent="0">
              <a:buNone/>
            </a:pPr>
            <a:r>
              <a:rPr lang="en-US" sz="1200" dirty="0">
                <a:solidFill>
                  <a:schemeClr val="tx1"/>
                </a:solidFill>
              </a:rPr>
              <a:t>comparisons, brute force vs Horspool: GORE in ALGORITHM (Q67)</a:t>
            </a:r>
            <a:endParaRPr lang="en-US" sz="1200" dirty="0"/>
          </a:p>
        </p:txBody>
      </p:sp>
      <p:sp>
        <p:nvSpPr>
          <p:cNvPr id="8" name="card-391"/>
          <p:cNvSpPr/>
          <p:nvPr/>
        </p:nvSpPr>
        <p:spPr>
          <a:xfrm>
            <a:off x="5897880" y="2560320"/>
            <a:ext cx="2788920" cy="1325880"/>
          </a:xfrm>
          <a:prstGeom prst="roundRect">
            <a:avLst>
              <a:gd name="adj" fmla="val 5517"/>
            </a:avLst>
          </a:prstGeom>
          <a:solidFill>
            <a:schemeClr val="bg2"/>
          </a:solidFill>
          <a:ln w="12700">
            <a:solidFill>
              <a:schemeClr val="bg2"/>
            </a:solidFill>
            <a:prstDash val="solid"/>
          </a:ln>
        </p:spPr>
        <p:txBody>
          <a:bodyPr/>
          <a:lstStyle/>
          <a:p>
            <a:endParaRPr lang="en-US"/>
          </a:p>
        </p:txBody>
      </p:sp>
      <p:sp>
        <p:nvSpPr>
          <p:cNvPr id="9" name="text-392"/>
          <p:cNvSpPr txBox="1"/>
          <p:nvPr/>
        </p:nvSpPr>
        <p:spPr>
          <a:xfrm>
            <a:off x="6080760" y="2670048"/>
            <a:ext cx="2423160" cy="662940"/>
          </a:xfrm>
          <a:prstGeom prst="rect">
            <a:avLst/>
          </a:prstGeom>
          <a:noFill/>
          <a:ln/>
        </p:spPr>
        <p:txBody>
          <a:bodyPr wrap="square" lIns="0" tIns="0" rIns="0" bIns="0" rtlCol="0" anchor="ctr"/>
          <a:lstStyle/>
          <a:p>
            <a:pPr marL="0" indent="0">
              <a:buNone/>
            </a:pPr>
            <a:r>
              <a:rPr lang="en-US" sz="2400" b="1" dirty="0">
                <a:solidFill>
                  <a:schemeClr val="tx2"/>
                </a:solidFill>
              </a:rPr>
              <a:t>2.0M → 0.25M</a:t>
            </a:r>
            <a:endParaRPr lang="en-US" sz="2400" dirty="0"/>
          </a:p>
        </p:txBody>
      </p:sp>
      <p:sp>
        <p:nvSpPr>
          <p:cNvPr id="10" name="text-393"/>
          <p:cNvSpPr txBox="1"/>
          <p:nvPr/>
        </p:nvSpPr>
        <p:spPr>
          <a:xfrm>
            <a:off x="6080760" y="3332988"/>
            <a:ext cx="2423160" cy="443484"/>
          </a:xfrm>
          <a:prstGeom prst="rect">
            <a:avLst/>
          </a:prstGeom>
          <a:noFill/>
          <a:ln/>
        </p:spPr>
        <p:txBody>
          <a:bodyPr wrap="square" lIns="0" tIns="0" rIns="0" bIns="0" rtlCol="0" anchor="t"/>
          <a:lstStyle/>
          <a:p>
            <a:pPr marL="0" indent="0">
              <a:buNone/>
            </a:pPr>
            <a:r>
              <a:rPr lang="en-US" sz="1200" dirty="0">
                <a:solidFill>
                  <a:schemeClr val="tx1"/>
                </a:solidFill>
              </a:rPr>
              <a:t>comparisons for 01111 in a million zeros (Q69c)</a:t>
            </a:r>
            <a:endParaRPr lang="en-US" sz="1200" dirty="0"/>
          </a:p>
        </p:txBody>
      </p:sp>
      <p:sp>
        <p:nvSpPr>
          <p:cNvPr id="11" name="card-394"/>
          <p:cNvSpPr/>
          <p:nvPr/>
        </p:nvSpPr>
        <p:spPr>
          <a:xfrm>
            <a:off x="457200" y="3794760"/>
            <a:ext cx="5120640" cy="749808"/>
          </a:xfrm>
          <a:prstGeom prst="roundRect">
            <a:avLst>
              <a:gd name="adj" fmla="val 9756"/>
            </a:avLst>
          </a:prstGeom>
          <a:solidFill>
            <a:schemeClr val="tx2"/>
          </a:solidFill>
          <a:ln w="12700">
            <a:solidFill>
              <a:schemeClr val="tx2"/>
            </a:solidFill>
            <a:prstDash val="solid"/>
          </a:ln>
        </p:spPr>
        <p:txBody>
          <a:bodyPr/>
          <a:lstStyle/>
          <a:p>
            <a:endParaRPr lang="en-US"/>
          </a:p>
        </p:txBody>
      </p:sp>
      <p:sp>
        <p:nvSpPr>
          <p:cNvPr id="12" name="text-395"/>
          <p:cNvSpPr txBox="1"/>
          <p:nvPr/>
        </p:nvSpPr>
        <p:spPr>
          <a:xfrm>
            <a:off x="640080" y="3840480"/>
            <a:ext cx="4800600" cy="658368"/>
          </a:xfrm>
          <a:prstGeom prst="rect">
            <a:avLst/>
          </a:prstGeom>
          <a:noFill/>
          <a:ln/>
        </p:spPr>
        <p:txBody>
          <a:bodyPr wrap="square" lIns="0" tIns="0" rIns="0" bIns="0" rtlCol="0" anchor="ctr"/>
          <a:lstStyle/>
          <a:p>
            <a:pPr marL="0" indent="0">
              <a:buNone/>
            </a:pPr>
            <a:r>
              <a:rPr lang="en-US" sz="1300" dirty="0">
                <a:solidFill>
                  <a:schemeClr val="bg1"/>
                </a:solidFill>
              </a:rPr>
              <a:t>Same worst case, much better in practice — especially with large alphabets, where most text chars don’t occur in the pattern.</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37360"/>
            <a:ext cx="8046720" cy="914400"/>
          </a:xfrm>
          <a:prstGeom prst="rect">
            <a:avLst/>
          </a:prstGeom>
          <a:noFill/>
          <a:ln/>
        </p:spPr>
        <p:txBody>
          <a:bodyPr wrap="square" lIns="0" tIns="0" rIns="0" bIns="0" rtlCol="0" anchor="b"/>
          <a:lstStyle/>
          <a:p>
            <a:pPr marL="0" indent="0" algn="l">
              <a:buNone/>
            </a:pPr>
            <a:r>
              <a:rPr lang="en-US" sz="3800" b="1" dirty="0">
                <a:solidFill>
                  <a:schemeClr val="bg1"/>
                </a:solidFill>
              </a:rPr>
              <a:t>Part 2 · Hashing</a:t>
            </a:r>
            <a:endParaRPr lang="en-US" sz="3800" dirty="0"/>
          </a:p>
        </p:txBody>
      </p:sp>
      <p:sp>
        <p:nvSpPr>
          <p:cNvPr id="3" name="Text 0"/>
          <p:cNvSpPr>
            <a:spLocks noGrp="1"/>
          </p:cNvSpPr>
          <p:nvPr>
            <p:ph type="body" idx="101" hasCustomPrompt="1"/>
          </p:nvPr>
        </p:nvSpPr>
        <p:spPr>
          <a:xfrm>
            <a:off x="548640" y="2743200"/>
            <a:ext cx="8046720" cy="731520"/>
          </a:xfrm>
          <a:prstGeom prst="rect">
            <a:avLst/>
          </a:prstGeom>
          <a:noFill/>
          <a:ln/>
        </p:spPr>
        <p:txBody>
          <a:bodyPr wrap="square" lIns="0" tIns="0" rIns="0" bIns="0" rtlCol="0" anchor="t"/>
          <a:lstStyle/>
          <a:p>
            <a:pPr marL="0" indent="0">
              <a:buNone/>
            </a:pPr>
            <a:r>
              <a:rPr lang="en-US" sz="1800" dirty="0">
                <a:solidFill>
                  <a:schemeClr val="accent6"/>
                </a:solidFill>
              </a:rPr>
              <a:t>Keys 40, 60, 37, 84, 42, 18, 30 · table size 11 · h(k) = k mod 11</a:t>
            </a:r>
            <a:endParaRPr lang="en-US" sz="1800" dirty="0"/>
          </a:p>
        </p:txBody>
      </p:sp>
      <p:sp>
        <p:nvSpPr>
          <p:cNvPr id="4" name="badge-396"/>
          <p:cNvSpPr/>
          <p:nvPr/>
        </p:nvSpPr>
        <p:spPr>
          <a:xfrm>
            <a:off x="548640" y="3840480"/>
            <a:ext cx="621792" cy="292608"/>
          </a:xfrm>
          <a:prstGeom prst="roundRect">
            <a:avLst>
              <a:gd name="adj" fmla="val 43750"/>
            </a:avLst>
          </a:prstGeom>
          <a:solidFill>
            <a:schemeClr val="accent2"/>
          </a:solidFill>
          <a:ln>
            <a:solidFill>
              <a:schemeClr val="accent2"/>
            </a:solidFill>
          </a:ln>
        </p:spPr>
        <p:txBody>
          <a:bodyPr wrap="square" lIns="0" tIns="0" rIns="0" bIns="0" rtlCol="0" anchor="ctr"/>
          <a:lstStyle/>
          <a:p>
            <a:pPr marL="0" indent="0" algn="ctr">
              <a:buNone/>
            </a:pPr>
            <a:r>
              <a:rPr lang="en-US" sz="1200" b="1" dirty="0">
                <a:solidFill>
                  <a:schemeClr val="tx1"/>
                </a:solidFill>
              </a:rPr>
              <a:t>Q72</a:t>
            </a:r>
            <a:endParaRPr lang="en-US" sz="1200" dirty="0"/>
          </a:p>
        </p:txBody>
      </p:sp>
      <p:sp>
        <p:nvSpPr>
          <p:cNvPr id="5" name="badge-397"/>
          <p:cNvSpPr/>
          <p:nvPr/>
        </p:nvSpPr>
        <p:spPr>
          <a:xfrm>
            <a:off x="1280160" y="3840480"/>
            <a:ext cx="621792" cy="292608"/>
          </a:xfrm>
          <a:prstGeom prst="roundRect">
            <a:avLst>
              <a:gd name="adj" fmla="val 43750"/>
            </a:avLst>
          </a:prstGeom>
          <a:solidFill>
            <a:schemeClr val="accent2"/>
          </a:solidFill>
          <a:ln>
            <a:solidFill>
              <a:schemeClr val="accent2"/>
            </a:solidFill>
          </a:ln>
        </p:spPr>
        <p:txBody>
          <a:bodyPr wrap="square" lIns="0" tIns="0" rIns="0" bIns="0" rtlCol="0" anchor="ctr"/>
          <a:lstStyle/>
          <a:p>
            <a:pPr marL="0" indent="0" algn="ctr">
              <a:buNone/>
            </a:pPr>
            <a:r>
              <a:rPr lang="en-US" sz="1200" b="1" dirty="0">
                <a:solidFill>
                  <a:schemeClr val="tx1"/>
                </a:solidFill>
              </a:rPr>
              <a:t>Q73</a:t>
            </a:r>
            <a:endParaRPr lang="en-US" sz="1200" dirty="0"/>
          </a:p>
        </p:txBody>
      </p:sp>
      <p:sp>
        <p:nvSpPr>
          <p:cNvPr id="6" name="badge-398"/>
          <p:cNvSpPr/>
          <p:nvPr/>
        </p:nvSpPr>
        <p:spPr>
          <a:xfrm>
            <a:off x="2011680" y="3840480"/>
            <a:ext cx="1325880" cy="292608"/>
          </a:xfrm>
          <a:prstGeom prst="roundRect">
            <a:avLst>
              <a:gd name="adj" fmla="val 43750"/>
            </a:avLst>
          </a:prstGeom>
          <a:solidFill>
            <a:schemeClr val="accent2"/>
          </a:solidFill>
          <a:ln>
            <a:solidFill>
              <a:schemeClr val="accent2"/>
            </a:solidFill>
          </a:ln>
        </p:spPr>
        <p:txBody>
          <a:bodyPr wrap="square" lIns="0" tIns="0" rIns="0" bIns="0" rtlCol="0" anchor="ctr"/>
          <a:lstStyle/>
          <a:p>
            <a:pPr marL="0" indent="0" algn="ctr">
              <a:buNone/>
            </a:pPr>
            <a:r>
              <a:rPr lang="en-US" sz="1200" b="1" dirty="0">
                <a:solidFill>
                  <a:schemeClr val="tx1"/>
                </a:solidFill>
              </a:rPr>
              <a:t>Double hashing</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Hash tables</a:t>
            </a:r>
            <a:endParaRPr lang="en-US" sz="3000" dirty="0"/>
          </a:p>
        </p:txBody>
      </p:sp>
      <p:sp>
        <p:nvSpPr>
          <p:cNvPr id="3" name="iconbg-399"/>
          <p:cNvSpPr/>
          <p:nvPr/>
        </p:nvSpPr>
        <p:spPr>
          <a:xfrm>
            <a:off x="457200" y="1097280"/>
            <a:ext cx="502920" cy="502920"/>
          </a:xfrm>
          <a:prstGeom prst="ellipse">
            <a:avLst/>
          </a:prstGeom>
          <a:solidFill>
            <a:schemeClr val="bg2"/>
          </a:solidFill>
          <a:ln w="12700">
            <a:solidFill>
              <a:schemeClr val="bg2"/>
            </a:solidFill>
            <a:prstDash val="solid"/>
          </a:ln>
        </p:spPr>
        <p:txBody>
          <a:bodyPr/>
          <a:lstStyle/>
          <a:p>
            <a:endParaRPr lang="en-US"/>
          </a:p>
        </p:txBody>
      </p:sp>
      <p:pic>
        <p:nvPicPr>
          <p:cNvPr id="4" name="icon-400" descr="preencoded.png"/>
          <p:cNvPicPr>
            <a:picLocks noChangeAspect="1"/>
          </p:cNvPicPr>
          <p:nvPr/>
        </p:nvPicPr>
        <p:blipFill>
          <a:blip r:embed="rId3"/>
          <a:stretch>
            <a:fillRect/>
          </a:stretch>
        </p:blipFill>
        <p:spPr>
          <a:xfrm>
            <a:off x="582930" y="1223010"/>
            <a:ext cx="251460" cy="251460"/>
          </a:xfrm>
          <a:prstGeom prst="rect">
            <a:avLst/>
          </a:prstGeom>
        </p:spPr>
      </p:pic>
      <p:sp>
        <p:nvSpPr>
          <p:cNvPr id="5" name="text-401"/>
          <p:cNvSpPr txBox="1"/>
          <p:nvPr/>
        </p:nvSpPr>
        <p:spPr>
          <a:xfrm>
            <a:off x="1143000" y="1051560"/>
            <a:ext cx="3840480" cy="274320"/>
          </a:xfrm>
          <a:prstGeom prst="rect">
            <a:avLst/>
          </a:prstGeom>
          <a:noFill/>
          <a:ln/>
        </p:spPr>
        <p:txBody>
          <a:bodyPr wrap="square" lIns="0" tIns="0" rIns="0" bIns="0" rtlCol="0" anchor="t"/>
          <a:lstStyle/>
          <a:p>
            <a:pPr marL="0" indent="0">
              <a:buNone/>
            </a:pPr>
            <a:r>
              <a:rPr lang="en-US" sz="1500" b="1" dirty="0">
                <a:solidFill>
                  <a:schemeClr val="tx2"/>
                </a:solidFill>
              </a:rPr>
              <a:t>Dictionary problem</a:t>
            </a:r>
            <a:endParaRPr lang="en-US" sz="1500" dirty="0"/>
          </a:p>
        </p:txBody>
      </p:sp>
      <p:sp>
        <p:nvSpPr>
          <p:cNvPr id="6" name="text-402"/>
          <p:cNvSpPr txBox="1"/>
          <p:nvPr/>
        </p:nvSpPr>
        <p:spPr>
          <a:xfrm>
            <a:off x="1143000" y="1344168"/>
            <a:ext cx="3840480" cy="457200"/>
          </a:xfrm>
          <a:prstGeom prst="rect">
            <a:avLst/>
          </a:prstGeom>
          <a:noFill/>
          <a:ln/>
        </p:spPr>
        <p:txBody>
          <a:bodyPr wrap="square" lIns="0" tIns="0" rIns="0" bIns="0" rtlCol="0" anchor="t"/>
          <a:lstStyle/>
          <a:p>
            <a:pPr marL="0" indent="0">
              <a:buNone/>
            </a:pPr>
            <a:r>
              <a:rPr lang="en-US" sz="1300" dirty="0">
                <a:solidFill>
                  <a:schemeClr val="tx1"/>
                </a:solidFill>
              </a:rPr>
              <a:t>Is item x in the set S? Support find, insert, delete fast.</a:t>
            </a:r>
            <a:endParaRPr lang="en-US" sz="1300" dirty="0"/>
          </a:p>
        </p:txBody>
      </p:sp>
      <p:sp>
        <p:nvSpPr>
          <p:cNvPr id="7" name="iconbg-403"/>
          <p:cNvSpPr/>
          <p:nvPr/>
        </p:nvSpPr>
        <p:spPr>
          <a:xfrm>
            <a:off x="457200" y="1965960"/>
            <a:ext cx="502920" cy="502920"/>
          </a:xfrm>
          <a:prstGeom prst="ellipse">
            <a:avLst/>
          </a:prstGeom>
          <a:solidFill>
            <a:schemeClr val="bg2"/>
          </a:solidFill>
          <a:ln w="12700">
            <a:solidFill>
              <a:schemeClr val="bg2"/>
            </a:solidFill>
            <a:prstDash val="solid"/>
          </a:ln>
        </p:spPr>
        <p:txBody>
          <a:bodyPr/>
          <a:lstStyle/>
          <a:p>
            <a:endParaRPr lang="en-US"/>
          </a:p>
        </p:txBody>
      </p:sp>
      <p:pic>
        <p:nvPicPr>
          <p:cNvPr id="8" name="icon-404" descr="preencoded.png"/>
          <p:cNvPicPr>
            <a:picLocks noChangeAspect="1"/>
          </p:cNvPicPr>
          <p:nvPr/>
        </p:nvPicPr>
        <p:blipFill>
          <a:blip r:embed="rId4"/>
          <a:stretch>
            <a:fillRect/>
          </a:stretch>
        </p:blipFill>
        <p:spPr>
          <a:xfrm>
            <a:off x="582930" y="2091690"/>
            <a:ext cx="251460" cy="251460"/>
          </a:xfrm>
          <a:prstGeom prst="rect">
            <a:avLst/>
          </a:prstGeom>
        </p:spPr>
      </p:pic>
      <p:sp>
        <p:nvSpPr>
          <p:cNvPr id="9" name="text-405"/>
          <p:cNvSpPr txBox="1"/>
          <p:nvPr/>
        </p:nvSpPr>
        <p:spPr>
          <a:xfrm>
            <a:off x="1143000" y="1920240"/>
            <a:ext cx="3840480" cy="274320"/>
          </a:xfrm>
          <a:prstGeom prst="rect">
            <a:avLst/>
          </a:prstGeom>
          <a:noFill/>
          <a:ln/>
        </p:spPr>
        <p:txBody>
          <a:bodyPr wrap="square" lIns="0" tIns="0" rIns="0" bIns="0" rtlCol="0" anchor="t"/>
          <a:lstStyle/>
          <a:p>
            <a:pPr marL="0" indent="0">
              <a:buNone/>
            </a:pPr>
            <a:r>
              <a:rPr lang="en-US" sz="1500" b="1" dirty="0">
                <a:solidFill>
                  <a:schemeClr val="tx2"/>
                </a:solidFill>
              </a:rPr>
              <a:t>Hash function</a:t>
            </a:r>
            <a:endParaRPr lang="en-US" sz="1500" dirty="0"/>
          </a:p>
        </p:txBody>
      </p:sp>
      <p:sp>
        <p:nvSpPr>
          <p:cNvPr id="10" name="text-406"/>
          <p:cNvSpPr txBox="1"/>
          <p:nvPr/>
        </p:nvSpPr>
        <p:spPr>
          <a:xfrm>
            <a:off x="1143000" y="2212848"/>
            <a:ext cx="3840480" cy="457200"/>
          </a:xfrm>
          <a:prstGeom prst="rect">
            <a:avLst/>
          </a:prstGeom>
          <a:noFill/>
          <a:ln/>
        </p:spPr>
        <p:txBody>
          <a:bodyPr wrap="square" lIns="0" tIns="0" rIns="0" bIns="0" rtlCol="0" anchor="t"/>
          <a:lstStyle/>
          <a:p>
            <a:pPr marL="0" indent="0">
              <a:buNone/>
            </a:pPr>
            <a:r>
              <a:rPr lang="en-US" sz="1300" dirty="0">
                <a:solidFill>
                  <a:schemeClr val="tx1"/>
                </a:solidFill>
              </a:rPr>
              <a:t>h : U → {0, …, m − 1} picks a bucket for each key.</a:t>
            </a:r>
            <a:endParaRPr lang="en-US" sz="1300" dirty="0"/>
          </a:p>
        </p:txBody>
      </p:sp>
      <p:sp>
        <p:nvSpPr>
          <p:cNvPr id="11" name="iconbg-407"/>
          <p:cNvSpPr/>
          <p:nvPr/>
        </p:nvSpPr>
        <p:spPr>
          <a:xfrm>
            <a:off x="457200" y="2834640"/>
            <a:ext cx="502920" cy="502920"/>
          </a:xfrm>
          <a:prstGeom prst="ellipse">
            <a:avLst/>
          </a:prstGeom>
          <a:solidFill>
            <a:schemeClr val="bg2"/>
          </a:solidFill>
          <a:ln w="12700">
            <a:solidFill>
              <a:schemeClr val="bg2"/>
            </a:solidFill>
            <a:prstDash val="solid"/>
          </a:ln>
        </p:spPr>
        <p:txBody>
          <a:bodyPr/>
          <a:lstStyle/>
          <a:p>
            <a:endParaRPr lang="en-US"/>
          </a:p>
        </p:txBody>
      </p:sp>
      <p:pic>
        <p:nvPicPr>
          <p:cNvPr id="12" name="icon-408" descr="preencoded.png"/>
          <p:cNvPicPr>
            <a:picLocks noChangeAspect="1"/>
          </p:cNvPicPr>
          <p:nvPr/>
        </p:nvPicPr>
        <p:blipFill>
          <a:blip r:embed="rId5"/>
          <a:stretch>
            <a:fillRect/>
          </a:stretch>
        </p:blipFill>
        <p:spPr>
          <a:xfrm>
            <a:off x="582930" y="2960370"/>
            <a:ext cx="251460" cy="251460"/>
          </a:xfrm>
          <a:prstGeom prst="rect">
            <a:avLst/>
          </a:prstGeom>
        </p:spPr>
      </p:pic>
      <p:sp>
        <p:nvSpPr>
          <p:cNvPr id="13" name="text-409"/>
          <p:cNvSpPr txBox="1"/>
          <p:nvPr/>
        </p:nvSpPr>
        <p:spPr>
          <a:xfrm>
            <a:off x="1143000" y="2788920"/>
            <a:ext cx="3840480" cy="274320"/>
          </a:xfrm>
          <a:prstGeom prst="rect">
            <a:avLst/>
          </a:prstGeom>
          <a:noFill/>
          <a:ln/>
        </p:spPr>
        <p:txBody>
          <a:bodyPr wrap="square" lIns="0" tIns="0" rIns="0" bIns="0" rtlCol="0" anchor="t"/>
          <a:lstStyle/>
          <a:p>
            <a:pPr marL="0" indent="0">
              <a:buNone/>
            </a:pPr>
            <a:r>
              <a:rPr lang="en-US" sz="1500" b="1" dirty="0">
                <a:solidFill>
                  <a:schemeClr val="tx2"/>
                </a:solidFill>
              </a:rPr>
              <a:t>Collision</a:t>
            </a:r>
            <a:endParaRPr lang="en-US" sz="1500" dirty="0"/>
          </a:p>
        </p:txBody>
      </p:sp>
      <p:sp>
        <p:nvSpPr>
          <p:cNvPr id="14" name="text-410"/>
          <p:cNvSpPr txBox="1"/>
          <p:nvPr/>
        </p:nvSpPr>
        <p:spPr>
          <a:xfrm>
            <a:off x="1143000" y="3081528"/>
            <a:ext cx="3840480" cy="457200"/>
          </a:xfrm>
          <a:prstGeom prst="rect">
            <a:avLst/>
          </a:prstGeom>
          <a:noFill/>
          <a:ln/>
        </p:spPr>
        <p:txBody>
          <a:bodyPr wrap="square" lIns="0" tIns="0" rIns="0" bIns="0" rtlCol="0" anchor="t"/>
          <a:lstStyle/>
          <a:p>
            <a:pPr marL="0" indent="0">
              <a:buNone/>
            </a:pPr>
            <a:r>
              <a:rPr lang="en-US" sz="1300" dirty="0">
                <a:solidFill>
                  <a:schemeClr val="tx1"/>
                </a:solidFill>
              </a:rPr>
              <a:t>Two keys, same bucket. Unavoidable — so we need a strategy.</a:t>
            </a:r>
            <a:endParaRPr lang="en-US" sz="1300" dirty="0"/>
          </a:p>
        </p:txBody>
      </p:sp>
      <p:sp>
        <p:nvSpPr>
          <p:cNvPr id="15" name="iconbg-411"/>
          <p:cNvSpPr/>
          <p:nvPr/>
        </p:nvSpPr>
        <p:spPr>
          <a:xfrm>
            <a:off x="457200" y="3703320"/>
            <a:ext cx="502920" cy="502920"/>
          </a:xfrm>
          <a:prstGeom prst="ellipse">
            <a:avLst/>
          </a:prstGeom>
          <a:solidFill>
            <a:schemeClr val="bg2"/>
          </a:solidFill>
          <a:ln w="12700">
            <a:solidFill>
              <a:schemeClr val="bg2"/>
            </a:solidFill>
            <a:prstDash val="solid"/>
          </a:ln>
        </p:spPr>
        <p:txBody>
          <a:bodyPr/>
          <a:lstStyle/>
          <a:p>
            <a:endParaRPr lang="en-US"/>
          </a:p>
        </p:txBody>
      </p:sp>
      <p:pic>
        <p:nvPicPr>
          <p:cNvPr id="16" name="icon-412" descr="preencoded.png"/>
          <p:cNvPicPr>
            <a:picLocks noChangeAspect="1"/>
          </p:cNvPicPr>
          <p:nvPr/>
        </p:nvPicPr>
        <p:blipFill>
          <a:blip r:embed="rId6"/>
          <a:stretch>
            <a:fillRect/>
          </a:stretch>
        </p:blipFill>
        <p:spPr>
          <a:xfrm>
            <a:off x="582930" y="3829050"/>
            <a:ext cx="251460" cy="251460"/>
          </a:xfrm>
          <a:prstGeom prst="rect">
            <a:avLst/>
          </a:prstGeom>
        </p:spPr>
      </p:pic>
      <p:sp>
        <p:nvSpPr>
          <p:cNvPr id="17" name="text-413"/>
          <p:cNvSpPr txBox="1"/>
          <p:nvPr/>
        </p:nvSpPr>
        <p:spPr>
          <a:xfrm>
            <a:off x="1143000" y="3657600"/>
            <a:ext cx="3840480" cy="274320"/>
          </a:xfrm>
          <a:prstGeom prst="rect">
            <a:avLst/>
          </a:prstGeom>
          <a:noFill/>
          <a:ln/>
        </p:spPr>
        <p:txBody>
          <a:bodyPr wrap="square" lIns="0" tIns="0" rIns="0" bIns="0" rtlCol="0" anchor="t"/>
          <a:lstStyle/>
          <a:p>
            <a:pPr marL="0" indent="0">
              <a:buNone/>
            </a:pPr>
            <a:r>
              <a:rPr lang="en-US" sz="1500" b="1" dirty="0">
                <a:solidFill>
                  <a:schemeClr val="tx2"/>
                </a:solidFill>
              </a:rPr>
              <a:t>Load factor α = n / m</a:t>
            </a:r>
            <a:endParaRPr lang="en-US" sz="1500" dirty="0"/>
          </a:p>
        </p:txBody>
      </p:sp>
      <p:sp>
        <p:nvSpPr>
          <p:cNvPr id="18" name="text-414"/>
          <p:cNvSpPr txBox="1"/>
          <p:nvPr/>
        </p:nvSpPr>
        <p:spPr>
          <a:xfrm>
            <a:off x="1143000" y="3950208"/>
            <a:ext cx="3840480" cy="457200"/>
          </a:xfrm>
          <a:prstGeom prst="rect">
            <a:avLst/>
          </a:prstGeom>
          <a:noFill/>
          <a:ln/>
        </p:spPr>
        <p:txBody>
          <a:bodyPr wrap="square" lIns="0" tIns="0" rIns="0" bIns="0" rtlCol="0" anchor="t"/>
          <a:lstStyle/>
          <a:p>
            <a:pPr marL="0" indent="0">
              <a:buNone/>
            </a:pPr>
            <a:r>
              <a:rPr lang="en-US" sz="1300" dirty="0">
                <a:solidFill>
                  <a:schemeClr val="tx1"/>
                </a:solidFill>
              </a:rPr>
              <a:t>Items per bucket on average; drives expected cost.</a:t>
            </a:r>
            <a:endParaRPr lang="en-US" sz="1300" dirty="0"/>
          </a:p>
        </p:txBody>
      </p:sp>
      <p:sp>
        <p:nvSpPr>
          <p:cNvPr id="19" name="card-415"/>
          <p:cNvSpPr/>
          <p:nvPr/>
        </p:nvSpPr>
        <p:spPr>
          <a:xfrm>
            <a:off x="5349240" y="1051560"/>
            <a:ext cx="3337560" cy="3474720"/>
          </a:xfrm>
          <a:prstGeom prst="roundRect">
            <a:avLst>
              <a:gd name="adj" fmla="val 2192"/>
            </a:avLst>
          </a:prstGeom>
          <a:solidFill>
            <a:schemeClr val="bg2"/>
          </a:solidFill>
          <a:ln w="12700">
            <a:solidFill>
              <a:schemeClr val="bg2"/>
            </a:solidFill>
            <a:prstDash val="solid"/>
          </a:ln>
        </p:spPr>
        <p:txBody>
          <a:bodyPr/>
          <a:lstStyle/>
          <a:p>
            <a:endParaRPr lang="en-US"/>
          </a:p>
        </p:txBody>
      </p:sp>
      <p:sp>
        <p:nvSpPr>
          <p:cNvPr id="20" name="tile-416"/>
          <p:cNvSpPr/>
          <p:nvPr/>
        </p:nvSpPr>
        <p:spPr>
          <a:xfrm>
            <a:off x="5577840" y="1417320"/>
            <a:ext cx="685800" cy="457200"/>
          </a:xfrm>
          <a:prstGeom prst="roundRect">
            <a:avLst>
              <a:gd name="adj" fmla="val 10000"/>
            </a:avLst>
          </a:prstGeom>
          <a:solidFill>
            <a:schemeClr val="tx2"/>
          </a:solidFill>
          <a:ln w="12700">
            <a:solidFill>
              <a:schemeClr val="tx2"/>
            </a:solid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40</a:t>
            </a:r>
            <a:endParaRPr lang="en-US" sz="1500" dirty="0"/>
          </a:p>
        </p:txBody>
      </p:sp>
      <p:sp>
        <p:nvSpPr>
          <p:cNvPr id="21" name="tile-417"/>
          <p:cNvSpPr/>
          <p:nvPr/>
        </p:nvSpPr>
        <p:spPr>
          <a:xfrm>
            <a:off x="5577840" y="2286000"/>
            <a:ext cx="685800" cy="457200"/>
          </a:xfrm>
          <a:prstGeom prst="roundRect">
            <a:avLst>
              <a:gd name="adj" fmla="val 10000"/>
            </a:avLst>
          </a:prstGeom>
          <a:solidFill>
            <a:schemeClr val="tx2"/>
          </a:solidFill>
          <a:ln w="12700">
            <a:solidFill>
              <a:schemeClr val="tx2"/>
            </a:solid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84</a:t>
            </a:r>
            <a:endParaRPr lang="en-US" sz="1500" dirty="0"/>
          </a:p>
        </p:txBody>
      </p:sp>
      <p:sp>
        <p:nvSpPr>
          <p:cNvPr id="22" name="tile-418"/>
          <p:cNvSpPr/>
          <p:nvPr/>
        </p:nvSpPr>
        <p:spPr>
          <a:xfrm>
            <a:off x="5577840" y="3154680"/>
            <a:ext cx="685800" cy="457200"/>
          </a:xfrm>
          <a:prstGeom prst="roundRect">
            <a:avLst>
              <a:gd name="adj" fmla="val 10000"/>
            </a:avLst>
          </a:prstGeom>
          <a:solidFill>
            <a:schemeClr val="tx2"/>
          </a:solidFill>
          <a:ln w="12700">
            <a:solidFill>
              <a:schemeClr val="tx2"/>
            </a:solid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18</a:t>
            </a:r>
            <a:endParaRPr lang="en-US" sz="1500" dirty="0"/>
          </a:p>
        </p:txBody>
      </p:sp>
      <p:sp>
        <p:nvSpPr>
          <p:cNvPr id="23" name="text-419"/>
          <p:cNvSpPr txBox="1"/>
          <p:nvPr/>
        </p:nvSpPr>
        <p:spPr>
          <a:xfrm>
            <a:off x="7269480" y="1325880"/>
            <a:ext cx="274320" cy="457200"/>
          </a:xfrm>
          <a:prstGeom prst="rect">
            <a:avLst/>
          </a:prstGeom>
          <a:noFill/>
          <a:ln/>
        </p:spPr>
        <p:txBody>
          <a:bodyPr wrap="square" lIns="0" tIns="0" rIns="0" bIns="0" rtlCol="0" anchor="ctr"/>
          <a:lstStyle/>
          <a:p>
            <a:pPr marL="0" indent="0" algn="r">
              <a:buNone/>
            </a:pPr>
            <a:r>
              <a:rPr lang="en-US" sz="1000" dirty="0">
                <a:solidFill>
                  <a:schemeClr val="accent5"/>
                </a:solidFill>
              </a:rPr>
              <a:t>5</a:t>
            </a:r>
            <a:endParaRPr lang="en-US" sz="1000" dirty="0"/>
          </a:p>
        </p:txBody>
      </p:sp>
      <p:sp>
        <p:nvSpPr>
          <p:cNvPr id="24" name="tile-420"/>
          <p:cNvSpPr/>
          <p:nvPr/>
        </p:nvSpPr>
        <p:spPr>
          <a:xfrm>
            <a:off x="7589520" y="1325880"/>
            <a:ext cx="868680" cy="457200"/>
          </a:xfrm>
          <a:prstGeom prst="roundRect">
            <a:avLst>
              <a:gd name="adj" fmla="val 10000"/>
            </a:avLst>
          </a:prstGeom>
          <a:solidFill>
            <a:schemeClr val="bg1"/>
          </a:solidFill>
          <a:ln w="12700">
            <a:solidFill>
              <a:schemeClr val="accent6"/>
            </a:solidFill>
          </a:ln>
        </p:spPr>
        <p:txBody>
          <a:bodyPr wrap="square" lIns="0" tIns="0" rIns="0" bIns="0" rtlCol="0" anchor="ctr"/>
          <a:lstStyle/>
          <a:p>
            <a:pPr marL="0" indent="0" algn="ctr">
              <a:buNone/>
            </a:pPr>
            <a:endParaRPr lang="en-US" sz="1600" dirty="0"/>
          </a:p>
        </p:txBody>
      </p:sp>
      <p:sp>
        <p:nvSpPr>
          <p:cNvPr id="25" name="text-421"/>
          <p:cNvSpPr txBox="1"/>
          <p:nvPr/>
        </p:nvSpPr>
        <p:spPr>
          <a:xfrm>
            <a:off x="7269480" y="1892808"/>
            <a:ext cx="274320" cy="457200"/>
          </a:xfrm>
          <a:prstGeom prst="rect">
            <a:avLst/>
          </a:prstGeom>
          <a:noFill/>
          <a:ln/>
        </p:spPr>
        <p:txBody>
          <a:bodyPr wrap="square" lIns="0" tIns="0" rIns="0" bIns="0" rtlCol="0" anchor="ctr"/>
          <a:lstStyle/>
          <a:p>
            <a:pPr marL="0" indent="0" algn="r">
              <a:buNone/>
            </a:pPr>
            <a:r>
              <a:rPr lang="en-US" sz="1000" dirty="0">
                <a:solidFill>
                  <a:schemeClr val="accent5"/>
                </a:solidFill>
              </a:rPr>
              <a:t>6</a:t>
            </a:r>
            <a:endParaRPr lang="en-US" sz="1000" dirty="0"/>
          </a:p>
        </p:txBody>
      </p:sp>
      <p:sp>
        <p:nvSpPr>
          <p:cNvPr id="26" name="tile-422"/>
          <p:cNvSpPr/>
          <p:nvPr/>
        </p:nvSpPr>
        <p:spPr>
          <a:xfrm>
            <a:off x="7589520" y="1892808"/>
            <a:ext cx="868680" cy="457200"/>
          </a:xfrm>
          <a:prstGeom prst="roundRect">
            <a:avLst>
              <a:gd name="adj" fmla="val 10000"/>
            </a:avLst>
          </a:prstGeom>
          <a:solidFill>
            <a:schemeClr val="bg1"/>
          </a:solidFill>
          <a:ln w="12700">
            <a:solidFill>
              <a:schemeClr val="accent6"/>
            </a:solidFill>
          </a:ln>
        </p:spPr>
        <p:txBody>
          <a:bodyPr wrap="square" lIns="0" tIns="0" rIns="0" bIns="0" rtlCol="0" anchor="ctr"/>
          <a:lstStyle/>
          <a:p>
            <a:pPr marL="0" indent="0" algn="ctr">
              <a:buNone/>
            </a:pPr>
            <a:endParaRPr lang="en-US" sz="1600" dirty="0"/>
          </a:p>
        </p:txBody>
      </p:sp>
      <p:sp>
        <p:nvSpPr>
          <p:cNvPr id="27" name="text-423"/>
          <p:cNvSpPr txBox="1"/>
          <p:nvPr/>
        </p:nvSpPr>
        <p:spPr>
          <a:xfrm>
            <a:off x="7269480" y="2459736"/>
            <a:ext cx="274320" cy="457200"/>
          </a:xfrm>
          <a:prstGeom prst="rect">
            <a:avLst/>
          </a:prstGeom>
          <a:noFill/>
          <a:ln/>
        </p:spPr>
        <p:txBody>
          <a:bodyPr wrap="square" lIns="0" tIns="0" rIns="0" bIns="0" rtlCol="0" anchor="ctr"/>
          <a:lstStyle/>
          <a:p>
            <a:pPr marL="0" indent="0" algn="r">
              <a:buNone/>
            </a:pPr>
            <a:r>
              <a:rPr lang="en-US" sz="1000" dirty="0">
                <a:solidFill>
                  <a:schemeClr val="accent5"/>
                </a:solidFill>
              </a:rPr>
              <a:t>7</a:t>
            </a:r>
            <a:endParaRPr lang="en-US" sz="1000" dirty="0"/>
          </a:p>
        </p:txBody>
      </p:sp>
      <p:sp>
        <p:nvSpPr>
          <p:cNvPr id="28" name="tile-424"/>
          <p:cNvSpPr/>
          <p:nvPr/>
        </p:nvSpPr>
        <p:spPr>
          <a:xfrm>
            <a:off x="7589520" y="2459736"/>
            <a:ext cx="868680" cy="457200"/>
          </a:xfrm>
          <a:prstGeom prst="roundRect">
            <a:avLst>
              <a:gd name="adj" fmla="val 10000"/>
            </a:avLst>
          </a:prstGeom>
          <a:solidFill>
            <a:schemeClr val="accent2"/>
          </a:solidFill>
          <a:ln w="12700">
            <a:solidFill>
              <a:schemeClr val="accent2"/>
            </a:solidFill>
          </a:ln>
        </p:spPr>
        <p:txBody>
          <a:bodyPr wrap="square" lIns="0" tIns="0" rIns="0" bIns="0" rtlCol="0" anchor="ct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a:t>
            </a:r>
            <a:endParaRPr lang="en-US" sz="1500" dirty="0"/>
          </a:p>
        </p:txBody>
      </p:sp>
      <p:sp>
        <p:nvSpPr>
          <p:cNvPr id="29" name="text-425"/>
          <p:cNvSpPr txBox="1"/>
          <p:nvPr/>
        </p:nvSpPr>
        <p:spPr>
          <a:xfrm>
            <a:off x="7269480" y="3026664"/>
            <a:ext cx="274320" cy="457200"/>
          </a:xfrm>
          <a:prstGeom prst="rect">
            <a:avLst/>
          </a:prstGeom>
          <a:noFill/>
          <a:ln/>
        </p:spPr>
        <p:txBody>
          <a:bodyPr wrap="square" lIns="0" tIns="0" rIns="0" bIns="0" rtlCol="0" anchor="ctr"/>
          <a:lstStyle/>
          <a:p>
            <a:pPr marL="0" indent="0" algn="r">
              <a:buNone/>
            </a:pPr>
            <a:r>
              <a:rPr lang="en-US" sz="1000" dirty="0">
                <a:solidFill>
                  <a:schemeClr val="accent5"/>
                </a:solidFill>
              </a:rPr>
              <a:t>8</a:t>
            </a:r>
            <a:endParaRPr lang="en-US" sz="1000" dirty="0"/>
          </a:p>
        </p:txBody>
      </p:sp>
      <p:sp>
        <p:nvSpPr>
          <p:cNvPr id="30" name="tile-426"/>
          <p:cNvSpPr/>
          <p:nvPr/>
        </p:nvSpPr>
        <p:spPr>
          <a:xfrm>
            <a:off x="7589520" y="3026664"/>
            <a:ext cx="868680" cy="457200"/>
          </a:xfrm>
          <a:prstGeom prst="roundRect">
            <a:avLst>
              <a:gd name="adj" fmla="val 10000"/>
            </a:avLst>
          </a:prstGeom>
          <a:solidFill>
            <a:schemeClr val="bg1"/>
          </a:solidFill>
          <a:ln w="12700">
            <a:solidFill>
              <a:schemeClr val="accent6"/>
            </a:solidFill>
          </a:ln>
        </p:spPr>
        <p:txBody>
          <a:bodyPr wrap="square" lIns="0" tIns="0" rIns="0" bIns="0" rtlCol="0" anchor="ctr"/>
          <a:lstStyle/>
          <a:p>
            <a:pPr marL="0" indent="0" algn="ctr">
              <a:buNone/>
            </a:pPr>
            <a:endParaRPr lang="en-US" sz="1600" dirty="0"/>
          </a:p>
        </p:txBody>
      </p:sp>
      <p:sp>
        <p:nvSpPr>
          <p:cNvPr id="31" name="text-427"/>
          <p:cNvSpPr txBox="1"/>
          <p:nvPr/>
        </p:nvSpPr>
        <p:spPr>
          <a:xfrm>
            <a:off x="7269480" y="3593592"/>
            <a:ext cx="274320" cy="457200"/>
          </a:xfrm>
          <a:prstGeom prst="rect">
            <a:avLst/>
          </a:prstGeom>
          <a:noFill/>
          <a:ln/>
        </p:spPr>
        <p:txBody>
          <a:bodyPr wrap="square" lIns="0" tIns="0" rIns="0" bIns="0" rtlCol="0" anchor="ctr"/>
          <a:lstStyle/>
          <a:p>
            <a:pPr marL="0" indent="0" algn="r">
              <a:buNone/>
            </a:pPr>
            <a:r>
              <a:rPr lang="en-US" sz="1000" dirty="0">
                <a:solidFill>
                  <a:schemeClr val="accent5"/>
                </a:solidFill>
              </a:rPr>
              <a:t>9</a:t>
            </a:r>
            <a:endParaRPr lang="en-US" sz="1000" dirty="0"/>
          </a:p>
        </p:txBody>
      </p:sp>
      <p:sp>
        <p:nvSpPr>
          <p:cNvPr id="32" name="tile-428"/>
          <p:cNvSpPr/>
          <p:nvPr/>
        </p:nvSpPr>
        <p:spPr>
          <a:xfrm>
            <a:off x="7589520" y="3593592"/>
            <a:ext cx="868680" cy="457200"/>
          </a:xfrm>
          <a:prstGeom prst="roundRect">
            <a:avLst>
              <a:gd name="adj" fmla="val 10000"/>
            </a:avLst>
          </a:prstGeom>
          <a:solidFill>
            <a:schemeClr val="bg1"/>
          </a:solidFill>
          <a:ln w="12700">
            <a:solidFill>
              <a:schemeClr val="accent6"/>
            </a:solidFill>
          </a:ln>
        </p:spPr>
        <p:txBody>
          <a:bodyPr wrap="square" lIns="0" tIns="0" rIns="0" bIns="0" rtlCol="0" anchor="ctr"/>
          <a:lstStyle/>
          <a:p>
            <a:pPr marL="0" indent="0" algn="ctr">
              <a:buNone/>
            </a:pPr>
            <a:endParaRPr lang="en-US" sz="1600" dirty="0"/>
          </a:p>
        </p:txBody>
      </p:sp>
      <p:sp>
        <p:nvSpPr>
          <p:cNvPr id="33" name="arrow-429"/>
          <p:cNvSpPr/>
          <p:nvPr/>
        </p:nvSpPr>
        <p:spPr>
          <a:xfrm>
            <a:off x="6309360" y="1645920"/>
            <a:ext cx="1234440" cy="1042416"/>
          </a:xfrm>
          <a:prstGeom prst="line">
            <a:avLst/>
          </a:prstGeom>
          <a:noFill/>
          <a:ln w="19050">
            <a:solidFill>
              <a:schemeClr val="accent1"/>
            </a:solidFill>
            <a:prstDash val="solid"/>
            <a:tailEnd type="triangle"/>
          </a:ln>
        </p:spPr>
        <p:txBody>
          <a:bodyPr/>
          <a:lstStyle/>
          <a:p>
            <a:endParaRPr lang="en-US"/>
          </a:p>
        </p:txBody>
      </p:sp>
      <p:sp>
        <p:nvSpPr>
          <p:cNvPr id="34" name="arrow-430"/>
          <p:cNvSpPr/>
          <p:nvPr/>
        </p:nvSpPr>
        <p:spPr>
          <a:xfrm>
            <a:off x="6309360" y="2514600"/>
            <a:ext cx="1234440" cy="173736"/>
          </a:xfrm>
          <a:prstGeom prst="line">
            <a:avLst/>
          </a:prstGeom>
          <a:noFill/>
          <a:ln w="19050">
            <a:solidFill>
              <a:schemeClr val="accent1"/>
            </a:solidFill>
            <a:prstDash val="solid"/>
            <a:tailEnd type="triangle"/>
          </a:ln>
        </p:spPr>
        <p:txBody>
          <a:bodyPr/>
          <a:lstStyle/>
          <a:p>
            <a:endParaRPr lang="en-US"/>
          </a:p>
        </p:txBody>
      </p:sp>
      <p:sp>
        <p:nvSpPr>
          <p:cNvPr id="35" name="arrow-431"/>
          <p:cNvSpPr/>
          <p:nvPr/>
        </p:nvSpPr>
        <p:spPr>
          <a:xfrm flipV="1">
            <a:off x="6309360" y="2688336"/>
            <a:ext cx="1234440" cy="694944"/>
          </a:xfrm>
          <a:prstGeom prst="line">
            <a:avLst/>
          </a:prstGeom>
          <a:noFill/>
          <a:ln w="19050">
            <a:solidFill>
              <a:schemeClr val="accent1"/>
            </a:solidFill>
            <a:prstDash val="solid"/>
            <a:tailEnd type="triangle"/>
          </a:ln>
        </p:spPr>
        <p:txBody>
          <a:bodyPr/>
          <a:lstStyle/>
          <a:p>
            <a:endParaRPr lang="en-US"/>
          </a:p>
        </p:txBody>
      </p:sp>
      <p:sp>
        <p:nvSpPr>
          <p:cNvPr id="36" name="text-432"/>
          <p:cNvSpPr txBox="1"/>
          <p:nvPr/>
        </p:nvSpPr>
        <p:spPr>
          <a:xfrm>
            <a:off x="5532120" y="4069080"/>
            <a:ext cx="3017520" cy="274320"/>
          </a:xfrm>
          <a:prstGeom prst="rect">
            <a:avLst/>
          </a:prstGeom>
          <a:noFill/>
          <a:ln/>
        </p:spPr>
        <p:txBody>
          <a:bodyPr wrap="square" lIns="0" tIns="0" rIns="0" bIns="0" rtlCol="0" anchor="t"/>
          <a:lstStyle/>
          <a:p>
            <a:pPr marL="0" indent="0">
              <a:buNone/>
            </a:pPr>
            <a:r>
              <a:rPr lang="en-US" sz="1200" b="1" dirty="0">
                <a:solidFill>
                  <a:schemeClr val="tx2"/>
                </a:solidFill>
              </a:rPr>
              <a:t>k mod 11 = 7 for all three</a:t>
            </a:r>
            <a:endParaRPr lang="en-US" sz="1200" dirty="0"/>
          </a:p>
        </p:txBody>
      </p:sp>
      <p:sp>
        <p:nvSpPr>
          <p:cNvPr id="37"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Two ways to handle collisions</a:t>
            </a:r>
            <a:endParaRPr lang="en-US" sz="3000" dirty="0"/>
          </a:p>
        </p:txBody>
      </p:sp>
      <p:graphicFrame>
        <p:nvGraphicFramePr>
          <p:cNvPr id="17" name="table-433"/>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2752344"/>
        </p:xfrm>
        <a:graphic>
          <a:graphicData uri="http://schemas.openxmlformats.org/drawingml/2006/table">
            <a:tbl>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393192">
                <a:tc>
                  <a:txBody>
                    <a:bodyPr/>
                    <a:lstStyle/>
                    <a:p>
                      <a:pPr marL="0" indent="0">
                        <a:buNone/>
                      </a:pP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300" b="1" dirty="0">
                          <a:solidFill>
                            <a:schemeClr val="bg1"/>
                          </a:solidFill>
                        </a:rPr>
                        <a:t>Separate chaining</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Open addressing</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93192">
                <a:tc>
                  <a:txBody>
                    <a:bodyPr/>
                    <a:lstStyle/>
                    <a:p>
                      <a:pPr marL="0" indent="0">
                        <a:buNone/>
                      </a:pPr>
                      <a:r>
                        <a:rPr lang="en-US" sz="1300" b="1" dirty="0">
                          <a:solidFill>
                            <a:schemeClr val="tx2"/>
                          </a:solidFill>
                        </a:rPr>
                        <a:t>Also called</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“open hashing”</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“closed hashing”</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93192">
                <a:tc>
                  <a:txBody>
                    <a:bodyPr/>
                    <a:lstStyle/>
                    <a:p>
                      <a:pPr marL="0" indent="0">
                        <a:buNone/>
                      </a:pPr>
                      <a:r>
                        <a:rPr lang="en-US" sz="1300" b="1" dirty="0">
                          <a:solidFill>
                            <a:schemeClr val="tx2"/>
                          </a:solidFill>
                        </a:rPr>
                        <a:t>Where items live</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linked list per bucket</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in the table, one per cell</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93192">
                <a:tc>
                  <a:txBody>
                    <a:bodyPr/>
                    <a:lstStyle/>
                    <a:p>
                      <a:pPr marL="0" indent="0">
                        <a:buNone/>
                      </a:pPr>
                      <a:r>
                        <a:rPr lang="en-US" sz="1300" b="1" dirty="0">
                          <a:solidFill>
                            <a:schemeClr val="tx2"/>
                          </a:solidFill>
                        </a:rPr>
                        <a:t>Load factor α</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can exceed 1</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must stay &lt; 1</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93192">
                <a:tc>
                  <a:txBody>
                    <a:bodyPr/>
                    <a:lstStyle/>
                    <a:p>
                      <a:pPr marL="0" indent="0">
                        <a:buNone/>
                      </a:pPr>
                      <a:r>
                        <a:rPr lang="en-US" sz="1300" b="1" dirty="0">
                          <a:solidFill>
                            <a:schemeClr val="tx2"/>
                          </a:solidFill>
                        </a:rPr>
                        <a:t>Expected search</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O(1 + α)</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O(1) for constant α &lt; 1</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93192">
                <a:tc>
                  <a:txBody>
                    <a:bodyPr/>
                    <a:lstStyle/>
                    <a:p>
                      <a:pPr marL="0" indent="0">
                        <a:buNone/>
                      </a:pPr>
                      <a:r>
                        <a:rPr lang="en-US" sz="1300" b="1" dirty="0">
                          <a:solidFill>
                            <a:schemeClr val="tx2"/>
                          </a:solidFill>
                        </a:rPr>
                        <a:t>Worst-case search</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O(n): all in one list</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O(n): probe the whole table</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393192">
                <a:tc>
                  <a:txBody>
                    <a:bodyPr/>
                    <a:lstStyle/>
                    <a:p>
                      <a:pPr marL="0" indent="0">
                        <a:buNone/>
                      </a:pPr>
                      <a:r>
                        <a:rPr lang="en-US" sz="1300" b="1" dirty="0">
                          <a:solidFill>
                            <a:schemeClr val="tx2"/>
                          </a:solidFill>
                        </a:rPr>
                        <a:t>Deletion</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easy: unlink the node</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awkward: needs “deleted” markers</a:t>
                      </a:r>
                      <a:endParaRPr lang="en-US" sz="1300" dirty="0"/>
                    </a:p>
                  </a:txBody>
                  <a:tcPr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card-434"/>
          <p:cNvSpPr/>
          <p:nvPr/>
        </p:nvSpPr>
        <p:spPr>
          <a:xfrm>
            <a:off x="457200" y="3977640"/>
            <a:ext cx="8229600" cy="566928"/>
          </a:xfrm>
          <a:prstGeom prst="roundRect">
            <a:avLst>
              <a:gd name="adj" fmla="val 12903"/>
            </a:avLst>
          </a:prstGeom>
          <a:solidFill>
            <a:schemeClr val="accent2"/>
          </a:solidFill>
          <a:ln w="12700">
            <a:solidFill>
              <a:schemeClr val="accent2"/>
            </a:solidFill>
            <a:prstDash val="solid"/>
          </a:ln>
        </p:spPr>
        <p:txBody>
          <a:bodyPr/>
          <a:lstStyle/>
          <a:p>
            <a:endParaRPr lang="en-US"/>
          </a:p>
        </p:txBody>
      </p:sp>
      <p:sp>
        <p:nvSpPr>
          <p:cNvPr id="5" name="text-435"/>
          <p:cNvSpPr txBox="1"/>
          <p:nvPr/>
        </p:nvSpPr>
        <p:spPr>
          <a:xfrm>
            <a:off x="685800" y="3977640"/>
            <a:ext cx="7772400" cy="566928"/>
          </a:xfrm>
          <a:prstGeom prst="rect">
            <a:avLst/>
          </a:prstGeom>
          <a:noFill/>
          <a:ln/>
        </p:spPr>
        <p:txBody>
          <a:bodyPr wrap="square" lIns="0" tIns="0" rIns="0" bIns="0" rtlCol="0" anchor="ctr"/>
          <a:lstStyle/>
          <a:p>
            <a:pPr marL="0" indent="0">
              <a:buNone/>
            </a:pPr>
            <a:r>
              <a:rPr lang="en-US" sz="1400" b="1" dirty="0">
                <a:solidFill>
                  <a:schemeClr val="tx1"/>
                </a:solidFill>
              </a:rPr>
              <a:t>Naming trap: “open hashing” = chaining, but “open addressing” = closed hashing.</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Step 1 · Hash every key</a:t>
            </a:r>
            <a:endParaRPr lang="en-US" sz="3000" dirty="0"/>
          </a:p>
        </p:txBody>
      </p:sp>
      <p:sp>
        <p:nvSpPr>
          <p:cNvPr id="3" name="tile-436"/>
          <p:cNvSpPr/>
          <p:nvPr/>
        </p:nvSpPr>
        <p:spPr>
          <a:xfrm>
            <a:off x="685800" y="1371600"/>
            <a:ext cx="868680" cy="548640"/>
          </a:xfrm>
          <a:prstGeom prst="roundRect">
            <a:avLst>
              <a:gd name="adj" fmla="val 8333"/>
            </a:avLst>
          </a:prstGeom>
          <a:solidFill>
            <a:schemeClr val="tx2"/>
          </a:solidFill>
          <a:ln w="12700">
            <a:solidFill>
              <a:schemeClr val="tx2"/>
            </a:solidFill>
          </a:ln>
        </p:spPr>
        <p:txBody>
          <a:bodyPr wrap="square" lIns="0" tIns="0" rIns="0" bIns="0" rtlCol="0" anchor="ctr"/>
          <a:lstStyle/>
          <a:p>
            <a:pPr marL="0" indent="0" algn="ctr">
              <a:buNone/>
            </a:pPr>
            <a:r>
              <a:rPr lang="en-US" sz="1800" b="1" dirty="0">
                <a:solidFill>
                  <a:schemeClr val="bg1"/>
                </a:solidFill>
                <a:latin typeface="Courier New" pitchFamily="34" charset="0"/>
                <a:ea typeface="Courier New" pitchFamily="34" charset="-122"/>
                <a:cs typeface="Courier New" pitchFamily="34" charset="-120"/>
              </a:rPr>
              <a:t>40</a:t>
            </a:r>
            <a:endParaRPr lang="en-US" sz="1800" dirty="0"/>
          </a:p>
        </p:txBody>
      </p:sp>
      <p:sp>
        <p:nvSpPr>
          <p:cNvPr id="4" name="arrow-437"/>
          <p:cNvSpPr/>
          <p:nvPr/>
        </p:nvSpPr>
        <p:spPr>
          <a:xfrm>
            <a:off x="1120140" y="1993392"/>
            <a:ext cx="0" cy="457200"/>
          </a:xfrm>
          <a:prstGeom prst="line">
            <a:avLst/>
          </a:prstGeom>
          <a:noFill/>
          <a:ln w="19050">
            <a:solidFill>
              <a:schemeClr val="accent5"/>
            </a:solidFill>
            <a:prstDash val="solid"/>
            <a:tailEnd type="triangle"/>
          </a:ln>
        </p:spPr>
        <p:txBody>
          <a:bodyPr/>
          <a:lstStyle/>
          <a:p>
            <a:endParaRPr lang="en-US"/>
          </a:p>
        </p:txBody>
      </p:sp>
      <p:sp>
        <p:nvSpPr>
          <p:cNvPr id="5" name="text-438"/>
          <p:cNvSpPr txBox="1"/>
          <p:nvPr/>
        </p:nvSpPr>
        <p:spPr>
          <a:xfrm>
            <a:off x="1161288" y="2103120"/>
            <a:ext cx="640080" cy="228600"/>
          </a:xfrm>
          <a:prstGeom prst="rect">
            <a:avLst/>
          </a:prstGeom>
          <a:noFill/>
          <a:ln/>
        </p:spPr>
        <p:txBody>
          <a:bodyPr wrap="square" lIns="0" tIns="0" rIns="0" bIns="0" rtlCol="0" anchor="t"/>
          <a:lstStyle/>
          <a:p>
            <a:pPr marL="0" indent="0">
              <a:buNone/>
            </a:pPr>
            <a:r>
              <a:rPr lang="en-US" sz="900" dirty="0">
                <a:solidFill>
                  <a:schemeClr val="accent5"/>
                </a:solidFill>
              </a:rPr>
              <a:t>mod 11</a:t>
            </a:r>
            <a:endParaRPr lang="en-US" sz="900" dirty="0"/>
          </a:p>
        </p:txBody>
      </p:sp>
      <p:sp>
        <p:nvSpPr>
          <p:cNvPr id="6" name="tile-439"/>
          <p:cNvSpPr/>
          <p:nvPr/>
        </p:nvSpPr>
        <p:spPr>
          <a:xfrm>
            <a:off x="685800" y="2523744"/>
            <a:ext cx="868680" cy="548640"/>
          </a:xfrm>
          <a:prstGeom prst="roundRect">
            <a:avLst>
              <a:gd name="adj" fmla="val 8333"/>
            </a:avLst>
          </a:prstGeom>
          <a:solidFill>
            <a:schemeClr val="accent2"/>
          </a:solidFill>
          <a:ln w="12700">
            <a:solidFill>
              <a:schemeClr val="accent2"/>
            </a:solidFill>
          </a:ln>
        </p:spPr>
        <p:txBody>
          <a:bodyPr wrap="square" lIns="0" tIns="0" rIns="0" bIns="0" rtlCol="0" anchor="ctr"/>
          <a:lstStyle/>
          <a:p>
            <a:pPr marL="0" indent="0" algn="ctr">
              <a:buNone/>
            </a:pPr>
            <a:r>
              <a:rPr lang="en-US" sz="1800" b="1" dirty="0">
                <a:solidFill>
                  <a:schemeClr val="tx1"/>
                </a:solidFill>
                <a:latin typeface="Courier New" pitchFamily="34" charset="0"/>
                <a:ea typeface="Courier New" pitchFamily="34" charset="-122"/>
                <a:cs typeface="Courier New" pitchFamily="34" charset="-120"/>
              </a:rPr>
              <a:t>7</a:t>
            </a:r>
            <a:endParaRPr lang="en-US" sz="1800" dirty="0"/>
          </a:p>
        </p:txBody>
      </p:sp>
      <p:sp>
        <p:nvSpPr>
          <p:cNvPr id="7" name="tile-440"/>
          <p:cNvSpPr/>
          <p:nvPr/>
        </p:nvSpPr>
        <p:spPr>
          <a:xfrm>
            <a:off x="1828800" y="1371600"/>
            <a:ext cx="868680" cy="548640"/>
          </a:xfrm>
          <a:prstGeom prst="roundRect">
            <a:avLst>
              <a:gd name="adj" fmla="val 8333"/>
            </a:avLst>
          </a:prstGeom>
          <a:solidFill>
            <a:schemeClr val="tx2"/>
          </a:solidFill>
          <a:ln w="12700">
            <a:solidFill>
              <a:schemeClr val="tx2"/>
            </a:solidFill>
          </a:ln>
        </p:spPr>
        <p:txBody>
          <a:bodyPr wrap="square" lIns="0" tIns="0" rIns="0" bIns="0" rtlCol="0" anchor="ctr"/>
          <a:lstStyle/>
          <a:p>
            <a:pPr marL="0" indent="0" algn="ctr">
              <a:buNone/>
            </a:pPr>
            <a:r>
              <a:rPr lang="en-US" sz="1800" b="1" dirty="0">
                <a:solidFill>
                  <a:schemeClr val="bg1"/>
                </a:solidFill>
                <a:latin typeface="Courier New" pitchFamily="34" charset="0"/>
                <a:ea typeface="Courier New" pitchFamily="34" charset="-122"/>
                <a:cs typeface="Courier New" pitchFamily="34" charset="-120"/>
              </a:rPr>
              <a:t>60</a:t>
            </a:r>
            <a:endParaRPr lang="en-US" sz="1800" dirty="0"/>
          </a:p>
        </p:txBody>
      </p:sp>
      <p:sp>
        <p:nvSpPr>
          <p:cNvPr id="8" name="arrow-441"/>
          <p:cNvSpPr/>
          <p:nvPr/>
        </p:nvSpPr>
        <p:spPr>
          <a:xfrm>
            <a:off x="2263140" y="1993392"/>
            <a:ext cx="0" cy="457200"/>
          </a:xfrm>
          <a:prstGeom prst="line">
            <a:avLst/>
          </a:prstGeom>
          <a:noFill/>
          <a:ln w="19050">
            <a:solidFill>
              <a:schemeClr val="accent5"/>
            </a:solidFill>
            <a:prstDash val="solid"/>
            <a:tailEnd type="triangle"/>
          </a:ln>
        </p:spPr>
        <p:txBody>
          <a:bodyPr/>
          <a:lstStyle/>
          <a:p>
            <a:endParaRPr lang="en-US"/>
          </a:p>
        </p:txBody>
      </p:sp>
      <p:sp>
        <p:nvSpPr>
          <p:cNvPr id="9" name="text-442"/>
          <p:cNvSpPr txBox="1"/>
          <p:nvPr/>
        </p:nvSpPr>
        <p:spPr>
          <a:xfrm>
            <a:off x="2304288" y="2103120"/>
            <a:ext cx="640080" cy="228600"/>
          </a:xfrm>
          <a:prstGeom prst="rect">
            <a:avLst/>
          </a:prstGeom>
          <a:noFill/>
          <a:ln/>
        </p:spPr>
        <p:txBody>
          <a:bodyPr wrap="square" lIns="0" tIns="0" rIns="0" bIns="0" rtlCol="0" anchor="t"/>
          <a:lstStyle/>
          <a:p>
            <a:pPr marL="0" indent="0">
              <a:buNone/>
            </a:pPr>
            <a:r>
              <a:rPr lang="en-US" sz="900" dirty="0">
                <a:solidFill>
                  <a:schemeClr val="accent5"/>
                </a:solidFill>
              </a:rPr>
              <a:t>mod 11</a:t>
            </a:r>
            <a:endParaRPr lang="en-US" sz="900" dirty="0"/>
          </a:p>
        </p:txBody>
      </p:sp>
      <p:sp>
        <p:nvSpPr>
          <p:cNvPr id="10" name="tile-443"/>
          <p:cNvSpPr/>
          <p:nvPr/>
        </p:nvSpPr>
        <p:spPr>
          <a:xfrm>
            <a:off x="1828800" y="2523744"/>
            <a:ext cx="868680" cy="548640"/>
          </a:xfrm>
          <a:prstGeom prst="roundRect">
            <a:avLst>
              <a:gd name="adj" fmla="val 8333"/>
            </a:avLst>
          </a:prstGeom>
          <a:solidFill>
            <a:schemeClr val="bg1"/>
          </a:solidFill>
          <a:ln w="12700">
            <a:solidFill>
              <a:schemeClr val="accent6"/>
            </a:solidFill>
          </a:ln>
        </p:spPr>
        <p:txBody>
          <a:bodyPr wrap="square" lIns="0" tIns="0" rIns="0" bIns="0" rtlCol="0" anchor="ctr"/>
          <a:lstStyle/>
          <a:p>
            <a:pPr marL="0" indent="0" algn="ctr">
              <a:buNone/>
            </a:pPr>
            <a:r>
              <a:rPr lang="en-US" sz="1800" b="1" dirty="0">
                <a:solidFill>
                  <a:schemeClr val="tx2"/>
                </a:solidFill>
                <a:latin typeface="Courier New" pitchFamily="34" charset="0"/>
                <a:ea typeface="Courier New" pitchFamily="34" charset="-122"/>
                <a:cs typeface="Courier New" pitchFamily="34" charset="-120"/>
              </a:rPr>
              <a:t>5</a:t>
            </a:r>
            <a:endParaRPr lang="en-US" sz="1800" dirty="0"/>
          </a:p>
        </p:txBody>
      </p:sp>
      <p:sp>
        <p:nvSpPr>
          <p:cNvPr id="11" name="tile-444"/>
          <p:cNvSpPr/>
          <p:nvPr/>
        </p:nvSpPr>
        <p:spPr>
          <a:xfrm>
            <a:off x="2971800" y="1371600"/>
            <a:ext cx="868680" cy="548640"/>
          </a:xfrm>
          <a:prstGeom prst="roundRect">
            <a:avLst>
              <a:gd name="adj" fmla="val 8333"/>
            </a:avLst>
          </a:prstGeom>
          <a:solidFill>
            <a:schemeClr val="tx2"/>
          </a:solidFill>
          <a:ln w="12700">
            <a:solidFill>
              <a:schemeClr val="tx2"/>
            </a:solidFill>
          </a:ln>
        </p:spPr>
        <p:txBody>
          <a:bodyPr wrap="square" lIns="0" tIns="0" rIns="0" bIns="0" rtlCol="0" anchor="ctr"/>
          <a:lstStyle/>
          <a:p>
            <a:pPr marL="0" indent="0" algn="ctr">
              <a:buNone/>
            </a:pPr>
            <a:r>
              <a:rPr lang="en-US" sz="1800" b="1" dirty="0">
                <a:solidFill>
                  <a:schemeClr val="bg1"/>
                </a:solidFill>
                <a:latin typeface="Courier New" pitchFamily="34" charset="0"/>
                <a:ea typeface="Courier New" pitchFamily="34" charset="-122"/>
                <a:cs typeface="Courier New" pitchFamily="34" charset="-120"/>
              </a:rPr>
              <a:t>37</a:t>
            </a:r>
            <a:endParaRPr lang="en-US" sz="1800" dirty="0"/>
          </a:p>
        </p:txBody>
      </p:sp>
      <p:sp>
        <p:nvSpPr>
          <p:cNvPr id="12" name="arrow-445"/>
          <p:cNvSpPr/>
          <p:nvPr/>
        </p:nvSpPr>
        <p:spPr>
          <a:xfrm>
            <a:off x="3406140" y="1993392"/>
            <a:ext cx="0" cy="457200"/>
          </a:xfrm>
          <a:prstGeom prst="line">
            <a:avLst/>
          </a:prstGeom>
          <a:noFill/>
          <a:ln w="19050">
            <a:solidFill>
              <a:schemeClr val="accent5"/>
            </a:solidFill>
            <a:prstDash val="solid"/>
            <a:tailEnd type="triangle"/>
          </a:ln>
        </p:spPr>
        <p:txBody>
          <a:bodyPr/>
          <a:lstStyle/>
          <a:p>
            <a:endParaRPr lang="en-US"/>
          </a:p>
        </p:txBody>
      </p:sp>
      <p:sp>
        <p:nvSpPr>
          <p:cNvPr id="13" name="text-446"/>
          <p:cNvSpPr txBox="1"/>
          <p:nvPr/>
        </p:nvSpPr>
        <p:spPr>
          <a:xfrm>
            <a:off x="3447288" y="2103120"/>
            <a:ext cx="640080" cy="228600"/>
          </a:xfrm>
          <a:prstGeom prst="rect">
            <a:avLst/>
          </a:prstGeom>
          <a:noFill/>
          <a:ln/>
        </p:spPr>
        <p:txBody>
          <a:bodyPr wrap="square" lIns="0" tIns="0" rIns="0" bIns="0" rtlCol="0" anchor="t"/>
          <a:lstStyle/>
          <a:p>
            <a:pPr marL="0" indent="0">
              <a:buNone/>
            </a:pPr>
            <a:r>
              <a:rPr lang="en-US" sz="900" dirty="0">
                <a:solidFill>
                  <a:schemeClr val="accent5"/>
                </a:solidFill>
              </a:rPr>
              <a:t>mod 11</a:t>
            </a:r>
            <a:endParaRPr lang="en-US" sz="900" dirty="0"/>
          </a:p>
        </p:txBody>
      </p:sp>
      <p:sp>
        <p:nvSpPr>
          <p:cNvPr id="14" name="tile-447"/>
          <p:cNvSpPr/>
          <p:nvPr/>
        </p:nvSpPr>
        <p:spPr>
          <a:xfrm>
            <a:off x="2971800" y="2523744"/>
            <a:ext cx="868680" cy="548640"/>
          </a:xfrm>
          <a:prstGeom prst="roundRect">
            <a:avLst>
              <a:gd name="adj" fmla="val 8333"/>
            </a:avLst>
          </a:prstGeom>
          <a:solidFill>
            <a:schemeClr val="bg1"/>
          </a:solidFill>
          <a:ln w="12700">
            <a:solidFill>
              <a:schemeClr val="accent6"/>
            </a:solidFill>
          </a:ln>
        </p:spPr>
        <p:txBody>
          <a:bodyPr wrap="square" lIns="0" tIns="0" rIns="0" bIns="0" rtlCol="0" anchor="ctr"/>
          <a:lstStyle/>
          <a:p>
            <a:pPr marL="0" indent="0" algn="ctr">
              <a:buNone/>
            </a:pPr>
            <a:r>
              <a:rPr lang="en-US" sz="1800" b="1" dirty="0">
                <a:solidFill>
                  <a:schemeClr val="tx2"/>
                </a:solidFill>
                <a:latin typeface="Courier New" pitchFamily="34" charset="0"/>
                <a:ea typeface="Courier New" pitchFamily="34" charset="-122"/>
                <a:cs typeface="Courier New" pitchFamily="34" charset="-120"/>
              </a:rPr>
              <a:t>4</a:t>
            </a:r>
            <a:endParaRPr lang="en-US" sz="1800" dirty="0"/>
          </a:p>
        </p:txBody>
      </p:sp>
      <p:sp>
        <p:nvSpPr>
          <p:cNvPr id="15" name="tile-448"/>
          <p:cNvSpPr/>
          <p:nvPr/>
        </p:nvSpPr>
        <p:spPr>
          <a:xfrm>
            <a:off x="4114800" y="1371600"/>
            <a:ext cx="868680" cy="548640"/>
          </a:xfrm>
          <a:prstGeom prst="roundRect">
            <a:avLst>
              <a:gd name="adj" fmla="val 8333"/>
            </a:avLst>
          </a:prstGeom>
          <a:solidFill>
            <a:schemeClr val="tx2"/>
          </a:solidFill>
          <a:ln w="12700">
            <a:solidFill>
              <a:schemeClr val="tx2"/>
            </a:solidFill>
          </a:ln>
        </p:spPr>
        <p:txBody>
          <a:bodyPr wrap="square" lIns="0" tIns="0" rIns="0" bIns="0" rtlCol="0" anchor="ctr"/>
          <a:lstStyle/>
          <a:p>
            <a:pPr marL="0" indent="0" algn="ctr">
              <a:buNone/>
            </a:pPr>
            <a:r>
              <a:rPr lang="en-US" sz="1800" b="1" dirty="0">
                <a:solidFill>
                  <a:schemeClr val="bg1"/>
                </a:solidFill>
                <a:latin typeface="Courier New" pitchFamily="34" charset="0"/>
                <a:ea typeface="Courier New" pitchFamily="34" charset="-122"/>
                <a:cs typeface="Courier New" pitchFamily="34" charset="-120"/>
              </a:rPr>
              <a:t>84</a:t>
            </a:r>
            <a:endParaRPr lang="en-US" sz="1800" dirty="0"/>
          </a:p>
        </p:txBody>
      </p:sp>
      <p:sp>
        <p:nvSpPr>
          <p:cNvPr id="16" name="arrow-449"/>
          <p:cNvSpPr/>
          <p:nvPr/>
        </p:nvSpPr>
        <p:spPr>
          <a:xfrm>
            <a:off x="4549140" y="1993392"/>
            <a:ext cx="0" cy="457200"/>
          </a:xfrm>
          <a:prstGeom prst="line">
            <a:avLst/>
          </a:prstGeom>
          <a:noFill/>
          <a:ln w="19050">
            <a:solidFill>
              <a:schemeClr val="accent5"/>
            </a:solidFill>
            <a:prstDash val="solid"/>
            <a:tailEnd type="triangle"/>
          </a:ln>
        </p:spPr>
        <p:txBody>
          <a:bodyPr/>
          <a:lstStyle/>
          <a:p>
            <a:endParaRPr lang="en-US"/>
          </a:p>
        </p:txBody>
      </p:sp>
      <p:sp>
        <p:nvSpPr>
          <p:cNvPr id="17" name="text-450"/>
          <p:cNvSpPr txBox="1"/>
          <p:nvPr/>
        </p:nvSpPr>
        <p:spPr>
          <a:xfrm>
            <a:off x="4590288" y="2103120"/>
            <a:ext cx="640080" cy="228600"/>
          </a:xfrm>
          <a:prstGeom prst="rect">
            <a:avLst/>
          </a:prstGeom>
          <a:noFill/>
          <a:ln/>
        </p:spPr>
        <p:txBody>
          <a:bodyPr wrap="square" lIns="0" tIns="0" rIns="0" bIns="0" rtlCol="0" anchor="t"/>
          <a:lstStyle/>
          <a:p>
            <a:pPr marL="0" indent="0">
              <a:buNone/>
            </a:pPr>
            <a:r>
              <a:rPr lang="en-US" sz="900" dirty="0">
                <a:solidFill>
                  <a:schemeClr val="accent5"/>
                </a:solidFill>
              </a:rPr>
              <a:t>mod 11</a:t>
            </a:r>
            <a:endParaRPr lang="en-US" sz="900" dirty="0"/>
          </a:p>
        </p:txBody>
      </p:sp>
      <p:sp>
        <p:nvSpPr>
          <p:cNvPr id="18" name="tile-451"/>
          <p:cNvSpPr/>
          <p:nvPr/>
        </p:nvSpPr>
        <p:spPr>
          <a:xfrm>
            <a:off x="4114800" y="2523744"/>
            <a:ext cx="868680" cy="548640"/>
          </a:xfrm>
          <a:prstGeom prst="roundRect">
            <a:avLst>
              <a:gd name="adj" fmla="val 8333"/>
            </a:avLst>
          </a:prstGeom>
          <a:solidFill>
            <a:schemeClr val="accent2"/>
          </a:solidFill>
          <a:ln w="12700">
            <a:solidFill>
              <a:schemeClr val="accent2"/>
            </a:solidFill>
          </a:ln>
        </p:spPr>
        <p:txBody>
          <a:bodyPr wrap="square" lIns="0" tIns="0" rIns="0" bIns="0" rtlCol="0" anchor="ctr"/>
          <a:lstStyle/>
          <a:p>
            <a:pPr marL="0" indent="0" algn="ctr">
              <a:buNone/>
            </a:pPr>
            <a:r>
              <a:rPr lang="en-US" sz="1800" b="1" dirty="0">
                <a:solidFill>
                  <a:schemeClr val="tx1"/>
                </a:solidFill>
                <a:latin typeface="Courier New" pitchFamily="34" charset="0"/>
                <a:ea typeface="Courier New" pitchFamily="34" charset="-122"/>
                <a:cs typeface="Courier New" pitchFamily="34" charset="-120"/>
              </a:rPr>
              <a:t>7</a:t>
            </a:r>
            <a:endParaRPr lang="en-US" sz="1800" dirty="0"/>
          </a:p>
        </p:txBody>
      </p:sp>
      <p:sp>
        <p:nvSpPr>
          <p:cNvPr id="19" name="tile-452"/>
          <p:cNvSpPr/>
          <p:nvPr/>
        </p:nvSpPr>
        <p:spPr>
          <a:xfrm>
            <a:off x="5257800" y="1371600"/>
            <a:ext cx="868680" cy="548640"/>
          </a:xfrm>
          <a:prstGeom prst="roundRect">
            <a:avLst>
              <a:gd name="adj" fmla="val 8333"/>
            </a:avLst>
          </a:prstGeom>
          <a:solidFill>
            <a:schemeClr val="tx2"/>
          </a:solidFill>
          <a:ln w="12700">
            <a:solidFill>
              <a:schemeClr val="tx2"/>
            </a:solidFill>
          </a:ln>
        </p:spPr>
        <p:txBody>
          <a:bodyPr wrap="square" lIns="0" tIns="0" rIns="0" bIns="0" rtlCol="0" anchor="ctr"/>
          <a:lstStyle/>
          <a:p>
            <a:pPr marL="0" indent="0" algn="ctr">
              <a:buNone/>
            </a:pPr>
            <a:r>
              <a:rPr lang="en-US" sz="1800" b="1" dirty="0">
                <a:solidFill>
                  <a:schemeClr val="bg1"/>
                </a:solidFill>
                <a:latin typeface="Courier New" pitchFamily="34" charset="0"/>
                <a:ea typeface="Courier New" pitchFamily="34" charset="-122"/>
                <a:cs typeface="Courier New" pitchFamily="34" charset="-120"/>
              </a:rPr>
              <a:t>42</a:t>
            </a:r>
            <a:endParaRPr lang="en-US" sz="1800" dirty="0"/>
          </a:p>
        </p:txBody>
      </p:sp>
      <p:sp>
        <p:nvSpPr>
          <p:cNvPr id="20" name="arrow-453"/>
          <p:cNvSpPr/>
          <p:nvPr/>
        </p:nvSpPr>
        <p:spPr>
          <a:xfrm>
            <a:off x="5692140" y="1993392"/>
            <a:ext cx="0" cy="457200"/>
          </a:xfrm>
          <a:prstGeom prst="line">
            <a:avLst/>
          </a:prstGeom>
          <a:noFill/>
          <a:ln w="19050">
            <a:solidFill>
              <a:schemeClr val="accent5"/>
            </a:solidFill>
            <a:prstDash val="solid"/>
            <a:tailEnd type="triangle"/>
          </a:ln>
        </p:spPr>
        <p:txBody>
          <a:bodyPr/>
          <a:lstStyle/>
          <a:p>
            <a:endParaRPr lang="en-US"/>
          </a:p>
        </p:txBody>
      </p:sp>
      <p:sp>
        <p:nvSpPr>
          <p:cNvPr id="21" name="text-454"/>
          <p:cNvSpPr txBox="1"/>
          <p:nvPr/>
        </p:nvSpPr>
        <p:spPr>
          <a:xfrm>
            <a:off x="5733288" y="2103120"/>
            <a:ext cx="640080" cy="228600"/>
          </a:xfrm>
          <a:prstGeom prst="rect">
            <a:avLst/>
          </a:prstGeom>
          <a:noFill/>
          <a:ln/>
        </p:spPr>
        <p:txBody>
          <a:bodyPr wrap="square" lIns="0" tIns="0" rIns="0" bIns="0" rtlCol="0" anchor="t"/>
          <a:lstStyle/>
          <a:p>
            <a:pPr marL="0" indent="0">
              <a:buNone/>
            </a:pPr>
            <a:r>
              <a:rPr lang="en-US" sz="900" dirty="0">
                <a:solidFill>
                  <a:schemeClr val="accent5"/>
                </a:solidFill>
              </a:rPr>
              <a:t>mod 11</a:t>
            </a:r>
            <a:endParaRPr lang="en-US" sz="900" dirty="0"/>
          </a:p>
        </p:txBody>
      </p:sp>
      <p:sp>
        <p:nvSpPr>
          <p:cNvPr id="22" name="tile-455"/>
          <p:cNvSpPr/>
          <p:nvPr/>
        </p:nvSpPr>
        <p:spPr>
          <a:xfrm>
            <a:off x="5257800" y="2523744"/>
            <a:ext cx="868680" cy="548640"/>
          </a:xfrm>
          <a:prstGeom prst="roundRect">
            <a:avLst>
              <a:gd name="adj" fmla="val 8333"/>
            </a:avLst>
          </a:prstGeom>
          <a:solidFill>
            <a:schemeClr val="bg1"/>
          </a:solidFill>
          <a:ln w="12700">
            <a:solidFill>
              <a:schemeClr val="accent6"/>
            </a:solidFill>
          </a:ln>
        </p:spPr>
        <p:txBody>
          <a:bodyPr wrap="square" lIns="0" tIns="0" rIns="0" bIns="0" rtlCol="0" anchor="ctr"/>
          <a:lstStyle/>
          <a:p>
            <a:pPr marL="0" indent="0" algn="ctr">
              <a:buNone/>
            </a:pPr>
            <a:r>
              <a:rPr lang="en-US" sz="1800" b="1" dirty="0">
                <a:solidFill>
                  <a:schemeClr val="tx2"/>
                </a:solidFill>
                <a:latin typeface="Courier New" pitchFamily="34" charset="0"/>
                <a:ea typeface="Courier New" pitchFamily="34" charset="-122"/>
                <a:cs typeface="Courier New" pitchFamily="34" charset="-120"/>
              </a:rPr>
              <a:t>9</a:t>
            </a:r>
            <a:endParaRPr lang="en-US" sz="1800" dirty="0"/>
          </a:p>
        </p:txBody>
      </p:sp>
      <p:sp>
        <p:nvSpPr>
          <p:cNvPr id="23" name="tile-456"/>
          <p:cNvSpPr/>
          <p:nvPr/>
        </p:nvSpPr>
        <p:spPr>
          <a:xfrm>
            <a:off x="6400800" y="1371600"/>
            <a:ext cx="868680" cy="548640"/>
          </a:xfrm>
          <a:prstGeom prst="roundRect">
            <a:avLst>
              <a:gd name="adj" fmla="val 8333"/>
            </a:avLst>
          </a:prstGeom>
          <a:solidFill>
            <a:schemeClr val="tx2"/>
          </a:solidFill>
          <a:ln w="12700">
            <a:solidFill>
              <a:schemeClr val="tx2"/>
            </a:solidFill>
          </a:ln>
        </p:spPr>
        <p:txBody>
          <a:bodyPr wrap="square" lIns="0" tIns="0" rIns="0" bIns="0" rtlCol="0" anchor="ctr"/>
          <a:lstStyle/>
          <a:p>
            <a:pPr marL="0" indent="0" algn="ctr">
              <a:buNone/>
            </a:pPr>
            <a:r>
              <a:rPr lang="en-US" sz="1800" b="1" dirty="0">
                <a:solidFill>
                  <a:schemeClr val="bg1"/>
                </a:solidFill>
                <a:latin typeface="Courier New" pitchFamily="34" charset="0"/>
                <a:ea typeface="Courier New" pitchFamily="34" charset="-122"/>
                <a:cs typeface="Courier New" pitchFamily="34" charset="-120"/>
              </a:rPr>
              <a:t>18</a:t>
            </a:r>
            <a:endParaRPr lang="en-US" sz="1800" dirty="0"/>
          </a:p>
        </p:txBody>
      </p:sp>
      <p:sp>
        <p:nvSpPr>
          <p:cNvPr id="24" name="arrow-457"/>
          <p:cNvSpPr/>
          <p:nvPr/>
        </p:nvSpPr>
        <p:spPr>
          <a:xfrm>
            <a:off x="6835140" y="1993392"/>
            <a:ext cx="0" cy="457200"/>
          </a:xfrm>
          <a:prstGeom prst="line">
            <a:avLst/>
          </a:prstGeom>
          <a:noFill/>
          <a:ln w="19050">
            <a:solidFill>
              <a:schemeClr val="accent5"/>
            </a:solidFill>
            <a:prstDash val="solid"/>
            <a:tailEnd type="triangle"/>
          </a:ln>
        </p:spPr>
        <p:txBody>
          <a:bodyPr/>
          <a:lstStyle/>
          <a:p>
            <a:endParaRPr lang="en-US"/>
          </a:p>
        </p:txBody>
      </p:sp>
      <p:sp>
        <p:nvSpPr>
          <p:cNvPr id="25" name="text-458"/>
          <p:cNvSpPr txBox="1"/>
          <p:nvPr/>
        </p:nvSpPr>
        <p:spPr>
          <a:xfrm>
            <a:off x="6876288" y="2103120"/>
            <a:ext cx="640080" cy="228600"/>
          </a:xfrm>
          <a:prstGeom prst="rect">
            <a:avLst/>
          </a:prstGeom>
          <a:noFill/>
          <a:ln/>
        </p:spPr>
        <p:txBody>
          <a:bodyPr wrap="square" lIns="0" tIns="0" rIns="0" bIns="0" rtlCol="0" anchor="t"/>
          <a:lstStyle/>
          <a:p>
            <a:pPr marL="0" indent="0">
              <a:buNone/>
            </a:pPr>
            <a:r>
              <a:rPr lang="en-US" sz="900" dirty="0">
                <a:solidFill>
                  <a:schemeClr val="accent5"/>
                </a:solidFill>
              </a:rPr>
              <a:t>mod 11</a:t>
            </a:r>
            <a:endParaRPr lang="en-US" sz="900" dirty="0"/>
          </a:p>
        </p:txBody>
      </p:sp>
      <p:sp>
        <p:nvSpPr>
          <p:cNvPr id="26" name="tile-459"/>
          <p:cNvSpPr/>
          <p:nvPr/>
        </p:nvSpPr>
        <p:spPr>
          <a:xfrm>
            <a:off x="6400800" y="2523744"/>
            <a:ext cx="868680" cy="548640"/>
          </a:xfrm>
          <a:prstGeom prst="roundRect">
            <a:avLst>
              <a:gd name="adj" fmla="val 8333"/>
            </a:avLst>
          </a:prstGeom>
          <a:solidFill>
            <a:schemeClr val="accent2"/>
          </a:solidFill>
          <a:ln w="12700">
            <a:solidFill>
              <a:schemeClr val="accent2"/>
            </a:solidFill>
          </a:ln>
        </p:spPr>
        <p:txBody>
          <a:bodyPr wrap="square" lIns="0" tIns="0" rIns="0" bIns="0" rtlCol="0" anchor="ctr"/>
          <a:lstStyle/>
          <a:p>
            <a:pPr marL="0" indent="0" algn="ctr">
              <a:buNone/>
            </a:pPr>
            <a:r>
              <a:rPr lang="en-US" sz="1800" b="1" dirty="0">
                <a:solidFill>
                  <a:schemeClr val="tx1"/>
                </a:solidFill>
                <a:latin typeface="Courier New" pitchFamily="34" charset="0"/>
                <a:ea typeface="Courier New" pitchFamily="34" charset="-122"/>
                <a:cs typeface="Courier New" pitchFamily="34" charset="-120"/>
              </a:rPr>
              <a:t>7</a:t>
            </a:r>
            <a:endParaRPr lang="en-US" sz="1800" dirty="0"/>
          </a:p>
        </p:txBody>
      </p:sp>
      <p:sp>
        <p:nvSpPr>
          <p:cNvPr id="27" name="tile-460"/>
          <p:cNvSpPr/>
          <p:nvPr/>
        </p:nvSpPr>
        <p:spPr>
          <a:xfrm>
            <a:off x="7543800" y="1371600"/>
            <a:ext cx="868680" cy="548640"/>
          </a:xfrm>
          <a:prstGeom prst="roundRect">
            <a:avLst>
              <a:gd name="adj" fmla="val 8333"/>
            </a:avLst>
          </a:prstGeom>
          <a:solidFill>
            <a:schemeClr val="tx2"/>
          </a:solidFill>
          <a:ln w="12700">
            <a:solidFill>
              <a:schemeClr val="tx2"/>
            </a:solidFill>
          </a:ln>
        </p:spPr>
        <p:txBody>
          <a:bodyPr wrap="square" lIns="0" tIns="0" rIns="0" bIns="0" rtlCol="0" anchor="ctr"/>
          <a:lstStyle/>
          <a:p>
            <a:pPr marL="0" indent="0" algn="ctr">
              <a:buNone/>
            </a:pPr>
            <a:r>
              <a:rPr lang="en-US" sz="1800" b="1" dirty="0">
                <a:solidFill>
                  <a:schemeClr val="bg1"/>
                </a:solidFill>
                <a:latin typeface="Courier New" pitchFamily="34" charset="0"/>
                <a:ea typeface="Courier New" pitchFamily="34" charset="-122"/>
                <a:cs typeface="Courier New" pitchFamily="34" charset="-120"/>
              </a:rPr>
              <a:t>30</a:t>
            </a:r>
            <a:endParaRPr lang="en-US" sz="1800" dirty="0"/>
          </a:p>
        </p:txBody>
      </p:sp>
      <p:sp>
        <p:nvSpPr>
          <p:cNvPr id="28" name="arrow-461"/>
          <p:cNvSpPr/>
          <p:nvPr/>
        </p:nvSpPr>
        <p:spPr>
          <a:xfrm>
            <a:off x="7978140" y="1993392"/>
            <a:ext cx="0" cy="457200"/>
          </a:xfrm>
          <a:prstGeom prst="line">
            <a:avLst/>
          </a:prstGeom>
          <a:noFill/>
          <a:ln w="19050">
            <a:solidFill>
              <a:schemeClr val="accent5"/>
            </a:solidFill>
            <a:prstDash val="solid"/>
            <a:tailEnd type="triangle"/>
          </a:ln>
        </p:spPr>
        <p:txBody>
          <a:bodyPr/>
          <a:lstStyle/>
          <a:p>
            <a:endParaRPr lang="en-US"/>
          </a:p>
        </p:txBody>
      </p:sp>
      <p:sp>
        <p:nvSpPr>
          <p:cNvPr id="29" name="text-462"/>
          <p:cNvSpPr txBox="1"/>
          <p:nvPr/>
        </p:nvSpPr>
        <p:spPr>
          <a:xfrm>
            <a:off x="8019288" y="2103120"/>
            <a:ext cx="640080" cy="228600"/>
          </a:xfrm>
          <a:prstGeom prst="rect">
            <a:avLst/>
          </a:prstGeom>
          <a:noFill/>
          <a:ln/>
        </p:spPr>
        <p:txBody>
          <a:bodyPr wrap="square" lIns="0" tIns="0" rIns="0" bIns="0" rtlCol="0" anchor="t"/>
          <a:lstStyle/>
          <a:p>
            <a:pPr marL="0" indent="0">
              <a:buNone/>
            </a:pPr>
            <a:r>
              <a:rPr lang="en-US" sz="900" dirty="0">
                <a:solidFill>
                  <a:schemeClr val="accent5"/>
                </a:solidFill>
              </a:rPr>
              <a:t>mod 11</a:t>
            </a:r>
            <a:endParaRPr lang="en-US" sz="900" dirty="0"/>
          </a:p>
        </p:txBody>
      </p:sp>
      <p:sp>
        <p:nvSpPr>
          <p:cNvPr id="30" name="tile-463"/>
          <p:cNvSpPr/>
          <p:nvPr/>
        </p:nvSpPr>
        <p:spPr>
          <a:xfrm>
            <a:off x="7543800" y="2523744"/>
            <a:ext cx="868680" cy="548640"/>
          </a:xfrm>
          <a:prstGeom prst="roundRect">
            <a:avLst>
              <a:gd name="adj" fmla="val 8333"/>
            </a:avLst>
          </a:prstGeom>
          <a:solidFill>
            <a:schemeClr val="bg1"/>
          </a:solidFill>
          <a:ln w="12700">
            <a:solidFill>
              <a:schemeClr val="accent6"/>
            </a:solidFill>
          </a:ln>
        </p:spPr>
        <p:txBody>
          <a:bodyPr wrap="square" lIns="0" tIns="0" rIns="0" bIns="0" rtlCol="0" anchor="ctr"/>
          <a:lstStyle/>
          <a:p>
            <a:pPr marL="0" indent="0" algn="ctr">
              <a:buNone/>
            </a:pPr>
            <a:r>
              <a:rPr lang="en-US" sz="1800" b="1" dirty="0">
                <a:solidFill>
                  <a:schemeClr val="tx2"/>
                </a:solidFill>
                <a:latin typeface="Courier New" pitchFamily="34" charset="0"/>
                <a:ea typeface="Courier New" pitchFamily="34" charset="-122"/>
                <a:cs typeface="Courier New" pitchFamily="34" charset="-120"/>
              </a:rPr>
              <a:t>8</a:t>
            </a:r>
            <a:endParaRPr lang="en-US" sz="1800" dirty="0"/>
          </a:p>
        </p:txBody>
      </p:sp>
      <p:sp>
        <p:nvSpPr>
          <p:cNvPr id="31" name="text-464"/>
          <p:cNvSpPr txBox="1"/>
          <p:nvPr/>
        </p:nvSpPr>
        <p:spPr>
          <a:xfrm>
            <a:off x="0" y="1371600"/>
            <a:ext cx="594360" cy="548640"/>
          </a:xfrm>
          <a:prstGeom prst="rect">
            <a:avLst/>
          </a:prstGeom>
          <a:noFill/>
          <a:ln/>
        </p:spPr>
        <p:txBody>
          <a:bodyPr wrap="square" lIns="0" tIns="0" rIns="0" bIns="0" rtlCol="0" anchor="ctr"/>
          <a:lstStyle/>
          <a:p>
            <a:pPr marL="0" indent="0" algn="r">
              <a:buNone/>
            </a:pPr>
            <a:r>
              <a:rPr lang="en-US" sz="1100" dirty="0">
                <a:solidFill>
                  <a:schemeClr val="accent5"/>
                </a:solidFill>
              </a:rPr>
              <a:t>key</a:t>
            </a:r>
            <a:endParaRPr lang="en-US" sz="1100" dirty="0"/>
          </a:p>
        </p:txBody>
      </p:sp>
      <p:sp>
        <p:nvSpPr>
          <p:cNvPr id="32" name="text-465"/>
          <p:cNvSpPr txBox="1"/>
          <p:nvPr/>
        </p:nvSpPr>
        <p:spPr>
          <a:xfrm>
            <a:off x="0" y="2523744"/>
            <a:ext cx="594360" cy="548640"/>
          </a:xfrm>
          <a:prstGeom prst="rect">
            <a:avLst/>
          </a:prstGeom>
          <a:noFill/>
          <a:ln/>
        </p:spPr>
        <p:txBody>
          <a:bodyPr wrap="square" lIns="0" tIns="0" rIns="0" bIns="0" rtlCol="0" anchor="ctr"/>
          <a:lstStyle/>
          <a:p>
            <a:pPr marL="0" indent="0" algn="r">
              <a:buNone/>
            </a:pPr>
            <a:r>
              <a:rPr lang="en-US" sz="1100" dirty="0">
                <a:solidFill>
                  <a:schemeClr val="accent5"/>
                </a:solidFill>
              </a:rPr>
              <a:t>h(k)</a:t>
            </a:r>
            <a:endParaRPr lang="en-US" sz="1100" dirty="0"/>
          </a:p>
        </p:txBody>
      </p:sp>
      <p:sp>
        <p:nvSpPr>
          <p:cNvPr id="33" name="card-466"/>
          <p:cNvSpPr/>
          <p:nvPr/>
        </p:nvSpPr>
        <p:spPr>
          <a:xfrm>
            <a:off x="685800" y="3429000"/>
            <a:ext cx="3749040" cy="1097280"/>
          </a:xfrm>
          <a:prstGeom prst="roundRect">
            <a:avLst>
              <a:gd name="adj" fmla="val 6667"/>
            </a:avLst>
          </a:prstGeom>
          <a:solidFill>
            <a:schemeClr val="bg2"/>
          </a:solidFill>
          <a:ln w="12700">
            <a:solidFill>
              <a:schemeClr val="bg2"/>
            </a:solidFill>
            <a:prstDash val="solid"/>
          </a:ln>
        </p:spPr>
        <p:txBody>
          <a:bodyPr/>
          <a:lstStyle/>
          <a:p>
            <a:endParaRPr lang="en-US"/>
          </a:p>
        </p:txBody>
      </p:sp>
      <p:sp>
        <p:nvSpPr>
          <p:cNvPr id="34" name="text-467"/>
          <p:cNvSpPr txBox="1"/>
          <p:nvPr/>
        </p:nvSpPr>
        <p:spPr>
          <a:xfrm>
            <a:off x="868680" y="3520440"/>
            <a:ext cx="3383280" cy="274320"/>
          </a:xfrm>
          <a:prstGeom prst="rect">
            <a:avLst/>
          </a:prstGeom>
          <a:noFill/>
          <a:ln/>
        </p:spPr>
        <p:txBody>
          <a:bodyPr wrap="square" lIns="0" tIns="0" rIns="0" bIns="0" rtlCol="0" anchor="t"/>
          <a:lstStyle/>
          <a:p>
            <a:pPr marL="0" indent="0">
              <a:buNone/>
            </a:pPr>
            <a:r>
              <a:rPr lang="en-US" sz="1400" b="1" dirty="0">
                <a:solidFill>
                  <a:schemeClr val="tx2"/>
                </a:solidFill>
              </a:rPr>
              <a:t>Collisions</a:t>
            </a:r>
            <a:endParaRPr lang="en-US" sz="1400" dirty="0"/>
          </a:p>
        </p:txBody>
      </p:sp>
      <p:sp>
        <p:nvSpPr>
          <p:cNvPr id="35" name="text-468"/>
          <p:cNvSpPr txBox="1"/>
          <p:nvPr/>
        </p:nvSpPr>
        <p:spPr>
          <a:xfrm>
            <a:off x="868680" y="3822192"/>
            <a:ext cx="3383280" cy="640080"/>
          </a:xfrm>
          <a:prstGeom prst="rect">
            <a:avLst/>
          </a:prstGeom>
          <a:noFill/>
          <a:ln/>
        </p:spPr>
        <p:txBody>
          <a:bodyPr wrap="square" lIns="0" tIns="0" rIns="0" bIns="0" rtlCol="0" anchor="t"/>
          <a:lstStyle/>
          <a:p>
            <a:pPr marL="0" indent="0">
              <a:buNone/>
            </a:pPr>
            <a:r>
              <a:rPr lang="en-US" sz="1300" dirty="0">
                <a:solidFill>
                  <a:schemeClr val="tx1"/>
                </a:solidFill>
              </a:rPr>
              <a:t>40, 84 and 18 all hash to 7. Everyone else has a bucket to themselves.</a:t>
            </a:r>
            <a:endParaRPr lang="en-US" sz="1300" dirty="0"/>
          </a:p>
        </p:txBody>
      </p:sp>
      <p:sp>
        <p:nvSpPr>
          <p:cNvPr id="36" name="card-469"/>
          <p:cNvSpPr/>
          <p:nvPr/>
        </p:nvSpPr>
        <p:spPr>
          <a:xfrm>
            <a:off x="4709160" y="3429000"/>
            <a:ext cx="3749040" cy="1097280"/>
          </a:xfrm>
          <a:prstGeom prst="roundRect">
            <a:avLst>
              <a:gd name="adj" fmla="val 6667"/>
            </a:avLst>
          </a:prstGeom>
          <a:solidFill>
            <a:schemeClr val="bg2"/>
          </a:solidFill>
          <a:ln w="12700">
            <a:solidFill>
              <a:schemeClr val="bg2"/>
            </a:solidFill>
            <a:prstDash val="solid"/>
          </a:ln>
        </p:spPr>
        <p:txBody>
          <a:bodyPr/>
          <a:lstStyle/>
          <a:p>
            <a:endParaRPr lang="en-US"/>
          </a:p>
        </p:txBody>
      </p:sp>
      <p:sp>
        <p:nvSpPr>
          <p:cNvPr id="37" name="text-470"/>
          <p:cNvSpPr txBox="1"/>
          <p:nvPr/>
        </p:nvSpPr>
        <p:spPr>
          <a:xfrm>
            <a:off x="4892040" y="3520440"/>
            <a:ext cx="3383280" cy="274320"/>
          </a:xfrm>
          <a:prstGeom prst="rect">
            <a:avLst/>
          </a:prstGeom>
          <a:noFill/>
          <a:ln/>
        </p:spPr>
        <p:txBody>
          <a:bodyPr wrap="square" lIns="0" tIns="0" rIns="0" bIns="0" rtlCol="0" anchor="t"/>
          <a:lstStyle/>
          <a:p>
            <a:pPr marL="0" indent="0">
              <a:buNone/>
            </a:pPr>
            <a:r>
              <a:rPr lang="en-US" sz="1400" b="1" dirty="0">
                <a:solidFill>
                  <a:schemeClr val="tx2"/>
                </a:solidFill>
              </a:rPr>
              <a:t>Insert in the given order</a:t>
            </a:r>
            <a:endParaRPr lang="en-US" sz="1400" dirty="0"/>
          </a:p>
        </p:txBody>
      </p:sp>
      <p:sp>
        <p:nvSpPr>
          <p:cNvPr id="38" name="text-471"/>
          <p:cNvSpPr txBox="1"/>
          <p:nvPr/>
        </p:nvSpPr>
        <p:spPr>
          <a:xfrm>
            <a:off x="4892040" y="3822192"/>
            <a:ext cx="3383280" cy="640080"/>
          </a:xfrm>
          <a:prstGeom prst="rect">
            <a:avLst/>
          </a:prstGeom>
          <a:noFill/>
          <a:ln/>
        </p:spPr>
        <p:txBody>
          <a:bodyPr wrap="square" lIns="0" tIns="0" rIns="0" bIns="0" rtlCol="0" anchor="t"/>
          <a:lstStyle/>
          <a:p>
            <a:pPr marL="0" indent="0">
              <a:buNone/>
            </a:pPr>
            <a:r>
              <a:rPr lang="en-US" sz="1300" dirty="0">
                <a:solidFill>
                  <a:schemeClr val="tx1"/>
                </a:solidFill>
              </a:rPr>
              <a:t>Order matters for both tables — especially for linear probing, where 30 (→ 8) arrives last.</a:t>
            </a:r>
            <a:endParaRPr lang="en-US" sz="1300" dirty="0"/>
          </a:p>
        </p:txBody>
      </p:sp>
      <p:sp>
        <p:nvSpPr>
          <p:cNvPr id="39"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Q72 · Separate chaining</a:t>
            </a:r>
            <a:endParaRPr lang="en-US" sz="3000" dirty="0"/>
          </a:p>
        </p:txBody>
      </p:sp>
      <p:sp>
        <p:nvSpPr>
          <p:cNvPr id="3" name="text-472"/>
          <p:cNvSpPr txBox="1"/>
          <p:nvPr/>
        </p:nvSpPr>
        <p:spPr>
          <a:xfrm>
            <a:off x="457200" y="1051560"/>
            <a:ext cx="420624" cy="182880"/>
          </a:xfrm>
          <a:prstGeom prst="rect">
            <a:avLst/>
          </a:prstGeom>
          <a:noFill/>
          <a:ln/>
        </p:spPr>
        <p:txBody>
          <a:bodyPr wrap="square" lIns="0" tIns="0" rIns="0" bIns="0" rtlCol="0" anchor="t"/>
          <a:lstStyle/>
          <a:p>
            <a:pPr marL="0" indent="0" algn="ctr">
              <a:buNone/>
            </a:pPr>
            <a:r>
              <a:rPr lang="en-US" sz="1000" dirty="0">
                <a:solidFill>
                  <a:schemeClr val="accent5"/>
                </a:solidFill>
              </a:rPr>
              <a:t>0</a:t>
            </a:r>
            <a:endParaRPr lang="en-US" sz="1000" dirty="0"/>
          </a:p>
        </p:txBody>
      </p:sp>
      <p:sp>
        <p:nvSpPr>
          <p:cNvPr id="4" name="tile-473"/>
          <p:cNvSpPr/>
          <p:nvPr/>
        </p:nvSpPr>
        <p:spPr>
          <a:xfrm>
            <a:off x="457200" y="1261872"/>
            <a:ext cx="420624" cy="365760"/>
          </a:xfrm>
          <a:prstGeom prst="roundRect">
            <a:avLst>
              <a:gd name="adj" fmla="val 12500"/>
            </a:avLst>
          </a:prstGeom>
          <a:solidFill>
            <a:schemeClr val="bg2"/>
          </a:solidFill>
          <a:ln w="12700">
            <a:solidFill>
              <a:schemeClr val="bg2"/>
            </a:solidFill>
          </a:ln>
        </p:spPr>
        <p:txBody>
          <a:bodyPr wrap="square" lIns="0" tIns="0" rIns="0" bIns="0" rtlCol="0" anchor="ctr"/>
          <a:lstStyle/>
          <a:p>
            <a:pPr marL="0" indent="0" algn="ctr">
              <a:buNone/>
            </a:pPr>
            <a:endParaRPr lang="en-US" sz="1600" dirty="0"/>
          </a:p>
        </p:txBody>
      </p:sp>
      <p:sp>
        <p:nvSpPr>
          <p:cNvPr id="5" name="text-474"/>
          <p:cNvSpPr txBox="1"/>
          <p:nvPr/>
        </p:nvSpPr>
        <p:spPr>
          <a:xfrm>
            <a:off x="1024128" y="1051560"/>
            <a:ext cx="420624" cy="182880"/>
          </a:xfrm>
          <a:prstGeom prst="rect">
            <a:avLst/>
          </a:prstGeom>
          <a:noFill/>
          <a:ln/>
        </p:spPr>
        <p:txBody>
          <a:bodyPr wrap="square" lIns="0" tIns="0" rIns="0" bIns="0" rtlCol="0" anchor="t"/>
          <a:lstStyle/>
          <a:p>
            <a:pPr marL="0" indent="0" algn="ctr">
              <a:buNone/>
            </a:pPr>
            <a:r>
              <a:rPr lang="en-US" sz="1000" dirty="0">
                <a:solidFill>
                  <a:schemeClr val="accent5"/>
                </a:solidFill>
              </a:rPr>
              <a:t>1</a:t>
            </a:r>
            <a:endParaRPr lang="en-US" sz="1000" dirty="0"/>
          </a:p>
        </p:txBody>
      </p:sp>
      <p:sp>
        <p:nvSpPr>
          <p:cNvPr id="6" name="tile-475"/>
          <p:cNvSpPr/>
          <p:nvPr/>
        </p:nvSpPr>
        <p:spPr>
          <a:xfrm>
            <a:off x="1024128" y="1261872"/>
            <a:ext cx="420624" cy="365760"/>
          </a:xfrm>
          <a:prstGeom prst="roundRect">
            <a:avLst>
              <a:gd name="adj" fmla="val 12500"/>
            </a:avLst>
          </a:prstGeom>
          <a:solidFill>
            <a:schemeClr val="bg2"/>
          </a:solidFill>
          <a:ln w="12700">
            <a:solidFill>
              <a:schemeClr val="bg2"/>
            </a:solidFill>
          </a:ln>
        </p:spPr>
        <p:txBody>
          <a:bodyPr wrap="square" lIns="0" tIns="0" rIns="0" bIns="0" rtlCol="0" anchor="ctr"/>
          <a:lstStyle/>
          <a:p>
            <a:pPr marL="0" indent="0" algn="ctr">
              <a:buNone/>
            </a:pPr>
            <a:endParaRPr lang="en-US" sz="1600" dirty="0"/>
          </a:p>
        </p:txBody>
      </p:sp>
      <p:sp>
        <p:nvSpPr>
          <p:cNvPr id="7" name="text-476"/>
          <p:cNvSpPr txBox="1"/>
          <p:nvPr/>
        </p:nvSpPr>
        <p:spPr>
          <a:xfrm>
            <a:off x="1591056" y="1051560"/>
            <a:ext cx="420624" cy="182880"/>
          </a:xfrm>
          <a:prstGeom prst="rect">
            <a:avLst/>
          </a:prstGeom>
          <a:noFill/>
          <a:ln/>
        </p:spPr>
        <p:txBody>
          <a:bodyPr wrap="square" lIns="0" tIns="0" rIns="0" bIns="0" rtlCol="0" anchor="t"/>
          <a:lstStyle/>
          <a:p>
            <a:pPr marL="0" indent="0" algn="ctr">
              <a:buNone/>
            </a:pPr>
            <a:r>
              <a:rPr lang="en-US" sz="1000" dirty="0">
                <a:solidFill>
                  <a:schemeClr val="accent5"/>
                </a:solidFill>
              </a:rPr>
              <a:t>2</a:t>
            </a:r>
            <a:endParaRPr lang="en-US" sz="1000" dirty="0"/>
          </a:p>
        </p:txBody>
      </p:sp>
      <p:sp>
        <p:nvSpPr>
          <p:cNvPr id="8" name="tile-477"/>
          <p:cNvSpPr/>
          <p:nvPr/>
        </p:nvSpPr>
        <p:spPr>
          <a:xfrm>
            <a:off x="1591056" y="1261872"/>
            <a:ext cx="420624" cy="365760"/>
          </a:xfrm>
          <a:prstGeom prst="roundRect">
            <a:avLst>
              <a:gd name="adj" fmla="val 12500"/>
            </a:avLst>
          </a:prstGeom>
          <a:solidFill>
            <a:schemeClr val="bg2"/>
          </a:solidFill>
          <a:ln w="12700">
            <a:solidFill>
              <a:schemeClr val="bg2"/>
            </a:solidFill>
          </a:ln>
        </p:spPr>
        <p:txBody>
          <a:bodyPr wrap="square" lIns="0" tIns="0" rIns="0" bIns="0" rtlCol="0" anchor="ctr"/>
          <a:lstStyle/>
          <a:p>
            <a:pPr marL="0" indent="0" algn="ctr">
              <a:buNone/>
            </a:pPr>
            <a:endParaRPr lang="en-US" sz="1600" dirty="0"/>
          </a:p>
        </p:txBody>
      </p:sp>
      <p:sp>
        <p:nvSpPr>
          <p:cNvPr id="9" name="text-478"/>
          <p:cNvSpPr txBox="1"/>
          <p:nvPr/>
        </p:nvSpPr>
        <p:spPr>
          <a:xfrm>
            <a:off x="2157984" y="1051560"/>
            <a:ext cx="420624" cy="182880"/>
          </a:xfrm>
          <a:prstGeom prst="rect">
            <a:avLst/>
          </a:prstGeom>
          <a:noFill/>
          <a:ln/>
        </p:spPr>
        <p:txBody>
          <a:bodyPr wrap="square" lIns="0" tIns="0" rIns="0" bIns="0" rtlCol="0" anchor="t"/>
          <a:lstStyle/>
          <a:p>
            <a:pPr marL="0" indent="0" algn="ctr">
              <a:buNone/>
            </a:pPr>
            <a:r>
              <a:rPr lang="en-US" sz="1000" dirty="0">
                <a:solidFill>
                  <a:schemeClr val="accent5"/>
                </a:solidFill>
              </a:rPr>
              <a:t>3</a:t>
            </a:r>
            <a:endParaRPr lang="en-US" sz="1000" dirty="0"/>
          </a:p>
        </p:txBody>
      </p:sp>
      <p:sp>
        <p:nvSpPr>
          <p:cNvPr id="10" name="tile-479"/>
          <p:cNvSpPr/>
          <p:nvPr/>
        </p:nvSpPr>
        <p:spPr>
          <a:xfrm>
            <a:off x="2157984" y="1261872"/>
            <a:ext cx="420624" cy="365760"/>
          </a:xfrm>
          <a:prstGeom prst="roundRect">
            <a:avLst>
              <a:gd name="adj" fmla="val 12500"/>
            </a:avLst>
          </a:prstGeom>
          <a:solidFill>
            <a:schemeClr val="bg2"/>
          </a:solidFill>
          <a:ln w="12700">
            <a:solidFill>
              <a:schemeClr val="bg2"/>
            </a:solidFill>
          </a:ln>
        </p:spPr>
        <p:txBody>
          <a:bodyPr wrap="square" lIns="0" tIns="0" rIns="0" bIns="0" rtlCol="0" anchor="ctr"/>
          <a:lstStyle/>
          <a:p>
            <a:pPr marL="0" indent="0" algn="ctr">
              <a:buNone/>
            </a:pPr>
            <a:endParaRPr lang="en-US" sz="1600" dirty="0"/>
          </a:p>
        </p:txBody>
      </p:sp>
      <p:sp>
        <p:nvSpPr>
          <p:cNvPr id="11" name="text-480"/>
          <p:cNvSpPr txBox="1"/>
          <p:nvPr/>
        </p:nvSpPr>
        <p:spPr>
          <a:xfrm>
            <a:off x="2724912" y="1051560"/>
            <a:ext cx="420624" cy="182880"/>
          </a:xfrm>
          <a:prstGeom prst="rect">
            <a:avLst/>
          </a:prstGeom>
          <a:noFill/>
          <a:ln/>
        </p:spPr>
        <p:txBody>
          <a:bodyPr wrap="square" lIns="0" tIns="0" rIns="0" bIns="0" rtlCol="0" anchor="t"/>
          <a:lstStyle/>
          <a:p>
            <a:pPr marL="0" indent="0" algn="ctr">
              <a:buNone/>
            </a:pPr>
            <a:r>
              <a:rPr lang="en-US" sz="1000" dirty="0">
                <a:solidFill>
                  <a:schemeClr val="accent5"/>
                </a:solidFill>
              </a:rPr>
              <a:t>4</a:t>
            </a:r>
            <a:endParaRPr lang="en-US" sz="1000" dirty="0"/>
          </a:p>
        </p:txBody>
      </p:sp>
      <p:sp>
        <p:nvSpPr>
          <p:cNvPr id="12" name="tile-481"/>
          <p:cNvSpPr/>
          <p:nvPr/>
        </p:nvSpPr>
        <p:spPr>
          <a:xfrm>
            <a:off x="2724912" y="1261872"/>
            <a:ext cx="420624" cy="365760"/>
          </a:xfrm>
          <a:prstGeom prst="roundRect">
            <a:avLst>
              <a:gd name="adj" fmla="val 12500"/>
            </a:avLst>
          </a:prstGeom>
          <a:solidFill>
            <a:schemeClr val="tx2"/>
          </a:solidFill>
          <a:ln w="12700">
            <a:solidFill>
              <a:schemeClr val="tx2"/>
            </a:solidFill>
          </a:ln>
        </p:spPr>
        <p:txBody>
          <a:bodyPr wrap="square" lIns="0" tIns="0" rIns="0" bIns="0" rtlCol="0" anchor="ctr"/>
          <a:lstStyle/>
          <a:p>
            <a:pPr marL="0" indent="0" algn="ctr">
              <a:buNone/>
            </a:pPr>
            <a:endParaRPr lang="en-US" sz="1600" dirty="0"/>
          </a:p>
        </p:txBody>
      </p:sp>
      <p:sp>
        <p:nvSpPr>
          <p:cNvPr id="13" name="link-482"/>
          <p:cNvSpPr/>
          <p:nvPr/>
        </p:nvSpPr>
        <p:spPr>
          <a:xfrm>
            <a:off x="2935224" y="1673352"/>
            <a:ext cx="0" cy="246888"/>
          </a:xfrm>
          <a:prstGeom prst="line">
            <a:avLst/>
          </a:prstGeom>
          <a:noFill/>
          <a:ln w="15875">
            <a:solidFill>
              <a:schemeClr val="accent5"/>
            </a:solidFill>
            <a:prstDash val="solid"/>
            <a:tailEnd type="triangle"/>
          </a:ln>
        </p:spPr>
        <p:txBody>
          <a:bodyPr/>
          <a:lstStyle/>
          <a:p>
            <a:endParaRPr lang="en-US"/>
          </a:p>
        </p:txBody>
      </p:sp>
      <p:sp>
        <p:nvSpPr>
          <p:cNvPr id="14" name="tile-483"/>
          <p:cNvSpPr/>
          <p:nvPr/>
        </p:nvSpPr>
        <p:spPr>
          <a:xfrm>
            <a:off x="2724912" y="1920240"/>
            <a:ext cx="420624" cy="411480"/>
          </a:xfrm>
          <a:prstGeom prst="roundRect">
            <a:avLst>
              <a:gd name="adj" fmla="val 11111"/>
            </a:avLst>
          </a:prstGeom>
          <a:solidFill>
            <a:schemeClr val="bg1"/>
          </a:solidFill>
          <a:ln w="12700">
            <a:solidFill>
              <a:schemeClr val="accent1"/>
            </a:solidFill>
          </a:ln>
        </p:spPr>
        <p:txBody>
          <a:bodyPr wrap="square" lIns="0" tIns="0" rIns="0" bIns="0" rtlCol="0" anchor="ctr"/>
          <a:lstStyle/>
          <a:p>
            <a:pPr marL="0" indent="0" algn="ctr">
              <a:buNone/>
            </a:pPr>
            <a:r>
              <a:rPr lang="en-US" sz="1400" b="1" dirty="0">
                <a:solidFill>
                  <a:schemeClr val="tx1"/>
                </a:solidFill>
                <a:latin typeface="Courier New" pitchFamily="34" charset="0"/>
                <a:ea typeface="Courier New" pitchFamily="34" charset="-122"/>
                <a:cs typeface="Courier New" pitchFamily="34" charset="-120"/>
              </a:rPr>
              <a:t>37</a:t>
            </a:r>
            <a:endParaRPr lang="en-US" sz="1400" dirty="0"/>
          </a:p>
        </p:txBody>
      </p:sp>
      <p:sp>
        <p:nvSpPr>
          <p:cNvPr id="15" name="text-484"/>
          <p:cNvSpPr txBox="1"/>
          <p:nvPr/>
        </p:nvSpPr>
        <p:spPr>
          <a:xfrm>
            <a:off x="3163824" y="2011680"/>
            <a:ext cx="118872" cy="182880"/>
          </a:xfrm>
          <a:prstGeom prst="rect">
            <a:avLst/>
          </a:prstGeom>
          <a:noFill/>
          <a:ln/>
        </p:spPr>
        <p:txBody>
          <a:bodyPr wrap="square" lIns="0" tIns="0" rIns="0" bIns="0" rtlCol="0" anchor="t"/>
          <a:lstStyle/>
          <a:p>
            <a:pPr marL="0" indent="0">
              <a:buNone/>
            </a:pPr>
            <a:r>
              <a:rPr lang="en-US" sz="900" dirty="0">
                <a:solidFill>
                  <a:schemeClr val="accent5"/>
                </a:solidFill>
              </a:rPr>
              <a:t>1</a:t>
            </a:r>
            <a:endParaRPr lang="en-US" sz="900" dirty="0"/>
          </a:p>
        </p:txBody>
      </p:sp>
      <p:sp>
        <p:nvSpPr>
          <p:cNvPr id="16" name="text-485"/>
          <p:cNvSpPr txBox="1"/>
          <p:nvPr/>
        </p:nvSpPr>
        <p:spPr>
          <a:xfrm>
            <a:off x="3291840" y="1051560"/>
            <a:ext cx="420624" cy="182880"/>
          </a:xfrm>
          <a:prstGeom prst="rect">
            <a:avLst/>
          </a:prstGeom>
          <a:noFill/>
          <a:ln/>
        </p:spPr>
        <p:txBody>
          <a:bodyPr wrap="square" lIns="0" tIns="0" rIns="0" bIns="0" rtlCol="0" anchor="t"/>
          <a:lstStyle/>
          <a:p>
            <a:pPr marL="0" indent="0" algn="ctr">
              <a:buNone/>
            </a:pPr>
            <a:r>
              <a:rPr lang="en-US" sz="1000" dirty="0">
                <a:solidFill>
                  <a:schemeClr val="accent5"/>
                </a:solidFill>
              </a:rPr>
              <a:t>5</a:t>
            </a:r>
            <a:endParaRPr lang="en-US" sz="1000" dirty="0"/>
          </a:p>
        </p:txBody>
      </p:sp>
      <p:sp>
        <p:nvSpPr>
          <p:cNvPr id="17" name="tile-486"/>
          <p:cNvSpPr/>
          <p:nvPr/>
        </p:nvSpPr>
        <p:spPr>
          <a:xfrm>
            <a:off x="3291840" y="1261872"/>
            <a:ext cx="420624" cy="365760"/>
          </a:xfrm>
          <a:prstGeom prst="roundRect">
            <a:avLst>
              <a:gd name="adj" fmla="val 12500"/>
            </a:avLst>
          </a:prstGeom>
          <a:solidFill>
            <a:schemeClr val="tx2"/>
          </a:solidFill>
          <a:ln w="12700">
            <a:solidFill>
              <a:schemeClr val="tx2"/>
            </a:solidFill>
          </a:ln>
        </p:spPr>
        <p:txBody>
          <a:bodyPr wrap="square" lIns="0" tIns="0" rIns="0" bIns="0" rtlCol="0" anchor="ctr"/>
          <a:lstStyle/>
          <a:p>
            <a:pPr marL="0" indent="0" algn="ctr">
              <a:buNone/>
            </a:pPr>
            <a:endParaRPr lang="en-US" sz="1600" dirty="0"/>
          </a:p>
        </p:txBody>
      </p:sp>
      <p:sp>
        <p:nvSpPr>
          <p:cNvPr id="18" name="link-487"/>
          <p:cNvSpPr/>
          <p:nvPr/>
        </p:nvSpPr>
        <p:spPr>
          <a:xfrm>
            <a:off x="3502152" y="1673352"/>
            <a:ext cx="0" cy="246888"/>
          </a:xfrm>
          <a:prstGeom prst="line">
            <a:avLst/>
          </a:prstGeom>
          <a:noFill/>
          <a:ln w="15875">
            <a:solidFill>
              <a:schemeClr val="accent5"/>
            </a:solidFill>
            <a:prstDash val="solid"/>
            <a:tailEnd type="triangle"/>
          </a:ln>
        </p:spPr>
        <p:txBody>
          <a:bodyPr/>
          <a:lstStyle/>
          <a:p>
            <a:endParaRPr lang="en-US"/>
          </a:p>
        </p:txBody>
      </p:sp>
      <p:sp>
        <p:nvSpPr>
          <p:cNvPr id="19" name="tile-488"/>
          <p:cNvSpPr/>
          <p:nvPr/>
        </p:nvSpPr>
        <p:spPr>
          <a:xfrm>
            <a:off x="3291840" y="1920240"/>
            <a:ext cx="420624" cy="411480"/>
          </a:xfrm>
          <a:prstGeom prst="roundRect">
            <a:avLst>
              <a:gd name="adj" fmla="val 11111"/>
            </a:avLst>
          </a:prstGeom>
          <a:solidFill>
            <a:schemeClr val="bg1"/>
          </a:solidFill>
          <a:ln w="12700">
            <a:solidFill>
              <a:schemeClr val="accent1"/>
            </a:solidFill>
          </a:ln>
        </p:spPr>
        <p:txBody>
          <a:bodyPr wrap="square" lIns="0" tIns="0" rIns="0" bIns="0" rtlCol="0" anchor="ctr"/>
          <a:lstStyle/>
          <a:p>
            <a:pPr marL="0" indent="0" algn="ctr">
              <a:buNone/>
            </a:pPr>
            <a:r>
              <a:rPr lang="en-US" sz="1400" b="1" dirty="0">
                <a:solidFill>
                  <a:schemeClr val="tx1"/>
                </a:solidFill>
                <a:latin typeface="Courier New" pitchFamily="34" charset="0"/>
                <a:ea typeface="Courier New" pitchFamily="34" charset="-122"/>
                <a:cs typeface="Courier New" pitchFamily="34" charset="-120"/>
              </a:rPr>
              <a:t>60</a:t>
            </a:r>
            <a:endParaRPr lang="en-US" sz="1400" dirty="0"/>
          </a:p>
        </p:txBody>
      </p:sp>
      <p:sp>
        <p:nvSpPr>
          <p:cNvPr id="20" name="text-489"/>
          <p:cNvSpPr txBox="1"/>
          <p:nvPr/>
        </p:nvSpPr>
        <p:spPr>
          <a:xfrm>
            <a:off x="3730752" y="2011680"/>
            <a:ext cx="118872" cy="182880"/>
          </a:xfrm>
          <a:prstGeom prst="rect">
            <a:avLst/>
          </a:prstGeom>
          <a:noFill/>
          <a:ln/>
        </p:spPr>
        <p:txBody>
          <a:bodyPr wrap="square" lIns="0" tIns="0" rIns="0" bIns="0" rtlCol="0" anchor="t"/>
          <a:lstStyle/>
          <a:p>
            <a:pPr marL="0" indent="0">
              <a:buNone/>
            </a:pPr>
            <a:r>
              <a:rPr lang="en-US" sz="900" dirty="0">
                <a:solidFill>
                  <a:schemeClr val="accent5"/>
                </a:solidFill>
              </a:rPr>
              <a:t>1</a:t>
            </a:r>
            <a:endParaRPr lang="en-US" sz="900" dirty="0"/>
          </a:p>
        </p:txBody>
      </p:sp>
      <p:sp>
        <p:nvSpPr>
          <p:cNvPr id="21" name="text-490"/>
          <p:cNvSpPr txBox="1"/>
          <p:nvPr/>
        </p:nvSpPr>
        <p:spPr>
          <a:xfrm>
            <a:off x="3858768" y="1051560"/>
            <a:ext cx="420624" cy="182880"/>
          </a:xfrm>
          <a:prstGeom prst="rect">
            <a:avLst/>
          </a:prstGeom>
          <a:noFill/>
          <a:ln/>
        </p:spPr>
        <p:txBody>
          <a:bodyPr wrap="square" lIns="0" tIns="0" rIns="0" bIns="0" rtlCol="0" anchor="t"/>
          <a:lstStyle/>
          <a:p>
            <a:pPr marL="0" indent="0" algn="ctr">
              <a:buNone/>
            </a:pPr>
            <a:r>
              <a:rPr lang="en-US" sz="1000" dirty="0">
                <a:solidFill>
                  <a:schemeClr val="accent5"/>
                </a:solidFill>
              </a:rPr>
              <a:t>6</a:t>
            </a:r>
            <a:endParaRPr lang="en-US" sz="1000" dirty="0"/>
          </a:p>
        </p:txBody>
      </p:sp>
      <p:sp>
        <p:nvSpPr>
          <p:cNvPr id="22" name="tile-491"/>
          <p:cNvSpPr/>
          <p:nvPr/>
        </p:nvSpPr>
        <p:spPr>
          <a:xfrm>
            <a:off x="3858768" y="1261872"/>
            <a:ext cx="420624" cy="365760"/>
          </a:xfrm>
          <a:prstGeom prst="roundRect">
            <a:avLst>
              <a:gd name="adj" fmla="val 12500"/>
            </a:avLst>
          </a:prstGeom>
          <a:solidFill>
            <a:schemeClr val="bg2"/>
          </a:solidFill>
          <a:ln w="12700">
            <a:solidFill>
              <a:schemeClr val="bg2"/>
            </a:solidFill>
          </a:ln>
        </p:spPr>
        <p:txBody>
          <a:bodyPr wrap="square" lIns="0" tIns="0" rIns="0" bIns="0" rtlCol="0" anchor="ctr"/>
          <a:lstStyle/>
          <a:p>
            <a:pPr marL="0" indent="0" algn="ctr">
              <a:buNone/>
            </a:pPr>
            <a:endParaRPr lang="en-US" sz="1600" dirty="0"/>
          </a:p>
        </p:txBody>
      </p:sp>
      <p:sp>
        <p:nvSpPr>
          <p:cNvPr id="23" name="text-492"/>
          <p:cNvSpPr txBox="1"/>
          <p:nvPr/>
        </p:nvSpPr>
        <p:spPr>
          <a:xfrm>
            <a:off x="4425696" y="1051560"/>
            <a:ext cx="420624" cy="182880"/>
          </a:xfrm>
          <a:prstGeom prst="rect">
            <a:avLst/>
          </a:prstGeom>
          <a:noFill/>
          <a:ln/>
        </p:spPr>
        <p:txBody>
          <a:bodyPr wrap="square" lIns="0" tIns="0" rIns="0" bIns="0" rtlCol="0" anchor="t"/>
          <a:lstStyle/>
          <a:p>
            <a:pPr marL="0" indent="0" algn="ctr">
              <a:buNone/>
            </a:pPr>
            <a:r>
              <a:rPr lang="en-US" sz="1000" dirty="0">
                <a:solidFill>
                  <a:schemeClr val="accent5"/>
                </a:solidFill>
              </a:rPr>
              <a:t>7</a:t>
            </a:r>
            <a:endParaRPr lang="en-US" sz="1000" dirty="0"/>
          </a:p>
        </p:txBody>
      </p:sp>
      <p:sp>
        <p:nvSpPr>
          <p:cNvPr id="24" name="tile-493"/>
          <p:cNvSpPr/>
          <p:nvPr/>
        </p:nvSpPr>
        <p:spPr>
          <a:xfrm>
            <a:off x="4425696" y="1261872"/>
            <a:ext cx="420624" cy="365760"/>
          </a:xfrm>
          <a:prstGeom prst="roundRect">
            <a:avLst>
              <a:gd name="adj" fmla="val 12500"/>
            </a:avLst>
          </a:prstGeom>
          <a:solidFill>
            <a:schemeClr val="tx2"/>
          </a:solidFill>
          <a:ln w="12700">
            <a:solidFill>
              <a:schemeClr val="tx2"/>
            </a:solidFill>
          </a:ln>
        </p:spPr>
        <p:txBody>
          <a:bodyPr wrap="square" lIns="0" tIns="0" rIns="0" bIns="0" rtlCol="0" anchor="ctr"/>
          <a:lstStyle/>
          <a:p>
            <a:pPr marL="0" indent="0" algn="ctr">
              <a:buNone/>
            </a:pPr>
            <a:endParaRPr lang="en-US" sz="1600" dirty="0"/>
          </a:p>
        </p:txBody>
      </p:sp>
      <p:sp>
        <p:nvSpPr>
          <p:cNvPr id="25" name="link-494"/>
          <p:cNvSpPr/>
          <p:nvPr/>
        </p:nvSpPr>
        <p:spPr>
          <a:xfrm>
            <a:off x="4636008" y="1673352"/>
            <a:ext cx="0" cy="246888"/>
          </a:xfrm>
          <a:prstGeom prst="line">
            <a:avLst/>
          </a:prstGeom>
          <a:noFill/>
          <a:ln w="15875">
            <a:solidFill>
              <a:schemeClr val="accent5"/>
            </a:solidFill>
            <a:prstDash val="solid"/>
            <a:tailEnd type="triangle"/>
          </a:ln>
        </p:spPr>
        <p:txBody>
          <a:bodyPr/>
          <a:lstStyle/>
          <a:p>
            <a:endParaRPr lang="en-US"/>
          </a:p>
        </p:txBody>
      </p:sp>
      <p:sp>
        <p:nvSpPr>
          <p:cNvPr id="26" name="tile-495"/>
          <p:cNvSpPr/>
          <p:nvPr/>
        </p:nvSpPr>
        <p:spPr>
          <a:xfrm>
            <a:off x="4425696" y="1920240"/>
            <a:ext cx="420624" cy="411480"/>
          </a:xfrm>
          <a:prstGeom prst="roundRect">
            <a:avLst>
              <a:gd name="adj" fmla="val 11111"/>
            </a:avLst>
          </a:prstGeom>
          <a:solidFill>
            <a:schemeClr val="accent2"/>
          </a:solidFill>
          <a:ln w="12700">
            <a:solidFill>
              <a:schemeClr val="accent2"/>
            </a:solidFill>
          </a:ln>
        </p:spPr>
        <p:txBody>
          <a:bodyPr wrap="square" lIns="0" tIns="0" rIns="0" bIns="0" rtlCol="0" anchor="ctr"/>
          <a:lstStyle/>
          <a:p>
            <a:pPr marL="0" indent="0" algn="ctr">
              <a:buNone/>
            </a:pPr>
            <a:r>
              <a:rPr lang="en-US" sz="1400" b="1" dirty="0">
                <a:solidFill>
                  <a:schemeClr val="tx1"/>
                </a:solidFill>
                <a:latin typeface="Courier New" pitchFamily="34" charset="0"/>
                <a:ea typeface="Courier New" pitchFamily="34" charset="-122"/>
                <a:cs typeface="Courier New" pitchFamily="34" charset="-120"/>
              </a:rPr>
              <a:t>40</a:t>
            </a:r>
            <a:endParaRPr lang="en-US" sz="1400" dirty="0"/>
          </a:p>
        </p:txBody>
      </p:sp>
      <p:sp>
        <p:nvSpPr>
          <p:cNvPr id="27" name="text-496"/>
          <p:cNvSpPr txBox="1"/>
          <p:nvPr/>
        </p:nvSpPr>
        <p:spPr>
          <a:xfrm>
            <a:off x="4864608" y="2011680"/>
            <a:ext cx="118872" cy="182880"/>
          </a:xfrm>
          <a:prstGeom prst="rect">
            <a:avLst/>
          </a:prstGeom>
          <a:noFill/>
          <a:ln/>
        </p:spPr>
        <p:txBody>
          <a:bodyPr wrap="square" lIns="0" tIns="0" rIns="0" bIns="0" rtlCol="0" anchor="t"/>
          <a:lstStyle/>
          <a:p>
            <a:pPr marL="0" indent="0">
              <a:buNone/>
            </a:pPr>
            <a:r>
              <a:rPr lang="en-US" sz="900" dirty="0">
                <a:solidFill>
                  <a:schemeClr val="accent5"/>
                </a:solidFill>
              </a:rPr>
              <a:t>1</a:t>
            </a:r>
            <a:endParaRPr lang="en-US" sz="900" dirty="0"/>
          </a:p>
        </p:txBody>
      </p:sp>
      <p:sp>
        <p:nvSpPr>
          <p:cNvPr id="28" name="link-497"/>
          <p:cNvSpPr/>
          <p:nvPr/>
        </p:nvSpPr>
        <p:spPr>
          <a:xfrm>
            <a:off x="4636008" y="2359152"/>
            <a:ext cx="0" cy="246888"/>
          </a:xfrm>
          <a:prstGeom prst="line">
            <a:avLst/>
          </a:prstGeom>
          <a:noFill/>
          <a:ln w="15875">
            <a:solidFill>
              <a:schemeClr val="accent5"/>
            </a:solidFill>
            <a:prstDash val="solid"/>
            <a:tailEnd type="triangle"/>
          </a:ln>
        </p:spPr>
        <p:txBody>
          <a:bodyPr/>
          <a:lstStyle/>
          <a:p>
            <a:endParaRPr lang="en-US"/>
          </a:p>
        </p:txBody>
      </p:sp>
      <p:sp>
        <p:nvSpPr>
          <p:cNvPr id="29" name="tile-498"/>
          <p:cNvSpPr/>
          <p:nvPr/>
        </p:nvSpPr>
        <p:spPr>
          <a:xfrm>
            <a:off x="4425696" y="2606040"/>
            <a:ext cx="420624" cy="411480"/>
          </a:xfrm>
          <a:prstGeom prst="roundRect">
            <a:avLst>
              <a:gd name="adj" fmla="val 11111"/>
            </a:avLst>
          </a:prstGeom>
          <a:solidFill>
            <a:schemeClr val="accent2"/>
          </a:solidFill>
          <a:ln w="12700">
            <a:solidFill>
              <a:schemeClr val="accent2"/>
            </a:solidFill>
          </a:ln>
        </p:spPr>
        <p:txBody>
          <a:bodyPr wrap="square" lIns="0" tIns="0" rIns="0" bIns="0" rtlCol="0" anchor="ctr"/>
          <a:lstStyle/>
          <a:p>
            <a:pPr marL="0" indent="0" algn="ctr">
              <a:buNone/>
            </a:pPr>
            <a:r>
              <a:rPr lang="en-US" sz="1400" b="1" dirty="0">
                <a:solidFill>
                  <a:schemeClr val="tx1"/>
                </a:solidFill>
                <a:latin typeface="Courier New" pitchFamily="34" charset="0"/>
                <a:ea typeface="Courier New" pitchFamily="34" charset="-122"/>
                <a:cs typeface="Courier New" pitchFamily="34" charset="-120"/>
              </a:rPr>
              <a:t>84</a:t>
            </a:r>
            <a:endParaRPr lang="en-US" sz="1400" dirty="0"/>
          </a:p>
        </p:txBody>
      </p:sp>
      <p:sp>
        <p:nvSpPr>
          <p:cNvPr id="30" name="text-499"/>
          <p:cNvSpPr txBox="1"/>
          <p:nvPr/>
        </p:nvSpPr>
        <p:spPr>
          <a:xfrm>
            <a:off x="4864608" y="2697480"/>
            <a:ext cx="118872" cy="182880"/>
          </a:xfrm>
          <a:prstGeom prst="rect">
            <a:avLst/>
          </a:prstGeom>
          <a:noFill/>
          <a:ln/>
        </p:spPr>
        <p:txBody>
          <a:bodyPr wrap="square" lIns="0" tIns="0" rIns="0" bIns="0" rtlCol="0" anchor="t"/>
          <a:lstStyle/>
          <a:p>
            <a:pPr marL="0" indent="0">
              <a:buNone/>
            </a:pPr>
            <a:r>
              <a:rPr lang="en-US" sz="900" dirty="0">
                <a:solidFill>
                  <a:schemeClr val="accent5"/>
                </a:solidFill>
              </a:rPr>
              <a:t>2</a:t>
            </a:r>
            <a:endParaRPr lang="en-US" sz="900" dirty="0"/>
          </a:p>
        </p:txBody>
      </p:sp>
      <p:sp>
        <p:nvSpPr>
          <p:cNvPr id="31" name="link-500"/>
          <p:cNvSpPr/>
          <p:nvPr/>
        </p:nvSpPr>
        <p:spPr>
          <a:xfrm>
            <a:off x="4636008" y="3044952"/>
            <a:ext cx="0" cy="246888"/>
          </a:xfrm>
          <a:prstGeom prst="line">
            <a:avLst/>
          </a:prstGeom>
          <a:noFill/>
          <a:ln w="15875">
            <a:solidFill>
              <a:schemeClr val="accent5"/>
            </a:solidFill>
            <a:prstDash val="solid"/>
            <a:tailEnd type="triangle"/>
          </a:ln>
        </p:spPr>
        <p:txBody>
          <a:bodyPr/>
          <a:lstStyle/>
          <a:p>
            <a:endParaRPr lang="en-US"/>
          </a:p>
        </p:txBody>
      </p:sp>
      <p:sp>
        <p:nvSpPr>
          <p:cNvPr id="32" name="tile-501"/>
          <p:cNvSpPr/>
          <p:nvPr/>
        </p:nvSpPr>
        <p:spPr>
          <a:xfrm>
            <a:off x="4425696" y="3291840"/>
            <a:ext cx="420624" cy="411480"/>
          </a:xfrm>
          <a:prstGeom prst="roundRect">
            <a:avLst>
              <a:gd name="adj" fmla="val 11111"/>
            </a:avLst>
          </a:prstGeom>
          <a:solidFill>
            <a:schemeClr val="accent2"/>
          </a:solidFill>
          <a:ln w="12700">
            <a:solidFill>
              <a:schemeClr val="accent2"/>
            </a:solidFill>
          </a:ln>
        </p:spPr>
        <p:txBody>
          <a:bodyPr wrap="square" lIns="0" tIns="0" rIns="0" bIns="0" rtlCol="0" anchor="ctr"/>
          <a:lstStyle/>
          <a:p>
            <a:pPr marL="0" indent="0" algn="ctr">
              <a:buNone/>
            </a:pPr>
            <a:r>
              <a:rPr lang="en-US" sz="1400" b="1" dirty="0">
                <a:solidFill>
                  <a:schemeClr val="tx1"/>
                </a:solidFill>
                <a:latin typeface="Courier New" pitchFamily="34" charset="0"/>
                <a:ea typeface="Courier New" pitchFamily="34" charset="-122"/>
                <a:cs typeface="Courier New" pitchFamily="34" charset="-120"/>
              </a:rPr>
              <a:t>18</a:t>
            </a:r>
            <a:endParaRPr lang="en-US" sz="1400" dirty="0"/>
          </a:p>
        </p:txBody>
      </p:sp>
      <p:sp>
        <p:nvSpPr>
          <p:cNvPr id="33" name="text-502"/>
          <p:cNvSpPr txBox="1"/>
          <p:nvPr/>
        </p:nvSpPr>
        <p:spPr>
          <a:xfrm>
            <a:off x="4864608" y="3383280"/>
            <a:ext cx="118872" cy="182880"/>
          </a:xfrm>
          <a:prstGeom prst="rect">
            <a:avLst/>
          </a:prstGeom>
          <a:noFill/>
          <a:ln/>
        </p:spPr>
        <p:txBody>
          <a:bodyPr wrap="square" lIns="0" tIns="0" rIns="0" bIns="0" rtlCol="0" anchor="t"/>
          <a:lstStyle/>
          <a:p>
            <a:pPr marL="0" indent="0">
              <a:buNone/>
            </a:pPr>
            <a:r>
              <a:rPr lang="en-US" sz="900" dirty="0">
                <a:solidFill>
                  <a:schemeClr val="accent5"/>
                </a:solidFill>
              </a:rPr>
              <a:t>3</a:t>
            </a:r>
            <a:endParaRPr lang="en-US" sz="900" dirty="0"/>
          </a:p>
        </p:txBody>
      </p:sp>
      <p:sp>
        <p:nvSpPr>
          <p:cNvPr id="34" name="text-503"/>
          <p:cNvSpPr txBox="1"/>
          <p:nvPr/>
        </p:nvSpPr>
        <p:spPr>
          <a:xfrm>
            <a:off x="4992624" y="1051560"/>
            <a:ext cx="420624" cy="182880"/>
          </a:xfrm>
          <a:prstGeom prst="rect">
            <a:avLst/>
          </a:prstGeom>
          <a:noFill/>
          <a:ln/>
        </p:spPr>
        <p:txBody>
          <a:bodyPr wrap="square" lIns="0" tIns="0" rIns="0" bIns="0" rtlCol="0" anchor="t"/>
          <a:lstStyle/>
          <a:p>
            <a:pPr marL="0" indent="0" algn="ctr">
              <a:buNone/>
            </a:pPr>
            <a:r>
              <a:rPr lang="en-US" sz="1000" dirty="0">
                <a:solidFill>
                  <a:schemeClr val="accent5"/>
                </a:solidFill>
              </a:rPr>
              <a:t>8</a:t>
            </a:r>
            <a:endParaRPr lang="en-US" sz="1000" dirty="0"/>
          </a:p>
        </p:txBody>
      </p:sp>
      <p:sp>
        <p:nvSpPr>
          <p:cNvPr id="35" name="tile-504"/>
          <p:cNvSpPr/>
          <p:nvPr/>
        </p:nvSpPr>
        <p:spPr>
          <a:xfrm>
            <a:off x="4992624" y="1261872"/>
            <a:ext cx="420624" cy="365760"/>
          </a:xfrm>
          <a:prstGeom prst="roundRect">
            <a:avLst>
              <a:gd name="adj" fmla="val 12500"/>
            </a:avLst>
          </a:prstGeom>
          <a:solidFill>
            <a:schemeClr val="tx2"/>
          </a:solidFill>
          <a:ln w="12700">
            <a:solidFill>
              <a:schemeClr val="tx2"/>
            </a:solidFill>
          </a:ln>
        </p:spPr>
        <p:txBody>
          <a:bodyPr wrap="square" lIns="0" tIns="0" rIns="0" bIns="0" rtlCol="0" anchor="ctr"/>
          <a:lstStyle/>
          <a:p>
            <a:pPr marL="0" indent="0" algn="ctr">
              <a:buNone/>
            </a:pPr>
            <a:endParaRPr lang="en-US" sz="1600" dirty="0"/>
          </a:p>
        </p:txBody>
      </p:sp>
      <p:sp>
        <p:nvSpPr>
          <p:cNvPr id="36" name="link-505"/>
          <p:cNvSpPr/>
          <p:nvPr/>
        </p:nvSpPr>
        <p:spPr>
          <a:xfrm>
            <a:off x="5202936" y="1673352"/>
            <a:ext cx="0" cy="246888"/>
          </a:xfrm>
          <a:prstGeom prst="line">
            <a:avLst/>
          </a:prstGeom>
          <a:noFill/>
          <a:ln w="15875">
            <a:solidFill>
              <a:schemeClr val="accent5"/>
            </a:solidFill>
            <a:prstDash val="solid"/>
            <a:tailEnd type="triangle"/>
          </a:ln>
        </p:spPr>
        <p:txBody>
          <a:bodyPr/>
          <a:lstStyle/>
          <a:p>
            <a:endParaRPr lang="en-US"/>
          </a:p>
        </p:txBody>
      </p:sp>
      <p:sp>
        <p:nvSpPr>
          <p:cNvPr id="37" name="tile-506"/>
          <p:cNvSpPr/>
          <p:nvPr/>
        </p:nvSpPr>
        <p:spPr>
          <a:xfrm>
            <a:off x="4992624" y="1920240"/>
            <a:ext cx="420624" cy="411480"/>
          </a:xfrm>
          <a:prstGeom prst="roundRect">
            <a:avLst>
              <a:gd name="adj" fmla="val 11111"/>
            </a:avLst>
          </a:prstGeom>
          <a:solidFill>
            <a:schemeClr val="bg1"/>
          </a:solidFill>
          <a:ln w="12700">
            <a:solidFill>
              <a:schemeClr val="accent1"/>
            </a:solidFill>
          </a:ln>
        </p:spPr>
        <p:txBody>
          <a:bodyPr wrap="square" lIns="0" tIns="0" rIns="0" bIns="0" rtlCol="0" anchor="ctr"/>
          <a:lstStyle/>
          <a:p>
            <a:pPr marL="0" indent="0" algn="ctr">
              <a:buNone/>
            </a:pPr>
            <a:r>
              <a:rPr lang="en-US" sz="1400" b="1" dirty="0">
                <a:solidFill>
                  <a:schemeClr val="tx1"/>
                </a:solidFill>
                <a:latin typeface="Courier New" pitchFamily="34" charset="0"/>
                <a:ea typeface="Courier New" pitchFamily="34" charset="-122"/>
                <a:cs typeface="Courier New" pitchFamily="34" charset="-120"/>
              </a:rPr>
              <a:t>30</a:t>
            </a:r>
            <a:endParaRPr lang="en-US" sz="1400" dirty="0"/>
          </a:p>
        </p:txBody>
      </p:sp>
      <p:sp>
        <p:nvSpPr>
          <p:cNvPr id="38" name="text-507"/>
          <p:cNvSpPr txBox="1"/>
          <p:nvPr/>
        </p:nvSpPr>
        <p:spPr>
          <a:xfrm>
            <a:off x="5431536" y="2011680"/>
            <a:ext cx="118872" cy="182880"/>
          </a:xfrm>
          <a:prstGeom prst="rect">
            <a:avLst/>
          </a:prstGeom>
          <a:noFill/>
          <a:ln/>
        </p:spPr>
        <p:txBody>
          <a:bodyPr wrap="square" lIns="0" tIns="0" rIns="0" bIns="0" rtlCol="0" anchor="t"/>
          <a:lstStyle/>
          <a:p>
            <a:pPr marL="0" indent="0">
              <a:buNone/>
            </a:pPr>
            <a:r>
              <a:rPr lang="en-US" sz="900" dirty="0">
                <a:solidFill>
                  <a:schemeClr val="accent5"/>
                </a:solidFill>
              </a:rPr>
              <a:t>1</a:t>
            </a:r>
            <a:endParaRPr lang="en-US" sz="900" dirty="0"/>
          </a:p>
        </p:txBody>
      </p:sp>
      <p:sp>
        <p:nvSpPr>
          <p:cNvPr id="39" name="text-508"/>
          <p:cNvSpPr txBox="1"/>
          <p:nvPr/>
        </p:nvSpPr>
        <p:spPr>
          <a:xfrm>
            <a:off x="5559552" y="1051560"/>
            <a:ext cx="420624" cy="182880"/>
          </a:xfrm>
          <a:prstGeom prst="rect">
            <a:avLst/>
          </a:prstGeom>
          <a:noFill/>
          <a:ln/>
        </p:spPr>
        <p:txBody>
          <a:bodyPr wrap="square" lIns="0" tIns="0" rIns="0" bIns="0" rtlCol="0" anchor="t"/>
          <a:lstStyle/>
          <a:p>
            <a:pPr marL="0" indent="0" algn="ctr">
              <a:buNone/>
            </a:pPr>
            <a:r>
              <a:rPr lang="en-US" sz="1000" dirty="0">
                <a:solidFill>
                  <a:schemeClr val="accent5"/>
                </a:solidFill>
              </a:rPr>
              <a:t>9</a:t>
            </a:r>
            <a:endParaRPr lang="en-US" sz="1000" dirty="0"/>
          </a:p>
        </p:txBody>
      </p:sp>
      <p:sp>
        <p:nvSpPr>
          <p:cNvPr id="40" name="tile-509"/>
          <p:cNvSpPr/>
          <p:nvPr/>
        </p:nvSpPr>
        <p:spPr>
          <a:xfrm>
            <a:off x="5559552" y="1261872"/>
            <a:ext cx="420624" cy="365760"/>
          </a:xfrm>
          <a:prstGeom prst="roundRect">
            <a:avLst>
              <a:gd name="adj" fmla="val 12500"/>
            </a:avLst>
          </a:prstGeom>
          <a:solidFill>
            <a:schemeClr val="tx2"/>
          </a:solidFill>
          <a:ln w="12700">
            <a:solidFill>
              <a:schemeClr val="tx2"/>
            </a:solidFill>
          </a:ln>
        </p:spPr>
        <p:txBody>
          <a:bodyPr wrap="square" lIns="0" tIns="0" rIns="0" bIns="0" rtlCol="0" anchor="ctr"/>
          <a:lstStyle/>
          <a:p>
            <a:pPr marL="0" indent="0" algn="ctr">
              <a:buNone/>
            </a:pPr>
            <a:endParaRPr lang="en-US" sz="1600" dirty="0"/>
          </a:p>
        </p:txBody>
      </p:sp>
      <p:sp>
        <p:nvSpPr>
          <p:cNvPr id="41" name="link-510"/>
          <p:cNvSpPr/>
          <p:nvPr/>
        </p:nvSpPr>
        <p:spPr>
          <a:xfrm>
            <a:off x="5769864" y="1673352"/>
            <a:ext cx="0" cy="246888"/>
          </a:xfrm>
          <a:prstGeom prst="line">
            <a:avLst/>
          </a:prstGeom>
          <a:noFill/>
          <a:ln w="15875">
            <a:solidFill>
              <a:schemeClr val="accent5"/>
            </a:solidFill>
            <a:prstDash val="solid"/>
            <a:tailEnd type="triangle"/>
          </a:ln>
        </p:spPr>
        <p:txBody>
          <a:bodyPr/>
          <a:lstStyle/>
          <a:p>
            <a:endParaRPr lang="en-US"/>
          </a:p>
        </p:txBody>
      </p:sp>
      <p:sp>
        <p:nvSpPr>
          <p:cNvPr id="42" name="tile-511"/>
          <p:cNvSpPr/>
          <p:nvPr/>
        </p:nvSpPr>
        <p:spPr>
          <a:xfrm>
            <a:off x="5559552" y="1920240"/>
            <a:ext cx="420624" cy="411480"/>
          </a:xfrm>
          <a:prstGeom prst="roundRect">
            <a:avLst>
              <a:gd name="adj" fmla="val 11111"/>
            </a:avLst>
          </a:prstGeom>
          <a:solidFill>
            <a:schemeClr val="bg1"/>
          </a:solidFill>
          <a:ln w="12700">
            <a:solidFill>
              <a:schemeClr val="accent1"/>
            </a:solidFill>
          </a:ln>
        </p:spPr>
        <p:txBody>
          <a:bodyPr wrap="square" lIns="0" tIns="0" rIns="0" bIns="0" rtlCol="0" anchor="ctr"/>
          <a:lstStyle/>
          <a:p>
            <a:pPr marL="0" indent="0" algn="ctr">
              <a:buNone/>
            </a:pPr>
            <a:r>
              <a:rPr lang="en-US" sz="1400" b="1" dirty="0">
                <a:solidFill>
                  <a:schemeClr val="tx1"/>
                </a:solidFill>
                <a:latin typeface="Courier New" pitchFamily="34" charset="0"/>
                <a:ea typeface="Courier New" pitchFamily="34" charset="-122"/>
                <a:cs typeface="Courier New" pitchFamily="34" charset="-120"/>
              </a:rPr>
              <a:t>42</a:t>
            </a:r>
            <a:endParaRPr lang="en-US" sz="1400" dirty="0"/>
          </a:p>
        </p:txBody>
      </p:sp>
      <p:sp>
        <p:nvSpPr>
          <p:cNvPr id="43" name="text-512"/>
          <p:cNvSpPr txBox="1"/>
          <p:nvPr/>
        </p:nvSpPr>
        <p:spPr>
          <a:xfrm>
            <a:off x="5998464" y="2011680"/>
            <a:ext cx="118872" cy="182880"/>
          </a:xfrm>
          <a:prstGeom prst="rect">
            <a:avLst/>
          </a:prstGeom>
          <a:noFill/>
          <a:ln/>
        </p:spPr>
        <p:txBody>
          <a:bodyPr wrap="square" lIns="0" tIns="0" rIns="0" bIns="0" rtlCol="0" anchor="t"/>
          <a:lstStyle/>
          <a:p>
            <a:pPr marL="0" indent="0">
              <a:buNone/>
            </a:pPr>
            <a:r>
              <a:rPr lang="en-US" sz="900" dirty="0">
                <a:solidFill>
                  <a:schemeClr val="accent5"/>
                </a:solidFill>
              </a:rPr>
              <a:t>1</a:t>
            </a:r>
            <a:endParaRPr lang="en-US" sz="900" dirty="0"/>
          </a:p>
        </p:txBody>
      </p:sp>
      <p:sp>
        <p:nvSpPr>
          <p:cNvPr id="44" name="text-513"/>
          <p:cNvSpPr txBox="1"/>
          <p:nvPr/>
        </p:nvSpPr>
        <p:spPr>
          <a:xfrm>
            <a:off x="6126480" y="1051560"/>
            <a:ext cx="420624" cy="182880"/>
          </a:xfrm>
          <a:prstGeom prst="rect">
            <a:avLst/>
          </a:prstGeom>
          <a:noFill/>
          <a:ln/>
        </p:spPr>
        <p:txBody>
          <a:bodyPr wrap="square" lIns="0" tIns="0" rIns="0" bIns="0" rtlCol="0" anchor="t"/>
          <a:lstStyle/>
          <a:p>
            <a:pPr marL="0" indent="0" algn="ctr">
              <a:buNone/>
            </a:pPr>
            <a:r>
              <a:rPr lang="en-US" sz="1000" dirty="0">
                <a:solidFill>
                  <a:schemeClr val="accent5"/>
                </a:solidFill>
              </a:rPr>
              <a:t>10</a:t>
            </a:r>
            <a:endParaRPr lang="en-US" sz="1000" dirty="0"/>
          </a:p>
        </p:txBody>
      </p:sp>
      <p:sp>
        <p:nvSpPr>
          <p:cNvPr id="45" name="tile-514"/>
          <p:cNvSpPr/>
          <p:nvPr/>
        </p:nvSpPr>
        <p:spPr>
          <a:xfrm>
            <a:off x="6126480" y="1261872"/>
            <a:ext cx="420624" cy="365760"/>
          </a:xfrm>
          <a:prstGeom prst="roundRect">
            <a:avLst>
              <a:gd name="adj" fmla="val 12500"/>
            </a:avLst>
          </a:prstGeom>
          <a:solidFill>
            <a:schemeClr val="bg2"/>
          </a:solidFill>
          <a:ln w="12700">
            <a:solidFill>
              <a:schemeClr val="bg2"/>
            </a:solidFill>
          </a:ln>
        </p:spPr>
        <p:txBody>
          <a:bodyPr wrap="square" lIns="0" tIns="0" rIns="0" bIns="0" rtlCol="0" anchor="ctr"/>
          <a:lstStyle/>
          <a:p>
            <a:pPr marL="0" indent="0" algn="ctr">
              <a:buNone/>
            </a:pPr>
            <a:endParaRPr lang="en-US" sz="1600" dirty="0"/>
          </a:p>
        </p:txBody>
      </p:sp>
      <p:sp>
        <p:nvSpPr>
          <p:cNvPr id="46" name="text-515"/>
          <p:cNvSpPr txBox="1"/>
          <p:nvPr/>
        </p:nvSpPr>
        <p:spPr>
          <a:xfrm>
            <a:off x="457200" y="4206240"/>
            <a:ext cx="5852160" cy="274320"/>
          </a:xfrm>
          <a:prstGeom prst="rect">
            <a:avLst/>
          </a:prstGeom>
          <a:noFill/>
          <a:ln/>
        </p:spPr>
        <p:txBody>
          <a:bodyPr wrap="square" lIns="0" tIns="0" rIns="0" bIns="0" rtlCol="0" anchor="t"/>
          <a:lstStyle/>
          <a:p>
            <a:pPr marL="0" indent="0">
              <a:buNone/>
            </a:pPr>
            <a:r>
              <a:rPr lang="en-US" sz="1100" dirty="0">
                <a:solidFill>
                  <a:schemeClr val="accent5"/>
                </a:solidFill>
              </a:rPr>
              <a:t>small numbers = comparisons to find that key</a:t>
            </a:r>
            <a:endParaRPr lang="en-US" sz="1100" dirty="0"/>
          </a:p>
        </p:txBody>
      </p:sp>
      <p:sp>
        <p:nvSpPr>
          <p:cNvPr id="47" name="card-516"/>
          <p:cNvSpPr/>
          <p:nvPr/>
        </p:nvSpPr>
        <p:spPr>
          <a:xfrm>
            <a:off x="6812280" y="1051560"/>
            <a:ext cx="1874520" cy="1463040"/>
          </a:xfrm>
          <a:prstGeom prst="roundRect">
            <a:avLst>
              <a:gd name="adj" fmla="val 5000"/>
            </a:avLst>
          </a:prstGeom>
          <a:solidFill>
            <a:schemeClr val="bg2"/>
          </a:solidFill>
          <a:ln w="12700">
            <a:solidFill>
              <a:schemeClr val="bg2"/>
            </a:solidFill>
            <a:prstDash val="solid"/>
          </a:ln>
        </p:spPr>
        <p:txBody>
          <a:bodyPr/>
          <a:lstStyle/>
          <a:p>
            <a:endParaRPr lang="en-US"/>
          </a:p>
        </p:txBody>
      </p:sp>
      <p:sp>
        <p:nvSpPr>
          <p:cNvPr id="48" name="text-517"/>
          <p:cNvSpPr txBox="1"/>
          <p:nvPr/>
        </p:nvSpPr>
        <p:spPr>
          <a:xfrm>
            <a:off x="6995160" y="1161288"/>
            <a:ext cx="1508760" cy="731520"/>
          </a:xfrm>
          <a:prstGeom prst="rect">
            <a:avLst/>
          </a:prstGeom>
          <a:noFill/>
          <a:ln/>
        </p:spPr>
        <p:txBody>
          <a:bodyPr wrap="square" lIns="0" tIns="0" rIns="0" bIns="0" rtlCol="0" anchor="ctr"/>
          <a:lstStyle/>
          <a:p>
            <a:pPr marL="0" indent="0">
              <a:buNone/>
            </a:pPr>
            <a:r>
              <a:rPr lang="en-US" sz="3400" b="1" dirty="0">
                <a:solidFill>
                  <a:schemeClr val="tx2"/>
                </a:solidFill>
              </a:rPr>
              <a:t>3</a:t>
            </a:r>
            <a:endParaRPr lang="en-US" sz="3400" dirty="0"/>
          </a:p>
        </p:txBody>
      </p:sp>
      <p:sp>
        <p:nvSpPr>
          <p:cNvPr id="49" name="text-518"/>
          <p:cNvSpPr txBox="1"/>
          <p:nvPr/>
        </p:nvSpPr>
        <p:spPr>
          <a:xfrm>
            <a:off x="6995160" y="1892808"/>
            <a:ext cx="1508760" cy="512064"/>
          </a:xfrm>
          <a:prstGeom prst="rect">
            <a:avLst/>
          </a:prstGeom>
          <a:noFill/>
          <a:ln/>
        </p:spPr>
        <p:txBody>
          <a:bodyPr wrap="square" lIns="0" tIns="0" rIns="0" bIns="0" rtlCol="0" anchor="t"/>
          <a:lstStyle/>
          <a:p>
            <a:pPr marL="0" indent="0">
              <a:buNone/>
            </a:pPr>
            <a:r>
              <a:rPr lang="en-US" sz="1200" dirty="0">
                <a:solidFill>
                  <a:schemeClr val="tx1"/>
                </a:solidFill>
              </a:rPr>
              <a:t>(b) max comparisons in a successful search (key 18)</a:t>
            </a:r>
            <a:endParaRPr lang="en-US" sz="1200" dirty="0"/>
          </a:p>
        </p:txBody>
      </p:sp>
      <p:sp>
        <p:nvSpPr>
          <p:cNvPr id="50" name="card-519"/>
          <p:cNvSpPr/>
          <p:nvPr/>
        </p:nvSpPr>
        <p:spPr>
          <a:xfrm>
            <a:off x="6812280" y="2651760"/>
            <a:ext cx="1874520" cy="1874520"/>
          </a:xfrm>
          <a:prstGeom prst="roundRect">
            <a:avLst>
              <a:gd name="adj" fmla="val 3902"/>
            </a:avLst>
          </a:prstGeom>
          <a:solidFill>
            <a:schemeClr val="bg2"/>
          </a:solidFill>
          <a:ln w="12700">
            <a:solidFill>
              <a:schemeClr val="bg2"/>
            </a:solidFill>
            <a:prstDash val="solid"/>
          </a:ln>
        </p:spPr>
        <p:txBody>
          <a:bodyPr/>
          <a:lstStyle/>
          <a:p>
            <a:endParaRPr lang="en-US"/>
          </a:p>
        </p:txBody>
      </p:sp>
      <p:sp>
        <p:nvSpPr>
          <p:cNvPr id="51" name="text-520"/>
          <p:cNvSpPr txBox="1"/>
          <p:nvPr/>
        </p:nvSpPr>
        <p:spPr>
          <a:xfrm>
            <a:off x="6995160" y="2761488"/>
            <a:ext cx="1508760" cy="937260"/>
          </a:xfrm>
          <a:prstGeom prst="rect">
            <a:avLst/>
          </a:prstGeom>
          <a:noFill/>
          <a:ln/>
        </p:spPr>
        <p:txBody>
          <a:bodyPr wrap="square" lIns="0" tIns="0" rIns="0" bIns="0" rtlCol="0" anchor="ctr"/>
          <a:lstStyle/>
          <a:p>
            <a:pPr marL="0" indent="0">
              <a:buNone/>
            </a:pPr>
            <a:r>
              <a:rPr lang="en-US" sz="3400" b="1" dirty="0">
                <a:solidFill>
                  <a:schemeClr val="tx2"/>
                </a:solidFill>
              </a:rPr>
              <a:t>1.43</a:t>
            </a:r>
            <a:endParaRPr lang="en-US" sz="3400" dirty="0"/>
          </a:p>
        </p:txBody>
      </p:sp>
      <p:sp>
        <p:nvSpPr>
          <p:cNvPr id="52" name="text-521"/>
          <p:cNvSpPr txBox="1"/>
          <p:nvPr/>
        </p:nvSpPr>
        <p:spPr>
          <a:xfrm>
            <a:off x="6995160" y="3698748"/>
            <a:ext cx="1508760" cy="717804"/>
          </a:xfrm>
          <a:prstGeom prst="rect">
            <a:avLst/>
          </a:prstGeom>
          <a:noFill/>
          <a:ln/>
        </p:spPr>
        <p:txBody>
          <a:bodyPr wrap="square" lIns="0" tIns="0" rIns="0" bIns="0" rtlCol="0" anchor="t"/>
          <a:lstStyle/>
          <a:p>
            <a:pPr marL="0" indent="0">
              <a:buNone/>
            </a:pPr>
            <a:r>
              <a:rPr lang="en-US" sz="1200" dirty="0">
                <a:solidFill>
                  <a:schemeClr val="tx1"/>
                </a:solidFill>
              </a:rPr>
              <a:t>(c) average: (1+1+1+2+1+3+1) / 7 = 10/7</a:t>
            </a:r>
            <a:endParaRPr lang="en-US" sz="1200" dirty="0"/>
          </a:p>
        </p:txBody>
      </p:sp>
      <p:sp>
        <p:nvSpPr>
          <p:cNvPr id="5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Q73 · Closed hashing, linear probing</a:t>
            </a:r>
            <a:endParaRPr lang="en-US" sz="3000" dirty="0"/>
          </a:p>
        </p:txBody>
      </p:sp>
      <p:sp>
        <p:nvSpPr>
          <p:cNvPr id="3" name="text-522"/>
          <p:cNvSpPr txBox="1"/>
          <p:nvPr/>
        </p:nvSpPr>
        <p:spPr>
          <a:xfrm>
            <a:off x="45720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0</a:t>
            </a:r>
            <a:endParaRPr lang="en-US" sz="1000" dirty="0"/>
          </a:p>
        </p:txBody>
      </p:sp>
      <p:sp>
        <p:nvSpPr>
          <p:cNvPr id="4" name="tile-523"/>
          <p:cNvSpPr/>
          <p:nvPr/>
        </p:nvSpPr>
        <p:spPr>
          <a:xfrm>
            <a:off x="457200" y="1216152"/>
            <a:ext cx="475488" cy="411480"/>
          </a:xfrm>
          <a:prstGeom prst="roundRect">
            <a:avLst>
              <a:gd name="adj" fmla="val 11111"/>
            </a:avLst>
          </a:prstGeom>
          <a:solidFill>
            <a:schemeClr val="accent2"/>
          </a:solidFill>
          <a:ln w="12700">
            <a:solidFill>
              <a:schemeClr val="accent2"/>
            </a:solidFill>
          </a:ln>
        </p:spPr>
        <p:txBody>
          <a:bodyPr wrap="square" lIns="0" tIns="0" rIns="0" bIns="0" rtlCol="0" anchor="ctr"/>
          <a:lstStyle/>
          <a:p>
            <a:pPr marL="0" indent="0" algn="ctr">
              <a:buNone/>
            </a:pPr>
            <a:r>
              <a:rPr lang="en-US" sz="1400" b="1" dirty="0">
                <a:solidFill>
                  <a:schemeClr val="tx1"/>
                </a:solidFill>
                <a:latin typeface="Courier New" pitchFamily="34" charset="0"/>
                <a:ea typeface="Courier New" pitchFamily="34" charset="-122"/>
                <a:cs typeface="Courier New" pitchFamily="34" charset="-120"/>
              </a:rPr>
              <a:t>30</a:t>
            </a:r>
            <a:endParaRPr lang="en-US" sz="1400" dirty="0"/>
          </a:p>
        </p:txBody>
      </p:sp>
      <p:sp>
        <p:nvSpPr>
          <p:cNvPr id="5" name="text-524"/>
          <p:cNvSpPr txBox="1"/>
          <p:nvPr/>
        </p:nvSpPr>
        <p:spPr>
          <a:xfrm>
            <a:off x="457200" y="1664208"/>
            <a:ext cx="475488" cy="182880"/>
          </a:xfrm>
          <a:prstGeom prst="rect">
            <a:avLst/>
          </a:prstGeom>
          <a:noFill/>
          <a:ln/>
        </p:spPr>
        <p:txBody>
          <a:bodyPr wrap="square" lIns="0" tIns="0" rIns="0" bIns="0" rtlCol="0" anchor="t"/>
          <a:lstStyle/>
          <a:p>
            <a:pPr marL="0" indent="0" algn="ctr">
              <a:buNone/>
            </a:pPr>
            <a:r>
              <a:rPr lang="en-US" sz="1000" b="1" dirty="0">
                <a:solidFill>
                  <a:schemeClr val="tx2"/>
                </a:solidFill>
              </a:rPr>
              <a:t>4</a:t>
            </a:r>
            <a:endParaRPr lang="en-US" sz="1000" dirty="0"/>
          </a:p>
        </p:txBody>
      </p:sp>
      <p:sp>
        <p:nvSpPr>
          <p:cNvPr id="6" name="text-525"/>
          <p:cNvSpPr txBox="1"/>
          <p:nvPr/>
        </p:nvSpPr>
        <p:spPr>
          <a:xfrm>
            <a:off x="100584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1</a:t>
            </a:r>
            <a:endParaRPr lang="en-US" sz="1000" dirty="0"/>
          </a:p>
        </p:txBody>
      </p:sp>
      <p:sp>
        <p:nvSpPr>
          <p:cNvPr id="7" name="tile-526"/>
          <p:cNvSpPr/>
          <p:nvPr/>
        </p:nvSpPr>
        <p:spPr>
          <a:xfrm>
            <a:off x="1005840" y="1216152"/>
            <a:ext cx="475488" cy="411480"/>
          </a:xfrm>
          <a:prstGeom prst="roundRect">
            <a:avLst>
              <a:gd name="adj" fmla="val 11111"/>
            </a:avLst>
          </a:prstGeom>
          <a:solidFill>
            <a:schemeClr val="bg2"/>
          </a:solidFill>
          <a:ln w="12700">
            <a:solidFill>
              <a:schemeClr val="bg2"/>
            </a:solidFill>
          </a:ln>
        </p:spPr>
        <p:txBody>
          <a:bodyPr wrap="square" lIns="0" tIns="0" rIns="0" bIns="0" rtlCol="0" anchor="ctr"/>
          <a:lstStyle/>
          <a:p>
            <a:pPr marL="0" indent="0" algn="ctr">
              <a:buNone/>
            </a:pPr>
            <a:endParaRPr lang="en-US" sz="1600" dirty="0"/>
          </a:p>
        </p:txBody>
      </p:sp>
      <p:sp>
        <p:nvSpPr>
          <p:cNvPr id="8" name="text-527"/>
          <p:cNvSpPr txBox="1"/>
          <p:nvPr/>
        </p:nvSpPr>
        <p:spPr>
          <a:xfrm>
            <a:off x="155448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2</a:t>
            </a:r>
            <a:endParaRPr lang="en-US" sz="1000" dirty="0"/>
          </a:p>
        </p:txBody>
      </p:sp>
      <p:sp>
        <p:nvSpPr>
          <p:cNvPr id="9" name="tile-528"/>
          <p:cNvSpPr/>
          <p:nvPr/>
        </p:nvSpPr>
        <p:spPr>
          <a:xfrm>
            <a:off x="1554480" y="1216152"/>
            <a:ext cx="475488" cy="411480"/>
          </a:xfrm>
          <a:prstGeom prst="roundRect">
            <a:avLst>
              <a:gd name="adj" fmla="val 11111"/>
            </a:avLst>
          </a:prstGeom>
          <a:solidFill>
            <a:schemeClr val="bg2"/>
          </a:solidFill>
          <a:ln w="12700">
            <a:solidFill>
              <a:schemeClr val="bg2"/>
            </a:solidFill>
          </a:ln>
        </p:spPr>
        <p:txBody>
          <a:bodyPr wrap="square" lIns="0" tIns="0" rIns="0" bIns="0" rtlCol="0" anchor="ctr"/>
          <a:lstStyle/>
          <a:p>
            <a:pPr marL="0" indent="0" algn="ctr">
              <a:buNone/>
            </a:pPr>
            <a:endParaRPr lang="en-US" sz="1600" dirty="0"/>
          </a:p>
        </p:txBody>
      </p:sp>
      <p:sp>
        <p:nvSpPr>
          <p:cNvPr id="10" name="text-529"/>
          <p:cNvSpPr txBox="1"/>
          <p:nvPr/>
        </p:nvSpPr>
        <p:spPr>
          <a:xfrm>
            <a:off x="210312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3</a:t>
            </a:r>
            <a:endParaRPr lang="en-US" sz="1000" dirty="0"/>
          </a:p>
        </p:txBody>
      </p:sp>
      <p:sp>
        <p:nvSpPr>
          <p:cNvPr id="11" name="tile-530"/>
          <p:cNvSpPr/>
          <p:nvPr/>
        </p:nvSpPr>
        <p:spPr>
          <a:xfrm>
            <a:off x="2103120" y="1216152"/>
            <a:ext cx="475488" cy="411480"/>
          </a:xfrm>
          <a:prstGeom prst="roundRect">
            <a:avLst>
              <a:gd name="adj" fmla="val 11111"/>
            </a:avLst>
          </a:prstGeom>
          <a:solidFill>
            <a:schemeClr val="bg2"/>
          </a:solidFill>
          <a:ln w="12700">
            <a:solidFill>
              <a:schemeClr val="bg2"/>
            </a:solidFill>
          </a:ln>
        </p:spPr>
        <p:txBody>
          <a:bodyPr wrap="square" lIns="0" tIns="0" rIns="0" bIns="0" rtlCol="0" anchor="ctr"/>
          <a:lstStyle/>
          <a:p>
            <a:pPr marL="0" indent="0" algn="ctr">
              <a:buNone/>
            </a:pPr>
            <a:endParaRPr lang="en-US" sz="1600" dirty="0"/>
          </a:p>
        </p:txBody>
      </p:sp>
      <p:sp>
        <p:nvSpPr>
          <p:cNvPr id="12" name="text-531"/>
          <p:cNvSpPr txBox="1"/>
          <p:nvPr/>
        </p:nvSpPr>
        <p:spPr>
          <a:xfrm>
            <a:off x="265176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4</a:t>
            </a:r>
            <a:endParaRPr lang="en-US" sz="1000" dirty="0"/>
          </a:p>
        </p:txBody>
      </p:sp>
      <p:sp>
        <p:nvSpPr>
          <p:cNvPr id="13" name="tile-532"/>
          <p:cNvSpPr/>
          <p:nvPr/>
        </p:nvSpPr>
        <p:spPr>
          <a:xfrm>
            <a:off x="2651760" y="1216152"/>
            <a:ext cx="475488" cy="411480"/>
          </a:xfrm>
          <a:prstGeom prst="roundRect">
            <a:avLst>
              <a:gd name="adj" fmla="val 11111"/>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37</a:t>
            </a:r>
            <a:endParaRPr lang="en-US" sz="1400" dirty="0"/>
          </a:p>
        </p:txBody>
      </p:sp>
      <p:sp>
        <p:nvSpPr>
          <p:cNvPr id="14" name="text-533"/>
          <p:cNvSpPr txBox="1"/>
          <p:nvPr/>
        </p:nvSpPr>
        <p:spPr>
          <a:xfrm>
            <a:off x="2651760" y="1664208"/>
            <a:ext cx="475488" cy="182880"/>
          </a:xfrm>
          <a:prstGeom prst="rect">
            <a:avLst/>
          </a:prstGeom>
          <a:noFill/>
          <a:ln/>
        </p:spPr>
        <p:txBody>
          <a:bodyPr wrap="square" lIns="0" tIns="0" rIns="0" bIns="0" rtlCol="0" anchor="t"/>
          <a:lstStyle/>
          <a:p>
            <a:pPr marL="0" indent="0" algn="ctr">
              <a:buNone/>
            </a:pPr>
            <a:r>
              <a:rPr lang="en-US" sz="1000" b="1" dirty="0">
                <a:solidFill>
                  <a:schemeClr val="tx2"/>
                </a:solidFill>
              </a:rPr>
              <a:t>1</a:t>
            </a:r>
            <a:endParaRPr lang="en-US" sz="1000" dirty="0"/>
          </a:p>
        </p:txBody>
      </p:sp>
      <p:sp>
        <p:nvSpPr>
          <p:cNvPr id="15" name="text-534"/>
          <p:cNvSpPr txBox="1"/>
          <p:nvPr/>
        </p:nvSpPr>
        <p:spPr>
          <a:xfrm>
            <a:off x="320040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5</a:t>
            </a:r>
            <a:endParaRPr lang="en-US" sz="1000" dirty="0"/>
          </a:p>
        </p:txBody>
      </p:sp>
      <p:sp>
        <p:nvSpPr>
          <p:cNvPr id="16" name="tile-535"/>
          <p:cNvSpPr/>
          <p:nvPr/>
        </p:nvSpPr>
        <p:spPr>
          <a:xfrm>
            <a:off x="3200400" y="1216152"/>
            <a:ext cx="475488" cy="411480"/>
          </a:xfrm>
          <a:prstGeom prst="roundRect">
            <a:avLst>
              <a:gd name="adj" fmla="val 11111"/>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60</a:t>
            </a:r>
            <a:endParaRPr lang="en-US" sz="1400" dirty="0"/>
          </a:p>
        </p:txBody>
      </p:sp>
      <p:sp>
        <p:nvSpPr>
          <p:cNvPr id="17" name="text-536"/>
          <p:cNvSpPr txBox="1"/>
          <p:nvPr/>
        </p:nvSpPr>
        <p:spPr>
          <a:xfrm>
            <a:off x="3200400" y="1664208"/>
            <a:ext cx="475488" cy="182880"/>
          </a:xfrm>
          <a:prstGeom prst="rect">
            <a:avLst/>
          </a:prstGeom>
          <a:noFill/>
          <a:ln/>
        </p:spPr>
        <p:txBody>
          <a:bodyPr wrap="square" lIns="0" tIns="0" rIns="0" bIns="0" rtlCol="0" anchor="t"/>
          <a:lstStyle/>
          <a:p>
            <a:pPr marL="0" indent="0" algn="ctr">
              <a:buNone/>
            </a:pPr>
            <a:r>
              <a:rPr lang="en-US" sz="1000" b="1" dirty="0">
                <a:solidFill>
                  <a:schemeClr val="tx2"/>
                </a:solidFill>
              </a:rPr>
              <a:t>1</a:t>
            </a:r>
            <a:endParaRPr lang="en-US" sz="1000" dirty="0"/>
          </a:p>
        </p:txBody>
      </p:sp>
      <p:sp>
        <p:nvSpPr>
          <p:cNvPr id="18" name="text-537"/>
          <p:cNvSpPr txBox="1"/>
          <p:nvPr/>
        </p:nvSpPr>
        <p:spPr>
          <a:xfrm>
            <a:off x="374904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6</a:t>
            </a:r>
            <a:endParaRPr lang="en-US" sz="1000" dirty="0"/>
          </a:p>
        </p:txBody>
      </p:sp>
      <p:sp>
        <p:nvSpPr>
          <p:cNvPr id="19" name="tile-538"/>
          <p:cNvSpPr/>
          <p:nvPr/>
        </p:nvSpPr>
        <p:spPr>
          <a:xfrm>
            <a:off x="3749040" y="1216152"/>
            <a:ext cx="475488" cy="411480"/>
          </a:xfrm>
          <a:prstGeom prst="roundRect">
            <a:avLst>
              <a:gd name="adj" fmla="val 11111"/>
            </a:avLst>
          </a:prstGeom>
          <a:solidFill>
            <a:schemeClr val="bg2"/>
          </a:solidFill>
          <a:ln w="12700">
            <a:solidFill>
              <a:schemeClr val="bg2"/>
            </a:solidFill>
          </a:ln>
        </p:spPr>
        <p:txBody>
          <a:bodyPr wrap="square" lIns="0" tIns="0" rIns="0" bIns="0" rtlCol="0" anchor="ctr"/>
          <a:lstStyle/>
          <a:p>
            <a:pPr marL="0" indent="0" algn="ctr">
              <a:buNone/>
            </a:pPr>
            <a:endParaRPr lang="en-US" sz="1600" dirty="0"/>
          </a:p>
        </p:txBody>
      </p:sp>
      <p:sp>
        <p:nvSpPr>
          <p:cNvPr id="20" name="text-539"/>
          <p:cNvSpPr txBox="1"/>
          <p:nvPr/>
        </p:nvSpPr>
        <p:spPr>
          <a:xfrm>
            <a:off x="429768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7</a:t>
            </a:r>
            <a:endParaRPr lang="en-US" sz="1000" dirty="0"/>
          </a:p>
        </p:txBody>
      </p:sp>
      <p:sp>
        <p:nvSpPr>
          <p:cNvPr id="21" name="tile-540"/>
          <p:cNvSpPr/>
          <p:nvPr/>
        </p:nvSpPr>
        <p:spPr>
          <a:xfrm>
            <a:off x="4297680" y="1216152"/>
            <a:ext cx="475488" cy="411480"/>
          </a:xfrm>
          <a:prstGeom prst="roundRect">
            <a:avLst>
              <a:gd name="adj" fmla="val 11111"/>
            </a:avLst>
          </a:prstGeom>
          <a:solidFill>
            <a:schemeClr val="accent2"/>
          </a:solidFill>
          <a:ln w="12700">
            <a:solidFill>
              <a:schemeClr val="accent2"/>
            </a:solidFill>
          </a:ln>
        </p:spPr>
        <p:txBody>
          <a:bodyPr wrap="square" lIns="0" tIns="0" rIns="0" bIns="0" rtlCol="0" anchor="ctr"/>
          <a:lstStyle/>
          <a:p>
            <a:pPr marL="0" indent="0" algn="ctr">
              <a:buNone/>
            </a:pPr>
            <a:r>
              <a:rPr lang="en-US" sz="1400" b="1" dirty="0">
                <a:solidFill>
                  <a:schemeClr val="tx1"/>
                </a:solidFill>
                <a:latin typeface="Courier New" pitchFamily="34" charset="0"/>
                <a:ea typeface="Courier New" pitchFamily="34" charset="-122"/>
                <a:cs typeface="Courier New" pitchFamily="34" charset="-120"/>
              </a:rPr>
              <a:t>40</a:t>
            </a:r>
            <a:endParaRPr lang="en-US" sz="1400" dirty="0"/>
          </a:p>
        </p:txBody>
      </p:sp>
      <p:sp>
        <p:nvSpPr>
          <p:cNvPr id="22" name="text-541"/>
          <p:cNvSpPr txBox="1"/>
          <p:nvPr/>
        </p:nvSpPr>
        <p:spPr>
          <a:xfrm>
            <a:off x="4297680" y="1664208"/>
            <a:ext cx="475488" cy="182880"/>
          </a:xfrm>
          <a:prstGeom prst="rect">
            <a:avLst/>
          </a:prstGeom>
          <a:noFill/>
          <a:ln/>
        </p:spPr>
        <p:txBody>
          <a:bodyPr wrap="square" lIns="0" tIns="0" rIns="0" bIns="0" rtlCol="0" anchor="t"/>
          <a:lstStyle/>
          <a:p>
            <a:pPr marL="0" indent="0" algn="ctr">
              <a:buNone/>
            </a:pPr>
            <a:r>
              <a:rPr lang="en-US" sz="1000" b="1" dirty="0">
                <a:solidFill>
                  <a:schemeClr val="tx2"/>
                </a:solidFill>
              </a:rPr>
              <a:t>1</a:t>
            </a:r>
            <a:endParaRPr lang="en-US" sz="1000" dirty="0"/>
          </a:p>
        </p:txBody>
      </p:sp>
      <p:sp>
        <p:nvSpPr>
          <p:cNvPr id="23" name="text-542"/>
          <p:cNvSpPr txBox="1"/>
          <p:nvPr/>
        </p:nvSpPr>
        <p:spPr>
          <a:xfrm>
            <a:off x="484632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8</a:t>
            </a:r>
            <a:endParaRPr lang="en-US" sz="1000" dirty="0"/>
          </a:p>
        </p:txBody>
      </p:sp>
      <p:sp>
        <p:nvSpPr>
          <p:cNvPr id="24" name="tile-543"/>
          <p:cNvSpPr/>
          <p:nvPr/>
        </p:nvSpPr>
        <p:spPr>
          <a:xfrm>
            <a:off x="4846320" y="1216152"/>
            <a:ext cx="475488" cy="411480"/>
          </a:xfrm>
          <a:prstGeom prst="roundRect">
            <a:avLst>
              <a:gd name="adj" fmla="val 11111"/>
            </a:avLst>
          </a:prstGeom>
          <a:solidFill>
            <a:schemeClr val="accent2"/>
          </a:solidFill>
          <a:ln w="12700">
            <a:solidFill>
              <a:schemeClr val="accent2"/>
            </a:solidFill>
          </a:ln>
        </p:spPr>
        <p:txBody>
          <a:bodyPr wrap="square" lIns="0" tIns="0" rIns="0" bIns="0" rtlCol="0" anchor="ctr"/>
          <a:lstStyle/>
          <a:p>
            <a:pPr marL="0" indent="0" algn="ctr">
              <a:buNone/>
            </a:pPr>
            <a:r>
              <a:rPr lang="en-US" sz="1400" b="1" dirty="0">
                <a:solidFill>
                  <a:schemeClr val="tx1"/>
                </a:solidFill>
                <a:latin typeface="Courier New" pitchFamily="34" charset="0"/>
                <a:ea typeface="Courier New" pitchFamily="34" charset="-122"/>
                <a:cs typeface="Courier New" pitchFamily="34" charset="-120"/>
              </a:rPr>
              <a:t>84</a:t>
            </a:r>
            <a:endParaRPr lang="en-US" sz="1400" dirty="0"/>
          </a:p>
        </p:txBody>
      </p:sp>
      <p:sp>
        <p:nvSpPr>
          <p:cNvPr id="25" name="text-544"/>
          <p:cNvSpPr txBox="1"/>
          <p:nvPr/>
        </p:nvSpPr>
        <p:spPr>
          <a:xfrm>
            <a:off x="4846320" y="1664208"/>
            <a:ext cx="475488" cy="182880"/>
          </a:xfrm>
          <a:prstGeom prst="rect">
            <a:avLst/>
          </a:prstGeom>
          <a:noFill/>
          <a:ln/>
        </p:spPr>
        <p:txBody>
          <a:bodyPr wrap="square" lIns="0" tIns="0" rIns="0" bIns="0" rtlCol="0" anchor="t"/>
          <a:lstStyle/>
          <a:p>
            <a:pPr marL="0" indent="0" algn="ctr">
              <a:buNone/>
            </a:pPr>
            <a:r>
              <a:rPr lang="en-US" sz="1000" b="1" dirty="0">
                <a:solidFill>
                  <a:schemeClr val="tx2"/>
                </a:solidFill>
              </a:rPr>
              <a:t>2</a:t>
            </a:r>
            <a:endParaRPr lang="en-US" sz="1000" dirty="0"/>
          </a:p>
        </p:txBody>
      </p:sp>
      <p:sp>
        <p:nvSpPr>
          <p:cNvPr id="26" name="text-545"/>
          <p:cNvSpPr txBox="1"/>
          <p:nvPr/>
        </p:nvSpPr>
        <p:spPr>
          <a:xfrm>
            <a:off x="539496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9</a:t>
            </a:r>
            <a:endParaRPr lang="en-US" sz="1000" dirty="0"/>
          </a:p>
        </p:txBody>
      </p:sp>
      <p:sp>
        <p:nvSpPr>
          <p:cNvPr id="27" name="tile-546"/>
          <p:cNvSpPr/>
          <p:nvPr/>
        </p:nvSpPr>
        <p:spPr>
          <a:xfrm>
            <a:off x="5394960" y="1216152"/>
            <a:ext cx="475488" cy="411480"/>
          </a:xfrm>
          <a:prstGeom prst="roundRect">
            <a:avLst>
              <a:gd name="adj" fmla="val 11111"/>
            </a:avLst>
          </a:prstGeom>
          <a:solidFill>
            <a:schemeClr val="accent2"/>
          </a:solidFill>
          <a:ln w="12700">
            <a:solidFill>
              <a:schemeClr val="accent2"/>
            </a:solidFill>
          </a:ln>
        </p:spPr>
        <p:txBody>
          <a:bodyPr wrap="square" lIns="0" tIns="0" rIns="0" bIns="0" rtlCol="0" anchor="ctr"/>
          <a:lstStyle/>
          <a:p>
            <a:pPr marL="0" indent="0" algn="ctr">
              <a:buNone/>
            </a:pPr>
            <a:r>
              <a:rPr lang="en-US" sz="1400" b="1" dirty="0">
                <a:solidFill>
                  <a:schemeClr val="tx1"/>
                </a:solidFill>
                <a:latin typeface="Courier New" pitchFamily="34" charset="0"/>
                <a:ea typeface="Courier New" pitchFamily="34" charset="-122"/>
                <a:cs typeface="Courier New" pitchFamily="34" charset="-120"/>
              </a:rPr>
              <a:t>42</a:t>
            </a:r>
            <a:endParaRPr lang="en-US" sz="1400" dirty="0"/>
          </a:p>
        </p:txBody>
      </p:sp>
      <p:sp>
        <p:nvSpPr>
          <p:cNvPr id="28" name="text-547"/>
          <p:cNvSpPr txBox="1"/>
          <p:nvPr/>
        </p:nvSpPr>
        <p:spPr>
          <a:xfrm>
            <a:off x="5394960" y="1664208"/>
            <a:ext cx="475488" cy="182880"/>
          </a:xfrm>
          <a:prstGeom prst="rect">
            <a:avLst/>
          </a:prstGeom>
          <a:noFill/>
          <a:ln/>
        </p:spPr>
        <p:txBody>
          <a:bodyPr wrap="square" lIns="0" tIns="0" rIns="0" bIns="0" rtlCol="0" anchor="t"/>
          <a:lstStyle/>
          <a:p>
            <a:pPr marL="0" indent="0" algn="ctr">
              <a:buNone/>
            </a:pPr>
            <a:r>
              <a:rPr lang="en-US" sz="1000" b="1" dirty="0">
                <a:solidFill>
                  <a:schemeClr val="tx2"/>
                </a:solidFill>
              </a:rPr>
              <a:t>1</a:t>
            </a:r>
            <a:endParaRPr lang="en-US" sz="1000" dirty="0"/>
          </a:p>
        </p:txBody>
      </p:sp>
      <p:sp>
        <p:nvSpPr>
          <p:cNvPr id="29" name="text-548"/>
          <p:cNvSpPr txBox="1"/>
          <p:nvPr/>
        </p:nvSpPr>
        <p:spPr>
          <a:xfrm>
            <a:off x="594360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10</a:t>
            </a:r>
            <a:endParaRPr lang="en-US" sz="1000" dirty="0"/>
          </a:p>
        </p:txBody>
      </p:sp>
      <p:sp>
        <p:nvSpPr>
          <p:cNvPr id="30" name="tile-549"/>
          <p:cNvSpPr/>
          <p:nvPr/>
        </p:nvSpPr>
        <p:spPr>
          <a:xfrm>
            <a:off x="5943600" y="1216152"/>
            <a:ext cx="475488" cy="411480"/>
          </a:xfrm>
          <a:prstGeom prst="roundRect">
            <a:avLst>
              <a:gd name="adj" fmla="val 11111"/>
            </a:avLst>
          </a:prstGeom>
          <a:solidFill>
            <a:schemeClr val="accent2"/>
          </a:solidFill>
          <a:ln w="12700">
            <a:solidFill>
              <a:schemeClr val="accent2"/>
            </a:solidFill>
          </a:ln>
        </p:spPr>
        <p:txBody>
          <a:bodyPr wrap="square" lIns="0" tIns="0" rIns="0" bIns="0" rtlCol="0" anchor="ctr"/>
          <a:lstStyle/>
          <a:p>
            <a:pPr marL="0" indent="0" algn="ctr">
              <a:buNone/>
            </a:pPr>
            <a:r>
              <a:rPr lang="en-US" sz="1400" b="1" dirty="0">
                <a:solidFill>
                  <a:schemeClr val="tx1"/>
                </a:solidFill>
                <a:latin typeface="Courier New" pitchFamily="34" charset="0"/>
                <a:ea typeface="Courier New" pitchFamily="34" charset="-122"/>
                <a:cs typeface="Courier New" pitchFamily="34" charset="-120"/>
              </a:rPr>
              <a:t>18</a:t>
            </a:r>
            <a:endParaRPr lang="en-US" sz="1400" dirty="0"/>
          </a:p>
        </p:txBody>
      </p:sp>
      <p:sp>
        <p:nvSpPr>
          <p:cNvPr id="31" name="text-550"/>
          <p:cNvSpPr txBox="1"/>
          <p:nvPr/>
        </p:nvSpPr>
        <p:spPr>
          <a:xfrm>
            <a:off x="5943600" y="1664208"/>
            <a:ext cx="475488" cy="182880"/>
          </a:xfrm>
          <a:prstGeom prst="rect">
            <a:avLst/>
          </a:prstGeom>
          <a:noFill/>
          <a:ln/>
        </p:spPr>
        <p:txBody>
          <a:bodyPr wrap="square" lIns="0" tIns="0" rIns="0" bIns="0" rtlCol="0" anchor="t"/>
          <a:lstStyle/>
          <a:p>
            <a:pPr marL="0" indent="0" algn="ctr">
              <a:buNone/>
            </a:pPr>
            <a:r>
              <a:rPr lang="en-US" sz="1000" b="1" dirty="0">
                <a:solidFill>
                  <a:schemeClr val="tx2"/>
                </a:solidFill>
              </a:rPr>
              <a:t>4</a:t>
            </a:r>
            <a:endParaRPr lang="en-US" sz="1000" dirty="0"/>
          </a:p>
        </p:txBody>
      </p:sp>
      <p:graphicFrame>
        <p:nvGraphicFramePr>
          <p:cNvPr id="32" name="log-551"/>
          <p:cNvGraphicFramePr>
            <a:graphicFrameLocks noGrp="1"/>
          </p:cNvGraphicFramePr>
          <p:nvPr>
            <p:extLst>
              <p:ext uri="{D42A27DB-BD31-4B8C-83A1-F6EECF244321}">
                <p14:modId xmlns:p14="http://schemas.microsoft.com/office/powerpoint/2010/main" val="1579011935"/>
              </p:ext>
            </p:extLst>
          </p:nvPr>
        </p:nvGraphicFramePr>
        <p:xfrm>
          <a:off x="457200" y="2240280"/>
          <a:ext cx="5852160" cy="2267712"/>
        </p:xfrm>
        <a:graphic>
          <a:graphicData uri="http://schemas.openxmlformats.org/drawingml/2006/table">
            <a:tbl>
              <a:tblPr/>
              <a:tblGrid>
                <a:gridCol w="868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283464">
                <a:tc>
                  <a:txBody>
                    <a:bodyPr/>
                    <a:lstStyle/>
                    <a:p>
                      <a:pPr marL="0" indent="0">
                        <a:buNone/>
                      </a:pPr>
                      <a:r>
                        <a:rPr lang="en-US" sz="1200" b="1" dirty="0">
                          <a:solidFill>
                            <a:schemeClr val="bg1"/>
                          </a:solidFill>
                        </a:rPr>
                        <a:t>Key</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h(k)</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Cells probed</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Probes</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283464">
                <a:tc>
                  <a:txBody>
                    <a:bodyPr/>
                    <a:lstStyle/>
                    <a:p>
                      <a:pPr marL="0" indent="0">
                        <a:buNone/>
                      </a:pPr>
                      <a:r>
                        <a:rPr lang="en-US" sz="1200" dirty="0">
                          <a:solidFill>
                            <a:schemeClr val="tx1"/>
                          </a:solidFill>
                        </a:rPr>
                        <a:t>40</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7</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7</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1</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283464">
                <a:tc>
                  <a:txBody>
                    <a:bodyPr/>
                    <a:lstStyle/>
                    <a:p>
                      <a:pPr marL="0" indent="0">
                        <a:buNone/>
                      </a:pPr>
                      <a:r>
                        <a:rPr lang="en-US" sz="1200" dirty="0">
                          <a:solidFill>
                            <a:schemeClr val="tx1"/>
                          </a:solidFill>
                        </a:rPr>
                        <a:t>60</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5</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5</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1</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3464">
                <a:tc>
                  <a:txBody>
                    <a:bodyPr/>
                    <a:lstStyle/>
                    <a:p>
                      <a:pPr marL="0" indent="0">
                        <a:buNone/>
                      </a:pPr>
                      <a:r>
                        <a:rPr lang="en-US" sz="1200" dirty="0">
                          <a:solidFill>
                            <a:schemeClr val="tx1"/>
                          </a:solidFill>
                        </a:rPr>
                        <a:t>37</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4</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4</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1</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283464">
                <a:tc>
                  <a:txBody>
                    <a:bodyPr/>
                    <a:lstStyle/>
                    <a:p>
                      <a:pPr marL="0" indent="0">
                        <a:buNone/>
                      </a:pPr>
                      <a:r>
                        <a:rPr lang="en-US" sz="1200" dirty="0">
                          <a:solidFill>
                            <a:schemeClr val="tx2"/>
                          </a:solidFill>
                        </a:rPr>
                        <a:t>84</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7</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7 → 8</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b="1" dirty="0">
                          <a:solidFill>
                            <a:schemeClr val="tx2"/>
                          </a:solidFill>
                        </a:rPr>
                        <a:t>2</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3464">
                <a:tc>
                  <a:txBody>
                    <a:bodyPr/>
                    <a:lstStyle/>
                    <a:p>
                      <a:pPr marL="0" indent="0">
                        <a:buNone/>
                      </a:pPr>
                      <a:r>
                        <a:rPr lang="en-US" sz="1200" dirty="0">
                          <a:solidFill>
                            <a:schemeClr val="tx1"/>
                          </a:solidFill>
                        </a:rPr>
                        <a:t>42</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9</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9</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1</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283464">
                <a:tc>
                  <a:txBody>
                    <a:bodyPr/>
                    <a:lstStyle/>
                    <a:p>
                      <a:pPr marL="0" indent="0">
                        <a:buNone/>
                      </a:pPr>
                      <a:r>
                        <a:rPr lang="en-US" sz="1200" dirty="0">
                          <a:solidFill>
                            <a:schemeClr val="tx2"/>
                          </a:solidFill>
                        </a:rPr>
                        <a:t>18</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7</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7 → 8 → 9 → 10</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b="1" dirty="0">
                          <a:solidFill>
                            <a:schemeClr val="tx2"/>
                          </a:solidFill>
                        </a:rPr>
                        <a:t>4</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83464">
                <a:tc>
                  <a:txBody>
                    <a:bodyPr/>
                    <a:lstStyle/>
                    <a:p>
                      <a:pPr marL="0" indent="0">
                        <a:buNone/>
                      </a:pPr>
                      <a:r>
                        <a:rPr lang="en-US" sz="1200" dirty="0">
                          <a:solidFill>
                            <a:schemeClr val="tx2"/>
                          </a:solidFill>
                        </a:rPr>
                        <a:t>30</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8</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2"/>
                          </a:solidFill>
                        </a:rPr>
                        <a:t>8 → 9 → 10 → 0</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rPr>
                        <a:t>4</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33" name="card-552"/>
          <p:cNvSpPr/>
          <p:nvPr/>
        </p:nvSpPr>
        <p:spPr>
          <a:xfrm>
            <a:off x="6675120" y="1051560"/>
            <a:ext cx="2011680" cy="1188720"/>
          </a:xfrm>
          <a:prstGeom prst="roundRect">
            <a:avLst>
              <a:gd name="adj" fmla="val 6154"/>
            </a:avLst>
          </a:prstGeom>
          <a:solidFill>
            <a:schemeClr val="bg2"/>
          </a:solidFill>
          <a:ln w="12700">
            <a:solidFill>
              <a:schemeClr val="bg2"/>
            </a:solidFill>
            <a:prstDash val="solid"/>
          </a:ln>
        </p:spPr>
        <p:txBody>
          <a:bodyPr/>
          <a:lstStyle/>
          <a:p>
            <a:endParaRPr lang="en-US"/>
          </a:p>
        </p:txBody>
      </p:sp>
      <p:sp>
        <p:nvSpPr>
          <p:cNvPr id="34" name="text-553"/>
          <p:cNvSpPr txBox="1"/>
          <p:nvPr/>
        </p:nvSpPr>
        <p:spPr>
          <a:xfrm>
            <a:off x="6858000" y="1161288"/>
            <a:ext cx="1645920" cy="594360"/>
          </a:xfrm>
          <a:prstGeom prst="rect">
            <a:avLst/>
          </a:prstGeom>
          <a:noFill/>
          <a:ln/>
        </p:spPr>
        <p:txBody>
          <a:bodyPr wrap="square" lIns="0" tIns="0" rIns="0" bIns="0" rtlCol="0" anchor="ctr"/>
          <a:lstStyle/>
          <a:p>
            <a:pPr marL="0" indent="0">
              <a:buNone/>
            </a:pPr>
            <a:r>
              <a:rPr lang="en-US" sz="3200" b="1" dirty="0">
                <a:solidFill>
                  <a:schemeClr val="tx2"/>
                </a:solidFill>
              </a:rPr>
              <a:t>4</a:t>
            </a:r>
            <a:endParaRPr lang="en-US" sz="3200" dirty="0"/>
          </a:p>
        </p:txBody>
      </p:sp>
      <p:sp>
        <p:nvSpPr>
          <p:cNvPr id="35" name="text-554"/>
          <p:cNvSpPr txBox="1"/>
          <p:nvPr/>
        </p:nvSpPr>
        <p:spPr>
          <a:xfrm>
            <a:off x="6858000" y="1755648"/>
            <a:ext cx="1645920" cy="374904"/>
          </a:xfrm>
          <a:prstGeom prst="rect">
            <a:avLst/>
          </a:prstGeom>
          <a:noFill/>
          <a:ln/>
        </p:spPr>
        <p:txBody>
          <a:bodyPr wrap="square" lIns="0" tIns="0" rIns="0" bIns="0" rtlCol="0" anchor="t"/>
          <a:lstStyle/>
          <a:p>
            <a:pPr marL="0" indent="0">
              <a:buNone/>
            </a:pPr>
            <a:r>
              <a:rPr lang="en-US" sz="1200" dirty="0">
                <a:solidFill>
                  <a:schemeClr val="tx1"/>
                </a:solidFill>
              </a:rPr>
              <a:t>(b) largest — keys 18 and 30</a:t>
            </a:r>
            <a:endParaRPr lang="en-US" sz="1200" dirty="0"/>
          </a:p>
        </p:txBody>
      </p:sp>
      <p:sp>
        <p:nvSpPr>
          <p:cNvPr id="36" name="card-555"/>
          <p:cNvSpPr/>
          <p:nvPr/>
        </p:nvSpPr>
        <p:spPr>
          <a:xfrm>
            <a:off x="6675120" y="2377440"/>
            <a:ext cx="2011680" cy="1188720"/>
          </a:xfrm>
          <a:prstGeom prst="roundRect">
            <a:avLst>
              <a:gd name="adj" fmla="val 6154"/>
            </a:avLst>
          </a:prstGeom>
          <a:solidFill>
            <a:schemeClr val="bg2"/>
          </a:solidFill>
          <a:ln w="12700">
            <a:solidFill>
              <a:schemeClr val="bg2"/>
            </a:solidFill>
            <a:prstDash val="solid"/>
          </a:ln>
        </p:spPr>
        <p:txBody>
          <a:bodyPr/>
          <a:lstStyle/>
          <a:p>
            <a:endParaRPr lang="en-US"/>
          </a:p>
        </p:txBody>
      </p:sp>
      <p:sp>
        <p:nvSpPr>
          <p:cNvPr id="37" name="text-556"/>
          <p:cNvSpPr txBox="1"/>
          <p:nvPr/>
        </p:nvSpPr>
        <p:spPr>
          <a:xfrm>
            <a:off x="6858000" y="2487168"/>
            <a:ext cx="1645920" cy="594360"/>
          </a:xfrm>
          <a:prstGeom prst="rect">
            <a:avLst/>
          </a:prstGeom>
          <a:noFill/>
          <a:ln/>
        </p:spPr>
        <p:txBody>
          <a:bodyPr wrap="square" lIns="0" tIns="0" rIns="0" bIns="0" rtlCol="0" anchor="ctr"/>
          <a:lstStyle/>
          <a:p>
            <a:pPr marL="0" indent="0">
              <a:buNone/>
            </a:pPr>
            <a:r>
              <a:rPr lang="en-US" sz="3200" b="1" dirty="0">
                <a:solidFill>
                  <a:schemeClr val="tx2"/>
                </a:solidFill>
              </a:rPr>
              <a:t>2.0</a:t>
            </a:r>
            <a:endParaRPr lang="en-US" sz="3200" dirty="0"/>
          </a:p>
        </p:txBody>
      </p:sp>
      <p:sp>
        <p:nvSpPr>
          <p:cNvPr id="38" name="text-557"/>
          <p:cNvSpPr txBox="1"/>
          <p:nvPr/>
        </p:nvSpPr>
        <p:spPr>
          <a:xfrm>
            <a:off x="6858000" y="3081528"/>
            <a:ext cx="1645920" cy="374904"/>
          </a:xfrm>
          <a:prstGeom prst="rect">
            <a:avLst/>
          </a:prstGeom>
          <a:noFill/>
          <a:ln/>
        </p:spPr>
        <p:txBody>
          <a:bodyPr wrap="square" lIns="0" tIns="0" rIns="0" bIns="0" rtlCol="0" anchor="t"/>
          <a:lstStyle/>
          <a:p>
            <a:pPr marL="0" indent="0">
              <a:buNone/>
            </a:pPr>
            <a:r>
              <a:rPr lang="en-US" sz="1200" dirty="0">
                <a:solidFill>
                  <a:schemeClr val="tx1"/>
                </a:solidFill>
              </a:rPr>
              <a:t>(c) average: 14 / 7</a:t>
            </a:r>
            <a:endParaRPr lang="en-US" sz="1200" dirty="0"/>
          </a:p>
        </p:txBody>
      </p:sp>
      <p:sp>
        <p:nvSpPr>
          <p:cNvPr id="39" name="card-558"/>
          <p:cNvSpPr/>
          <p:nvPr/>
        </p:nvSpPr>
        <p:spPr>
          <a:xfrm>
            <a:off x="6675120" y="3703320"/>
            <a:ext cx="2011680" cy="841248"/>
          </a:xfrm>
          <a:prstGeom prst="roundRect">
            <a:avLst>
              <a:gd name="adj" fmla="val 8696"/>
            </a:avLst>
          </a:prstGeom>
          <a:solidFill>
            <a:schemeClr val="tx2"/>
          </a:solidFill>
          <a:ln w="12700">
            <a:solidFill>
              <a:schemeClr val="tx2"/>
            </a:solidFill>
            <a:prstDash val="solid"/>
          </a:ln>
        </p:spPr>
        <p:txBody>
          <a:bodyPr/>
          <a:lstStyle/>
          <a:p>
            <a:endParaRPr lang="en-US"/>
          </a:p>
        </p:txBody>
      </p:sp>
      <p:sp>
        <p:nvSpPr>
          <p:cNvPr id="40" name="text-559"/>
          <p:cNvSpPr txBox="1"/>
          <p:nvPr/>
        </p:nvSpPr>
        <p:spPr>
          <a:xfrm>
            <a:off x="6812280" y="3749040"/>
            <a:ext cx="1783080" cy="749808"/>
          </a:xfrm>
          <a:prstGeom prst="rect">
            <a:avLst/>
          </a:prstGeom>
          <a:noFill/>
          <a:ln/>
        </p:spPr>
        <p:txBody>
          <a:bodyPr wrap="square" lIns="0" tIns="0" rIns="0" bIns="0" rtlCol="0" anchor="ctr"/>
          <a:lstStyle/>
          <a:p>
            <a:pPr marL="0" indent="0">
              <a:buNone/>
            </a:pPr>
            <a:r>
              <a:rPr lang="en-US" sz="1100" dirty="0">
                <a:solidFill>
                  <a:schemeClr val="bg1"/>
                </a:solidFill>
              </a:rPr>
              <a:t>Primary clustering: 7–10 and 0 fill up as one block.</a:t>
            </a:r>
            <a:endParaRPr lang="en-US" sz="1100" dirty="0"/>
          </a:p>
        </p:txBody>
      </p:sp>
      <p:sp>
        <p:nvSpPr>
          <p:cNvPr id="41"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Double hashing · jump by a key-dependent step</a:t>
            </a:r>
            <a:endParaRPr lang="en-US" sz="3000" dirty="0"/>
          </a:p>
        </p:txBody>
      </p:sp>
      <p:sp>
        <p:nvSpPr>
          <p:cNvPr id="3" name="card-560"/>
          <p:cNvSpPr/>
          <p:nvPr/>
        </p:nvSpPr>
        <p:spPr>
          <a:xfrm>
            <a:off x="457200" y="1051560"/>
            <a:ext cx="4023360" cy="3474720"/>
          </a:xfrm>
          <a:prstGeom prst="roundRect">
            <a:avLst>
              <a:gd name="adj" fmla="val 2105"/>
            </a:avLst>
          </a:prstGeom>
          <a:solidFill>
            <a:schemeClr val="bg2"/>
          </a:solidFill>
          <a:ln w="12700">
            <a:solidFill>
              <a:schemeClr val="bg2"/>
            </a:solidFill>
            <a:prstDash val="solid"/>
          </a:ln>
        </p:spPr>
        <p:txBody>
          <a:bodyPr/>
          <a:lstStyle/>
          <a:p>
            <a:endParaRPr lang="en-US"/>
          </a:p>
        </p:txBody>
      </p:sp>
      <p:sp>
        <p:nvSpPr>
          <p:cNvPr id="4" name="text-561"/>
          <p:cNvSpPr txBox="1"/>
          <p:nvPr/>
        </p:nvSpPr>
        <p:spPr>
          <a:xfrm>
            <a:off x="685800" y="1188720"/>
            <a:ext cx="3566160" cy="274320"/>
          </a:xfrm>
          <a:prstGeom prst="rect">
            <a:avLst/>
          </a:prstGeom>
          <a:noFill/>
          <a:ln/>
        </p:spPr>
        <p:txBody>
          <a:bodyPr wrap="square" lIns="0" tIns="0" rIns="0" bIns="0" rtlCol="0" anchor="t"/>
          <a:lstStyle/>
          <a:p>
            <a:pPr marL="0" indent="0">
              <a:buNone/>
            </a:pPr>
            <a:r>
              <a:rPr lang="en-US" sz="1500" b="1" dirty="0">
                <a:solidFill>
                  <a:schemeClr val="tx2"/>
                </a:solidFill>
              </a:rPr>
              <a:t>Probe sequence</a:t>
            </a:r>
            <a:endParaRPr lang="en-US" sz="1500" dirty="0"/>
          </a:p>
        </p:txBody>
      </p:sp>
      <p:sp>
        <p:nvSpPr>
          <p:cNvPr id="5" name="text-562"/>
          <p:cNvSpPr txBox="1"/>
          <p:nvPr/>
        </p:nvSpPr>
        <p:spPr>
          <a:xfrm>
            <a:off x="685800" y="1536192"/>
            <a:ext cx="3611880" cy="320040"/>
          </a:xfrm>
          <a:prstGeom prst="rect">
            <a:avLst/>
          </a:prstGeom>
          <a:noFill/>
          <a:ln/>
        </p:spPr>
        <p:txBody>
          <a:bodyPr wrap="square" lIns="0" tIns="0" rIns="0" bIns="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h, h+s, h+2s, h+3s, …  (mod m)</a:t>
            </a:r>
            <a:endParaRPr lang="en-US" sz="1300" dirty="0"/>
          </a:p>
        </p:txBody>
      </p:sp>
      <p:sp>
        <p:nvSpPr>
          <p:cNvPr id="6" name="text-563"/>
          <p:cNvSpPr txBox="1"/>
          <p:nvPr/>
        </p:nvSpPr>
        <p:spPr>
          <a:xfrm>
            <a:off x="685800" y="2011680"/>
            <a:ext cx="3566160" cy="274320"/>
          </a:xfrm>
          <a:prstGeom prst="rect">
            <a:avLst/>
          </a:prstGeom>
          <a:noFill/>
          <a:ln/>
        </p:spPr>
        <p:txBody>
          <a:bodyPr wrap="square" lIns="0" tIns="0" rIns="0" bIns="0" rtlCol="0" anchor="t"/>
          <a:lstStyle/>
          <a:p>
            <a:pPr marL="0" indent="0">
              <a:buNone/>
            </a:pPr>
            <a:r>
              <a:rPr lang="en-US" sz="1500" b="1" dirty="0">
                <a:solidFill>
                  <a:schemeClr val="tx2"/>
                </a:solidFill>
              </a:rPr>
              <a:t>Here (Levitin’s choice, m = 11)</a:t>
            </a:r>
            <a:endParaRPr lang="en-US" sz="1500" dirty="0"/>
          </a:p>
        </p:txBody>
      </p:sp>
      <p:sp>
        <p:nvSpPr>
          <p:cNvPr id="7" name="text-564"/>
          <p:cNvSpPr txBox="1"/>
          <p:nvPr/>
        </p:nvSpPr>
        <p:spPr>
          <a:xfrm>
            <a:off x="685800" y="2340864"/>
            <a:ext cx="3566160" cy="320040"/>
          </a:xfrm>
          <a:prstGeom prst="rect">
            <a:avLst/>
          </a:prstGeom>
          <a:noFill/>
          <a:ln/>
        </p:spPr>
        <p:txBody>
          <a:bodyPr wrap="square" lIns="0" tIns="0" rIns="0" bIns="0" rtlCol="0" anchor="t"/>
          <a:lstStyle/>
          <a:p>
            <a:pPr marL="0" indent="0">
              <a:buNone/>
            </a:pPr>
            <a:r>
              <a:rPr lang="en-US" sz="1400" b="1" dirty="0">
                <a:solidFill>
                  <a:schemeClr val="tx2"/>
                </a:solidFill>
                <a:latin typeface="Courier New" pitchFamily="34" charset="0"/>
                <a:ea typeface="Courier New" pitchFamily="34" charset="-122"/>
                <a:cs typeface="Courier New" pitchFamily="34" charset="-120"/>
              </a:rPr>
              <a:t>s(k) = 9 − (k mod 9)</a:t>
            </a:r>
            <a:endParaRPr lang="en-US" sz="1400" dirty="0"/>
          </a:p>
        </p:txBody>
      </p:sp>
      <p:sp>
        <p:nvSpPr>
          <p:cNvPr id="8" name="text-565"/>
          <p:cNvSpPr txBox="1"/>
          <p:nvPr/>
        </p:nvSpPr>
        <p:spPr>
          <a:xfrm>
            <a:off x="685800" y="2670048"/>
            <a:ext cx="3566160" cy="274320"/>
          </a:xfrm>
          <a:prstGeom prst="rect">
            <a:avLst/>
          </a:prstGeom>
          <a:noFill/>
          <a:ln/>
        </p:spPr>
        <p:txBody>
          <a:bodyPr wrap="square" lIns="0" tIns="0" rIns="0" bIns="0" rtlCol="0" anchor="t"/>
          <a:lstStyle/>
          <a:p>
            <a:pPr marL="0" indent="0">
              <a:buNone/>
            </a:pPr>
            <a:r>
              <a:rPr lang="en-US" sz="1200" dirty="0">
                <a:solidFill>
                  <a:schemeClr val="accent5"/>
                </a:solidFill>
              </a:rPr>
              <a:t>i.e. s(k) = (m − 2) − k mod (m − 2)</a:t>
            </a:r>
            <a:endParaRPr lang="en-US" sz="1200" dirty="0"/>
          </a:p>
        </p:txBody>
      </p:sp>
      <p:sp>
        <p:nvSpPr>
          <p:cNvPr id="9" name="list-566"/>
          <p:cNvSpPr txBox="1"/>
          <p:nvPr/>
        </p:nvSpPr>
        <p:spPr>
          <a:xfrm>
            <a:off x="685800" y="3063240"/>
            <a:ext cx="3611880"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s(k) ≥ 1 always — never stuck in place</a:t>
            </a:r>
            <a:endParaRPr lang="en-US" sz="1300" dirty="0"/>
          </a:p>
          <a:p>
            <a:pPr marL="342900" indent="-342900">
              <a:spcAft>
                <a:spcPts val="400"/>
              </a:spcAft>
              <a:buSzPct val="100000"/>
              <a:buChar char="•"/>
            </a:pPr>
            <a:r>
              <a:rPr lang="en-US" sz="1300" dirty="0">
                <a:solidFill>
                  <a:schemeClr val="tx1"/>
                </a:solidFill>
              </a:rPr>
              <a:t>s(k) coprime with m so every cell can be reached — easy when m is prime</a:t>
            </a:r>
            <a:endParaRPr lang="en-US" sz="1300" dirty="0"/>
          </a:p>
          <a:p>
            <a:pPr marL="342900" indent="-342900">
              <a:spcAft>
                <a:spcPts val="400"/>
              </a:spcAft>
              <a:buSzPct val="100000"/>
              <a:buChar char="•"/>
            </a:pPr>
            <a:r>
              <a:rPr lang="en-US" sz="1300" dirty="0">
                <a:solidFill>
                  <a:schemeClr val="tx1"/>
                </a:solidFill>
              </a:rPr>
              <a:t>Linear probing is the special case s(k) = 1</a:t>
            </a:r>
            <a:endParaRPr lang="en-US" sz="1300" dirty="0"/>
          </a:p>
        </p:txBody>
      </p:sp>
      <p:sp>
        <p:nvSpPr>
          <p:cNvPr id="10" name="card-567"/>
          <p:cNvSpPr/>
          <p:nvPr/>
        </p:nvSpPr>
        <p:spPr>
          <a:xfrm>
            <a:off x="4754880" y="1051560"/>
            <a:ext cx="3931920" cy="1645920"/>
          </a:xfrm>
          <a:prstGeom prst="roundRect">
            <a:avLst>
              <a:gd name="adj" fmla="val 4444"/>
            </a:avLst>
          </a:prstGeom>
          <a:solidFill>
            <a:schemeClr val="bg2"/>
          </a:solidFill>
          <a:ln w="12700">
            <a:solidFill>
              <a:schemeClr val="bg2"/>
            </a:solidFill>
            <a:prstDash val="solid"/>
          </a:ln>
        </p:spPr>
        <p:txBody>
          <a:bodyPr/>
          <a:lstStyle/>
          <a:p>
            <a:endParaRPr lang="en-US"/>
          </a:p>
        </p:txBody>
      </p:sp>
      <p:sp>
        <p:nvSpPr>
          <p:cNvPr id="11" name="text-568"/>
          <p:cNvSpPr txBox="1"/>
          <p:nvPr/>
        </p:nvSpPr>
        <p:spPr>
          <a:xfrm>
            <a:off x="4937760" y="1161288"/>
            <a:ext cx="3611880" cy="274320"/>
          </a:xfrm>
          <a:prstGeom prst="rect">
            <a:avLst/>
          </a:prstGeom>
          <a:noFill/>
          <a:ln/>
        </p:spPr>
        <p:txBody>
          <a:bodyPr wrap="square" lIns="0" tIns="0" rIns="0" bIns="0" rtlCol="0" anchor="t"/>
          <a:lstStyle/>
          <a:p>
            <a:pPr marL="0" indent="0">
              <a:buNone/>
            </a:pPr>
            <a:r>
              <a:rPr lang="en-US" sz="1300" b="1" dirty="0">
                <a:solidFill>
                  <a:schemeClr val="tx2"/>
                </a:solidFill>
              </a:rPr>
              <a:t>Insert 84:  h = 7,  s = 9 − (84 mod 9) = 6</a:t>
            </a:r>
            <a:endParaRPr lang="en-US" sz="1300" dirty="0"/>
          </a:p>
        </p:txBody>
      </p:sp>
      <p:sp>
        <p:nvSpPr>
          <p:cNvPr id="12" name="tile-569"/>
          <p:cNvSpPr/>
          <p:nvPr/>
        </p:nvSpPr>
        <p:spPr>
          <a:xfrm>
            <a:off x="4937760" y="1600200"/>
            <a:ext cx="530352" cy="457200"/>
          </a:xfrm>
          <a:prstGeom prst="roundRect">
            <a:avLst>
              <a:gd name="adj" fmla="val 10000"/>
            </a:avLst>
          </a:prstGeom>
          <a:solidFill>
            <a:schemeClr val="accent4"/>
          </a:solidFill>
          <a:ln w="12700">
            <a:solidFill>
              <a:schemeClr val="accent4"/>
            </a:solidFill>
          </a:ln>
        </p:spPr>
        <p:txBody>
          <a:bodyPr wrap="square" lIns="0" tIns="0" rIns="0" bIns="0" rtlCol="0" anchor="ctr"/>
          <a:lstStyle/>
          <a:p>
            <a:pPr marL="0" indent="0" algn="ctr">
              <a:buNone/>
            </a:pPr>
            <a:r>
              <a:rPr lang="en-US" sz="1600" b="1" dirty="0">
                <a:solidFill>
                  <a:schemeClr val="bg1"/>
                </a:solidFill>
                <a:latin typeface="Courier New" pitchFamily="34" charset="0"/>
                <a:ea typeface="Courier New" pitchFamily="34" charset="-122"/>
                <a:cs typeface="Courier New" pitchFamily="34" charset="-120"/>
              </a:rPr>
              <a:t>7</a:t>
            </a:r>
            <a:endParaRPr lang="en-US" sz="1600" dirty="0"/>
          </a:p>
        </p:txBody>
      </p:sp>
      <p:sp>
        <p:nvSpPr>
          <p:cNvPr id="13" name="text-570"/>
          <p:cNvSpPr txBox="1"/>
          <p:nvPr/>
        </p:nvSpPr>
        <p:spPr>
          <a:xfrm>
            <a:off x="4846320" y="2093976"/>
            <a:ext cx="713232" cy="228600"/>
          </a:xfrm>
          <a:prstGeom prst="rect">
            <a:avLst/>
          </a:prstGeom>
          <a:noFill/>
          <a:ln/>
        </p:spPr>
        <p:txBody>
          <a:bodyPr wrap="square" lIns="0" tIns="0" rIns="0" bIns="0" rtlCol="0" anchor="t"/>
          <a:lstStyle/>
          <a:p>
            <a:pPr marL="0" indent="0" algn="ctr">
              <a:buNone/>
            </a:pPr>
            <a:r>
              <a:rPr lang="en-US" sz="1000" dirty="0">
                <a:solidFill>
                  <a:schemeClr val="accent5"/>
                </a:solidFill>
              </a:rPr>
              <a:t>has 40</a:t>
            </a:r>
            <a:endParaRPr lang="en-US" sz="1000" dirty="0"/>
          </a:p>
        </p:txBody>
      </p:sp>
      <p:sp>
        <p:nvSpPr>
          <p:cNvPr id="14" name="arrow-571"/>
          <p:cNvSpPr/>
          <p:nvPr/>
        </p:nvSpPr>
        <p:spPr>
          <a:xfrm>
            <a:off x="5504688" y="1828800"/>
            <a:ext cx="384048" cy="0"/>
          </a:xfrm>
          <a:prstGeom prst="line">
            <a:avLst/>
          </a:prstGeom>
          <a:noFill/>
          <a:ln w="19050">
            <a:solidFill>
              <a:schemeClr val="accent5"/>
            </a:solidFill>
            <a:prstDash val="solid"/>
            <a:tailEnd type="triangle"/>
          </a:ln>
        </p:spPr>
        <p:txBody>
          <a:bodyPr/>
          <a:lstStyle/>
          <a:p>
            <a:endParaRPr lang="en-US"/>
          </a:p>
        </p:txBody>
      </p:sp>
      <p:sp>
        <p:nvSpPr>
          <p:cNvPr id="15" name="tile-572"/>
          <p:cNvSpPr/>
          <p:nvPr/>
        </p:nvSpPr>
        <p:spPr>
          <a:xfrm>
            <a:off x="5943600" y="1600200"/>
            <a:ext cx="530352" cy="457200"/>
          </a:xfrm>
          <a:prstGeom prst="roundRect">
            <a:avLst>
              <a:gd name="adj" fmla="val 10000"/>
            </a:avLst>
          </a:prstGeom>
          <a:solidFill>
            <a:schemeClr val="accent3"/>
          </a:solidFill>
          <a:ln w="12700">
            <a:solidFill>
              <a:schemeClr val="accent3"/>
            </a:solidFill>
          </a:ln>
        </p:spPr>
        <p:txBody>
          <a:bodyPr wrap="square" lIns="0" tIns="0" rIns="0" bIns="0" rtlCol="0" anchor="ctr"/>
          <a:lstStyle/>
          <a:p>
            <a:pPr marL="0" indent="0" algn="ctr">
              <a:buNone/>
            </a:pPr>
            <a:r>
              <a:rPr lang="en-US" sz="1600" b="1" dirty="0">
                <a:solidFill>
                  <a:schemeClr val="bg1"/>
                </a:solidFill>
                <a:latin typeface="Courier New" pitchFamily="34" charset="0"/>
                <a:ea typeface="Courier New" pitchFamily="34" charset="-122"/>
                <a:cs typeface="Courier New" pitchFamily="34" charset="-120"/>
              </a:rPr>
              <a:t>2</a:t>
            </a:r>
            <a:endParaRPr lang="en-US" sz="1600" dirty="0"/>
          </a:p>
        </p:txBody>
      </p:sp>
      <p:sp>
        <p:nvSpPr>
          <p:cNvPr id="16" name="text-573"/>
          <p:cNvSpPr txBox="1"/>
          <p:nvPr/>
        </p:nvSpPr>
        <p:spPr>
          <a:xfrm>
            <a:off x="5852160" y="2093976"/>
            <a:ext cx="713232" cy="228600"/>
          </a:xfrm>
          <a:prstGeom prst="rect">
            <a:avLst/>
          </a:prstGeom>
          <a:noFill/>
          <a:ln/>
        </p:spPr>
        <p:txBody>
          <a:bodyPr wrap="square" lIns="0" tIns="0" rIns="0" bIns="0" rtlCol="0" anchor="t"/>
          <a:lstStyle/>
          <a:p>
            <a:pPr marL="0" indent="0" algn="ctr">
              <a:buNone/>
            </a:pPr>
            <a:r>
              <a:rPr lang="en-US" sz="1000" dirty="0">
                <a:solidFill>
                  <a:schemeClr val="accent5"/>
                </a:solidFill>
              </a:rPr>
              <a:t>free</a:t>
            </a:r>
            <a:endParaRPr lang="en-US" sz="1000" dirty="0"/>
          </a:p>
        </p:txBody>
      </p:sp>
      <p:sp>
        <p:nvSpPr>
          <p:cNvPr id="17" name="text-574"/>
          <p:cNvSpPr txBox="1"/>
          <p:nvPr/>
        </p:nvSpPr>
        <p:spPr>
          <a:xfrm>
            <a:off x="4937760" y="2350008"/>
            <a:ext cx="3611880" cy="256032"/>
          </a:xfrm>
          <a:prstGeom prst="rect">
            <a:avLst/>
          </a:prstGeom>
          <a:noFill/>
          <a:ln/>
        </p:spPr>
        <p:txBody>
          <a:bodyPr wrap="square" lIns="0" tIns="0" rIns="0" bIns="0" rtlCol="0" anchor="t"/>
          <a:lstStyle/>
          <a:p>
            <a:pPr marL="0" indent="0">
              <a:buNone/>
            </a:pPr>
            <a:r>
              <a:rPr lang="en-US" sz="1200" dirty="0">
                <a:solidFill>
                  <a:schemeClr val="tx1"/>
                </a:solidFill>
              </a:rPr>
              <a:t>2 probes  (vs 2 with linear probing)</a:t>
            </a:r>
            <a:endParaRPr lang="en-US" sz="1200" dirty="0"/>
          </a:p>
        </p:txBody>
      </p:sp>
      <p:sp>
        <p:nvSpPr>
          <p:cNvPr id="18" name="card-575"/>
          <p:cNvSpPr/>
          <p:nvPr/>
        </p:nvSpPr>
        <p:spPr>
          <a:xfrm>
            <a:off x="4754880" y="2834640"/>
            <a:ext cx="3931920" cy="1645920"/>
          </a:xfrm>
          <a:prstGeom prst="roundRect">
            <a:avLst>
              <a:gd name="adj" fmla="val 4444"/>
            </a:avLst>
          </a:prstGeom>
          <a:solidFill>
            <a:schemeClr val="bg2"/>
          </a:solidFill>
          <a:ln w="12700">
            <a:solidFill>
              <a:schemeClr val="bg2"/>
            </a:solidFill>
            <a:prstDash val="solid"/>
          </a:ln>
        </p:spPr>
        <p:txBody>
          <a:bodyPr/>
          <a:lstStyle/>
          <a:p>
            <a:endParaRPr lang="en-US"/>
          </a:p>
        </p:txBody>
      </p:sp>
      <p:sp>
        <p:nvSpPr>
          <p:cNvPr id="19" name="text-576"/>
          <p:cNvSpPr txBox="1"/>
          <p:nvPr/>
        </p:nvSpPr>
        <p:spPr>
          <a:xfrm>
            <a:off x="4937760" y="2944368"/>
            <a:ext cx="3611880" cy="274320"/>
          </a:xfrm>
          <a:prstGeom prst="rect">
            <a:avLst/>
          </a:prstGeom>
          <a:noFill/>
          <a:ln/>
        </p:spPr>
        <p:txBody>
          <a:bodyPr wrap="square" lIns="0" tIns="0" rIns="0" bIns="0" rtlCol="0" anchor="t"/>
          <a:lstStyle/>
          <a:p>
            <a:pPr marL="0" indent="0">
              <a:buNone/>
            </a:pPr>
            <a:r>
              <a:rPr lang="en-US" sz="1300" b="1" dirty="0">
                <a:solidFill>
                  <a:schemeClr val="tx2"/>
                </a:solidFill>
              </a:rPr>
              <a:t>Insert 18:  h = 7,  s = 9 − (18 mod 9) = 9</a:t>
            </a:r>
            <a:endParaRPr lang="en-US" sz="1300" dirty="0"/>
          </a:p>
        </p:txBody>
      </p:sp>
      <p:sp>
        <p:nvSpPr>
          <p:cNvPr id="20" name="tile-577"/>
          <p:cNvSpPr/>
          <p:nvPr/>
        </p:nvSpPr>
        <p:spPr>
          <a:xfrm>
            <a:off x="4937760" y="3383280"/>
            <a:ext cx="530352" cy="457200"/>
          </a:xfrm>
          <a:prstGeom prst="roundRect">
            <a:avLst>
              <a:gd name="adj" fmla="val 10000"/>
            </a:avLst>
          </a:prstGeom>
          <a:solidFill>
            <a:schemeClr val="accent4"/>
          </a:solidFill>
          <a:ln w="12700">
            <a:solidFill>
              <a:schemeClr val="accent4"/>
            </a:solidFill>
          </a:ln>
        </p:spPr>
        <p:txBody>
          <a:bodyPr wrap="square" lIns="0" tIns="0" rIns="0" bIns="0" rtlCol="0" anchor="ctr"/>
          <a:lstStyle/>
          <a:p>
            <a:pPr marL="0" indent="0" algn="ctr">
              <a:buNone/>
            </a:pPr>
            <a:r>
              <a:rPr lang="en-US" sz="1600" b="1" dirty="0">
                <a:solidFill>
                  <a:schemeClr val="bg1"/>
                </a:solidFill>
                <a:latin typeface="Courier New" pitchFamily="34" charset="0"/>
                <a:ea typeface="Courier New" pitchFamily="34" charset="-122"/>
                <a:cs typeface="Courier New" pitchFamily="34" charset="-120"/>
              </a:rPr>
              <a:t>7</a:t>
            </a:r>
            <a:endParaRPr lang="en-US" sz="1600" dirty="0"/>
          </a:p>
        </p:txBody>
      </p:sp>
      <p:sp>
        <p:nvSpPr>
          <p:cNvPr id="21" name="text-578"/>
          <p:cNvSpPr txBox="1"/>
          <p:nvPr/>
        </p:nvSpPr>
        <p:spPr>
          <a:xfrm>
            <a:off x="4846320" y="3877056"/>
            <a:ext cx="713232" cy="228600"/>
          </a:xfrm>
          <a:prstGeom prst="rect">
            <a:avLst/>
          </a:prstGeom>
          <a:noFill/>
          <a:ln/>
        </p:spPr>
        <p:txBody>
          <a:bodyPr wrap="square" lIns="0" tIns="0" rIns="0" bIns="0" rtlCol="0" anchor="t"/>
          <a:lstStyle/>
          <a:p>
            <a:pPr marL="0" indent="0" algn="ctr">
              <a:buNone/>
            </a:pPr>
            <a:r>
              <a:rPr lang="en-US" sz="1000" dirty="0">
                <a:solidFill>
                  <a:schemeClr val="accent5"/>
                </a:solidFill>
              </a:rPr>
              <a:t>has 40</a:t>
            </a:r>
            <a:endParaRPr lang="en-US" sz="1000" dirty="0"/>
          </a:p>
        </p:txBody>
      </p:sp>
      <p:sp>
        <p:nvSpPr>
          <p:cNvPr id="22" name="arrow-579"/>
          <p:cNvSpPr/>
          <p:nvPr/>
        </p:nvSpPr>
        <p:spPr>
          <a:xfrm>
            <a:off x="5504688" y="3611880"/>
            <a:ext cx="384048" cy="0"/>
          </a:xfrm>
          <a:prstGeom prst="line">
            <a:avLst/>
          </a:prstGeom>
          <a:noFill/>
          <a:ln w="19050">
            <a:solidFill>
              <a:schemeClr val="accent5"/>
            </a:solidFill>
            <a:prstDash val="solid"/>
            <a:tailEnd type="triangle"/>
          </a:ln>
        </p:spPr>
        <p:txBody>
          <a:bodyPr/>
          <a:lstStyle/>
          <a:p>
            <a:endParaRPr lang="en-US"/>
          </a:p>
        </p:txBody>
      </p:sp>
      <p:sp>
        <p:nvSpPr>
          <p:cNvPr id="23" name="tile-580"/>
          <p:cNvSpPr/>
          <p:nvPr/>
        </p:nvSpPr>
        <p:spPr>
          <a:xfrm>
            <a:off x="5943600" y="3383280"/>
            <a:ext cx="530352" cy="457200"/>
          </a:xfrm>
          <a:prstGeom prst="roundRect">
            <a:avLst>
              <a:gd name="adj" fmla="val 10000"/>
            </a:avLst>
          </a:prstGeom>
          <a:solidFill>
            <a:schemeClr val="accent4"/>
          </a:solidFill>
          <a:ln w="12700">
            <a:solidFill>
              <a:schemeClr val="accent4"/>
            </a:solidFill>
          </a:ln>
        </p:spPr>
        <p:txBody>
          <a:bodyPr wrap="square" lIns="0" tIns="0" rIns="0" bIns="0" rtlCol="0" anchor="ctr"/>
          <a:lstStyle/>
          <a:p>
            <a:pPr marL="0" indent="0" algn="ctr">
              <a:buNone/>
            </a:pPr>
            <a:r>
              <a:rPr lang="en-US" sz="1600" b="1" dirty="0">
                <a:solidFill>
                  <a:schemeClr val="bg1"/>
                </a:solidFill>
                <a:latin typeface="Courier New" pitchFamily="34" charset="0"/>
                <a:ea typeface="Courier New" pitchFamily="34" charset="-122"/>
                <a:cs typeface="Courier New" pitchFamily="34" charset="-120"/>
              </a:rPr>
              <a:t>5</a:t>
            </a:r>
            <a:endParaRPr lang="en-US" sz="1600" dirty="0"/>
          </a:p>
        </p:txBody>
      </p:sp>
      <p:sp>
        <p:nvSpPr>
          <p:cNvPr id="24" name="text-581"/>
          <p:cNvSpPr txBox="1"/>
          <p:nvPr/>
        </p:nvSpPr>
        <p:spPr>
          <a:xfrm>
            <a:off x="5852160" y="3877056"/>
            <a:ext cx="713232" cy="228600"/>
          </a:xfrm>
          <a:prstGeom prst="rect">
            <a:avLst/>
          </a:prstGeom>
          <a:noFill/>
          <a:ln/>
        </p:spPr>
        <p:txBody>
          <a:bodyPr wrap="square" lIns="0" tIns="0" rIns="0" bIns="0" rtlCol="0" anchor="t"/>
          <a:lstStyle/>
          <a:p>
            <a:pPr marL="0" indent="0" algn="ctr">
              <a:buNone/>
            </a:pPr>
            <a:r>
              <a:rPr lang="en-US" sz="1000" dirty="0">
                <a:solidFill>
                  <a:schemeClr val="accent5"/>
                </a:solidFill>
              </a:rPr>
              <a:t>has 60</a:t>
            </a:r>
            <a:endParaRPr lang="en-US" sz="1000" dirty="0"/>
          </a:p>
        </p:txBody>
      </p:sp>
      <p:sp>
        <p:nvSpPr>
          <p:cNvPr id="25" name="arrow-582"/>
          <p:cNvSpPr/>
          <p:nvPr/>
        </p:nvSpPr>
        <p:spPr>
          <a:xfrm>
            <a:off x="6510528" y="3611880"/>
            <a:ext cx="384048" cy="0"/>
          </a:xfrm>
          <a:prstGeom prst="line">
            <a:avLst/>
          </a:prstGeom>
          <a:noFill/>
          <a:ln w="19050">
            <a:solidFill>
              <a:schemeClr val="accent5"/>
            </a:solidFill>
            <a:prstDash val="solid"/>
            <a:tailEnd type="triangle"/>
          </a:ln>
        </p:spPr>
        <p:txBody>
          <a:bodyPr/>
          <a:lstStyle/>
          <a:p>
            <a:endParaRPr lang="en-US"/>
          </a:p>
        </p:txBody>
      </p:sp>
      <p:sp>
        <p:nvSpPr>
          <p:cNvPr id="26" name="tile-583"/>
          <p:cNvSpPr/>
          <p:nvPr/>
        </p:nvSpPr>
        <p:spPr>
          <a:xfrm>
            <a:off x="6949440" y="3383280"/>
            <a:ext cx="530352" cy="457200"/>
          </a:xfrm>
          <a:prstGeom prst="roundRect">
            <a:avLst>
              <a:gd name="adj" fmla="val 10000"/>
            </a:avLst>
          </a:prstGeom>
          <a:solidFill>
            <a:schemeClr val="accent3"/>
          </a:solidFill>
          <a:ln w="12700">
            <a:solidFill>
              <a:schemeClr val="accent3"/>
            </a:solidFill>
          </a:ln>
        </p:spPr>
        <p:txBody>
          <a:bodyPr wrap="square" lIns="0" tIns="0" rIns="0" bIns="0" rtlCol="0" anchor="ctr"/>
          <a:lstStyle/>
          <a:p>
            <a:pPr marL="0" indent="0" algn="ctr">
              <a:buNone/>
            </a:pPr>
            <a:r>
              <a:rPr lang="en-US" sz="1600" b="1" dirty="0">
                <a:solidFill>
                  <a:schemeClr val="bg1"/>
                </a:solidFill>
                <a:latin typeface="Courier New" pitchFamily="34" charset="0"/>
                <a:ea typeface="Courier New" pitchFamily="34" charset="-122"/>
                <a:cs typeface="Courier New" pitchFamily="34" charset="-120"/>
              </a:rPr>
              <a:t>3</a:t>
            </a:r>
            <a:endParaRPr lang="en-US" sz="1600" dirty="0"/>
          </a:p>
        </p:txBody>
      </p:sp>
      <p:sp>
        <p:nvSpPr>
          <p:cNvPr id="27" name="text-584"/>
          <p:cNvSpPr txBox="1"/>
          <p:nvPr/>
        </p:nvSpPr>
        <p:spPr>
          <a:xfrm>
            <a:off x="6858000" y="3877056"/>
            <a:ext cx="713232" cy="228600"/>
          </a:xfrm>
          <a:prstGeom prst="rect">
            <a:avLst/>
          </a:prstGeom>
          <a:noFill/>
          <a:ln/>
        </p:spPr>
        <p:txBody>
          <a:bodyPr wrap="square" lIns="0" tIns="0" rIns="0" bIns="0" rtlCol="0" anchor="t"/>
          <a:lstStyle/>
          <a:p>
            <a:pPr marL="0" indent="0" algn="ctr">
              <a:buNone/>
            </a:pPr>
            <a:r>
              <a:rPr lang="en-US" sz="1000" dirty="0">
                <a:solidFill>
                  <a:schemeClr val="accent5"/>
                </a:solidFill>
              </a:rPr>
              <a:t>free</a:t>
            </a:r>
            <a:endParaRPr lang="en-US" sz="1000" dirty="0"/>
          </a:p>
        </p:txBody>
      </p:sp>
      <p:sp>
        <p:nvSpPr>
          <p:cNvPr id="28" name="text-585"/>
          <p:cNvSpPr txBox="1"/>
          <p:nvPr/>
        </p:nvSpPr>
        <p:spPr>
          <a:xfrm>
            <a:off x="4937760" y="4133088"/>
            <a:ext cx="3611880" cy="256032"/>
          </a:xfrm>
          <a:prstGeom prst="rect">
            <a:avLst/>
          </a:prstGeom>
          <a:noFill/>
          <a:ln/>
        </p:spPr>
        <p:txBody>
          <a:bodyPr wrap="square" lIns="0" tIns="0" rIns="0" bIns="0" rtlCol="0" anchor="t"/>
          <a:lstStyle/>
          <a:p>
            <a:pPr marL="0" indent="0">
              <a:buNone/>
            </a:pPr>
            <a:r>
              <a:rPr lang="en-US" sz="1200" dirty="0">
                <a:solidFill>
                  <a:schemeClr val="tx1"/>
                </a:solidFill>
              </a:rPr>
              <a:t>3 probes  (vs 4 with linear probing)</a:t>
            </a:r>
            <a:endParaRPr lang="en-US" sz="1200" dirty="0"/>
          </a:p>
        </p:txBody>
      </p:sp>
      <p:sp>
        <p:nvSpPr>
          <p:cNvPr id="29"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3000" b="1" dirty="0">
                <a:solidFill>
                  <a:schemeClr val="tx2"/>
                </a:solidFill>
              </a:rPr>
              <a:t>Q73 again, with double hashing</a:t>
            </a:r>
            <a:endParaRPr lang="en-US" sz="3000" dirty="0"/>
          </a:p>
        </p:txBody>
      </p:sp>
      <p:sp>
        <p:nvSpPr>
          <p:cNvPr id="3" name="text-586"/>
          <p:cNvSpPr txBox="1"/>
          <p:nvPr/>
        </p:nvSpPr>
        <p:spPr>
          <a:xfrm>
            <a:off x="45720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0</a:t>
            </a:r>
            <a:endParaRPr lang="en-US" sz="1000" dirty="0"/>
          </a:p>
        </p:txBody>
      </p:sp>
      <p:sp>
        <p:nvSpPr>
          <p:cNvPr id="4" name="tile-587"/>
          <p:cNvSpPr/>
          <p:nvPr/>
        </p:nvSpPr>
        <p:spPr>
          <a:xfrm>
            <a:off x="457200" y="1216152"/>
            <a:ext cx="475488" cy="411480"/>
          </a:xfrm>
          <a:prstGeom prst="roundRect">
            <a:avLst>
              <a:gd name="adj" fmla="val 11111"/>
            </a:avLst>
          </a:prstGeom>
          <a:solidFill>
            <a:schemeClr val="bg2"/>
          </a:solidFill>
          <a:ln w="12700">
            <a:solidFill>
              <a:schemeClr val="bg2"/>
            </a:solidFill>
          </a:ln>
        </p:spPr>
        <p:txBody>
          <a:bodyPr wrap="square" lIns="0" tIns="0" rIns="0" bIns="0" rtlCol="0" anchor="ctr"/>
          <a:lstStyle/>
          <a:p>
            <a:pPr marL="0" indent="0" algn="ctr">
              <a:buNone/>
            </a:pPr>
            <a:endParaRPr lang="en-US" sz="1600" dirty="0"/>
          </a:p>
        </p:txBody>
      </p:sp>
      <p:sp>
        <p:nvSpPr>
          <p:cNvPr id="5" name="text-588"/>
          <p:cNvSpPr txBox="1"/>
          <p:nvPr/>
        </p:nvSpPr>
        <p:spPr>
          <a:xfrm>
            <a:off x="100584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1</a:t>
            </a:r>
            <a:endParaRPr lang="en-US" sz="1000" dirty="0"/>
          </a:p>
        </p:txBody>
      </p:sp>
      <p:sp>
        <p:nvSpPr>
          <p:cNvPr id="6" name="tile-589"/>
          <p:cNvSpPr/>
          <p:nvPr/>
        </p:nvSpPr>
        <p:spPr>
          <a:xfrm>
            <a:off x="1005840" y="1216152"/>
            <a:ext cx="475488" cy="411480"/>
          </a:xfrm>
          <a:prstGeom prst="roundRect">
            <a:avLst>
              <a:gd name="adj" fmla="val 11111"/>
            </a:avLst>
          </a:prstGeom>
          <a:solidFill>
            <a:schemeClr val="bg2"/>
          </a:solidFill>
          <a:ln w="12700">
            <a:solidFill>
              <a:schemeClr val="bg2"/>
            </a:solidFill>
          </a:ln>
        </p:spPr>
        <p:txBody>
          <a:bodyPr wrap="square" lIns="0" tIns="0" rIns="0" bIns="0" rtlCol="0" anchor="ctr"/>
          <a:lstStyle/>
          <a:p>
            <a:pPr marL="0" indent="0" algn="ctr">
              <a:buNone/>
            </a:pPr>
            <a:endParaRPr lang="en-US" sz="1600" dirty="0"/>
          </a:p>
        </p:txBody>
      </p:sp>
      <p:sp>
        <p:nvSpPr>
          <p:cNvPr id="7" name="text-590"/>
          <p:cNvSpPr txBox="1"/>
          <p:nvPr/>
        </p:nvSpPr>
        <p:spPr>
          <a:xfrm>
            <a:off x="155448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2</a:t>
            </a:r>
            <a:endParaRPr lang="en-US" sz="1000" dirty="0"/>
          </a:p>
        </p:txBody>
      </p:sp>
      <p:sp>
        <p:nvSpPr>
          <p:cNvPr id="8" name="tile-591"/>
          <p:cNvSpPr/>
          <p:nvPr/>
        </p:nvSpPr>
        <p:spPr>
          <a:xfrm>
            <a:off x="1554480" y="1216152"/>
            <a:ext cx="475488" cy="411480"/>
          </a:xfrm>
          <a:prstGeom prst="roundRect">
            <a:avLst>
              <a:gd name="adj" fmla="val 11111"/>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84</a:t>
            </a:r>
            <a:endParaRPr lang="en-US" sz="1400" dirty="0"/>
          </a:p>
        </p:txBody>
      </p:sp>
      <p:sp>
        <p:nvSpPr>
          <p:cNvPr id="9" name="text-592"/>
          <p:cNvSpPr txBox="1"/>
          <p:nvPr/>
        </p:nvSpPr>
        <p:spPr>
          <a:xfrm>
            <a:off x="1554480" y="1664208"/>
            <a:ext cx="475488" cy="182880"/>
          </a:xfrm>
          <a:prstGeom prst="rect">
            <a:avLst/>
          </a:prstGeom>
          <a:noFill/>
          <a:ln/>
        </p:spPr>
        <p:txBody>
          <a:bodyPr wrap="square" lIns="0" tIns="0" rIns="0" bIns="0" rtlCol="0" anchor="t"/>
          <a:lstStyle/>
          <a:p>
            <a:pPr marL="0" indent="0" algn="ctr">
              <a:buNone/>
            </a:pPr>
            <a:r>
              <a:rPr lang="en-US" sz="1000" b="1" dirty="0">
                <a:solidFill>
                  <a:schemeClr val="tx2"/>
                </a:solidFill>
              </a:rPr>
              <a:t>2</a:t>
            </a:r>
            <a:endParaRPr lang="en-US" sz="1000" dirty="0"/>
          </a:p>
        </p:txBody>
      </p:sp>
      <p:sp>
        <p:nvSpPr>
          <p:cNvPr id="10" name="text-593"/>
          <p:cNvSpPr txBox="1"/>
          <p:nvPr/>
        </p:nvSpPr>
        <p:spPr>
          <a:xfrm>
            <a:off x="210312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3</a:t>
            </a:r>
            <a:endParaRPr lang="en-US" sz="1000" dirty="0"/>
          </a:p>
        </p:txBody>
      </p:sp>
      <p:sp>
        <p:nvSpPr>
          <p:cNvPr id="11" name="tile-594"/>
          <p:cNvSpPr/>
          <p:nvPr/>
        </p:nvSpPr>
        <p:spPr>
          <a:xfrm>
            <a:off x="2103120" y="1216152"/>
            <a:ext cx="475488" cy="411480"/>
          </a:xfrm>
          <a:prstGeom prst="roundRect">
            <a:avLst>
              <a:gd name="adj" fmla="val 11111"/>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18</a:t>
            </a:r>
            <a:endParaRPr lang="en-US" sz="1400" dirty="0"/>
          </a:p>
        </p:txBody>
      </p:sp>
      <p:sp>
        <p:nvSpPr>
          <p:cNvPr id="12" name="text-595"/>
          <p:cNvSpPr txBox="1"/>
          <p:nvPr/>
        </p:nvSpPr>
        <p:spPr>
          <a:xfrm>
            <a:off x="2103120" y="1664208"/>
            <a:ext cx="475488" cy="182880"/>
          </a:xfrm>
          <a:prstGeom prst="rect">
            <a:avLst/>
          </a:prstGeom>
          <a:noFill/>
          <a:ln/>
        </p:spPr>
        <p:txBody>
          <a:bodyPr wrap="square" lIns="0" tIns="0" rIns="0" bIns="0" rtlCol="0" anchor="t"/>
          <a:lstStyle/>
          <a:p>
            <a:pPr marL="0" indent="0" algn="ctr">
              <a:buNone/>
            </a:pPr>
            <a:r>
              <a:rPr lang="en-US" sz="1000" b="1" dirty="0">
                <a:solidFill>
                  <a:schemeClr val="tx2"/>
                </a:solidFill>
              </a:rPr>
              <a:t>3</a:t>
            </a:r>
            <a:endParaRPr lang="en-US" sz="1000" dirty="0"/>
          </a:p>
        </p:txBody>
      </p:sp>
      <p:sp>
        <p:nvSpPr>
          <p:cNvPr id="13" name="text-596"/>
          <p:cNvSpPr txBox="1"/>
          <p:nvPr/>
        </p:nvSpPr>
        <p:spPr>
          <a:xfrm>
            <a:off x="265176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4</a:t>
            </a:r>
            <a:endParaRPr lang="en-US" sz="1000" dirty="0"/>
          </a:p>
        </p:txBody>
      </p:sp>
      <p:sp>
        <p:nvSpPr>
          <p:cNvPr id="14" name="tile-597"/>
          <p:cNvSpPr/>
          <p:nvPr/>
        </p:nvSpPr>
        <p:spPr>
          <a:xfrm>
            <a:off x="2651760" y="1216152"/>
            <a:ext cx="475488" cy="411480"/>
          </a:xfrm>
          <a:prstGeom prst="roundRect">
            <a:avLst>
              <a:gd name="adj" fmla="val 11111"/>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37</a:t>
            </a:r>
            <a:endParaRPr lang="en-US" sz="1400" dirty="0"/>
          </a:p>
        </p:txBody>
      </p:sp>
      <p:sp>
        <p:nvSpPr>
          <p:cNvPr id="15" name="text-598"/>
          <p:cNvSpPr txBox="1"/>
          <p:nvPr/>
        </p:nvSpPr>
        <p:spPr>
          <a:xfrm>
            <a:off x="2651760" y="1664208"/>
            <a:ext cx="475488" cy="182880"/>
          </a:xfrm>
          <a:prstGeom prst="rect">
            <a:avLst/>
          </a:prstGeom>
          <a:noFill/>
          <a:ln/>
        </p:spPr>
        <p:txBody>
          <a:bodyPr wrap="square" lIns="0" tIns="0" rIns="0" bIns="0" rtlCol="0" anchor="t"/>
          <a:lstStyle/>
          <a:p>
            <a:pPr marL="0" indent="0" algn="ctr">
              <a:buNone/>
            </a:pPr>
            <a:r>
              <a:rPr lang="en-US" sz="1000" b="1" dirty="0">
                <a:solidFill>
                  <a:schemeClr val="tx2"/>
                </a:solidFill>
              </a:rPr>
              <a:t>1</a:t>
            </a:r>
            <a:endParaRPr lang="en-US" sz="1000" dirty="0"/>
          </a:p>
        </p:txBody>
      </p:sp>
      <p:sp>
        <p:nvSpPr>
          <p:cNvPr id="16" name="text-599"/>
          <p:cNvSpPr txBox="1"/>
          <p:nvPr/>
        </p:nvSpPr>
        <p:spPr>
          <a:xfrm>
            <a:off x="320040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5</a:t>
            </a:r>
            <a:endParaRPr lang="en-US" sz="1000" dirty="0"/>
          </a:p>
        </p:txBody>
      </p:sp>
      <p:sp>
        <p:nvSpPr>
          <p:cNvPr id="17" name="tile-600"/>
          <p:cNvSpPr/>
          <p:nvPr/>
        </p:nvSpPr>
        <p:spPr>
          <a:xfrm>
            <a:off x="3200400" y="1216152"/>
            <a:ext cx="475488" cy="411480"/>
          </a:xfrm>
          <a:prstGeom prst="roundRect">
            <a:avLst>
              <a:gd name="adj" fmla="val 11111"/>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60</a:t>
            </a:r>
            <a:endParaRPr lang="en-US" sz="1400" dirty="0"/>
          </a:p>
        </p:txBody>
      </p:sp>
      <p:sp>
        <p:nvSpPr>
          <p:cNvPr id="18" name="text-601"/>
          <p:cNvSpPr txBox="1"/>
          <p:nvPr/>
        </p:nvSpPr>
        <p:spPr>
          <a:xfrm>
            <a:off x="3200400" y="1664208"/>
            <a:ext cx="475488" cy="182880"/>
          </a:xfrm>
          <a:prstGeom prst="rect">
            <a:avLst/>
          </a:prstGeom>
          <a:noFill/>
          <a:ln/>
        </p:spPr>
        <p:txBody>
          <a:bodyPr wrap="square" lIns="0" tIns="0" rIns="0" bIns="0" rtlCol="0" anchor="t"/>
          <a:lstStyle/>
          <a:p>
            <a:pPr marL="0" indent="0" algn="ctr">
              <a:buNone/>
            </a:pPr>
            <a:r>
              <a:rPr lang="en-US" sz="1000" b="1" dirty="0">
                <a:solidFill>
                  <a:schemeClr val="tx2"/>
                </a:solidFill>
              </a:rPr>
              <a:t>1</a:t>
            </a:r>
            <a:endParaRPr lang="en-US" sz="1000" dirty="0"/>
          </a:p>
        </p:txBody>
      </p:sp>
      <p:sp>
        <p:nvSpPr>
          <p:cNvPr id="19" name="text-602"/>
          <p:cNvSpPr txBox="1"/>
          <p:nvPr/>
        </p:nvSpPr>
        <p:spPr>
          <a:xfrm>
            <a:off x="374904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6</a:t>
            </a:r>
            <a:endParaRPr lang="en-US" sz="1000" dirty="0"/>
          </a:p>
        </p:txBody>
      </p:sp>
      <p:sp>
        <p:nvSpPr>
          <p:cNvPr id="20" name="tile-603"/>
          <p:cNvSpPr/>
          <p:nvPr/>
        </p:nvSpPr>
        <p:spPr>
          <a:xfrm>
            <a:off x="3749040" y="1216152"/>
            <a:ext cx="475488" cy="411480"/>
          </a:xfrm>
          <a:prstGeom prst="roundRect">
            <a:avLst>
              <a:gd name="adj" fmla="val 11111"/>
            </a:avLst>
          </a:prstGeom>
          <a:solidFill>
            <a:schemeClr val="bg2"/>
          </a:solidFill>
          <a:ln w="12700">
            <a:solidFill>
              <a:schemeClr val="bg2"/>
            </a:solidFill>
          </a:ln>
        </p:spPr>
        <p:txBody>
          <a:bodyPr wrap="square" lIns="0" tIns="0" rIns="0" bIns="0" rtlCol="0" anchor="ctr"/>
          <a:lstStyle/>
          <a:p>
            <a:pPr marL="0" indent="0" algn="ctr">
              <a:buNone/>
            </a:pPr>
            <a:endParaRPr lang="en-US" sz="1600" dirty="0"/>
          </a:p>
        </p:txBody>
      </p:sp>
      <p:sp>
        <p:nvSpPr>
          <p:cNvPr id="21" name="text-604"/>
          <p:cNvSpPr txBox="1"/>
          <p:nvPr/>
        </p:nvSpPr>
        <p:spPr>
          <a:xfrm>
            <a:off x="429768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7</a:t>
            </a:r>
            <a:endParaRPr lang="en-US" sz="1000" dirty="0"/>
          </a:p>
        </p:txBody>
      </p:sp>
      <p:sp>
        <p:nvSpPr>
          <p:cNvPr id="22" name="tile-605"/>
          <p:cNvSpPr/>
          <p:nvPr/>
        </p:nvSpPr>
        <p:spPr>
          <a:xfrm>
            <a:off x="4297680" y="1216152"/>
            <a:ext cx="475488" cy="411480"/>
          </a:xfrm>
          <a:prstGeom prst="roundRect">
            <a:avLst>
              <a:gd name="adj" fmla="val 11111"/>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40</a:t>
            </a:r>
            <a:endParaRPr lang="en-US" sz="1400" dirty="0"/>
          </a:p>
        </p:txBody>
      </p:sp>
      <p:sp>
        <p:nvSpPr>
          <p:cNvPr id="23" name="text-606"/>
          <p:cNvSpPr txBox="1"/>
          <p:nvPr/>
        </p:nvSpPr>
        <p:spPr>
          <a:xfrm>
            <a:off x="4297680" y="1664208"/>
            <a:ext cx="475488" cy="182880"/>
          </a:xfrm>
          <a:prstGeom prst="rect">
            <a:avLst/>
          </a:prstGeom>
          <a:noFill/>
          <a:ln/>
        </p:spPr>
        <p:txBody>
          <a:bodyPr wrap="square" lIns="0" tIns="0" rIns="0" bIns="0" rtlCol="0" anchor="t"/>
          <a:lstStyle/>
          <a:p>
            <a:pPr marL="0" indent="0" algn="ctr">
              <a:buNone/>
            </a:pPr>
            <a:r>
              <a:rPr lang="en-US" sz="1000" b="1" dirty="0">
                <a:solidFill>
                  <a:schemeClr val="tx2"/>
                </a:solidFill>
              </a:rPr>
              <a:t>1</a:t>
            </a:r>
            <a:endParaRPr lang="en-US" sz="1000" dirty="0"/>
          </a:p>
        </p:txBody>
      </p:sp>
      <p:sp>
        <p:nvSpPr>
          <p:cNvPr id="24" name="text-607"/>
          <p:cNvSpPr txBox="1"/>
          <p:nvPr/>
        </p:nvSpPr>
        <p:spPr>
          <a:xfrm>
            <a:off x="484632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8</a:t>
            </a:r>
            <a:endParaRPr lang="en-US" sz="1000" dirty="0"/>
          </a:p>
        </p:txBody>
      </p:sp>
      <p:sp>
        <p:nvSpPr>
          <p:cNvPr id="25" name="tile-608"/>
          <p:cNvSpPr/>
          <p:nvPr/>
        </p:nvSpPr>
        <p:spPr>
          <a:xfrm>
            <a:off x="4846320" y="1216152"/>
            <a:ext cx="475488" cy="411480"/>
          </a:xfrm>
          <a:prstGeom prst="roundRect">
            <a:avLst>
              <a:gd name="adj" fmla="val 11111"/>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30</a:t>
            </a:r>
            <a:endParaRPr lang="en-US" sz="1400" dirty="0"/>
          </a:p>
        </p:txBody>
      </p:sp>
      <p:sp>
        <p:nvSpPr>
          <p:cNvPr id="26" name="text-609"/>
          <p:cNvSpPr txBox="1"/>
          <p:nvPr/>
        </p:nvSpPr>
        <p:spPr>
          <a:xfrm>
            <a:off x="4846320" y="1664208"/>
            <a:ext cx="475488" cy="182880"/>
          </a:xfrm>
          <a:prstGeom prst="rect">
            <a:avLst/>
          </a:prstGeom>
          <a:noFill/>
          <a:ln/>
        </p:spPr>
        <p:txBody>
          <a:bodyPr wrap="square" lIns="0" tIns="0" rIns="0" bIns="0" rtlCol="0" anchor="t"/>
          <a:lstStyle/>
          <a:p>
            <a:pPr marL="0" indent="0" algn="ctr">
              <a:buNone/>
            </a:pPr>
            <a:r>
              <a:rPr lang="en-US" sz="1000" b="1" dirty="0">
                <a:solidFill>
                  <a:schemeClr val="tx2"/>
                </a:solidFill>
              </a:rPr>
              <a:t>1</a:t>
            </a:r>
            <a:endParaRPr lang="en-US" sz="1000" dirty="0"/>
          </a:p>
        </p:txBody>
      </p:sp>
      <p:sp>
        <p:nvSpPr>
          <p:cNvPr id="27" name="text-610"/>
          <p:cNvSpPr txBox="1"/>
          <p:nvPr/>
        </p:nvSpPr>
        <p:spPr>
          <a:xfrm>
            <a:off x="539496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9</a:t>
            </a:r>
            <a:endParaRPr lang="en-US" sz="1000" dirty="0"/>
          </a:p>
        </p:txBody>
      </p:sp>
      <p:sp>
        <p:nvSpPr>
          <p:cNvPr id="28" name="tile-611"/>
          <p:cNvSpPr/>
          <p:nvPr/>
        </p:nvSpPr>
        <p:spPr>
          <a:xfrm>
            <a:off x="5394960" y="1216152"/>
            <a:ext cx="475488" cy="411480"/>
          </a:xfrm>
          <a:prstGeom prst="roundRect">
            <a:avLst>
              <a:gd name="adj" fmla="val 11111"/>
            </a:avLst>
          </a:prstGeom>
          <a:solidFill>
            <a:schemeClr val="tx2"/>
          </a:solidFill>
          <a:ln w="12700">
            <a:solidFill>
              <a:schemeClr val="tx2"/>
            </a:solid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42</a:t>
            </a:r>
            <a:endParaRPr lang="en-US" sz="1400" dirty="0"/>
          </a:p>
        </p:txBody>
      </p:sp>
      <p:sp>
        <p:nvSpPr>
          <p:cNvPr id="29" name="text-612"/>
          <p:cNvSpPr txBox="1"/>
          <p:nvPr/>
        </p:nvSpPr>
        <p:spPr>
          <a:xfrm>
            <a:off x="5394960" y="1664208"/>
            <a:ext cx="475488" cy="182880"/>
          </a:xfrm>
          <a:prstGeom prst="rect">
            <a:avLst/>
          </a:prstGeom>
          <a:noFill/>
          <a:ln/>
        </p:spPr>
        <p:txBody>
          <a:bodyPr wrap="square" lIns="0" tIns="0" rIns="0" bIns="0" rtlCol="0" anchor="t"/>
          <a:lstStyle/>
          <a:p>
            <a:pPr marL="0" indent="0" algn="ctr">
              <a:buNone/>
            </a:pPr>
            <a:r>
              <a:rPr lang="en-US" sz="1000" b="1" dirty="0">
                <a:solidFill>
                  <a:schemeClr val="tx2"/>
                </a:solidFill>
              </a:rPr>
              <a:t>1</a:t>
            </a:r>
            <a:endParaRPr lang="en-US" sz="1000" dirty="0"/>
          </a:p>
        </p:txBody>
      </p:sp>
      <p:sp>
        <p:nvSpPr>
          <p:cNvPr id="30" name="text-613"/>
          <p:cNvSpPr txBox="1"/>
          <p:nvPr/>
        </p:nvSpPr>
        <p:spPr>
          <a:xfrm>
            <a:off x="5943600" y="1005840"/>
            <a:ext cx="475488" cy="182880"/>
          </a:xfrm>
          <a:prstGeom prst="rect">
            <a:avLst/>
          </a:prstGeom>
          <a:noFill/>
          <a:ln/>
        </p:spPr>
        <p:txBody>
          <a:bodyPr wrap="square" lIns="0" tIns="0" rIns="0" bIns="0" rtlCol="0" anchor="t"/>
          <a:lstStyle/>
          <a:p>
            <a:pPr marL="0" indent="0" algn="ctr">
              <a:buNone/>
            </a:pPr>
            <a:r>
              <a:rPr lang="en-US" sz="1000" dirty="0">
                <a:solidFill>
                  <a:schemeClr val="accent5"/>
                </a:solidFill>
              </a:rPr>
              <a:t>10</a:t>
            </a:r>
            <a:endParaRPr lang="en-US" sz="1000" dirty="0"/>
          </a:p>
        </p:txBody>
      </p:sp>
      <p:sp>
        <p:nvSpPr>
          <p:cNvPr id="31" name="tile-614"/>
          <p:cNvSpPr/>
          <p:nvPr/>
        </p:nvSpPr>
        <p:spPr>
          <a:xfrm>
            <a:off x="5943600" y="1216152"/>
            <a:ext cx="475488" cy="411480"/>
          </a:xfrm>
          <a:prstGeom prst="roundRect">
            <a:avLst>
              <a:gd name="adj" fmla="val 11111"/>
            </a:avLst>
          </a:prstGeom>
          <a:solidFill>
            <a:schemeClr val="bg2"/>
          </a:solidFill>
          <a:ln w="12700">
            <a:solidFill>
              <a:schemeClr val="bg2"/>
            </a:solidFill>
          </a:ln>
        </p:spPr>
        <p:txBody>
          <a:bodyPr wrap="square" lIns="0" tIns="0" rIns="0" bIns="0" rtlCol="0" anchor="ctr"/>
          <a:lstStyle/>
          <a:p>
            <a:pPr marL="0" indent="0" algn="ctr">
              <a:buNone/>
            </a:pPr>
            <a:endParaRPr lang="en-US" sz="1600" dirty="0"/>
          </a:p>
        </p:txBody>
      </p:sp>
      <p:graphicFrame>
        <p:nvGraphicFramePr>
          <p:cNvPr id="32" name="log-615"/>
          <p:cNvGraphicFramePr>
            <a:graphicFrameLocks noGrp="1"/>
          </p:cNvGraphicFramePr>
          <p:nvPr>
            <p:extLst>
              <p:ext uri="{D42A27DB-BD31-4B8C-83A1-F6EECF244321}">
                <p14:modId xmlns:p14="http://schemas.microsoft.com/office/powerpoint/2010/main" val="1579011935"/>
              </p:ext>
            </p:extLst>
          </p:nvPr>
        </p:nvGraphicFramePr>
        <p:xfrm>
          <a:off x="457200" y="2240280"/>
          <a:ext cx="5852160" cy="2267712"/>
        </p:xfrm>
        <a:graphic>
          <a:graphicData uri="http://schemas.openxmlformats.org/drawingml/2006/table">
            <a:tbl>
              <a:tblPr/>
              <a:tblGrid>
                <a:gridCol w="7315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278892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283464">
                <a:tc>
                  <a:txBody>
                    <a:bodyPr/>
                    <a:lstStyle/>
                    <a:p>
                      <a:pPr marL="0" indent="0">
                        <a:buNone/>
                      </a:pPr>
                      <a:r>
                        <a:rPr lang="en-US" sz="1200" b="1" dirty="0">
                          <a:solidFill>
                            <a:schemeClr val="bg1"/>
                          </a:solidFill>
                        </a:rPr>
                        <a:t>Key</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h(k)</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s(k)</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Cells probed</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Probes</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283464">
                <a:tc>
                  <a:txBody>
                    <a:bodyPr/>
                    <a:lstStyle/>
                    <a:p>
                      <a:pPr marL="0" indent="0">
                        <a:buNone/>
                      </a:pPr>
                      <a:r>
                        <a:rPr lang="en-US" sz="1200" dirty="0">
                          <a:solidFill>
                            <a:schemeClr val="tx1"/>
                          </a:solidFill>
                        </a:rPr>
                        <a:t>40</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7</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5</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7</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1</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283464">
                <a:tc>
                  <a:txBody>
                    <a:bodyPr/>
                    <a:lstStyle/>
                    <a:p>
                      <a:pPr marL="0" indent="0">
                        <a:buNone/>
                      </a:pPr>
                      <a:r>
                        <a:rPr lang="en-US" sz="1200" dirty="0">
                          <a:solidFill>
                            <a:schemeClr val="tx1"/>
                          </a:solidFill>
                        </a:rPr>
                        <a:t>60</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5</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3</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5</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1</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3464">
                <a:tc>
                  <a:txBody>
                    <a:bodyPr/>
                    <a:lstStyle/>
                    <a:p>
                      <a:pPr marL="0" indent="0">
                        <a:buNone/>
                      </a:pPr>
                      <a:r>
                        <a:rPr lang="en-US" sz="1200" dirty="0">
                          <a:solidFill>
                            <a:schemeClr val="tx1"/>
                          </a:solidFill>
                        </a:rPr>
                        <a:t>37</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4</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8</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4</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1</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283464">
                <a:tc>
                  <a:txBody>
                    <a:bodyPr/>
                    <a:lstStyle/>
                    <a:p>
                      <a:pPr marL="0" indent="0">
                        <a:buNone/>
                      </a:pPr>
                      <a:r>
                        <a:rPr lang="en-US" sz="1200" dirty="0">
                          <a:solidFill>
                            <a:schemeClr val="tx2"/>
                          </a:solidFill>
                        </a:rPr>
                        <a:t>84</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7</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6</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7 → 2</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b="1" dirty="0">
                          <a:solidFill>
                            <a:schemeClr val="tx2"/>
                          </a:solidFill>
                        </a:rPr>
                        <a:t>2</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3464">
                <a:tc>
                  <a:txBody>
                    <a:bodyPr/>
                    <a:lstStyle/>
                    <a:p>
                      <a:pPr marL="0" indent="0">
                        <a:buNone/>
                      </a:pPr>
                      <a:r>
                        <a:rPr lang="en-US" sz="1200" dirty="0">
                          <a:solidFill>
                            <a:schemeClr val="tx1"/>
                          </a:solidFill>
                        </a:rPr>
                        <a:t>42</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9</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3</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9</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1</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283464">
                <a:tc>
                  <a:txBody>
                    <a:bodyPr/>
                    <a:lstStyle/>
                    <a:p>
                      <a:pPr marL="0" indent="0">
                        <a:buNone/>
                      </a:pPr>
                      <a:r>
                        <a:rPr lang="en-US" sz="1200" dirty="0">
                          <a:solidFill>
                            <a:schemeClr val="tx2"/>
                          </a:solidFill>
                        </a:rPr>
                        <a:t>18</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7</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9</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dirty="0">
                          <a:solidFill>
                            <a:schemeClr val="tx2"/>
                          </a:solidFill>
                        </a:rPr>
                        <a:t>7 → 5 → 3</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marL="0" indent="0">
                        <a:buNone/>
                      </a:pPr>
                      <a:r>
                        <a:rPr lang="en-US" sz="1200" b="1" dirty="0">
                          <a:solidFill>
                            <a:schemeClr val="tx2"/>
                          </a:solidFill>
                        </a:rPr>
                        <a:t>3</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83464">
                <a:tc>
                  <a:txBody>
                    <a:bodyPr/>
                    <a:lstStyle/>
                    <a:p>
                      <a:pPr marL="0" indent="0">
                        <a:buNone/>
                      </a:pPr>
                      <a:r>
                        <a:rPr lang="en-US" sz="1200" dirty="0">
                          <a:solidFill>
                            <a:schemeClr val="tx1"/>
                          </a:solidFill>
                        </a:rPr>
                        <a:t>30</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8</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6</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8</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1</a:t>
                      </a:r>
                      <a:endParaRPr lang="en-US" sz="1200" dirty="0"/>
                    </a:p>
                  </a:txBody>
                  <a:tcPr marL="73152" marR="73152" marT="18288" marB="18288"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graphicFrame>
        <p:nvGraphicFramePr>
          <p:cNvPr id="43" name="cmp-616"/>
          <p:cNvGraphicFramePr>
            <a:graphicFrameLocks noGrp="1"/>
          </p:cNvGraphicFramePr>
          <p:nvPr>
            <p:extLst>
              <p:ext uri="{D42A27DB-BD31-4B8C-83A1-F6EECF244321}">
                <p14:modId xmlns:p14="http://schemas.microsoft.com/office/powerpoint/2010/main" val="1579011935"/>
              </p:ext>
            </p:extLst>
          </p:nvPr>
        </p:nvGraphicFramePr>
        <p:xfrm>
          <a:off x="6583680" y="1051560"/>
          <a:ext cx="2103120" cy="1152144"/>
        </p:xfrm>
        <a:graphic>
          <a:graphicData uri="http://schemas.openxmlformats.org/drawingml/2006/table">
            <a:tbl>
              <a:tblPr/>
              <a:tblGrid>
                <a:gridCol w="6400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384048">
                <a:tc>
                  <a:txBody>
                    <a:bodyPr/>
                    <a:lstStyle/>
                    <a:p>
                      <a:pPr marL="0" indent="0" algn="ctr">
                        <a:buNone/>
                      </a:pPr>
                      <a:endParaRPr lang="en-US" sz="1300" dirty="0"/>
                    </a:p>
                  </a:txBody>
                  <a:tcPr marL="0" marR="0"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bg1"/>
                          </a:solidFill>
                        </a:rPr>
                        <a:t>Linear</a:t>
                      </a:r>
                      <a:endParaRPr lang="en-US" sz="1300" dirty="0"/>
                    </a:p>
                  </a:txBody>
                  <a:tcPr marL="0" marR="0"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5"/>
                    </a:solidFill>
                  </a:tcPr>
                </a:tc>
                <a:tc>
                  <a:txBody>
                    <a:bodyPr/>
                    <a:lstStyle/>
                    <a:p>
                      <a:pPr marL="0" indent="0" algn="ctr">
                        <a:buNone/>
                      </a:pPr>
                      <a:r>
                        <a:rPr lang="en-US" sz="1300" b="1" dirty="0">
                          <a:solidFill>
                            <a:schemeClr val="bg1"/>
                          </a:solidFill>
                        </a:rPr>
                        <a:t>Double</a:t>
                      </a:r>
                      <a:endParaRPr lang="en-US" sz="1300" dirty="0"/>
                    </a:p>
                  </a:txBody>
                  <a:tcPr marL="0" marR="0"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lgn="ctr">
                        <a:buNone/>
                      </a:pPr>
                      <a:r>
                        <a:rPr lang="en-US" sz="1300" b="1" dirty="0">
                          <a:solidFill>
                            <a:schemeClr val="tx2"/>
                          </a:solidFill>
                        </a:rPr>
                        <a:t>Max</a:t>
                      </a:r>
                      <a:endParaRPr lang="en-US" sz="1300" dirty="0"/>
                    </a:p>
                  </a:txBody>
                  <a:tcPr marL="0" marR="0"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marL="0" indent="0" algn="ctr">
                        <a:buNone/>
                      </a:pPr>
                      <a:r>
                        <a:rPr lang="en-US" sz="1300" dirty="0">
                          <a:solidFill>
                            <a:srgbClr val="000000"/>
                          </a:solidFill>
                        </a:rPr>
                        <a:t>4</a:t>
                      </a:r>
                      <a:endParaRPr lang="en-US" sz="1300" dirty="0"/>
                    </a:p>
                  </a:txBody>
                  <a:tcPr marL="0" marR="0"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marL="0" indent="0" algn="ctr">
                        <a:buNone/>
                      </a:pPr>
                      <a:r>
                        <a:rPr lang="en-US" sz="1300" b="1" dirty="0">
                          <a:solidFill>
                            <a:schemeClr val="tx2"/>
                          </a:solidFill>
                        </a:rPr>
                        <a:t>3</a:t>
                      </a:r>
                      <a:endParaRPr lang="en-US" sz="1300" dirty="0"/>
                    </a:p>
                  </a:txBody>
                  <a:tcPr marL="0" marR="0"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300" b="1" dirty="0">
                          <a:solidFill>
                            <a:schemeClr val="tx2"/>
                          </a:solidFill>
                        </a:rPr>
                        <a:t>Avg</a:t>
                      </a:r>
                      <a:endParaRPr lang="en-US" sz="1300" dirty="0"/>
                    </a:p>
                  </a:txBody>
                  <a:tcPr marL="0" marR="0"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marL="0" indent="0" algn="ctr">
                        <a:buNone/>
                      </a:pPr>
                      <a:r>
                        <a:rPr lang="en-US" sz="1300" dirty="0">
                          <a:solidFill>
                            <a:srgbClr val="000000"/>
                          </a:solidFill>
                        </a:rPr>
                        <a:t>2.00</a:t>
                      </a:r>
                      <a:endParaRPr lang="en-US" sz="1300" dirty="0"/>
                    </a:p>
                  </a:txBody>
                  <a:tcPr marL="0" marR="0"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marL="0" indent="0" algn="ctr">
                        <a:buNone/>
                      </a:pPr>
                      <a:r>
                        <a:rPr lang="en-US" sz="1300" b="1" dirty="0">
                          <a:solidFill>
                            <a:schemeClr val="tx2"/>
                          </a:solidFill>
                        </a:rPr>
                        <a:t>1.43</a:t>
                      </a:r>
                      <a:endParaRPr lang="en-US" sz="1300" dirty="0"/>
                    </a:p>
                  </a:txBody>
                  <a:tcPr marL="0" marR="0"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4" name="card-617"/>
          <p:cNvSpPr/>
          <p:nvPr/>
        </p:nvSpPr>
        <p:spPr>
          <a:xfrm>
            <a:off x="6583680" y="2377440"/>
            <a:ext cx="2103120" cy="2148840"/>
          </a:xfrm>
          <a:prstGeom prst="roundRect">
            <a:avLst>
              <a:gd name="adj" fmla="val 3478"/>
            </a:avLst>
          </a:prstGeom>
          <a:solidFill>
            <a:schemeClr val="tx2"/>
          </a:solidFill>
          <a:ln w="12700">
            <a:solidFill>
              <a:schemeClr val="tx2"/>
            </a:solidFill>
            <a:prstDash val="solid"/>
          </a:ln>
        </p:spPr>
        <p:txBody>
          <a:bodyPr/>
          <a:lstStyle/>
          <a:p>
            <a:endParaRPr lang="en-US"/>
          </a:p>
        </p:txBody>
      </p:sp>
      <p:sp>
        <p:nvSpPr>
          <p:cNvPr id="35" name="text-618"/>
          <p:cNvSpPr txBox="1"/>
          <p:nvPr/>
        </p:nvSpPr>
        <p:spPr>
          <a:xfrm>
            <a:off x="6720840" y="2468880"/>
            <a:ext cx="1828800" cy="1965960"/>
          </a:xfrm>
          <a:prstGeom prst="rect">
            <a:avLst/>
          </a:prstGeom>
          <a:noFill/>
          <a:ln/>
        </p:spPr>
        <p:txBody>
          <a:bodyPr wrap="square" lIns="0" tIns="0" rIns="0" bIns="0" rtlCol="0" anchor="ctr"/>
          <a:lstStyle/>
          <a:p>
            <a:pPr marL="0" indent="0">
              <a:buNone/>
            </a:pPr>
            <a:r>
              <a:rPr lang="en-US" sz="1200" dirty="0">
                <a:solidFill>
                  <a:schemeClr val="bg1"/>
                </a:solidFill>
              </a:rPr>
              <a:t>Same keys, same table size. The colliding keys scatter to 2 and 3 instead of piling up after 7 — and 30 lands in its home cell 8.</a:t>
            </a:r>
            <a:endParaRPr lang="en-US" sz="1200" dirty="0"/>
          </a:p>
        </p:txBody>
      </p:sp>
      <p:sp>
        <p:nvSpPr>
          <p:cNvPr id="3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theme/theme1.xml><?xml version="1.0" encoding="utf-8"?>
<a:theme xmlns:a="http://schemas.openxmlformats.org/drawingml/2006/main" name="COMP90038 Teal Amber">
  <a:themeElements>
    <a:clrScheme name="COMP90038 Teal Amber">
      <a:dk1>
        <a:srgbClr val="17262B"/>
      </a:dk1>
      <a:lt1>
        <a:srgbClr val="FFFFFF"/>
      </a:lt1>
      <a:dk2>
        <a:srgbClr val="0B4F5C"/>
      </a:dk2>
      <a:lt2>
        <a:srgbClr val="E8F2F3"/>
      </a:lt2>
      <a:accent1>
        <a:srgbClr val="137C8B"/>
      </a:accent1>
      <a:accent2>
        <a:srgbClr val="F2A541"/>
      </a:accent2>
      <a:accent3>
        <a:srgbClr val="2A9D8F"/>
      </a:accent3>
      <a:accent4>
        <a:srgbClr val="D1495B"/>
      </a:accent4>
      <a:accent5>
        <a:srgbClr val="6B7C82"/>
      </a:accent5>
      <a:accent6>
        <a:srgbClr val="B8D8DC"/>
      </a:accent6>
      <a:hlink>
        <a:srgbClr val="137C8B"/>
      </a:hlink>
      <a:folHlink>
        <a:srgbClr val="0B4F5C"/>
      </a:folHlink>
    </a:clrScheme>
    <a:fontScheme name="COMP90038 Teal A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TotalTime>
  <Words>4601</Words>
  <Application>Microsoft Macintosh PowerPoint</Application>
  <PresentationFormat>On-screen Show (16:9)</PresentationFormat>
  <Paragraphs>736</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vt:lpstr>
      <vt:lpstr>Courier New</vt:lpstr>
      <vt:lpstr>COMP90038 Teal Amber</vt:lpstr>
      <vt:lpstr>Horspool’s String Search &amp; Hashing</vt:lpstr>
      <vt:lpstr>Today’s plan</vt:lpstr>
      <vt:lpstr>Part 1 · Horspool’s string search</vt:lpstr>
      <vt:lpstr>Same alignments, smarter jumps</vt:lpstr>
      <vt:lpstr>Building the shift table</vt:lpstr>
      <vt:lpstr>The search loop</vt:lpstr>
      <vt:lpstr>Q67 · Search GORE in ALGORITHM</vt:lpstr>
      <vt:lpstr>Q68 · CAB in ABRACADABRA</vt:lpstr>
      <vt:lpstr>Q68 · DRAC in ABRACADABRA</vt:lpstr>
      <vt:lpstr>Q69 · Patterns in 1,000,000 zeros</vt:lpstr>
      <vt:lpstr>Q70 · Building a worst case</vt:lpstr>
      <vt:lpstr>Q70 · Choosing m makes it quadratic</vt:lpstr>
      <vt:lpstr>So why bother with Horspool?</vt:lpstr>
      <vt:lpstr>Part 2 · Hashing</vt:lpstr>
      <vt:lpstr>Hash tables</vt:lpstr>
      <vt:lpstr>Two ways to handle collisions</vt:lpstr>
      <vt:lpstr>Step 1 · Hash every key</vt:lpstr>
      <vt:lpstr>Q72 · Separate chaining</vt:lpstr>
      <vt:lpstr>Q73 · Closed hashing, linear probing</vt:lpstr>
      <vt:lpstr>Double hashing · jump by a key-dependent step</vt:lpstr>
      <vt:lpstr>Q73 again, with double hashing</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COMP90038 Tutorial Week 10 — Horspool &amp; Hashing</dc:title>
  <dc:subject>PptxGenJS Presentation</dc:subject>
  <dc:creator>Kenji</dc:creator>
  <cp:lastModifiedBy>Kejian Cui</cp:lastModifiedBy>
  <cp:revision>7</cp:revision>
  <dcterms:created xsi:type="dcterms:W3CDTF">2026-10-03T10:11:28Z</dcterms:created>
  <dcterms:modified xsi:type="dcterms:W3CDTF">2026-10-06T02:05:40Z</dcterms:modified>
</cp:coreProperties>
</file>