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83" r:id="rId7"/>
    <p:sldId id="261" r:id="rId8"/>
    <p:sldId id="284"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9" r:id="rId26"/>
    <p:sldId id="280"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26"/>
    <p:restoredTop sz="94610"/>
  </p:normalViewPr>
  <p:slideViewPr>
    <p:cSldViewPr snapToGrid="0" snapToObjects="1">
      <p:cViewPr varScale="1">
        <p:scale>
          <a:sx n="127" d="100"/>
          <a:sy n="127" d="100"/>
        </p:scale>
        <p:origin x="2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4795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8 tutorial: binary trees and heaps.
Framing line for the room: everything today is one idea seen twice — a binary tree is a recursive object, so both the questions about traversals and the questions about heaps are solved by asking 'what is the root, and what are the two subtrees?'
Housekeeping: this week is mostly drill-and-practice, so we will move quickly and I want people volunteering answers rather than me talking. Nine questions, roughly 6 minutes each.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for the hour.
Order note: the handout lists heaps as 57, 56, 58, 59, but Q57 explicitly asks 'is the result the same as the previous question?', so we have to do Q56 first. That is the order on these slides.
Time budget: 25 minutes on trees, 30 on heaps, leaving ~5 for Q50 or for questions. If we are running behind, Q52 and Q58 are the two that can be done in a single sentence each.
Tell students up front that Q50 may be skipped — the sample answer is on the LMS and the recurrence is worth reading even if we never discuss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One sentence: a binary tree is either empty, or a root with a left and a right subtree — that definition is literally the algorithm for every question in this part.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3 minutes maximum — this was covered in lecture.
The point to hammer: the three traversals differ only in WHEN the root is processed relative to the two recursive calls. Pre/in/post refers to the position of the root.
Ask: 'which traversal gives you sorted output on a binary search tree?' (inorder). 'Which one would you use to delete a whole tree, or to evaluate an expression tree?' (postorder — you need the children's results before you can deal with the parent).
Also mention level-order / BFS exists but is not recursive in the same way; it uses a queue.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90 seconds to do all three on paper, then take answers from the room.
Do NOT just read the answers out. Walk the recursion once on the board for preorder, tracing the call stack: visit a, recurse into b (visit b, recurse into d, right child empty), return, recurse into c (visit c, left empty, recurse into e).
Common mistake: treating d and e as if they were both left children, or drawing e as c's left child. Point at the diagram and emphasise that the slant of the edge matters — this becomes important in Q53.
If someone finishes early, ask them what level-order would give: a, b, c, d, 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41E4E-CAC7-7639-DC14-41ECFF14E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C1872-EA74-E3CD-A871-324D4F6061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6D65F-F746-E62E-D056-B45205C39461}"/>
              </a:ext>
            </a:extLst>
          </p:cNvPr>
          <p:cNvSpPr>
            <a:spLocks noGrp="1"/>
          </p:cNvSpPr>
          <p:nvPr>
            <p:ph type="body" idx="1"/>
          </p:nvPr>
        </p:nvSpPr>
        <p:spPr/>
        <p:txBody>
          <a:bodyPr/>
          <a:lstStyle/>
          <a:p>
            <a:r>
              <a:rPr lang="en-US" dirty="0"/>
              <a:t>Give them 90 seconds to do all three on paper, then take answers from the room.
Do NOT just read the answers out. Walk the recursion once on the board for preorder, tracing the call stack: visit a, recurse into b (visit b, recurse into d, right child empty), return, recurse into c (visit c, left empty, recurse into e).
Common mistake: treating d and e as if they were both left children, or drawing e as c's left child. Point at the diagram and emphasise that the slant of the edge matters — this becomes important in Q53.
If someone finishes early, ask them what level-order would give: a, b, c, d, e.</a:t>
            </a:r>
          </a:p>
        </p:txBody>
      </p:sp>
      <p:sp>
        <p:nvSpPr>
          <p:cNvPr id="4" name="Slide Number Placeholder 3">
            <a:extLst>
              <a:ext uri="{FF2B5EF4-FFF2-40B4-BE49-F238E27FC236}">
                <a16:creationId xmlns:a16="http://schemas.microsoft.com/office/drawing/2014/main" id="{676E0D66-98F8-FA41-C0CC-8D2EF1B3E0A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10792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is fast — 3 minutes. Ask the question and wait; someone will say 'a straight line'.
The value is in the JUSTIFICATION, not the picture. Push for it: why must the left subtrees be empty? Because the only difference between N L R and L N R is where L sits, so the two can only coincide when L contributes nothing.
Worth adding: this is exactly the degenerate BST you get by inserting already-sorted keys, and it is why search in an unbalanced BST is Θ(n), not Θ(log n). That connects to the balanced-tree material.
Follow-up if the room is quick: what if postorder equalled inorder instead? (A left-leaning stick — every right subtree empty.)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975E6-3C7C-4FBC-0533-23D93C798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2B638-B531-436E-508B-763E409FD3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D19BAA-6123-094D-0AEA-6EF2C5C46B19}"/>
              </a:ext>
            </a:extLst>
          </p:cNvPr>
          <p:cNvSpPr>
            <a:spLocks noGrp="1"/>
          </p:cNvSpPr>
          <p:nvPr>
            <p:ph type="body" idx="1"/>
          </p:nvPr>
        </p:nvSpPr>
        <p:spPr/>
        <p:txBody>
          <a:bodyPr/>
          <a:lstStyle/>
          <a:p>
            <a:r>
              <a:rPr lang="en-US" dirty="0"/>
              <a:t>This one is fast — 3 minutes. Ask the question and wait; someone will say 'a straight line'.
The value is in the JUSTIFICATION, not the picture. Push for it: why must the left subtrees be empty? Because the only difference between N L R and L N R is where L sits, so the two can only coincide when L contributes nothing.
Worth adding: this is exactly the degenerate BST you get by inserting already-sorted keys, and it is why search in an unbalanced BST is Θ(n), not Θ(log n). That connects to the balanced-tree material.
Follow-up if the room is quick: what if postorder equalled inorder instead? (A left-leaning stick — every right subtree empty.)</a:t>
            </a:r>
          </a:p>
        </p:txBody>
      </p:sp>
      <p:sp>
        <p:nvSpPr>
          <p:cNvPr id="4" name="Slide Number Placeholder 3">
            <a:extLst>
              <a:ext uri="{FF2B5EF4-FFF2-40B4-BE49-F238E27FC236}">
                <a16:creationId xmlns:a16="http://schemas.microsoft.com/office/drawing/2014/main" id="{8A4F2FA8-F419-5365-2DE6-D545294541BD}"/>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1111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of the day — budget 8–10 minutes and run it as a dialogue.
Ask the three questions on the slide one at a time and get answers from the room before showing the decomposition:
  · 'From the given sequences, can we know the root of the tree?' → yes, preorder starts at the root: 14.
  · 'Now that we know the root is 14, which nodes belong to its left subtree?' → find 14 in the inorder sequence; everything to its left (63, 83, 19, 42) is the left subtree, everything to its right is the right subtree.
  · 'How do I know which preorder keys correspond to that left subtree?' → it is four keys, and preorder does the whole left subtree before the right, so take the next four: 83, 63, 42, 19.
Emphasise that we now have exactly the same problem on a smaller input — that is the recursion. Neither sequence alone is enough; you need both.
Only after they have articulated the rule do you move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table on the board with the class rather than revealing it all at once — it is much more convincing when they dictate each row.
The vertical bars show the split point. For each row: read the root off the front of the preorder segment, find it in the inorder segment, and the bars fall out.
Row 5 is the instructive one. Students often assume every node has two children. When 27 turns up at the very start of its inorder segment, the left subtree is empty — ask the room what that means before telling them.
If a student asks whether preorder + postorder would work: it does not in general (you cannot tell a left-only child from a right-only child). Preorder + inorder, or postorder + inorder, both work. Good question to plant if nobody asks.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tree only after the table has been built. Ask one student to read out the postorder from the drawing while you write it.
Answer: 63, 19, 42, 83, 51, 99, 37, 74, 27, 14. Read it straight off the tree — finish the whole left subtree, then the whole right, then the root, so 14 must come last.
The check on the right is worth insisting on — reconstructing from two traversals is error-prone by hand, and re-running inorder catches almost every mistake in about twenty seconds. Exam-relevant habit.
If asked about cost: the recursive reconstruction is Θ(n) per level for the search in the inorder segment, so Θ(n²) worst case naively, Θ(n) if you pre-index the inorder positions in a hash table. Only mention this if someone raises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anyone stare at the code hunting for the bug. Make them EXECUTE it — that is the whole teaching point of this question.
Pick a student, give them a one-node tree, and have them trace the calls out loud: T is not null, so we return LeafCount(null) + LeafCount(null) = 0 + 0 = 0. The output is obviously wrong, and now the cause is obvious too.
Then ask: what does it return on a tree with 100 nodes? Also 0. Every leaf's contribution is lost the same way.
General lesson worth stating: when you write a recursive function over trees, enumerate the base cases explicitly — empty tree, single node, and only then the general case. Most tree bugs students hit in the assignment are a missing base case.
Ask for the fix before turning the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fix from the room first and write whatever they propose on the board; several variants are correct, so long as a leaf contributes exactly 1 and nothing double-counts.
Common wrong fix to watch for: returning 1 whenever a node has only ONE null child. That counts internal nodes with a single child as leaves. Ask what their fix does on the Q52 stick — the right answer is 1 leaf, their version gives 5.
Close the question by generalising: this is the standard recursive tree template. Height = 1 + max(left, right) with height of a leaf = 0; node count = 1 + left + right. Point back to the tutorial slide from lecture if they want the pattern.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Flag the running example: A, L, G, O, R, I, T, H, M is used by Q56, Q57 and Q59, so whatever we build now we reuse. Keys are compared alphabetically — T is the largest, A the smallest.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This slide sets up Q56–Q59 and answers Q58 before we get there.
Draw the correspondence live: point at a node in the tree, ask for its index, then ask where its children are in the array. Do it twice and the formula sticks.
Stress the two separate requirements: (1) shape — essentially complete; (2) order — parental dominance. An array automatically satisfies (1) if you use positions 1..n with no gaps, which is why Q58 only has to check (2).
Contrast with a BST explicitly, because students conflate them: in a heap the largest key is at the root and you can find the max in O(1), but finding an arbitrary key takes Θ(n). In a BST inorder gives sorted output; in a heap it gives nothing useful.
If someone asks about 0-based indexing: children become 2i+1 and 2i+2, parent ⌊(i−1)/2⌋. The subject uses 1-based; exams use 1-based.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carefully, then let the class drive the swaps on the next slide.
Two things to establish before any swapping:
  · why we start at ⌊n/2⌋ = 4 and not at 9 (positions 5..9 are leaves — a single node is trivially a heap, so there is nothing to fix);
  · why we go downwards in index, i.e. bottom-up in the tree (the invariant: when we bubble-down node i, the heaps rooted at 2i and 2i+1 are already correct, so one pass of bubble-down suffices).
Ask why we always swap with the LARGER child. If you swap with the smaller one, the promoted key may still be smaller than its new sibling and the heap property breaks again.
Keys compare alphabetically: A &lt; G &lt; H &lt; I &lt; L &lt; M &lt; O &lt; R &lt; 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this on the board with the class rather than reading the table. Ask for each pass: which node, which children, does it move?
Pass i = 4 is a useful non-event — O already dominates H and M, so nothing happens. Students often expect every pass to swap.
Pass i = 1 is the one to slow down on: A swaps with T, then keeps going. If nobody notices, ask 'are we done?' and let them check the heap property at index 3.
Cost: naively you might say n/2 nodes × log n each = O(n log n), but the real bound is Θ(n), because most nodes are near the bottom and travel a very short distance. That is the sum Q55 proves. Mention it, do not derive it unless asked.
Final array: T R I O L A G H 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slide — mainly a checkpoint so everyone has the same array before Q57 and Q59.
Get the class to verify the heap property at two or three nodes rather than taking it on trust: is R ≥ O and R ≥ L? is I ≥ A and I ≥ G?
Point out that the array is NOT sorted and nothing about it is meant to be. A heap is a partial order, not a total one. The only guarantee is that the maximum is at index 1 — which is exactly what heapsort exploits.
Tell them to keep T R I O L A G H M written down; Q59 starts from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work: give each of nine students one insertion, or do the first four together and let the room finish.
Key contrast with Q56 to draw out: bubble-UP compares a node with its single parent (one chain upward), bubble-DOWN compares a node with its two children and picks the larger. Students mix these up constantly.
Inserting T at step 7 is the nice moment — it travels from a leaf all the way to the root, which is the O(log n) worst case in action.
If someone asks why the array in the middle column looks different from Q56 at every step: exactly — hold that thought until the next slide.
Final array: T O R M L G I A 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on the slide before showing the second array: 'should these two agree?' Let them argue for a moment; opinion is usually split, which makes the answer land.
Answer: no. T O R M L G I A H versus T R I O L A G H M. Both satisfy every parent-child constraint, both are essentially complete, both have T at the root.
The deeper point for exams: if a question asks you to build a heap, the method matters. 'Build a heap from these keys' is ambiguous unless it says bottom-up or by insertion — and this subject's exam questions always say which.
Also worth naming the cost difference again: Θ(n) for heapify versus O(n log n) for n insertions. Same data structure, different construction costs.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 4 minutes. Ask for an algorithm before showing this one; most students will propose looping over parents and checking both children, which is also correct but has an awkward boundary case when n is even and the last parent has a single child.
The version here looks at it from the child's side and sidesteps that entirely. Worth naming as a general trick: iterating over the side with no special cases.
This is the slide where the array representation earns its keep — connect back to the recap: we never build a tree, never follow a pointer, and still check a tree property in one linear scan.
If someone asks about min-heaps: flip the comparison. Everything else is identical.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of setup, then straight into the trace.
The idea students need: a max-heap hands you the largest remaining key in O(1), at index 1. The largest key belongs at the END of a sorted array. So swap it there, forget about that cell, and repair the smaller heap that is left.
Be explicit that 'pop but don't delete' means the popped key stays in the array, just outside the active heap region. That is the trick that makes this in-place.
Ask why we do n − 1 pops rather than n: when one key remains it is trivially in place.
Compare to selection sort if it helps: same skeleton — repeatedly extract the maximum — but the heap makes the extraction O(log n) instead of Θ(n), which is the whole difference between Θ(n²) and Θ(n log 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pop 1 slowly on the board, then hand pops 2–4 to the room.
Pop 1 in full: swap T with M (the last key), so T is now at index 9 and out of the heap. M is at the root with children R and I; the larger is R, and R &gt; M, so swap. M is now at index 2 with children O and L; the larger is O, and O &gt; M, so swap again. M lands at index 4, whose only child is H — H &lt; M, so we stop. Heap is R O I M L A G H, sorted tail is T.
Repeated mistake to catch: comparing with the LEFT child by default instead of the larger child. Watch for it in pop 3, where G's children are M and L.
Second repeated mistake: continuing to bubble-down into the sorted region. After pop 1 the heap has size 8, so index 9 is off limits. Remind them the boundary moves every round.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pops are quick — the heap is small and bubble-down rarely travels more than one level. Let students call them out.
Pop 7 is a good check: after swapping H and G, the root G has only one child, A, and G &gt; A, so no movement at all. Ask whether that is a problem (no — bubble-down stops as soon as the property holds).
Verify the final array against the alphabet together: A G H I L M O R T. If a student's trace diverged, the usual culprit is an early pop where they took the left child instead of the larger one — have them re-check pop 1 and pop 3.
Then move to the complexity slide; do not let this become the end of the tutorial without stating the O(n log n) result.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run this if there are at least 6 minutes left. Otherwise say the sample answer is on the LMS and stop.
Do not start from the recurrence. Draw the 4 × 4 case on the board and let someone place the first tromino — the insight is entirely visual.
The question to ask: 'after we cut into quadrants, three of them are perfectly intact — but our subproblem is defined as a board with a missing square. How do we make those three look like the original problem?' Someone will suggest covering one square of each, and the centre is the only place where a single tromino touches three quadrants at once.
Then: is the centre placement always possible? Yes — whichever quadrant holds the missing square, the tromino covers the three centre-adjacent squares of the others.
Hint on the handout says four subproblems, which is exactly this.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typo explicitly — students compare answers against the sheet and this one causes confusion every year. The sample answer's final line reads Θ(n^log₄4) = Θ(n); it should read Θ(m^log₄4) = Θ(m). The recurrence above it is correct.
Make sure the variable is nailed down: n is the exponent, m = 2²ⁿ = 4ⁿ is the number of squares. Linear in m, exponential in n. Both statements describe the same algorithm.
Master Theorem reminder for the exam: for T(m) = aT(m/b) + Θ(m^d), compare a with b^d. Here d = 0 because the combine step is constant, so b^d = 1 and a = 4 dominates.
The (m − 1)/3 count is a good independent check — it tells you the answer must be linear without any theorem at all.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6"/>
        </a:solidFill>
        <a:effectLst/>
      </p:bgPr>
    </p:bg>
    <p:spTree>
      <p:nvGrpSpPr>
        <p:cNvPr id="1" name=""/>
        <p:cNvGrpSpPr/>
        <p:nvPr/>
      </p:nvGrpSpPr>
      <p:grpSpPr>
        <a:xfrm>
          <a:off x="0" y="0"/>
          <a:ext cx="0" cy="0"/>
          <a:chOff x="0" y="0"/>
          <a:chExt cx="0" cy="0"/>
        </a:xfrm>
      </p:grpSpPr>
      <p:sp>
        <p:nvSpPr>
          <p:cNvPr id="2" name="Text 0"/>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3D8C9C"/>
                </a:solidFill>
                <a:latin typeface="Calibri" pitchFamily="34" charset="0"/>
                <a:ea typeface="Calibri" pitchFamily="34" charset="-122"/>
                <a:cs typeface="Calibri" pitchFamily="34" charset="-120"/>
              </a:rPr>
              <a:t>COMP90038 · Tutorial 8  |  1</a:t>
            </a:r>
            <a:endParaRPr lang="en-US" sz="900" dirty="0"/>
          </a:p>
        </p:txBody>
      </p:sp>
      <p:sp>
        <p:nvSpPr>
          <p:cNvPr id="3" name="Text 1"/>
          <p:cNvSpPr txBox="1"/>
          <p:nvPr/>
        </p:nvSpPr>
        <p:spPr>
          <a:xfrm>
            <a:off x="640080" y="1737360"/>
            <a:ext cx="7315200" cy="365760"/>
          </a:xfrm>
          <a:prstGeom prst="rect">
            <a:avLst/>
          </a:prstGeom>
          <a:noFill/>
          <a:ln/>
        </p:spPr>
        <p:txBody>
          <a:bodyPr wrap="square" lIns="0" tIns="0" rIns="0" bIns="0" rtlCol="0" anchor="ctr"/>
          <a:lstStyle/>
          <a:p>
            <a:pPr marL="0" indent="0">
              <a:buNone/>
            </a:pPr>
            <a:r>
              <a:rPr lang="en-US" sz="1500" b="1" kern="0" spc="300" dirty="0">
                <a:solidFill>
                  <a:srgbClr val="D9932B"/>
                </a:solidFill>
                <a:latin typeface="Calibri" pitchFamily="34" charset="0"/>
                <a:ea typeface="Calibri" pitchFamily="34" charset="-122"/>
                <a:cs typeface="Calibri" pitchFamily="34" charset="-120"/>
              </a:rPr>
              <a:t>COMP90038</a:t>
            </a:r>
            <a:endParaRPr lang="en-US" sz="1500" dirty="0"/>
          </a:p>
        </p:txBody>
      </p:sp>
      <p:sp>
        <p:nvSpPr>
          <p:cNvPr id="4" name="Text 2"/>
          <p:cNvSpPr txBox="1"/>
          <p:nvPr/>
        </p:nvSpPr>
        <p:spPr>
          <a:xfrm>
            <a:off x="640080" y="2148840"/>
            <a:ext cx="7315200" cy="1371600"/>
          </a:xfrm>
          <a:prstGeom prst="rect">
            <a:avLst/>
          </a:prstGeom>
          <a:noFill/>
          <a:ln/>
        </p:spPr>
        <p:txBody>
          <a:bodyPr wrap="square" lIns="0" tIns="0" rIns="0" bIns="0" rtlCol="0" anchor="ctr"/>
          <a:lstStyle/>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Binary Trees &amp; Heaps</a:t>
            </a:r>
            <a:endParaRPr lang="en-US" sz="4600" dirty="0"/>
          </a:p>
        </p:txBody>
      </p:sp>
      <p:sp>
        <p:nvSpPr>
          <p:cNvPr id="5" name="Text 3"/>
          <p:cNvSpPr txBox="1"/>
          <p:nvPr/>
        </p:nvSpPr>
        <p:spPr>
          <a:xfrm>
            <a:off x="640080" y="3520440"/>
            <a:ext cx="7315200" cy="365760"/>
          </a:xfrm>
          <a:prstGeom prst="rect">
            <a:avLst/>
          </a:prstGeom>
          <a:noFill/>
          <a:ln/>
        </p:spPr>
        <p:txBody>
          <a:bodyPr wrap="square" lIns="0" tIns="0" rIns="0" bIns="0" rtlCol="0" anchor="ctr"/>
          <a:lstStyle/>
          <a:p>
            <a:pPr marL="0" indent="0">
              <a:buNone/>
            </a:pPr>
            <a:r>
              <a:rPr lang="en-US" sz="1700" dirty="0">
                <a:solidFill>
                  <a:srgbClr val="3D8C9C"/>
                </a:solidFill>
                <a:latin typeface="Calibri" pitchFamily="34" charset="0"/>
                <a:ea typeface="Calibri" pitchFamily="34" charset="-122"/>
                <a:cs typeface="Calibri" pitchFamily="34" charset="-120"/>
              </a:rPr>
              <a:t>Tutorial 8  ·  14–18 September 2026</a:t>
            </a:r>
            <a:endParaRPr lang="en-US" sz="1700" dirty="0"/>
          </a:p>
        </p:txBody>
      </p:sp>
      <p:sp>
        <p:nvSpPr>
          <p:cNvPr id="6" name="Text 4"/>
          <p:cNvSpPr txBox="1"/>
          <p:nvPr/>
        </p:nvSpPr>
        <p:spPr>
          <a:xfrm>
            <a:off x="640080" y="4297680"/>
            <a:ext cx="7315200" cy="365760"/>
          </a:xfrm>
          <a:prstGeom prst="rect">
            <a:avLst/>
          </a:prstGeom>
          <a:noFill/>
          <a:ln/>
        </p:spPr>
        <p:txBody>
          <a:bodyPr wrap="square" lIns="0" tIns="0" rIns="0" bIns="0" rtlCol="0" anchor="ctr"/>
          <a:lstStyle/>
          <a:p>
            <a:pPr marL="0" indent="0">
              <a:buNone/>
            </a:pPr>
            <a:r>
              <a:rPr lang="en-US" sz="1400" i="1" dirty="0">
                <a:solidFill>
                  <a:srgbClr val="3D8C9C"/>
                </a:solidFill>
                <a:latin typeface="Calibri" pitchFamily="34" charset="0"/>
                <a:ea typeface="Calibri" pitchFamily="34" charset="-122"/>
                <a:cs typeface="Calibri" pitchFamily="34" charset="-120"/>
              </a:rPr>
              <a:t>Traversals · Tree reconstruction · Heapify · Heapsort</a:t>
            </a:r>
            <a:endParaRPr lang="en-US" sz="1400" dirty="0"/>
          </a:p>
        </p:txBody>
      </p:sp>
      <p:sp>
        <p:nvSpPr>
          <p:cNvPr id="7" name="Shape 5"/>
          <p:cNvSpPr/>
          <p:nvPr/>
        </p:nvSpPr>
        <p:spPr>
          <a:xfrm flipV="1">
            <a:off x="8732520" y="2148840"/>
            <a:ext cx="1005840" cy="822960"/>
          </a:xfrm>
          <a:prstGeom prst="line">
            <a:avLst/>
          </a:prstGeom>
          <a:noFill/>
          <a:ln w="19050">
            <a:solidFill>
              <a:srgbClr val="2A5B66"/>
            </a:solidFill>
            <a:prstDash val="solid"/>
          </a:ln>
        </p:spPr>
        <p:txBody>
          <a:bodyPr/>
          <a:lstStyle/>
          <a:p>
            <a:endParaRPr lang="en-US"/>
          </a:p>
        </p:txBody>
      </p:sp>
      <p:sp>
        <p:nvSpPr>
          <p:cNvPr id="8" name="Shape 6"/>
          <p:cNvSpPr/>
          <p:nvPr/>
        </p:nvSpPr>
        <p:spPr>
          <a:xfrm>
            <a:off x="9738360" y="2148840"/>
            <a:ext cx="1005840" cy="822960"/>
          </a:xfrm>
          <a:prstGeom prst="line">
            <a:avLst/>
          </a:prstGeom>
          <a:noFill/>
          <a:ln w="19050">
            <a:solidFill>
              <a:srgbClr val="2A5B66"/>
            </a:solidFill>
            <a:prstDash val="solid"/>
          </a:ln>
        </p:spPr>
        <p:txBody>
          <a:bodyPr/>
          <a:lstStyle/>
          <a:p>
            <a:endParaRPr lang="en-US"/>
          </a:p>
        </p:txBody>
      </p:sp>
      <p:sp>
        <p:nvSpPr>
          <p:cNvPr id="9" name="Shape 7"/>
          <p:cNvSpPr/>
          <p:nvPr/>
        </p:nvSpPr>
        <p:spPr>
          <a:xfrm flipV="1">
            <a:off x="8183880" y="2971800"/>
            <a:ext cx="548640" cy="822960"/>
          </a:xfrm>
          <a:prstGeom prst="line">
            <a:avLst/>
          </a:prstGeom>
          <a:noFill/>
          <a:ln w="19050">
            <a:solidFill>
              <a:srgbClr val="2A5B66"/>
            </a:solidFill>
            <a:prstDash val="solid"/>
          </a:ln>
        </p:spPr>
        <p:txBody>
          <a:bodyPr/>
          <a:lstStyle/>
          <a:p>
            <a:endParaRPr lang="en-US"/>
          </a:p>
        </p:txBody>
      </p:sp>
      <p:sp>
        <p:nvSpPr>
          <p:cNvPr id="10" name="Shape 8"/>
          <p:cNvSpPr/>
          <p:nvPr/>
        </p:nvSpPr>
        <p:spPr>
          <a:xfrm>
            <a:off x="8732520" y="2971800"/>
            <a:ext cx="548640" cy="822960"/>
          </a:xfrm>
          <a:prstGeom prst="line">
            <a:avLst/>
          </a:prstGeom>
          <a:noFill/>
          <a:ln w="19050">
            <a:solidFill>
              <a:srgbClr val="2A5B66"/>
            </a:solidFill>
            <a:prstDash val="solid"/>
          </a:ln>
        </p:spPr>
        <p:txBody>
          <a:bodyPr/>
          <a:lstStyle/>
          <a:p>
            <a:endParaRPr lang="en-US"/>
          </a:p>
        </p:txBody>
      </p:sp>
      <p:sp>
        <p:nvSpPr>
          <p:cNvPr id="11" name="Shape 9"/>
          <p:cNvSpPr/>
          <p:nvPr/>
        </p:nvSpPr>
        <p:spPr>
          <a:xfrm flipV="1">
            <a:off x="10195560" y="2971800"/>
            <a:ext cx="548640" cy="822960"/>
          </a:xfrm>
          <a:prstGeom prst="line">
            <a:avLst/>
          </a:prstGeom>
          <a:noFill/>
          <a:ln w="19050">
            <a:solidFill>
              <a:srgbClr val="2A5B66"/>
            </a:solidFill>
            <a:prstDash val="solid"/>
          </a:ln>
        </p:spPr>
        <p:txBody>
          <a:bodyPr/>
          <a:lstStyle/>
          <a:p>
            <a:endParaRPr lang="en-US"/>
          </a:p>
        </p:txBody>
      </p:sp>
      <p:sp>
        <p:nvSpPr>
          <p:cNvPr id="12" name="Shape 10"/>
          <p:cNvSpPr/>
          <p:nvPr/>
        </p:nvSpPr>
        <p:spPr>
          <a:xfrm>
            <a:off x="10744200" y="2971800"/>
            <a:ext cx="548640" cy="822960"/>
          </a:xfrm>
          <a:prstGeom prst="line">
            <a:avLst/>
          </a:prstGeom>
          <a:noFill/>
          <a:ln w="19050">
            <a:solidFill>
              <a:srgbClr val="2A5B66"/>
            </a:solidFill>
            <a:prstDash val="solid"/>
          </a:ln>
        </p:spPr>
        <p:txBody>
          <a:bodyPr/>
          <a:lstStyle/>
          <a:p>
            <a:endParaRPr lang="en-US"/>
          </a:p>
        </p:txBody>
      </p:sp>
      <p:sp>
        <p:nvSpPr>
          <p:cNvPr id="13" name="Shape 11"/>
          <p:cNvSpPr/>
          <p:nvPr/>
        </p:nvSpPr>
        <p:spPr>
          <a:xfrm flipV="1">
            <a:off x="7726680" y="3794760"/>
            <a:ext cx="457200" cy="822960"/>
          </a:xfrm>
          <a:prstGeom prst="line">
            <a:avLst/>
          </a:prstGeom>
          <a:noFill/>
          <a:ln w="19050">
            <a:solidFill>
              <a:srgbClr val="2A5B66"/>
            </a:solidFill>
            <a:prstDash val="solid"/>
          </a:ln>
        </p:spPr>
        <p:txBody>
          <a:bodyPr/>
          <a:lstStyle/>
          <a:p>
            <a:endParaRPr lang="en-US"/>
          </a:p>
        </p:txBody>
      </p:sp>
      <p:sp>
        <p:nvSpPr>
          <p:cNvPr id="14" name="Shape 12"/>
          <p:cNvSpPr/>
          <p:nvPr/>
        </p:nvSpPr>
        <p:spPr>
          <a:xfrm>
            <a:off x="8183880" y="3794760"/>
            <a:ext cx="457200" cy="822960"/>
          </a:xfrm>
          <a:prstGeom prst="line">
            <a:avLst/>
          </a:prstGeom>
          <a:noFill/>
          <a:ln w="19050">
            <a:solidFill>
              <a:srgbClr val="2A5B66"/>
            </a:solidFill>
            <a:prstDash val="solid"/>
          </a:ln>
        </p:spPr>
        <p:txBody>
          <a:bodyPr/>
          <a:lstStyle/>
          <a:p>
            <a:endParaRPr lang="en-US"/>
          </a:p>
        </p:txBody>
      </p:sp>
      <p:sp>
        <p:nvSpPr>
          <p:cNvPr id="15" name="Shape 13"/>
          <p:cNvSpPr/>
          <p:nvPr/>
        </p:nvSpPr>
        <p:spPr>
          <a:xfrm>
            <a:off x="9509760" y="1920240"/>
            <a:ext cx="457200" cy="457200"/>
          </a:xfrm>
          <a:prstGeom prst="ellipse">
            <a:avLst/>
          </a:prstGeom>
          <a:solidFill>
            <a:srgbClr val="D9932B"/>
          </a:solidFill>
          <a:ln w="22225">
            <a:solidFill>
              <a:srgbClr val="D9932B"/>
            </a:solidFill>
            <a:prstDash val="solid"/>
          </a:ln>
        </p:spPr>
        <p:txBody>
          <a:bodyPr/>
          <a:lstStyle/>
          <a:p>
            <a:endParaRPr lang="en-US"/>
          </a:p>
        </p:txBody>
      </p:sp>
      <p:sp>
        <p:nvSpPr>
          <p:cNvPr id="16" name="Text 14"/>
          <p:cNvSpPr txBox="1"/>
          <p:nvPr/>
        </p:nvSpPr>
        <p:spPr>
          <a:xfrm>
            <a:off x="9372600" y="1920240"/>
            <a:ext cx="731520" cy="457200"/>
          </a:xfrm>
          <a:prstGeom prst="rect">
            <a:avLst/>
          </a:prstGeom>
          <a:noFill/>
          <a:ln/>
        </p:spPr>
        <p:txBody>
          <a:bodyPr wrap="square" lIns="0" tIns="0" rIns="0" bIns="0" rtlCol="0" anchor="ctr"/>
          <a:lstStyle/>
          <a:p>
            <a:pPr marL="0" indent="0" algn="ctr">
              <a:buNone/>
            </a:pPr>
            <a:r>
              <a:rPr lang="en-US" sz="1300" b="1" dirty="0">
                <a:solidFill>
                  <a:srgbClr val="0B2E36"/>
                </a:solidFill>
                <a:latin typeface="Calibri" pitchFamily="34" charset="0"/>
                <a:ea typeface="Calibri" pitchFamily="34" charset="-122"/>
                <a:cs typeface="Calibri" pitchFamily="34" charset="-120"/>
              </a:rPr>
              <a:t>T</a:t>
            </a:r>
            <a:endParaRPr lang="en-US" sz="1300" dirty="0"/>
          </a:p>
        </p:txBody>
      </p:sp>
      <p:sp>
        <p:nvSpPr>
          <p:cNvPr id="17" name="Shape 15"/>
          <p:cNvSpPr/>
          <p:nvPr/>
        </p:nvSpPr>
        <p:spPr>
          <a:xfrm>
            <a:off x="8503920" y="2743200"/>
            <a:ext cx="457200" cy="457200"/>
          </a:xfrm>
          <a:prstGeom prst="ellipse">
            <a:avLst/>
          </a:prstGeom>
          <a:solidFill>
            <a:srgbClr val="0B2E36"/>
          </a:solidFill>
          <a:ln w="22225">
            <a:solidFill>
              <a:srgbClr val="3D8C9C"/>
            </a:solidFill>
            <a:prstDash val="solid"/>
          </a:ln>
        </p:spPr>
        <p:txBody>
          <a:bodyPr/>
          <a:lstStyle/>
          <a:p>
            <a:endParaRPr lang="en-US"/>
          </a:p>
        </p:txBody>
      </p:sp>
      <p:sp>
        <p:nvSpPr>
          <p:cNvPr id="18" name="Text 16"/>
          <p:cNvSpPr txBox="1"/>
          <p:nvPr/>
        </p:nvSpPr>
        <p:spPr>
          <a:xfrm>
            <a:off x="8366760" y="2743200"/>
            <a:ext cx="731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a:t>
            </a:r>
            <a:endParaRPr lang="en-US" sz="1300" dirty="0"/>
          </a:p>
        </p:txBody>
      </p:sp>
      <p:sp>
        <p:nvSpPr>
          <p:cNvPr id="19" name="Shape 17"/>
          <p:cNvSpPr/>
          <p:nvPr/>
        </p:nvSpPr>
        <p:spPr>
          <a:xfrm>
            <a:off x="10515600" y="2743200"/>
            <a:ext cx="457200" cy="457200"/>
          </a:xfrm>
          <a:prstGeom prst="ellipse">
            <a:avLst/>
          </a:prstGeom>
          <a:solidFill>
            <a:srgbClr val="0B2E36"/>
          </a:solidFill>
          <a:ln w="22225">
            <a:solidFill>
              <a:srgbClr val="3D8C9C"/>
            </a:solidFill>
            <a:prstDash val="solid"/>
          </a:ln>
        </p:spPr>
        <p:txBody>
          <a:bodyPr/>
          <a:lstStyle/>
          <a:p>
            <a:endParaRPr lang="en-US"/>
          </a:p>
        </p:txBody>
      </p:sp>
      <p:sp>
        <p:nvSpPr>
          <p:cNvPr id="20" name="Text 18"/>
          <p:cNvSpPr txBox="1"/>
          <p:nvPr/>
        </p:nvSpPr>
        <p:spPr>
          <a:xfrm>
            <a:off x="10378440" y="2743200"/>
            <a:ext cx="731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a:t>
            </a:r>
            <a:endParaRPr lang="en-US" sz="1300" dirty="0"/>
          </a:p>
        </p:txBody>
      </p:sp>
      <p:sp>
        <p:nvSpPr>
          <p:cNvPr id="21" name="Shape 19"/>
          <p:cNvSpPr/>
          <p:nvPr/>
        </p:nvSpPr>
        <p:spPr>
          <a:xfrm>
            <a:off x="7955280" y="3566160"/>
            <a:ext cx="457200" cy="457200"/>
          </a:xfrm>
          <a:prstGeom prst="ellipse">
            <a:avLst/>
          </a:prstGeom>
          <a:solidFill>
            <a:srgbClr val="0B2E36"/>
          </a:solidFill>
          <a:ln w="22225">
            <a:solidFill>
              <a:srgbClr val="3D8C9C"/>
            </a:solidFill>
            <a:prstDash val="solid"/>
          </a:ln>
        </p:spPr>
        <p:txBody>
          <a:bodyPr/>
          <a:lstStyle/>
          <a:p>
            <a:endParaRPr lang="en-US"/>
          </a:p>
        </p:txBody>
      </p:sp>
      <p:sp>
        <p:nvSpPr>
          <p:cNvPr id="22" name="Text 20"/>
          <p:cNvSpPr txBox="1"/>
          <p:nvPr/>
        </p:nvSpPr>
        <p:spPr>
          <a:xfrm>
            <a:off x="7818120" y="3566160"/>
            <a:ext cx="731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a:t>
            </a:r>
            <a:endParaRPr lang="en-US" sz="1300" dirty="0"/>
          </a:p>
        </p:txBody>
      </p:sp>
      <p:sp>
        <p:nvSpPr>
          <p:cNvPr id="23" name="Shape 21"/>
          <p:cNvSpPr/>
          <p:nvPr/>
        </p:nvSpPr>
        <p:spPr>
          <a:xfrm>
            <a:off x="9052560" y="3566160"/>
            <a:ext cx="457200" cy="457200"/>
          </a:xfrm>
          <a:prstGeom prst="ellipse">
            <a:avLst/>
          </a:prstGeom>
          <a:solidFill>
            <a:srgbClr val="0B2E36"/>
          </a:solidFill>
          <a:ln w="22225">
            <a:solidFill>
              <a:srgbClr val="3D8C9C"/>
            </a:solidFill>
            <a:prstDash val="solid"/>
          </a:ln>
        </p:spPr>
        <p:txBody>
          <a:bodyPr/>
          <a:lstStyle/>
          <a:p>
            <a:endParaRPr lang="en-US"/>
          </a:p>
        </p:txBody>
      </p:sp>
      <p:sp>
        <p:nvSpPr>
          <p:cNvPr id="24" name="Text 22"/>
          <p:cNvSpPr txBox="1"/>
          <p:nvPr/>
        </p:nvSpPr>
        <p:spPr>
          <a:xfrm>
            <a:off x="8915400" y="3566160"/>
            <a:ext cx="731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a:t>
            </a:r>
            <a:endParaRPr lang="en-US" sz="1300" dirty="0"/>
          </a:p>
        </p:txBody>
      </p:sp>
      <p:sp>
        <p:nvSpPr>
          <p:cNvPr id="25" name="Shape 23"/>
          <p:cNvSpPr/>
          <p:nvPr/>
        </p:nvSpPr>
        <p:spPr>
          <a:xfrm>
            <a:off x="9966960" y="3566160"/>
            <a:ext cx="457200" cy="457200"/>
          </a:xfrm>
          <a:prstGeom prst="ellipse">
            <a:avLst/>
          </a:prstGeom>
          <a:solidFill>
            <a:srgbClr val="0B2E36"/>
          </a:solidFill>
          <a:ln w="22225">
            <a:solidFill>
              <a:srgbClr val="3D8C9C"/>
            </a:solidFill>
            <a:prstDash val="solid"/>
          </a:ln>
        </p:spPr>
        <p:txBody>
          <a:bodyPr/>
          <a:lstStyle/>
          <a:p>
            <a:endParaRPr lang="en-US"/>
          </a:p>
        </p:txBody>
      </p:sp>
      <p:sp>
        <p:nvSpPr>
          <p:cNvPr id="26" name="Text 24"/>
          <p:cNvSpPr txBox="1"/>
          <p:nvPr/>
        </p:nvSpPr>
        <p:spPr>
          <a:xfrm>
            <a:off x="9829800" y="3566160"/>
            <a:ext cx="731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27" name="Shape 25"/>
          <p:cNvSpPr/>
          <p:nvPr/>
        </p:nvSpPr>
        <p:spPr>
          <a:xfrm>
            <a:off x="11064240" y="3566160"/>
            <a:ext cx="457200" cy="457200"/>
          </a:xfrm>
          <a:prstGeom prst="ellipse">
            <a:avLst/>
          </a:prstGeom>
          <a:solidFill>
            <a:srgbClr val="0B2E36"/>
          </a:solidFill>
          <a:ln w="22225">
            <a:solidFill>
              <a:srgbClr val="3D8C9C"/>
            </a:solidFill>
            <a:prstDash val="solid"/>
          </a:ln>
        </p:spPr>
        <p:txBody>
          <a:bodyPr/>
          <a:lstStyle/>
          <a:p>
            <a:endParaRPr lang="en-US"/>
          </a:p>
        </p:txBody>
      </p:sp>
      <p:sp>
        <p:nvSpPr>
          <p:cNvPr id="28" name="Text 26"/>
          <p:cNvSpPr txBox="1"/>
          <p:nvPr/>
        </p:nvSpPr>
        <p:spPr>
          <a:xfrm>
            <a:off x="10927080" y="3566160"/>
            <a:ext cx="731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a:t>
            </a:r>
            <a:endParaRPr lang="en-US" sz="1300" dirty="0"/>
          </a:p>
        </p:txBody>
      </p:sp>
      <p:sp>
        <p:nvSpPr>
          <p:cNvPr id="29" name="Shape 27"/>
          <p:cNvSpPr/>
          <p:nvPr/>
        </p:nvSpPr>
        <p:spPr>
          <a:xfrm>
            <a:off x="7498080" y="4389120"/>
            <a:ext cx="457200" cy="457200"/>
          </a:xfrm>
          <a:prstGeom prst="ellipse">
            <a:avLst/>
          </a:prstGeom>
          <a:solidFill>
            <a:srgbClr val="0B2E36"/>
          </a:solidFill>
          <a:ln w="22225">
            <a:solidFill>
              <a:srgbClr val="3D8C9C"/>
            </a:solidFill>
            <a:prstDash val="solid"/>
          </a:ln>
        </p:spPr>
        <p:txBody>
          <a:bodyPr/>
          <a:lstStyle/>
          <a:p>
            <a:endParaRPr lang="en-US"/>
          </a:p>
        </p:txBody>
      </p:sp>
      <p:sp>
        <p:nvSpPr>
          <p:cNvPr id="30" name="Text 28"/>
          <p:cNvSpPr txBox="1"/>
          <p:nvPr/>
        </p:nvSpPr>
        <p:spPr>
          <a:xfrm>
            <a:off x="7360920" y="4389120"/>
            <a:ext cx="731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a:t>
            </a:r>
            <a:endParaRPr lang="en-US" sz="1300" dirty="0"/>
          </a:p>
        </p:txBody>
      </p:sp>
      <p:sp>
        <p:nvSpPr>
          <p:cNvPr id="31" name="Shape 29"/>
          <p:cNvSpPr/>
          <p:nvPr/>
        </p:nvSpPr>
        <p:spPr>
          <a:xfrm>
            <a:off x="8412480" y="4389120"/>
            <a:ext cx="457200" cy="457200"/>
          </a:xfrm>
          <a:prstGeom prst="ellipse">
            <a:avLst/>
          </a:prstGeom>
          <a:solidFill>
            <a:srgbClr val="0B2E36"/>
          </a:solidFill>
          <a:ln w="22225">
            <a:solidFill>
              <a:srgbClr val="3D8C9C"/>
            </a:solidFill>
            <a:prstDash val="solid"/>
          </a:ln>
        </p:spPr>
        <p:txBody>
          <a:bodyPr/>
          <a:lstStyle/>
          <a:p>
            <a:endParaRPr lang="en-US"/>
          </a:p>
        </p:txBody>
      </p:sp>
      <p:sp>
        <p:nvSpPr>
          <p:cNvPr id="32" name="Text 30"/>
          <p:cNvSpPr txBox="1"/>
          <p:nvPr/>
        </p:nvSpPr>
        <p:spPr>
          <a:xfrm>
            <a:off x="8275320" y="4389120"/>
            <a:ext cx="731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38912"/>
            <a:ext cx="1090879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Plan for today</a:t>
            </a:r>
            <a:endParaRPr lang="en-US" sz="3000" dirty="0"/>
          </a:p>
        </p:txBody>
      </p:sp>
      <p:sp>
        <p:nvSpPr>
          <p:cNvPr id="3" name="Text 1"/>
          <p:cNvSpPr txBox="1"/>
          <p:nvPr/>
        </p:nvSpPr>
        <p:spPr>
          <a:xfrm>
            <a:off x="640080" y="969264"/>
            <a:ext cx="10908792" cy="310896"/>
          </a:xfrm>
          <a:prstGeom prst="rect">
            <a:avLst/>
          </a:prstGeom>
          <a:noFill/>
          <a:ln/>
        </p:spPr>
        <p:txBody>
          <a:bodyPr wrap="square" lIns="0" tIns="0" rIns="0" bIns="0" rtlCol="0" anchor="ctr"/>
          <a:lstStyle/>
          <a:p>
            <a:pPr marL="0" indent="0">
              <a:buNone/>
            </a:pPr>
            <a:r>
              <a:rPr lang="en-US" sz="1400" i="1" dirty="0">
                <a:solidFill>
                  <a:srgbClr val="5F7A80"/>
                </a:solidFill>
                <a:latin typeface="Calibri" pitchFamily="34" charset="0"/>
                <a:ea typeface="Calibri" pitchFamily="34" charset="-122"/>
                <a:cs typeface="Calibri" pitchFamily="34" charset="-120"/>
              </a:rPr>
              <a:t>Levitin Ch. 6 — the rest of it (we skip 6.2 and 6.5)</a:t>
            </a:r>
            <a:endParaRPr lang="en-US" sz="1400" dirty="0"/>
          </a:p>
        </p:txBody>
      </p:sp>
      <p:sp>
        <p:nvSpPr>
          <p:cNvPr id="4" name="Text 2"/>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2</a:t>
            </a:r>
            <a:endParaRPr lang="en-US" sz="900" dirty="0"/>
          </a:p>
        </p:txBody>
      </p:sp>
      <p:sp>
        <p:nvSpPr>
          <p:cNvPr id="5" name="Shape 3"/>
          <p:cNvSpPr/>
          <p:nvPr/>
        </p:nvSpPr>
        <p:spPr>
          <a:xfrm>
            <a:off x="640080" y="1600200"/>
            <a:ext cx="5225796" cy="2423160"/>
          </a:xfrm>
          <a:prstGeom prst="roundRect">
            <a:avLst>
              <a:gd name="adj" fmla="val 1887"/>
            </a:avLst>
          </a:prstGeom>
          <a:solidFill>
            <a:srgbClr val="F1F6F7"/>
          </a:solidFill>
          <a:ln w="12700">
            <a:solidFill>
              <a:srgbClr val="D3E0E3"/>
            </a:solidFill>
            <a:prstDash val="solid"/>
          </a:ln>
        </p:spPr>
        <p:txBody>
          <a:bodyPr/>
          <a:lstStyle/>
          <a:p>
            <a:endParaRPr lang="en-US"/>
          </a:p>
        </p:txBody>
      </p:sp>
      <p:sp>
        <p:nvSpPr>
          <p:cNvPr id="6" name="Text 4"/>
          <p:cNvSpPr txBox="1"/>
          <p:nvPr/>
        </p:nvSpPr>
        <p:spPr>
          <a:xfrm>
            <a:off x="960120" y="1874520"/>
            <a:ext cx="4585716"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PART 1 · TREES  (~25 MIN)</a:t>
            </a:r>
            <a:endParaRPr lang="en-US" sz="1100" dirty="0"/>
          </a:p>
        </p:txBody>
      </p:sp>
      <p:sp>
        <p:nvSpPr>
          <p:cNvPr id="7" name="Text 5"/>
          <p:cNvSpPr txBox="1"/>
          <p:nvPr/>
        </p:nvSpPr>
        <p:spPr>
          <a:xfrm>
            <a:off x="960120" y="2286000"/>
            <a:ext cx="4585716" cy="16459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6343B"/>
                </a:solidFill>
                <a:latin typeface="Calibri" pitchFamily="34" charset="0"/>
                <a:ea typeface="Calibri" pitchFamily="34" charset="-122"/>
                <a:cs typeface="Calibri" pitchFamily="34" charset="-120"/>
              </a:rPr>
              <a:t>Q51 — traverse a small tree three ways</a:t>
            </a:r>
            <a:endParaRPr lang="en-US" sz="1500" dirty="0"/>
          </a:p>
          <a:p>
            <a:pPr marL="203200" indent="-203200">
              <a:spcAft>
                <a:spcPts val="800"/>
              </a:spcAft>
              <a:buSzPct val="100000"/>
              <a:buChar char="▪"/>
            </a:pPr>
            <a:r>
              <a:rPr lang="en-US" sz="1500" dirty="0">
                <a:solidFill>
                  <a:srgbClr val="16343B"/>
                </a:solidFill>
                <a:latin typeface="Calibri" pitchFamily="34" charset="0"/>
                <a:ea typeface="Calibri" pitchFamily="34" charset="-122"/>
                <a:cs typeface="Calibri" pitchFamily="34" charset="-120"/>
              </a:rPr>
              <a:t>Q52 — when preorder = inorder</a:t>
            </a:r>
            <a:endParaRPr lang="en-US" sz="1500" dirty="0"/>
          </a:p>
          <a:p>
            <a:pPr marL="203200" indent="-203200">
              <a:spcAft>
                <a:spcPts val="800"/>
              </a:spcAft>
              <a:buSzPct val="100000"/>
              <a:buChar char="▪"/>
            </a:pPr>
            <a:r>
              <a:rPr lang="en-US" sz="1500" dirty="0">
                <a:solidFill>
                  <a:srgbClr val="16343B"/>
                </a:solidFill>
                <a:latin typeface="Calibri" pitchFamily="34" charset="0"/>
                <a:ea typeface="Calibri" pitchFamily="34" charset="-122"/>
                <a:cs typeface="Calibri" pitchFamily="34" charset="-120"/>
              </a:rPr>
              <a:t>Q53 — rebuild a tree from two traversals</a:t>
            </a:r>
            <a:endParaRPr lang="en-US" sz="1500" dirty="0"/>
          </a:p>
          <a:p>
            <a:pPr marL="203200" indent="-203200">
              <a:spcAft>
                <a:spcPts val="800"/>
              </a:spcAft>
              <a:buSzPct val="100000"/>
              <a:buChar char="▪"/>
            </a:pPr>
            <a:r>
              <a:rPr lang="en-US" sz="1500" dirty="0">
                <a:solidFill>
                  <a:srgbClr val="16343B"/>
                </a:solidFill>
                <a:latin typeface="Calibri" pitchFamily="34" charset="0"/>
                <a:ea typeface="Calibri" pitchFamily="34" charset="-122"/>
                <a:cs typeface="Calibri" pitchFamily="34" charset="-120"/>
              </a:rPr>
              <a:t>Q54 — debug a leaf-counting algorithm</a:t>
            </a:r>
            <a:endParaRPr lang="en-US" sz="1500" dirty="0"/>
          </a:p>
        </p:txBody>
      </p:sp>
      <p:sp>
        <p:nvSpPr>
          <p:cNvPr id="8" name="Shape 6"/>
          <p:cNvSpPr/>
          <p:nvPr/>
        </p:nvSpPr>
        <p:spPr>
          <a:xfrm>
            <a:off x="6323076" y="1600200"/>
            <a:ext cx="5225796" cy="2423160"/>
          </a:xfrm>
          <a:prstGeom prst="roundRect">
            <a:avLst>
              <a:gd name="adj" fmla="val 1887"/>
            </a:avLst>
          </a:prstGeom>
          <a:solidFill>
            <a:srgbClr val="F1F6F7"/>
          </a:solidFill>
          <a:ln w="12700">
            <a:solidFill>
              <a:srgbClr val="D3E0E3"/>
            </a:solidFill>
            <a:prstDash val="solid"/>
          </a:ln>
        </p:spPr>
        <p:txBody>
          <a:bodyPr/>
          <a:lstStyle/>
          <a:p>
            <a:endParaRPr lang="en-US"/>
          </a:p>
        </p:txBody>
      </p:sp>
      <p:sp>
        <p:nvSpPr>
          <p:cNvPr id="9" name="Text 7"/>
          <p:cNvSpPr txBox="1"/>
          <p:nvPr/>
        </p:nvSpPr>
        <p:spPr>
          <a:xfrm>
            <a:off x="6643116" y="1874520"/>
            <a:ext cx="4585716"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PART 2 · HEAPS  (~30 MIN)</a:t>
            </a:r>
            <a:endParaRPr lang="en-US" sz="1100" dirty="0"/>
          </a:p>
        </p:txBody>
      </p:sp>
      <p:sp>
        <p:nvSpPr>
          <p:cNvPr id="10" name="Text 8"/>
          <p:cNvSpPr txBox="1"/>
          <p:nvPr/>
        </p:nvSpPr>
        <p:spPr>
          <a:xfrm>
            <a:off x="6643116" y="2286000"/>
            <a:ext cx="4585716" cy="16459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6343B"/>
                </a:solidFill>
                <a:latin typeface="Calibri" pitchFamily="34" charset="0"/>
                <a:ea typeface="Calibri" pitchFamily="34" charset="-122"/>
                <a:cs typeface="Calibri" pitchFamily="34" charset="-120"/>
              </a:rPr>
              <a:t>Q56 — build a heap bottom-up</a:t>
            </a:r>
            <a:endParaRPr lang="en-US" sz="1500" dirty="0"/>
          </a:p>
          <a:p>
            <a:pPr marL="203200" indent="-203200">
              <a:spcAft>
                <a:spcPts val="800"/>
              </a:spcAft>
              <a:buSzPct val="100000"/>
              <a:buChar char="▪"/>
            </a:pPr>
            <a:r>
              <a:rPr lang="en-US" sz="1500" dirty="0">
                <a:solidFill>
                  <a:srgbClr val="16343B"/>
                </a:solidFill>
                <a:latin typeface="Calibri" pitchFamily="34" charset="0"/>
                <a:ea typeface="Calibri" pitchFamily="34" charset="-122"/>
                <a:cs typeface="Calibri" pitchFamily="34" charset="-120"/>
              </a:rPr>
              <a:t>Q57 — build a heap by repeated insertion</a:t>
            </a:r>
            <a:endParaRPr lang="en-US" sz="1500" dirty="0"/>
          </a:p>
          <a:p>
            <a:pPr marL="203200" indent="-203200">
              <a:spcAft>
                <a:spcPts val="800"/>
              </a:spcAft>
              <a:buSzPct val="100000"/>
              <a:buChar char="▪"/>
            </a:pPr>
            <a:r>
              <a:rPr lang="en-US" sz="1500" dirty="0">
                <a:solidFill>
                  <a:srgbClr val="16343B"/>
                </a:solidFill>
                <a:latin typeface="Calibri" pitchFamily="34" charset="0"/>
                <a:ea typeface="Calibri" pitchFamily="34" charset="-122"/>
                <a:cs typeface="Calibri" pitchFamily="34" charset="-120"/>
              </a:rPr>
              <a:t>Q58 — decide whether an array is a heap</a:t>
            </a:r>
            <a:endParaRPr lang="en-US" sz="1500" dirty="0"/>
          </a:p>
          <a:p>
            <a:pPr marL="203200" indent="-203200">
              <a:spcAft>
                <a:spcPts val="800"/>
              </a:spcAft>
              <a:buSzPct val="100000"/>
              <a:buChar char="▪"/>
            </a:pPr>
            <a:r>
              <a:rPr lang="en-US" sz="1500" dirty="0">
                <a:solidFill>
                  <a:srgbClr val="16343B"/>
                </a:solidFill>
                <a:latin typeface="Calibri" pitchFamily="34" charset="0"/>
                <a:ea typeface="Calibri" pitchFamily="34" charset="-122"/>
                <a:cs typeface="Calibri" pitchFamily="34" charset="-120"/>
              </a:rPr>
              <a:t>Q59 — run heapsort end to end</a:t>
            </a:r>
            <a:endParaRPr lang="en-US" sz="1500" dirty="0"/>
          </a:p>
        </p:txBody>
      </p:sp>
      <p:sp>
        <p:nvSpPr>
          <p:cNvPr id="11" name="Shape 9"/>
          <p:cNvSpPr/>
          <p:nvPr/>
        </p:nvSpPr>
        <p:spPr>
          <a:xfrm>
            <a:off x="640080" y="4343400"/>
            <a:ext cx="10908792" cy="1051560"/>
          </a:xfrm>
          <a:prstGeom prst="roundRect">
            <a:avLst>
              <a:gd name="adj" fmla="val 4348"/>
            </a:avLst>
          </a:prstGeom>
          <a:solidFill>
            <a:srgbClr val="FBEEDA"/>
          </a:solidFill>
          <a:ln w="12700">
            <a:solidFill>
              <a:srgbClr val="EAD3A6"/>
            </a:solidFill>
            <a:prstDash val="solid"/>
          </a:ln>
        </p:spPr>
        <p:txBody>
          <a:bodyPr/>
          <a:lstStyle/>
          <a:p>
            <a:endParaRPr lang="en-US"/>
          </a:p>
        </p:txBody>
      </p:sp>
      <p:sp>
        <p:nvSpPr>
          <p:cNvPr id="12" name="Text 10"/>
          <p:cNvSpPr txBox="1"/>
          <p:nvPr/>
        </p:nvSpPr>
        <p:spPr>
          <a:xfrm>
            <a:off x="960120" y="4526280"/>
            <a:ext cx="5486400"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IF TIME PERMITS</a:t>
            </a:r>
            <a:endParaRPr lang="en-US" sz="1100" dirty="0"/>
          </a:p>
        </p:txBody>
      </p:sp>
      <p:sp>
        <p:nvSpPr>
          <p:cNvPr id="13" name="Text 11"/>
          <p:cNvSpPr txBox="1"/>
          <p:nvPr/>
        </p:nvSpPr>
        <p:spPr>
          <a:xfrm>
            <a:off x="960120" y="4828032"/>
            <a:ext cx="10268712" cy="457200"/>
          </a:xfrm>
          <a:prstGeom prst="rect">
            <a:avLst/>
          </a:prstGeom>
          <a:noFill/>
          <a:ln/>
        </p:spPr>
        <p:txBody>
          <a:bodyPr wrap="square" lIns="0" tIns="0" rIns="0" bIns="0" rtlCol="0" anchor="t"/>
          <a:lstStyle/>
          <a:p>
            <a:pPr marL="0" indent="0" algn="l">
              <a:lnSpc>
                <a:spcPts val="1755"/>
              </a:lnSpc>
              <a:buNone/>
            </a:pPr>
            <a:r>
              <a:rPr lang="en-US" sz="1300" dirty="0">
                <a:solidFill>
                  <a:srgbClr val="16343B"/>
                </a:solidFill>
                <a:latin typeface="Calibri" pitchFamily="34" charset="0"/>
                <a:ea typeface="Calibri" pitchFamily="34" charset="-122"/>
                <a:cs typeface="Calibri" pitchFamily="34" charset="-120"/>
              </a:rPr>
              <a:t>Q50 — tiling a 2^n × 2^n board with trominoes. A genuinely nice divide-and-conquer problem, but it needs breathing room. We come back to it at the end, or you read the sample answer.</a:t>
            </a:r>
            <a:endParaRPr lang="en-US" sz="1300" dirty="0"/>
          </a:p>
        </p:txBody>
      </p:sp>
      <p:sp>
        <p:nvSpPr>
          <p:cNvPr id="14" name="Text 12"/>
          <p:cNvSpPr txBox="1"/>
          <p:nvPr/>
        </p:nvSpPr>
        <p:spPr>
          <a:xfrm>
            <a:off x="640080" y="5623560"/>
            <a:ext cx="10908792" cy="457200"/>
          </a:xfrm>
          <a:prstGeom prst="rect">
            <a:avLst/>
          </a:prstGeom>
          <a:noFill/>
          <a:ln/>
        </p:spPr>
        <p:txBody>
          <a:bodyPr wrap="square" lIns="0" tIns="0" rIns="0" bIns="0" rtlCol="0" anchor="t"/>
          <a:lstStyle/>
          <a:p>
            <a:pPr marL="0" indent="0" algn="l">
              <a:lnSpc>
                <a:spcPts val="1755"/>
              </a:lnSpc>
              <a:buNone/>
            </a:pPr>
            <a:r>
              <a:rPr lang="en-US" sz="1300" i="1" dirty="0">
                <a:solidFill>
                  <a:srgbClr val="5F7A80"/>
                </a:solidFill>
                <a:latin typeface="Calibri" pitchFamily="34" charset="0"/>
                <a:ea typeface="Calibri" pitchFamily="34" charset="-122"/>
                <a:cs typeface="Calibri" pitchFamily="34" charset="-120"/>
              </a:rPr>
              <a:t>Q55 (induction proof) is optional — the slides at the back have a sketch if you want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E36"/>
        </a:solidFill>
        <a:effectLst/>
      </p:bgPr>
    </p:bg>
    <p:spTree>
      <p:nvGrpSpPr>
        <p:cNvPr id="1" name=""/>
        <p:cNvGrpSpPr/>
        <p:nvPr/>
      </p:nvGrpSpPr>
      <p:grpSpPr>
        <a:xfrm>
          <a:off x="0" y="0"/>
          <a:ext cx="0" cy="0"/>
          <a:chOff x="0" y="0"/>
          <a:chExt cx="0" cy="0"/>
        </a:xfrm>
      </p:grpSpPr>
      <p:sp>
        <p:nvSpPr>
          <p:cNvPr id="2" name="Text 0"/>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3D8C9C"/>
                </a:solidFill>
                <a:latin typeface="Calibri" pitchFamily="34" charset="0"/>
                <a:ea typeface="Calibri" pitchFamily="34" charset="-122"/>
                <a:cs typeface="Calibri" pitchFamily="34" charset="-120"/>
              </a:rPr>
              <a:t>COMP90038 · Tutorial 8  |  3</a:t>
            </a:r>
            <a:endParaRPr lang="en-US" sz="900" dirty="0"/>
          </a:p>
        </p:txBody>
      </p:sp>
      <p:sp>
        <p:nvSpPr>
          <p:cNvPr id="3" name="Text 1"/>
          <p:cNvSpPr txBox="1"/>
          <p:nvPr/>
        </p:nvSpPr>
        <p:spPr>
          <a:xfrm>
            <a:off x="640080" y="2286000"/>
            <a:ext cx="5486400" cy="457200"/>
          </a:xfrm>
          <a:prstGeom prst="rect">
            <a:avLst/>
          </a:prstGeom>
          <a:noFill/>
          <a:ln/>
        </p:spPr>
        <p:txBody>
          <a:bodyPr wrap="square" lIns="0" tIns="0" rIns="0" bIns="0" rtlCol="0" anchor="ctr"/>
          <a:lstStyle/>
          <a:p>
            <a:pPr marL="0" indent="0">
              <a:buNone/>
            </a:pPr>
            <a:r>
              <a:rPr lang="en-US" sz="1500" b="1" kern="0" spc="300" dirty="0">
                <a:solidFill>
                  <a:srgbClr val="D9932B"/>
                </a:solidFill>
                <a:latin typeface="Calibri" pitchFamily="34" charset="0"/>
                <a:ea typeface="Calibri" pitchFamily="34" charset="-122"/>
                <a:cs typeface="Calibri" pitchFamily="34" charset="-120"/>
              </a:rPr>
              <a:t>Part 1</a:t>
            </a:r>
            <a:endParaRPr lang="en-US" sz="1500" dirty="0"/>
          </a:p>
        </p:txBody>
      </p:sp>
      <p:sp>
        <p:nvSpPr>
          <p:cNvPr id="4" name="Text 2"/>
          <p:cNvSpPr txBox="1"/>
          <p:nvPr/>
        </p:nvSpPr>
        <p:spPr>
          <a:xfrm>
            <a:off x="640080" y="2743200"/>
            <a:ext cx="82296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Binary trees &amp; traversals</a:t>
            </a:r>
            <a:endParaRPr lang="en-US" sz="4000" dirty="0"/>
          </a:p>
        </p:txBody>
      </p:sp>
      <p:sp>
        <p:nvSpPr>
          <p:cNvPr id="5" name="Text 3"/>
          <p:cNvSpPr txBox="1"/>
          <p:nvPr/>
        </p:nvSpPr>
        <p:spPr>
          <a:xfrm>
            <a:off x="640080" y="3657600"/>
            <a:ext cx="8229600" cy="457200"/>
          </a:xfrm>
          <a:prstGeom prst="rect">
            <a:avLst/>
          </a:prstGeom>
          <a:noFill/>
          <a:ln/>
        </p:spPr>
        <p:txBody>
          <a:bodyPr wrap="square" lIns="0" tIns="0" rIns="0" bIns="0" rtlCol="0" anchor="ctr"/>
          <a:lstStyle/>
          <a:p>
            <a:pPr marL="0" indent="0">
              <a:buNone/>
            </a:pPr>
            <a:r>
              <a:rPr lang="en-US" sz="1800" kern="0" spc="150" dirty="0">
                <a:solidFill>
                  <a:srgbClr val="3D8C9C"/>
                </a:solidFill>
                <a:latin typeface="Calibri" pitchFamily="34" charset="0"/>
                <a:ea typeface="Calibri" pitchFamily="34" charset="-122"/>
                <a:cs typeface="Calibri" pitchFamily="34" charset="-120"/>
              </a:rPr>
              <a:t>Q51  ·  Q52  ·  Q53  ·  Q54</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38912"/>
            <a:ext cx="1090879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Three ways to visit every node</a:t>
            </a:r>
            <a:endParaRPr lang="en-US" sz="3000" dirty="0"/>
          </a:p>
        </p:txBody>
      </p:sp>
      <p:sp>
        <p:nvSpPr>
          <p:cNvPr id="3" name="Text 1"/>
          <p:cNvSpPr txBox="1"/>
          <p:nvPr/>
        </p:nvSpPr>
        <p:spPr>
          <a:xfrm>
            <a:off x="640080" y="969264"/>
            <a:ext cx="10908792" cy="310896"/>
          </a:xfrm>
          <a:prstGeom prst="rect">
            <a:avLst/>
          </a:prstGeom>
          <a:noFill/>
          <a:ln/>
        </p:spPr>
        <p:txBody>
          <a:bodyPr wrap="square" lIns="0" tIns="0" rIns="0" bIns="0" rtlCol="0" anchor="ctr"/>
          <a:lstStyle/>
          <a:p>
            <a:pPr marL="0" indent="0">
              <a:buNone/>
            </a:pPr>
            <a:r>
              <a:rPr lang="en-US" sz="1400" i="1" dirty="0">
                <a:solidFill>
                  <a:srgbClr val="5F7A80"/>
                </a:solidFill>
                <a:latin typeface="Calibri" pitchFamily="34" charset="0"/>
                <a:ea typeface="Calibri" pitchFamily="34" charset="-122"/>
                <a:cs typeface="Calibri" pitchFamily="34" charset="-120"/>
              </a:rPr>
              <a:t>Same three actions — visit node, recurse left, recurse right — in three different orders</a:t>
            </a:r>
            <a:endParaRPr lang="en-US" sz="1400" dirty="0"/>
          </a:p>
        </p:txBody>
      </p:sp>
      <p:sp>
        <p:nvSpPr>
          <p:cNvPr id="4" name="Text 2"/>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4</a:t>
            </a:r>
            <a:endParaRPr lang="en-US" sz="900" dirty="0"/>
          </a:p>
        </p:txBody>
      </p:sp>
      <p:sp>
        <p:nvSpPr>
          <p:cNvPr id="5" name="Shape 3"/>
          <p:cNvSpPr/>
          <p:nvPr/>
        </p:nvSpPr>
        <p:spPr>
          <a:xfrm flipV="1">
            <a:off x="1463040" y="2377440"/>
            <a:ext cx="868680" cy="1143000"/>
          </a:xfrm>
          <a:prstGeom prst="line">
            <a:avLst/>
          </a:prstGeom>
          <a:noFill/>
          <a:ln w="19050">
            <a:solidFill>
              <a:srgbClr val="3D8C9C"/>
            </a:solidFill>
            <a:prstDash val="solid"/>
          </a:ln>
        </p:spPr>
        <p:txBody>
          <a:bodyPr/>
          <a:lstStyle/>
          <a:p>
            <a:endParaRPr lang="en-US"/>
          </a:p>
        </p:txBody>
      </p:sp>
      <p:sp>
        <p:nvSpPr>
          <p:cNvPr id="6" name="Shape 4"/>
          <p:cNvSpPr/>
          <p:nvPr/>
        </p:nvSpPr>
        <p:spPr>
          <a:xfrm>
            <a:off x="2331720" y="2377440"/>
            <a:ext cx="868680" cy="1143000"/>
          </a:xfrm>
          <a:prstGeom prst="line">
            <a:avLst/>
          </a:prstGeom>
          <a:noFill/>
          <a:ln w="19050">
            <a:solidFill>
              <a:srgbClr val="3D8C9C"/>
            </a:solidFill>
            <a:prstDash val="solid"/>
          </a:ln>
        </p:spPr>
        <p:txBody>
          <a:bodyPr/>
          <a:lstStyle/>
          <a:p>
            <a:endParaRPr lang="en-US"/>
          </a:p>
        </p:txBody>
      </p:sp>
      <p:sp>
        <p:nvSpPr>
          <p:cNvPr id="7" name="Shape 5"/>
          <p:cNvSpPr/>
          <p:nvPr/>
        </p:nvSpPr>
        <p:spPr>
          <a:xfrm>
            <a:off x="2048256" y="2093976"/>
            <a:ext cx="566928" cy="566928"/>
          </a:xfrm>
          <a:prstGeom prst="ellipse">
            <a:avLst/>
          </a:prstGeom>
          <a:solidFill>
            <a:srgbClr val="D9932B"/>
          </a:solidFill>
          <a:ln w="22225">
            <a:solidFill>
              <a:srgbClr val="D9932B"/>
            </a:solidFill>
            <a:prstDash val="solid"/>
          </a:ln>
        </p:spPr>
        <p:txBody>
          <a:bodyPr/>
          <a:lstStyle/>
          <a:p>
            <a:endParaRPr lang="en-US"/>
          </a:p>
        </p:txBody>
      </p:sp>
      <p:sp>
        <p:nvSpPr>
          <p:cNvPr id="8" name="Text 6"/>
          <p:cNvSpPr txBox="1"/>
          <p:nvPr/>
        </p:nvSpPr>
        <p:spPr>
          <a:xfrm>
            <a:off x="1911096" y="2093976"/>
            <a:ext cx="841248" cy="566928"/>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N</a:t>
            </a:r>
            <a:endParaRPr lang="en-US" sz="1500" dirty="0"/>
          </a:p>
        </p:txBody>
      </p:sp>
      <p:sp>
        <p:nvSpPr>
          <p:cNvPr id="9" name="Shape 7"/>
          <p:cNvSpPr/>
          <p:nvPr/>
        </p:nvSpPr>
        <p:spPr>
          <a:xfrm>
            <a:off x="1179576" y="3236976"/>
            <a:ext cx="566928" cy="566928"/>
          </a:xfrm>
          <a:prstGeom prst="ellipse">
            <a:avLst/>
          </a:prstGeom>
          <a:solidFill>
            <a:srgbClr val="F1F6F7"/>
          </a:solidFill>
          <a:ln w="22225">
            <a:solidFill>
              <a:srgbClr val="0F5E6E"/>
            </a:solidFill>
            <a:prstDash val="solid"/>
          </a:ln>
        </p:spPr>
        <p:txBody>
          <a:bodyPr/>
          <a:lstStyle/>
          <a:p>
            <a:endParaRPr lang="en-US"/>
          </a:p>
        </p:txBody>
      </p:sp>
      <p:sp>
        <p:nvSpPr>
          <p:cNvPr id="10" name="Text 8"/>
          <p:cNvSpPr txBox="1"/>
          <p:nvPr/>
        </p:nvSpPr>
        <p:spPr>
          <a:xfrm>
            <a:off x="1042416" y="3236976"/>
            <a:ext cx="841248" cy="566928"/>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L</a:t>
            </a:r>
            <a:endParaRPr lang="en-US" sz="1500" dirty="0"/>
          </a:p>
        </p:txBody>
      </p:sp>
      <p:sp>
        <p:nvSpPr>
          <p:cNvPr id="11" name="Shape 9"/>
          <p:cNvSpPr/>
          <p:nvPr/>
        </p:nvSpPr>
        <p:spPr>
          <a:xfrm>
            <a:off x="2916936" y="3236976"/>
            <a:ext cx="566928" cy="566928"/>
          </a:xfrm>
          <a:prstGeom prst="ellipse">
            <a:avLst/>
          </a:prstGeom>
          <a:solidFill>
            <a:srgbClr val="F1F6F7"/>
          </a:solidFill>
          <a:ln w="22225">
            <a:solidFill>
              <a:srgbClr val="0F5E6E"/>
            </a:solidFill>
            <a:prstDash val="solid"/>
          </a:ln>
        </p:spPr>
        <p:txBody>
          <a:bodyPr/>
          <a:lstStyle/>
          <a:p>
            <a:endParaRPr lang="en-US"/>
          </a:p>
        </p:txBody>
      </p:sp>
      <p:sp>
        <p:nvSpPr>
          <p:cNvPr id="12" name="Text 10"/>
          <p:cNvSpPr txBox="1"/>
          <p:nvPr/>
        </p:nvSpPr>
        <p:spPr>
          <a:xfrm>
            <a:off x="2779776" y="3236976"/>
            <a:ext cx="841248" cy="566928"/>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R</a:t>
            </a:r>
            <a:endParaRPr lang="en-US" sz="1500" dirty="0"/>
          </a:p>
        </p:txBody>
      </p:sp>
      <p:sp>
        <p:nvSpPr>
          <p:cNvPr id="13" name="Text 11"/>
          <p:cNvSpPr txBox="1"/>
          <p:nvPr/>
        </p:nvSpPr>
        <p:spPr>
          <a:xfrm>
            <a:off x="822960" y="4114800"/>
            <a:ext cx="3017520" cy="548640"/>
          </a:xfrm>
          <a:prstGeom prst="rect">
            <a:avLst/>
          </a:prstGeom>
          <a:noFill/>
          <a:ln/>
        </p:spPr>
        <p:txBody>
          <a:bodyPr wrap="square" lIns="0" tIns="0" rIns="0" bIns="0" rtlCol="0" anchor="t"/>
          <a:lstStyle/>
          <a:p>
            <a:pPr marL="0" indent="0" algn="ctr">
              <a:lnSpc>
                <a:spcPts val="1620"/>
              </a:lnSpc>
              <a:buNone/>
            </a:pPr>
            <a:r>
              <a:rPr lang="en-US" sz="1200" dirty="0">
                <a:solidFill>
                  <a:srgbClr val="5F7A80"/>
                </a:solidFill>
                <a:latin typeface="Calibri" pitchFamily="34" charset="0"/>
                <a:ea typeface="Calibri" pitchFamily="34" charset="-122"/>
                <a:cs typeface="Calibri" pitchFamily="34" charset="-120"/>
              </a:rPr>
              <a:t>L and R are themselves trees — so each rule applies again, all the way down.</a:t>
            </a:r>
            <a:endParaRPr lang="en-US" sz="1200" dirty="0"/>
          </a:p>
        </p:txBody>
      </p:sp>
      <p:sp>
        <p:nvSpPr>
          <p:cNvPr id="14" name="Shape 12"/>
          <p:cNvSpPr/>
          <p:nvPr/>
        </p:nvSpPr>
        <p:spPr>
          <a:xfrm>
            <a:off x="4480560" y="1783080"/>
            <a:ext cx="7068312" cy="1051560"/>
          </a:xfrm>
          <a:prstGeom prst="roundRect">
            <a:avLst>
              <a:gd name="adj" fmla="val 4348"/>
            </a:avLst>
          </a:prstGeom>
          <a:solidFill>
            <a:srgbClr val="F1F6F7"/>
          </a:solidFill>
          <a:ln w="12700">
            <a:solidFill>
              <a:srgbClr val="D3E0E3"/>
            </a:solidFill>
            <a:prstDash val="solid"/>
          </a:ln>
        </p:spPr>
        <p:txBody>
          <a:bodyPr/>
          <a:lstStyle/>
          <a:p>
            <a:endParaRPr lang="en-US"/>
          </a:p>
        </p:txBody>
      </p:sp>
      <p:sp>
        <p:nvSpPr>
          <p:cNvPr id="15" name="Text 13"/>
          <p:cNvSpPr txBox="1"/>
          <p:nvPr/>
        </p:nvSpPr>
        <p:spPr>
          <a:xfrm>
            <a:off x="4754880" y="1901952"/>
            <a:ext cx="1828800" cy="320040"/>
          </a:xfrm>
          <a:prstGeom prst="rect">
            <a:avLst/>
          </a:prstGeom>
          <a:noFill/>
          <a:ln/>
        </p:spPr>
        <p:txBody>
          <a:bodyPr wrap="square" lIns="0" tIns="0" rIns="0" bIns="0" rtlCol="0" anchor="ctr"/>
          <a:lstStyle/>
          <a:p>
            <a:pPr marL="0" indent="0">
              <a:buNone/>
            </a:pPr>
            <a:r>
              <a:rPr lang="en-US" sz="1700" b="1" dirty="0">
                <a:solidFill>
                  <a:srgbClr val="0F5E6E"/>
                </a:solidFill>
                <a:latin typeface="Cambria" pitchFamily="34" charset="0"/>
                <a:ea typeface="Cambria" pitchFamily="34" charset="-122"/>
                <a:cs typeface="Cambria" pitchFamily="34" charset="-120"/>
              </a:rPr>
              <a:t>Preorder</a:t>
            </a:r>
            <a:endParaRPr lang="en-US" sz="1700" dirty="0"/>
          </a:p>
        </p:txBody>
      </p:sp>
      <p:sp>
        <p:nvSpPr>
          <p:cNvPr id="16" name="Text 14"/>
          <p:cNvSpPr txBox="1"/>
          <p:nvPr/>
        </p:nvSpPr>
        <p:spPr>
          <a:xfrm>
            <a:off x="6675120" y="1901952"/>
            <a:ext cx="2194560" cy="320040"/>
          </a:xfrm>
          <a:prstGeom prst="rect">
            <a:avLst/>
          </a:prstGeom>
          <a:noFill/>
          <a:ln/>
        </p:spPr>
        <p:txBody>
          <a:bodyPr wrap="square" lIns="0" tIns="0" rIns="0" bIns="0" rtlCol="0" anchor="ctr"/>
          <a:lstStyle/>
          <a:p>
            <a:pPr marL="0" indent="0">
              <a:buNone/>
            </a:pPr>
            <a:r>
              <a:rPr lang="en-US" sz="1600" b="1" dirty="0">
                <a:solidFill>
                  <a:srgbClr val="9C6410"/>
                </a:solidFill>
                <a:latin typeface="Courier New" pitchFamily="34" charset="0"/>
                <a:ea typeface="Courier New" pitchFamily="34" charset="-122"/>
                <a:cs typeface="Courier New" pitchFamily="34" charset="-120"/>
              </a:rPr>
              <a:t>N  →  L  →  R</a:t>
            </a:r>
            <a:endParaRPr lang="en-US" sz="1600" dirty="0"/>
          </a:p>
        </p:txBody>
      </p:sp>
      <p:sp>
        <p:nvSpPr>
          <p:cNvPr id="17" name="Text 15"/>
          <p:cNvSpPr txBox="1"/>
          <p:nvPr/>
        </p:nvSpPr>
        <p:spPr>
          <a:xfrm>
            <a:off x="4754880" y="2313432"/>
            <a:ext cx="6519672" cy="365760"/>
          </a:xfrm>
          <a:prstGeom prst="rect">
            <a:avLst/>
          </a:prstGeom>
          <a:noFill/>
          <a:ln/>
        </p:spPr>
        <p:txBody>
          <a:bodyPr wrap="square" lIns="0" tIns="0" rIns="0" bIns="0" rtlCol="0" anchor="t"/>
          <a:lstStyle/>
          <a:p>
            <a:pPr marL="0" indent="0" algn="l">
              <a:lnSpc>
                <a:spcPts val="1890"/>
              </a:lnSpc>
              <a:buNone/>
            </a:pPr>
            <a:r>
              <a:rPr lang="en-US" sz="1400" dirty="0">
                <a:solidFill>
                  <a:srgbClr val="5F7A80"/>
                </a:solidFill>
                <a:latin typeface="Calibri" pitchFamily="34" charset="0"/>
                <a:ea typeface="Calibri" pitchFamily="34" charset="-122"/>
                <a:cs typeface="Calibri" pitchFamily="34" charset="-120"/>
              </a:rPr>
              <a:t>root first; this is DFS visiting order</a:t>
            </a:r>
            <a:endParaRPr lang="en-US" sz="1400" dirty="0"/>
          </a:p>
        </p:txBody>
      </p:sp>
      <p:sp>
        <p:nvSpPr>
          <p:cNvPr id="18" name="Shape 16"/>
          <p:cNvSpPr/>
          <p:nvPr/>
        </p:nvSpPr>
        <p:spPr>
          <a:xfrm>
            <a:off x="4480560" y="3017520"/>
            <a:ext cx="7068312" cy="1051560"/>
          </a:xfrm>
          <a:prstGeom prst="roundRect">
            <a:avLst>
              <a:gd name="adj" fmla="val 4348"/>
            </a:avLst>
          </a:prstGeom>
          <a:solidFill>
            <a:srgbClr val="F1F6F7"/>
          </a:solidFill>
          <a:ln w="12700">
            <a:solidFill>
              <a:srgbClr val="D3E0E3"/>
            </a:solidFill>
            <a:prstDash val="solid"/>
          </a:ln>
        </p:spPr>
        <p:txBody>
          <a:bodyPr/>
          <a:lstStyle/>
          <a:p>
            <a:endParaRPr lang="en-US"/>
          </a:p>
        </p:txBody>
      </p:sp>
      <p:sp>
        <p:nvSpPr>
          <p:cNvPr id="19" name="Text 17"/>
          <p:cNvSpPr txBox="1"/>
          <p:nvPr/>
        </p:nvSpPr>
        <p:spPr>
          <a:xfrm>
            <a:off x="4754880" y="3136392"/>
            <a:ext cx="1828800" cy="320040"/>
          </a:xfrm>
          <a:prstGeom prst="rect">
            <a:avLst/>
          </a:prstGeom>
          <a:noFill/>
          <a:ln/>
        </p:spPr>
        <p:txBody>
          <a:bodyPr wrap="square" lIns="0" tIns="0" rIns="0" bIns="0" rtlCol="0" anchor="ctr"/>
          <a:lstStyle/>
          <a:p>
            <a:pPr marL="0" indent="0">
              <a:buNone/>
            </a:pPr>
            <a:r>
              <a:rPr lang="en-US" sz="1700" b="1" dirty="0">
                <a:solidFill>
                  <a:srgbClr val="0F5E6E"/>
                </a:solidFill>
                <a:latin typeface="Cambria" pitchFamily="34" charset="0"/>
                <a:ea typeface="Cambria" pitchFamily="34" charset="-122"/>
                <a:cs typeface="Cambria" pitchFamily="34" charset="-120"/>
              </a:rPr>
              <a:t>Inorder</a:t>
            </a:r>
            <a:endParaRPr lang="en-US" sz="1700" dirty="0"/>
          </a:p>
        </p:txBody>
      </p:sp>
      <p:sp>
        <p:nvSpPr>
          <p:cNvPr id="20" name="Text 18"/>
          <p:cNvSpPr txBox="1"/>
          <p:nvPr/>
        </p:nvSpPr>
        <p:spPr>
          <a:xfrm>
            <a:off x="6675120" y="3136392"/>
            <a:ext cx="2194560" cy="320040"/>
          </a:xfrm>
          <a:prstGeom prst="rect">
            <a:avLst/>
          </a:prstGeom>
          <a:noFill/>
          <a:ln/>
        </p:spPr>
        <p:txBody>
          <a:bodyPr wrap="square" lIns="0" tIns="0" rIns="0" bIns="0" rtlCol="0" anchor="ctr"/>
          <a:lstStyle/>
          <a:p>
            <a:pPr marL="0" indent="0">
              <a:buNone/>
            </a:pPr>
            <a:r>
              <a:rPr lang="en-US" sz="1600" b="1" dirty="0">
                <a:solidFill>
                  <a:srgbClr val="9C6410"/>
                </a:solidFill>
                <a:latin typeface="Courier New" pitchFamily="34" charset="0"/>
                <a:ea typeface="Courier New" pitchFamily="34" charset="-122"/>
                <a:cs typeface="Courier New" pitchFamily="34" charset="-120"/>
              </a:rPr>
              <a:t>L  →  N  →  R</a:t>
            </a:r>
            <a:endParaRPr lang="en-US" sz="1600" dirty="0"/>
          </a:p>
        </p:txBody>
      </p:sp>
      <p:sp>
        <p:nvSpPr>
          <p:cNvPr id="21" name="Text 19"/>
          <p:cNvSpPr txBox="1"/>
          <p:nvPr/>
        </p:nvSpPr>
        <p:spPr>
          <a:xfrm>
            <a:off x="4754880" y="3547872"/>
            <a:ext cx="6519672" cy="365760"/>
          </a:xfrm>
          <a:prstGeom prst="rect">
            <a:avLst/>
          </a:prstGeom>
          <a:noFill/>
          <a:ln/>
        </p:spPr>
        <p:txBody>
          <a:bodyPr wrap="square" lIns="0" tIns="0" rIns="0" bIns="0" rtlCol="0" anchor="t"/>
          <a:lstStyle/>
          <a:p>
            <a:pPr marL="0" indent="0" algn="l">
              <a:lnSpc>
                <a:spcPts val="1890"/>
              </a:lnSpc>
              <a:buNone/>
            </a:pPr>
            <a:r>
              <a:rPr lang="en-US" sz="1400" dirty="0">
                <a:solidFill>
                  <a:srgbClr val="5F7A80"/>
                </a:solidFill>
                <a:latin typeface="Calibri" pitchFamily="34" charset="0"/>
                <a:ea typeface="Calibri" pitchFamily="34" charset="-122"/>
                <a:cs typeface="Calibri" pitchFamily="34" charset="-120"/>
              </a:rPr>
              <a:t>root in the middle; sorted order for a BST</a:t>
            </a:r>
            <a:endParaRPr lang="en-US" sz="1400" dirty="0"/>
          </a:p>
        </p:txBody>
      </p:sp>
      <p:sp>
        <p:nvSpPr>
          <p:cNvPr id="22" name="Shape 20"/>
          <p:cNvSpPr/>
          <p:nvPr/>
        </p:nvSpPr>
        <p:spPr>
          <a:xfrm>
            <a:off x="4480560" y="4251960"/>
            <a:ext cx="7068312" cy="1051560"/>
          </a:xfrm>
          <a:prstGeom prst="roundRect">
            <a:avLst>
              <a:gd name="adj" fmla="val 4348"/>
            </a:avLst>
          </a:prstGeom>
          <a:solidFill>
            <a:srgbClr val="F1F6F7"/>
          </a:solidFill>
          <a:ln w="12700">
            <a:solidFill>
              <a:srgbClr val="D3E0E3"/>
            </a:solidFill>
            <a:prstDash val="solid"/>
          </a:ln>
        </p:spPr>
        <p:txBody>
          <a:bodyPr/>
          <a:lstStyle/>
          <a:p>
            <a:endParaRPr lang="en-US"/>
          </a:p>
        </p:txBody>
      </p:sp>
      <p:sp>
        <p:nvSpPr>
          <p:cNvPr id="23" name="Text 21"/>
          <p:cNvSpPr txBox="1"/>
          <p:nvPr/>
        </p:nvSpPr>
        <p:spPr>
          <a:xfrm>
            <a:off x="4754880" y="4370832"/>
            <a:ext cx="1828800" cy="320040"/>
          </a:xfrm>
          <a:prstGeom prst="rect">
            <a:avLst/>
          </a:prstGeom>
          <a:noFill/>
          <a:ln/>
        </p:spPr>
        <p:txBody>
          <a:bodyPr wrap="square" lIns="0" tIns="0" rIns="0" bIns="0" rtlCol="0" anchor="ctr"/>
          <a:lstStyle/>
          <a:p>
            <a:pPr marL="0" indent="0">
              <a:buNone/>
            </a:pPr>
            <a:r>
              <a:rPr lang="en-US" sz="1700" b="1" dirty="0">
                <a:solidFill>
                  <a:srgbClr val="0F5E6E"/>
                </a:solidFill>
                <a:latin typeface="Cambria" pitchFamily="34" charset="0"/>
                <a:ea typeface="Cambria" pitchFamily="34" charset="-122"/>
                <a:cs typeface="Cambria" pitchFamily="34" charset="-120"/>
              </a:rPr>
              <a:t>Postorder</a:t>
            </a:r>
            <a:endParaRPr lang="en-US" sz="1700" dirty="0"/>
          </a:p>
        </p:txBody>
      </p:sp>
      <p:sp>
        <p:nvSpPr>
          <p:cNvPr id="24" name="Text 22"/>
          <p:cNvSpPr txBox="1"/>
          <p:nvPr/>
        </p:nvSpPr>
        <p:spPr>
          <a:xfrm>
            <a:off x="6675120" y="4370832"/>
            <a:ext cx="2194560" cy="320040"/>
          </a:xfrm>
          <a:prstGeom prst="rect">
            <a:avLst/>
          </a:prstGeom>
          <a:noFill/>
          <a:ln/>
        </p:spPr>
        <p:txBody>
          <a:bodyPr wrap="square" lIns="0" tIns="0" rIns="0" bIns="0" rtlCol="0" anchor="ctr"/>
          <a:lstStyle/>
          <a:p>
            <a:pPr marL="0" indent="0">
              <a:buNone/>
            </a:pPr>
            <a:r>
              <a:rPr lang="en-US" sz="1600" b="1" dirty="0">
                <a:solidFill>
                  <a:srgbClr val="9C6410"/>
                </a:solidFill>
                <a:latin typeface="Courier New" pitchFamily="34" charset="0"/>
                <a:ea typeface="Courier New" pitchFamily="34" charset="-122"/>
                <a:cs typeface="Courier New" pitchFamily="34" charset="-120"/>
              </a:rPr>
              <a:t>L  →  R  →  N</a:t>
            </a:r>
            <a:endParaRPr lang="en-US" sz="1600" dirty="0"/>
          </a:p>
        </p:txBody>
      </p:sp>
      <p:sp>
        <p:nvSpPr>
          <p:cNvPr id="25" name="Text 23"/>
          <p:cNvSpPr txBox="1"/>
          <p:nvPr/>
        </p:nvSpPr>
        <p:spPr>
          <a:xfrm>
            <a:off x="4754880" y="4782312"/>
            <a:ext cx="6519672" cy="365760"/>
          </a:xfrm>
          <a:prstGeom prst="rect">
            <a:avLst/>
          </a:prstGeom>
          <a:noFill/>
          <a:ln/>
        </p:spPr>
        <p:txBody>
          <a:bodyPr wrap="square" lIns="0" tIns="0" rIns="0" bIns="0" rtlCol="0" anchor="t"/>
          <a:lstStyle/>
          <a:p>
            <a:pPr marL="0" indent="0" algn="l">
              <a:lnSpc>
                <a:spcPts val="1890"/>
              </a:lnSpc>
              <a:buNone/>
            </a:pPr>
            <a:r>
              <a:rPr lang="en-US" sz="1400" dirty="0">
                <a:solidFill>
                  <a:srgbClr val="5F7A80"/>
                </a:solidFill>
                <a:latin typeface="Calibri" pitchFamily="34" charset="0"/>
                <a:ea typeface="Calibri" pitchFamily="34" charset="-122"/>
                <a:cs typeface="Calibri" pitchFamily="34" charset="-120"/>
              </a:rPr>
              <a:t>root last; children finished before the parent</a:t>
            </a:r>
            <a:endParaRPr lang="en-US" sz="1400" dirty="0"/>
          </a:p>
        </p:txBody>
      </p:sp>
      <p:sp>
        <p:nvSpPr>
          <p:cNvPr id="26" name="Text 24"/>
          <p:cNvSpPr txBox="1"/>
          <p:nvPr/>
        </p:nvSpPr>
        <p:spPr>
          <a:xfrm>
            <a:off x="640080" y="5623560"/>
            <a:ext cx="10908792" cy="457200"/>
          </a:xfrm>
          <a:prstGeom prst="rect">
            <a:avLst/>
          </a:prstGeom>
          <a:noFill/>
          <a:ln/>
        </p:spPr>
        <p:txBody>
          <a:bodyPr wrap="square" lIns="0" tIns="0" rIns="0" bIns="0" rtlCol="0" anchor="t"/>
          <a:lstStyle/>
          <a:p>
            <a:pPr marL="0" indent="0" algn="l">
              <a:lnSpc>
                <a:spcPts val="1890"/>
              </a:lnSpc>
              <a:buNone/>
            </a:pPr>
            <a:r>
              <a:rPr lang="en-US" sz="1400" i="1" dirty="0">
                <a:solidFill>
                  <a:srgbClr val="16343B"/>
                </a:solidFill>
                <a:latin typeface="Calibri" pitchFamily="34" charset="0"/>
                <a:ea typeface="Calibri" pitchFamily="34" charset="-122"/>
                <a:cs typeface="Calibri" pitchFamily="34" charset="-120"/>
              </a:rPr>
              <a:t>All three are Θ(n): every node is visited exactly once, only the moment of visiting changes.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Q51</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Traverse this tree three ways</a:t>
            </a:r>
            <a:endParaRPr lang="en-US" sz="3000" dirty="0"/>
          </a:p>
        </p:txBody>
      </p:sp>
      <p:sp>
        <p:nvSpPr>
          <p:cNvPr id="5" name="Text 3"/>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5</a:t>
            </a:r>
            <a:endParaRPr lang="en-US" sz="900" dirty="0"/>
          </a:p>
        </p:txBody>
      </p:sp>
      <p:sp>
        <p:nvSpPr>
          <p:cNvPr id="6" name="Shape 4"/>
          <p:cNvSpPr/>
          <p:nvPr/>
        </p:nvSpPr>
        <p:spPr>
          <a:xfrm flipV="1">
            <a:off x="1737360" y="2148840"/>
            <a:ext cx="914400" cy="1097280"/>
          </a:xfrm>
          <a:prstGeom prst="line">
            <a:avLst/>
          </a:prstGeom>
          <a:noFill/>
          <a:ln w="19050">
            <a:solidFill>
              <a:srgbClr val="3D8C9C"/>
            </a:solidFill>
            <a:prstDash val="solid"/>
          </a:ln>
        </p:spPr>
        <p:txBody>
          <a:bodyPr/>
          <a:lstStyle/>
          <a:p>
            <a:endParaRPr lang="en-US"/>
          </a:p>
        </p:txBody>
      </p:sp>
      <p:sp>
        <p:nvSpPr>
          <p:cNvPr id="7" name="Shape 5"/>
          <p:cNvSpPr/>
          <p:nvPr/>
        </p:nvSpPr>
        <p:spPr>
          <a:xfrm>
            <a:off x="2651760" y="2148840"/>
            <a:ext cx="914400" cy="1097280"/>
          </a:xfrm>
          <a:prstGeom prst="line">
            <a:avLst/>
          </a:prstGeom>
          <a:noFill/>
          <a:ln w="19050">
            <a:solidFill>
              <a:srgbClr val="3D8C9C"/>
            </a:solidFill>
            <a:prstDash val="solid"/>
          </a:ln>
        </p:spPr>
        <p:txBody>
          <a:bodyPr/>
          <a:lstStyle/>
          <a:p>
            <a:endParaRPr lang="en-US"/>
          </a:p>
        </p:txBody>
      </p:sp>
      <p:sp>
        <p:nvSpPr>
          <p:cNvPr id="8" name="Shape 6"/>
          <p:cNvSpPr/>
          <p:nvPr/>
        </p:nvSpPr>
        <p:spPr>
          <a:xfrm flipV="1">
            <a:off x="1051560" y="3246120"/>
            <a:ext cx="685800" cy="1097280"/>
          </a:xfrm>
          <a:prstGeom prst="line">
            <a:avLst/>
          </a:prstGeom>
          <a:noFill/>
          <a:ln w="19050">
            <a:solidFill>
              <a:srgbClr val="3D8C9C"/>
            </a:solidFill>
            <a:prstDash val="solid"/>
          </a:ln>
        </p:spPr>
        <p:txBody>
          <a:bodyPr/>
          <a:lstStyle/>
          <a:p>
            <a:endParaRPr lang="en-US"/>
          </a:p>
        </p:txBody>
      </p:sp>
      <p:sp>
        <p:nvSpPr>
          <p:cNvPr id="9" name="Shape 7"/>
          <p:cNvSpPr/>
          <p:nvPr/>
        </p:nvSpPr>
        <p:spPr>
          <a:xfrm>
            <a:off x="3566160" y="3246120"/>
            <a:ext cx="685800" cy="1097280"/>
          </a:xfrm>
          <a:prstGeom prst="line">
            <a:avLst/>
          </a:prstGeom>
          <a:noFill/>
          <a:ln w="19050">
            <a:solidFill>
              <a:srgbClr val="3D8C9C"/>
            </a:solidFill>
            <a:prstDash val="solid"/>
          </a:ln>
        </p:spPr>
        <p:txBody>
          <a:bodyPr/>
          <a:lstStyle/>
          <a:p>
            <a:endParaRPr lang="en-US"/>
          </a:p>
        </p:txBody>
      </p:sp>
      <p:sp>
        <p:nvSpPr>
          <p:cNvPr id="10" name="Shape 8"/>
          <p:cNvSpPr/>
          <p:nvPr/>
        </p:nvSpPr>
        <p:spPr>
          <a:xfrm>
            <a:off x="2359152" y="1856232"/>
            <a:ext cx="585216" cy="585216"/>
          </a:xfrm>
          <a:prstGeom prst="ellipse">
            <a:avLst/>
          </a:prstGeom>
          <a:solidFill>
            <a:srgbClr val="D9932B"/>
          </a:solidFill>
          <a:ln w="22225">
            <a:solidFill>
              <a:srgbClr val="D9932B"/>
            </a:solidFill>
            <a:prstDash val="solid"/>
          </a:ln>
        </p:spPr>
        <p:txBody>
          <a:bodyPr/>
          <a:lstStyle/>
          <a:p>
            <a:endParaRPr lang="en-US"/>
          </a:p>
        </p:txBody>
      </p:sp>
      <p:sp>
        <p:nvSpPr>
          <p:cNvPr id="11" name="Text 9"/>
          <p:cNvSpPr txBox="1"/>
          <p:nvPr/>
        </p:nvSpPr>
        <p:spPr>
          <a:xfrm>
            <a:off x="2221992" y="1856232"/>
            <a:ext cx="859536" cy="585216"/>
          </a:xfrm>
          <a:prstGeom prst="rect">
            <a:avLst/>
          </a:prstGeom>
          <a:noFill/>
          <a:ln/>
        </p:spPr>
        <p:txBody>
          <a:bodyPr wrap="square" lIns="0" tIns="0" rIns="0" bIns="0" rtlCol="0" anchor="ctr"/>
          <a:lstStyle/>
          <a:p>
            <a:pPr marL="0" indent="0" algn="ctr">
              <a:buNone/>
            </a:pPr>
            <a:r>
              <a:rPr lang="en-US" sz="1700" b="1" dirty="0">
                <a:solidFill>
                  <a:srgbClr val="16343B"/>
                </a:solidFill>
                <a:latin typeface="Calibri" pitchFamily="34" charset="0"/>
                <a:ea typeface="Calibri" pitchFamily="34" charset="-122"/>
                <a:cs typeface="Calibri" pitchFamily="34" charset="-120"/>
              </a:rPr>
              <a:t>a</a:t>
            </a:r>
            <a:endParaRPr lang="en-US" sz="1700" dirty="0"/>
          </a:p>
        </p:txBody>
      </p:sp>
      <p:sp>
        <p:nvSpPr>
          <p:cNvPr id="12" name="Shape 10"/>
          <p:cNvSpPr/>
          <p:nvPr/>
        </p:nvSpPr>
        <p:spPr>
          <a:xfrm>
            <a:off x="1444752" y="2953512"/>
            <a:ext cx="585216" cy="585216"/>
          </a:xfrm>
          <a:prstGeom prst="ellipse">
            <a:avLst/>
          </a:prstGeom>
          <a:solidFill>
            <a:srgbClr val="FFFFFF"/>
          </a:solidFill>
          <a:ln w="22225">
            <a:solidFill>
              <a:srgbClr val="0F5E6E"/>
            </a:solidFill>
            <a:prstDash val="solid"/>
          </a:ln>
        </p:spPr>
        <p:txBody>
          <a:bodyPr/>
          <a:lstStyle/>
          <a:p>
            <a:endParaRPr lang="en-US"/>
          </a:p>
        </p:txBody>
      </p:sp>
      <p:sp>
        <p:nvSpPr>
          <p:cNvPr id="13" name="Text 11"/>
          <p:cNvSpPr txBox="1"/>
          <p:nvPr/>
        </p:nvSpPr>
        <p:spPr>
          <a:xfrm>
            <a:off x="1307592" y="2953512"/>
            <a:ext cx="859536" cy="585216"/>
          </a:xfrm>
          <a:prstGeom prst="rect">
            <a:avLst/>
          </a:prstGeom>
          <a:noFill/>
          <a:ln/>
        </p:spPr>
        <p:txBody>
          <a:bodyPr wrap="square" lIns="0" tIns="0" rIns="0" bIns="0" rtlCol="0" anchor="ctr"/>
          <a:lstStyle/>
          <a:p>
            <a:pPr marL="0" indent="0" algn="ctr">
              <a:buNone/>
            </a:pPr>
            <a:r>
              <a:rPr lang="en-US" sz="1700" b="1" dirty="0">
                <a:solidFill>
                  <a:srgbClr val="16343B"/>
                </a:solidFill>
                <a:latin typeface="Calibri" pitchFamily="34" charset="0"/>
                <a:ea typeface="Calibri" pitchFamily="34" charset="-122"/>
                <a:cs typeface="Calibri" pitchFamily="34" charset="-120"/>
              </a:rPr>
              <a:t>b</a:t>
            </a:r>
            <a:endParaRPr lang="en-US" sz="1700" dirty="0"/>
          </a:p>
        </p:txBody>
      </p:sp>
      <p:sp>
        <p:nvSpPr>
          <p:cNvPr id="14" name="Shape 12"/>
          <p:cNvSpPr/>
          <p:nvPr/>
        </p:nvSpPr>
        <p:spPr>
          <a:xfrm>
            <a:off x="3273552" y="2953512"/>
            <a:ext cx="585216" cy="585216"/>
          </a:xfrm>
          <a:prstGeom prst="ellipse">
            <a:avLst/>
          </a:prstGeom>
          <a:solidFill>
            <a:srgbClr val="FFFFFF"/>
          </a:solidFill>
          <a:ln w="22225">
            <a:solidFill>
              <a:srgbClr val="0F5E6E"/>
            </a:solidFill>
            <a:prstDash val="solid"/>
          </a:ln>
        </p:spPr>
        <p:txBody>
          <a:bodyPr/>
          <a:lstStyle/>
          <a:p>
            <a:endParaRPr lang="en-US"/>
          </a:p>
        </p:txBody>
      </p:sp>
      <p:sp>
        <p:nvSpPr>
          <p:cNvPr id="15" name="Text 13"/>
          <p:cNvSpPr txBox="1"/>
          <p:nvPr/>
        </p:nvSpPr>
        <p:spPr>
          <a:xfrm>
            <a:off x="3136392" y="2953512"/>
            <a:ext cx="859536" cy="585216"/>
          </a:xfrm>
          <a:prstGeom prst="rect">
            <a:avLst/>
          </a:prstGeom>
          <a:noFill/>
          <a:ln/>
        </p:spPr>
        <p:txBody>
          <a:bodyPr wrap="square" lIns="0" tIns="0" rIns="0" bIns="0" rtlCol="0" anchor="ctr"/>
          <a:lstStyle/>
          <a:p>
            <a:pPr marL="0" indent="0" algn="ctr">
              <a:buNone/>
            </a:pPr>
            <a:r>
              <a:rPr lang="en-US" sz="1700" b="1" dirty="0">
                <a:solidFill>
                  <a:srgbClr val="16343B"/>
                </a:solidFill>
                <a:latin typeface="Calibri" pitchFamily="34" charset="0"/>
                <a:ea typeface="Calibri" pitchFamily="34" charset="-122"/>
                <a:cs typeface="Calibri" pitchFamily="34" charset="-120"/>
              </a:rPr>
              <a:t>c</a:t>
            </a:r>
            <a:endParaRPr lang="en-US" sz="1700" dirty="0"/>
          </a:p>
        </p:txBody>
      </p:sp>
      <p:sp>
        <p:nvSpPr>
          <p:cNvPr id="16" name="Shape 14"/>
          <p:cNvSpPr/>
          <p:nvPr/>
        </p:nvSpPr>
        <p:spPr>
          <a:xfrm>
            <a:off x="758952" y="4050792"/>
            <a:ext cx="585216" cy="585216"/>
          </a:xfrm>
          <a:prstGeom prst="ellipse">
            <a:avLst/>
          </a:prstGeom>
          <a:solidFill>
            <a:srgbClr val="FFFFFF"/>
          </a:solidFill>
          <a:ln w="22225">
            <a:solidFill>
              <a:srgbClr val="0F5E6E"/>
            </a:solidFill>
            <a:prstDash val="solid"/>
          </a:ln>
        </p:spPr>
        <p:txBody>
          <a:bodyPr/>
          <a:lstStyle/>
          <a:p>
            <a:endParaRPr lang="en-US"/>
          </a:p>
        </p:txBody>
      </p:sp>
      <p:sp>
        <p:nvSpPr>
          <p:cNvPr id="17" name="Text 15"/>
          <p:cNvSpPr txBox="1"/>
          <p:nvPr/>
        </p:nvSpPr>
        <p:spPr>
          <a:xfrm>
            <a:off x="621792" y="4050792"/>
            <a:ext cx="859536" cy="585216"/>
          </a:xfrm>
          <a:prstGeom prst="rect">
            <a:avLst/>
          </a:prstGeom>
          <a:noFill/>
          <a:ln/>
        </p:spPr>
        <p:txBody>
          <a:bodyPr wrap="square" lIns="0" tIns="0" rIns="0" bIns="0" rtlCol="0" anchor="ctr"/>
          <a:lstStyle/>
          <a:p>
            <a:pPr marL="0" indent="0" algn="ctr">
              <a:buNone/>
            </a:pPr>
            <a:r>
              <a:rPr lang="en-US" sz="1700" b="1" dirty="0">
                <a:solidFill>
                  <a:srgbClr val="16343B"/>
                </a:solidFill>
                <a:latin typeface="Calibri" pitchFamily="34" charset="0"/>
                <a:ea typeface="Calibri" pitchFamily="34" charset="-122"/>
                <a:cs typeface="Calibri" pitchFamily="34" charset="-120"/>
              </a:rPr>
              <a:t>d</a:t>
            </a:r>
            <a:endParaRPr lang="en-US" sz="1700" dirty="0"/>
          </a:p>
        </p:txBody>
      </p:sp>
      <p:sp>
        <p:nvSpPr>
          <p:cNvPr id="18" name="Shape 16"/>
          <p:cNvSpPr/>
          <p:nvPr/>
        </p:nvSpPr>
        <p:spPr>
          <a:xfrm>
            <a:off x="3959352" y="4050792"/>
            <a:ext cx="585216" cy="585216"/>
          </a:xfrm>
          <a:prstGeom prst="ellipse">
            <a:avLst/>
          </a:prstGeom>
          <a:solidFill>
            <a:srgbClr val="FFFFFF"/>
          </a:solidFill>
          <a:ln w="22225">
            <a:solidFill>
              <a:srgbClr val="0F5E6E"/>
            </a:solidFill>
            <a:prstDash val="solid"/>
          </a:ln>
        </p:spPr>
        <p:txBody>
          <a:bodyPr/>
          <a:lstStyle/>
          <a:p>
            <a:endParaRPr lang="en-US"/>
          </a:p>
        </p:txBody>
      </p:sp>
      <p:sp>
        <p:nvSpPr>
          <p:cNvPr id="19" name="Text 17"/>
          <p:cNvSpPr txBox="1"/>
          <p:nvPr/>
        </p:nvSpPr>
        <p:spPr>
          <a:xfrm>
            <a:off x="3822192" y="4050792"/>
            <a:ext cx="859536" cy="585216"/>
          </a:xfrm>
          <a:prstGeom prst="rect">
            <a:avLst/>
          </a:prstGeom>
          <a:noFill/>
          <a:ln/>
        </p:spPr>
        <p:txBody>
          <a:bodyPr wrap="square" lIns="0" tIns="0" rIns="0" bIns="0" rtlCol="0" anchor="ctr"/>
          <a:lstStyle/>
          <a:p>
            <a:pPr marL="0" indent="0" algn="ctr">
              <a:buNone/>
            </a:pPr>
            <a:r>
              <a:rPr lang="en-US" sz="1700" b="1" dirty="0">
                <a:solidFill>
                  <a:srgbClr val="16343B"/>
                </a:solidFill>
                <a:latin typeface="Calibri" pitchFamily="34" charset="0"/>
                <a:ea typeface="Calibri" pitchFamily="34" charset="-122"/>
                <a:cs typeface="Calibri" pitchFamily="34" charset="-120"/>
              </a:rPr>
              <a:t>e</a:t>
            </a:r>
            <a:endParaRPr lang="en-US" sz="1700" dirty="0"/>
          </a:p>
        </p:txBody>
      </p:sp>
      <p:sp>
        <p:nvSpPr>
          <p:cNvPr id="20" name="Text 18"/>
          <p:cNvSpPr txBox="1"/>
          <p:nvPr/>
        </p:nvSpPr>
        <p:spPr>
          <a:xfrm>
            <a:off x="640080" y="5029200"/>
            <a:ext cx="4206240" cy="457200"/>
          </a:xfrm>
          <a:prstGeom prst="rect">
            <a:avLst/>
          </a:prstGeom>
          <a:noFill/>
          <a:ln/>
        </p:spPr>
        <p:txBody>
          <a:bodyPr wrap="square" lIns="0" tIns="0" rIns="0" bIns="0" rtlCol="0" anchor="t"/>
          <a:lstStyle/>
          <a:p>
            <a:pPr marL="0" indent="0" algn="ctr">
              <a:lnSpc>
                <a:spcPts val="1620"/>
              </a:lnSpc>
              <a:buNone/>
            </a:pPr>
            <a:r>
              <a:rPr lang="en-US" sz="1200" dirty="0">
                <a:solidFill>
                  <a:srgbClr val="5F7A80"/>
                </a:solidFill>
                <a:latin typeface="Calibri" pitchFamily="34" charset="0"/>
                <a:ea typeface="Calibri" pitchFamily="34" charset="-122"/>
                <a:cs typeface="Calibri" pitchFamily="34" charset="-120"/>
              </a:rPr>
              <a:t>d is b's LEFT child;  e is c's RIGHT child</a:t>
            </a:r>
            <a:endParaRPr lang="en-US" sz="1200" dirty="0"/>
          </a:p>
        </p:txBody>
      </p:sp>
      <p:sp>
        <p:nvSpPr>
          <p:cNvPr id="21" name="Shape 19"/>
          <p:cNvSpPr/>
          <p:nvPr/>
        </p:nvSpPr>
        <p:spPr>
          <a:xfrm>
            <a:off x="5486400" y="1783080"/>
            <a:ext cx="6062472" cy="1458468"/>
          </a:xfrm>
          <a:prstGeom prst="roundRect">
            <a:avLst>
              <a:gd name="adj" fmla="val 3135"/>
            </a:avLst>
          </a:prstGeom>
          <a:solidFill>
            <a:srgbClr val="FBEEDA"/>
          </a:solidFill>
          <a:ln w="12700">
            <a:solidFill>
              <a:srgbClr val="EAD3A6"/>
            </a:solidFill>
            <a:prstDash val="solid"/>
          </a:ln>
        </p:spPr>
        <p:txBody>
          <a:bodyPr/>
          <a:lstStyle/>
          <a:p>
            <a:endParaRPr lang="en-US"/>
          </a:p>
        </p:txBody>
      </p:sp>
      <p:sp>
        <p:nvSpPr>
          <p:cNvPr id="22" name="Text 20"/>
          <p:cNvSpPr txBox="1"/>
          <p:nvPr/>
        </p:nvSpPr>
        <p:spPr>
          <a:xfrm>
            <a:off x="5705856" y="1929384"/>
            <a:ext cx="5605272"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ANSWER</a:t>
            </a:r>
            <a:endParaRPr lang="en-US" sz="1100" dirty="0"/>
          </a:p>
        </p:txBody>
      </p:sp>
      <p:sp>
        <p:nvSpPr>
          <p:cNvPr id="23" name="Text 21"/>
          <p:cNvSpPr txBox="1"/>
          <p:nvPr/>
        </p:nvSpPr>
        <p:spPr>
          <a:xfrm>
            <a:off x="5705856" y="2221992"/>
            <a:ext cx="5605272" cy="873252"/>
          </a:xfrm>
          <a:prstGeom prst="rect">
            <a:avLst/>
          </a:prstGeom>
          <a:noFill/>
          <a:ln/>
        </p:spPr>
        <p:txBody>
          <a:bodyPr wrap="square" lIns="0" tIns="0" rIns="0" bIns="0" rtlCol="0" anchor="t"/>
          <a:lstStyle/>
          <a:p>
            <a:pPr marL="0" indent="0">
              <a:lnSpc>
                <a:spcPts val="2100"/>
              </a:lnSpc>
              <a:spcAft>
                <a:spcPts val="400"/>
              </a:spcAft>
              <a:buNone/>
            </a:pPr>
            <a:r>
              <a:rPr lang="en-US" sz="1500" b="1" dirty="0">
                <a:solidFill>
                  <a:srgbClr val="16343B"/>
                </a:solidFill>
                <a:latin typeface="Courier New" pitchFamily="34" charset="0"/>
                <a:ea typeface="Courier New" pitchFamily="34" charset="-122"/>
                <a:cs typeface="Courier New" pitchFamily="34" charset="-120"/>
              </a:rPr>
              <a:t>Preorder:    </a:t>
            </a:r>
          </a:p>
          <a:p>
            <a:pPr marL="0" indent="0">
              <a:lnSpc>
                <a:spcPts val="2100"/>
              </a:lnSpc>
              <a:spcAft>
                <a:spcPts val="400"/>
              </a:spcAft>
              <a:buNone/>
            </a:pPr>
            <a:r>
              <a:rPr lang="en-US" sz="1500" b="1" dirty="0" err="1">
                <a:solidFill>
                  <a:srgbClr val="16343B"/>
                </a:solidFill>
                <a:latin typeface="Courier New" pitchFamily="34" charset="0"/>
                <a:ea typeface="Courier New" pitchFamily="34" charset="-122"/>
                <a:cs typeface="Courier New" pitchFamily="34" charset="-120"/>
              </a:rPr>
              <a:t>Inorder</a:t>
            </a:r>
            <a:r>
              <a:rPr lang="en-US" sz="1500" b="1" dirty="0">
                <a:solidFill>
                  <a:srgbClr val="16343B"/>
                </a:solidFill>
                <a:latin typeface="Courier New" pitchFamily="34" charset="0"/>
                <a:ea typeface="Courier New" pitchFamily="34" charset="-122"/>
                <a:cs typeface="Courier New" pitchFamily="34" charset="-120"/>
              </a:rPr>
              <a:t>:      </a:t>
            </a:r>
          </a:p>
          <a:p>
            <a:pPr marL="0" indent="0">
              <a:lnSpc>
                <a:spcPts val="2100"/>
              </a:lnSpc>
              <a:spcAft>
                <a:spcPts val="400"/>
              </a:spcAft>
              <a:buNone/>
            </a:pPr>
            <a:r>
              <a:rPr lang="en-US" sz="1500" b="1" dirty="0" err="1">
                <a:solidFill>
                  <a:srgbClr val="16343B"/>
                </a:solidFill>
                <a:latin typeface="Courier New" pitchFamily="34" charset="0"/>
                <a:ea typeface="Courier New" pitchFamily="34" charset="-122"/>
                <a:cs typeface="Courier New" pitchFamily="34" charset="-120"/>
              </a:rPr>
              <a:t>Postorder</a:t>
            </a:r>
            <a:r>
              <a:rPr lang="en-US" sz="1500" b="1" dirty="0">
                <a:solidFill>
                  <a:srgbClr val="16343B"/>
                </a:solidFill>
                <a:latin typeface="Courier New" pitchFamily="34" charset="0"/>
                <a:ea typeface="Courier New" pitchFamily="34" charset="-122"/>
                <a:cs typeface="Courier New" pitchFamily="34" charset="-120"/>
              </a:rPr>
              <a:t>:   </a:t>
            </a:r>
            <a:endParaRPr lang="en-US" sz="1500" dirty="0"/>
          </a:p>
        </p:txBody>
      </p:sp>
      <p:sp>
        <p:nvSpPr>
          <p:cNvPr id="24" name="Text 22"/>
          <p:cNvSpPr txBox="1"/>
          <p:nvPr/>
        </p:nvSpPr>
        <p:spPr>
          <a:xfrm>
            <a:off x="5486400" y="3977640"/>
            <a:ext cx="6062472"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Preorder: a, then all of b's subtree (b, d), then all of c's (c, e).</a:t>
            </a:r>
            <a:endParaRPr lang="en-US" sz="1400" dirty="0"/>
          </a:p>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Inorder: b's left child d comes before b, and b's whole subtree comes before a.</a:t>
            </a:r>
            <a:endParaRPr lang="en-US" sz="1400" dirty="0"/>
          </a:p>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Postorder: a can only be written once both subtrees are complete.</a:t>
            </a:r>
            <a:endParaRPr lang="en-US" sz="1400" dirty="0"/>
          </a:p>
          <a:p>
            <a:pPr marL="203200" indent="-203200">
              <a:spcAft>
                <a:spcPts val="800"/>
              </a:spcAft>
              <a:buSzPct val="100000"/>
              <a:buChar char="▪"/>
            </a:pPr>
            <a:r>
              <a:rPr lang="en-US" sz="1400" b="1" dirty="0">
                <a:solidFill>
                  <a:srgbClr val="9C6410"/>
                </a:solidFill>
                <a:latin typeface="Calibri" pitchFamily="34" charset="0"/>
                <a:ea typeface="Calibri" pitchFamily="34" charset="-122"/>
                <a:cs typeface="Calibri" pitchFamily="34" charset="-120"/>
              </a:rPr>
              <a:t>Sanity check: a appears first / middle / last respectively.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3108E7-D195-6F74-2662-F5F457B3AAA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A39AC07-F76F-F17D-6567-4F79390C4013}"/>
              </a:ext>
            </a:extLst>
          </p:cNvPr>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a:extLst>
              <a:ext uri="{FF2B5EF4-FFF2-40B4-BE49-F238E27FC236}">
                <a16:creationId xmlns:a16="http://schemas.microsoft.com/office/drawing/2014/main" id="{2647FFDE-EC93-9538-9F9E-DF9132B36EFC}"/>
              </a:ext>
            </a:extLst>
          </p:cNvPr>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Q51</a:t>
            </a:r>
            <a:endParaRPr lang="en-US" sz="1500" dirty="0"/>
          </a:p>
        </p:txBody>
      </p:sp>
      <p:sp>
        <p:nvSpPr>
          <p:cNvPr id="4" name="Text 2">
            <a:extLst>
              <a:ext uri="{FF2B5EF4-FFF2-40B4-BE49-F238E27FC236}">
                <a16:creationId xmlns:a16="http://schemas.microsoft.com/office/drawing/2014/main" id="{2BF08283-0419-28C7-AA5B-E191CCE99698}"/>
              </a:ext>
            </a:extLst>
          </p:cNvPr>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Traverse this tree three ways</a:t>
            </a:r>
            <a:endParaRPr lang="en-US" sz="3000" dirty="0"/>
          </a:p>
        </p:txBody>
      </p:sp>
      <p:sp>
        <p:nvSpPr>
          <p:cNvPr id="5" name="Text 3">
            <a:extLst>
              <a:ext uri="{FF2B5EF4-FFF2-40B4-BE49-F238E27FC236}">
                <a16:creationId xmlns:a16="http://schemas.microsoft.com/office/drawing/2014/main" id="{F80E682F-B577-B934-2A4F-1F7EB9F6E2A3}"/>
              </a:ext>
            </a:extLst>
          </p:cNvPr>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5</a:t>
            </a:r>
            <a:endParaRPr lang="en-US" sz="900" dirty="0"/>
          </a:p>
        </p:txBody>
      </p:sp>
      <p:sp>
        <p:nvSpPr>
          <p:cNvPr id="6" name="Shape 4">
            <a:extLst>
              <a:ext uri="{FF2B5EF4-FFF2-40B4-BE49-F238E27FC236}">
                <a16:creationId xmlns:a16="http://schemas.microsoft.com/office/drawing/2014/main" id="{E9C3D7D2-CEBC-1CAF-2D13-94FF15BF5BCF}"/>
              </a:ext>
            </a:extLst>
          </p:cNvPr>
          <p:cNvSpPr/>
          <p:nvPr/>
        </p:nvSpPr>
        <p:spPr>
          <a:xfrm flipV="1">
            <a:off x="1737360" y="2148840"/>
            <a:ext cx="914400" cy="1097280"/>
          </a:xfrm>
          <a:prstGeom prst="line">
            <a:avLst/>
          </a:prstGeom>
          <a:noFill/>
          <a:ln w="19050">
            <a:solidFill>
              <a:srgbClr val="3D8C9C"/>
            </a:solidFill>
            <a:prstDash val="solid"/>
          </a:ln>
        </p:spPr>
        <p:txBody>
          <a:bodyPr/>
          <a:lstStyle/>
          <a:p>
            <a:endParaRPr lang="en-US"/>
          </a:p>
        </p:txBody>
      </p:sp>
      <p:sp>
        <p:nvSpPr>
          <p:cNvPr id="7" name="Shape 5">
            <a:extLst>
              <a:ext uri="{FF2B5EF4-FFF2-40B4-BE49-F238E27FC236}">
                <a16:creationId xmlns:a16="http://schemas.microsoft.com/office/drawing/2014/main" id="{CF9BA608-2F2F-0D3B-CB56-35F27B1AEBD4}"/>
              </a:ext>
            </a:extLst>
          </p:cNvPr>
          <p:cNvSpPr/>
          <p:nvPr/>
        </p:nvSpPr>
        <p:spPr>
          <a:xfrm>
            <a:off x="2651760" y="2148840"/>
            <a:ext cx="914400" cy="1097280"/>
          </a:xfrm>
          <a:prstGeom prst="line">
            <a:avLst/>
          </a:prstGeom>
          <a:noFill/>
          <a:ln w="19050">
            <a:solidFill>
              <a:srgbClr val="3D8C9C"/>
            </a:solidFill>
            <a:prstDash val="solid"/>
          </a:ln>
        </p:spPr>
        <p:txBody>
          <a:bodyPr/>
          <a:lstStyle/>
          <a:p>
            <a:endParaRPr lang="en-US"/>
          </a:p>
        </p:txBody>
      </p:sp>
      <p:sp>
        <p:nvSpPr>
          <p:cNvPr id="8" name="Shape 6">
            <a:extLst>
              <a:ext uri="{FF2B5EF4-FFF2-40B4-BE49-F238E27FC236}">
                <a16:creationId xmlns:a16="http://schemas.microsoft.com/office/drawing/2014/main" id="{92016D92-75EC-82E4-42FA-8C28C279311D}"/>
              </a:ext>
            </a:extLst>
          </p:cNvPr>
          <p:cNvSpPr/>
          <p:nvPr/>
        </p:nvSpPr>
        <p:spPr>
          <a:xfrm flipV="1">
            <a:off x="1051560" y="3246120"/>
            <a:ext cx="685800" cy="1097280"/>
          </a:xfrm>
          <a:prstGeom prst="line">
            <a:avLst/>
          </a:prstGeom>
          <a:noFill/>
          <a:ln w="19050">
            <a:solidFill>
              <a:srgbClr val="3D8C9C"/>
            </a:solidFill>
            <a:prstDash val="solid"/>
          </a:ln>
        </p:spPr>
        <p:txBody>
          <a:bodyPr/>
          <a:lstStyle/>
          <a:p>
            <a:endParaRPr lang="en-US"/>
          </a:p>
        </p:txBody>
      </p:sp>
      <p:sp>
        <p:nvSpPr>
          <p:cNvPr id="9" name="Shape 7">
            <a:extLst>
              <a:ext uri="{FF2B5EF4-FFF2-40B4-BE49-F238E27FC236}">
                <a16:creationId xmlns:a16="http://schemas.microsoft.com/office/drawing/2014/main" id="{99D8FF52-B563-4BEA-0093-67D3099B594A}"/>
              </a:ext>
            </a:extLst>
          </p:cNvPr>
          <p:cNvSpPr/>
          <p:nvPr/>
        </p:nvSpPr>
        <p:spPr>
          <a:xfrm>
            <a:off x="3566160" y="3246120"/>
            <a:ext cx="685800" cy="1097280"/>
          </a:xfrm>
          <a:prstGeom prst="line">
            <a:avLst/>
          </a:prstGeom>
          <a:noFill/>
          <a:ln w="19050">
            <a:solidFill>
              <a:srgbClr val="3D8C9C"/>
            </a:solidFill>
            <a:prstDash val="solid"/>
          </a:ln>
        </p:spPr>
        <p:txBody>
          <a:bodyPr/>
          <a:lstStyle/>
          <a:p>
            <a:endParaRPr lang="en-US"/>
          </a:p>
        </p:txBody>
      </p:sp>
      <p:sp>
        <p:nvSpPr>
          <p:cNvPr id="10" name="Shape 8">
            <a:extLst>
              <a:ext uri="{FF2B5EF4-FFF2-40B4-BE49-F238E27FC236}">
                <a16:creationId xmlns:a16="http://schemas.microsoft.com/office/drawing/2014/main" id="{96CE67D8-6635-D465-BA91-666D6E65579A}"/>
              </a:ext>
            </a:extLst>
          </p:cNvPr>
          <p:cNvSpPr/>
          <p:nvPr/>
        </p:nvSpPr>
        <p:spPr>
          <a:xfrm>
            <a:off x="2359152" y="1856232"/>
            <a:ext cx="585216" cy="585216"/>
          </a:xfrm>
          <a:prstGeom prst="ellipse">
            <a:avLst/>
          </a:prstGeom>
          <a:solidFill>
            <a:srgbClr val="D9932B"/>
          </a:solidFill>
          <a:ln w="22225">
            <a:solidFill>
              <a:srgbClr val="D9932B"/>
            </a:solidFill>
            <a:prstDash val="solid"/>
          </a:ln>
        </p:spPr>
        <p:txBody>
          <a:bodyPr/>
          <a:lstStyle/>
          <a:p>
            <a:endParaRPr lang="en-US"/>
          </a:p>
        </p:txBody>
      </p:sp>
      <p:sp>
        <p:nvSpPr>
          <p:cNvPr id="11" name="Text 9">
            <a:extLst>
              <a:ext uri="{FF2B5EF4-FFF2-40B4-BE49-F238E27FC236}">
                <a16:creationId xmlns:a16="http://schemas.microsoft.com/office/drawing/2014/main" id="{197F2B00-505C-8B99-89C8-B157BB0EE6C4}"/>
              </a:ext>
            </a:extLst>
          </p:cNvPr>
          <p:cNvSpPr txBox="1"/>
          <p:nvPr/>
        </p:nvSpPr>
        <p:spPr>
          <a:xfrm>
            <a:off x="2221992" y="1856232"/>
            <a:ext cx="859536" cy="585216"/>
          </a:xfrm>
          <a:prstGeom prst="rect">
            <a:avLst/>
          </a:prstGeom>
          <a:noFill/>
          <a:ln/>
        </p:spPr>
        <p:txBody>
          <a:bodyPr wrap="square" lIns="0" tIns="0" rIns="0" bIns="0" rtlCol="0" anchor="ctr"/>
          <a:lstStyle/>
          <a:p>
            <a:pPr marL="0" indent="0" algn="ctr">
              <a:buNone/>
            </a:pPr>
            <a:r>
              <a:rPr lang="en-US" sz="1700" b="1" dirty="0">
                <a:solidFill>
                  <a:srgbClr val="16343B"/>
                </a:solidFill>
                <a:latin typeface="Calibri" pitchFamily="34" charset="0"/>
                <a:ea typeface="Calibri" pitchFamily="34" charset="-122"/>
                <a:cs typeface="Calibri" pitchFamily="34" charset="-120"/>
              </a:rPr>
              <a:t>a</a:t>
            </a:r>
            <a:endParaRPr lang="en-US" sz="1700" dirty="0"/>
          </a:p>
        </p:txBody>
      </p:sp>
      <p:sp>
        <p:nvSpPr>
          <p:cNvPr id="12" name="Shape 10">
            <a:extLst>
              <a:ext uri="{FF2B5EF4-FFF2-40B4-BE49-F238E27FC236}">
                <a16:creationId xmlns:a16="http://schemas.microsoft.com/office/drawing/2014/main" id="{056B470C-5A42-490D-1E44-EC119E24D991}"/>
              </a:ext>
            </a:extLst>
          </p:cNvPr>
          <p:cNvSpPr/>
          <p:nvPr/>
        </p:nvSpPr>
        <p:spPr>
          <a:xfrm>
            <a:off x="1444752" y="2953512"/>
            <a:ext cx="585216" cy="585216"/>
          </a:xfrm>
          <a:prstGeom prst="ellipse">
            <a:avLst/>
          </a:prstGeom>
          <a:solidFill>
            <a:srgbClr val="FFFFFF"/>
          </a:solidFill>
          <a:ln w="22225">
            <a:solidFill>
              <a:srgbClr val="0F5E6E"/>
            </a:solidFill>
            <a:prstDash val="solid"/>
          </a:ln>
        </p:spPr>
        <p:txBody>
          <a:bodyPr/>
          <a:lstStyle/>
          <a:p>
            <a:endParaRPr lang="en-US"/>
          </a:p>
        </p:txBody>
      </p:sp>
      <p:sp>
        <p:nvSpPr>
          <p:cNvPr id="13" name="Text 11">
            <a:extLst>
              <a:ext uri="{FF2B5EF4-FFF2-40B4-BE49-F238E27FC236}">
                <a16:creationId xmlns:a16="http://schemas.microsoft.com/office/drawing/2014/main" id="{D4D3C665-A443-96DF-1B7B-F640B010D4C4}"/>
              </a:ext>
            </a:extLst>
          </p:cNvPr>
          <p:cNvSpPr txBox="1"/>
          <p:nvPr/>
        </p:nvSpPr>
        <p:spPr>
          <a:xfrm>
            <a:off x="1307592" y="2953512"/>
            <a:ext cx="859536" cy="585216"/>
          </a:xfrm>
          <a:prstGeom prst="rect">
            <a:avLst/>
          </a:prstGeom>
          <a:noFill/>
          <a:ln/>
        </p:spPr>
        <p:txBody>
          <a:bodyPr wrap="square" lIns="0" tIns="0" rIns="0" bIns="0" rtlCol="0" anchor="ctr"/>
          <a:lstStyle/>
          <a:p>
            <a:pPr marL="0" indent="0" algn="ctr">
              <a:buNone/>
            </a:pPr>
            <a:r>
              <a:rPr lang="en-US" sz="1700" b="1" dirty="0">
                <a:solidFill>
                  <a:srgbClr val="16343B"/>
                </a:solidFill>
                <a:latin typeface="Calibri" pitchFamily="34" charset="0"/>
                <a:ea typeface="Calibri" pitchFamily="34" charset="-122"/>
                <a:cs typeface="Calibri" pitchFamily="34" charset="-120"/>
              </a:rPr>
              <a:t>b</a:t>
            </a:r>
            <a:endParaRPr lang="en-US" sz="1700" dirty="0"/>
          </a:p>
        </p:txBody>
      </p:sp>
      <p:sp>
        <p:nvSpPr>
          <p:cNvPr id="14" name="Shape 12">
            <a:extLst>
              <a:ext uri="{FF2B5EF4-FFF2-40B4-BE49-F238E27FC236}">
                <a16:creationId xmlns:a16="http://schemas.microsoft.com/office/drawing/2014/main" id="{0464F2B2-8506-3C4D-221E-BDF454A95554}"/>
              </a:ext>
            </a:extLst>
          </p:cNvPr>
          <p:cNvSpPr/>
          <p:nvPr/>
        </p:nvSpPr>
        <p:spPr>
          <a:xfrm>
            <a:off x="3273552" y="2953512"/>
            <a:ext cx="585216" cy="585216"/>
          </a:xfrm>
          <a:prstGeom prst="ellipse">
            <a:avLst/>
          </a:prstGeom>
          <a:solidFill>
            <a:srgbClr val="FFFFFF"/>
          </a:solidFill>
          <a:ln w="22225">
            <a:solidFill>
              <a:srgbClr val="0F5E6E"/>
            </a:solidFill>
            <a:prstDash val="solid"/>
          </a:ln>
        </p:spPr>
        <p:txBody>
          <a:bodyPr/>
          <a:lstStyle/>
          <a:p>
            <a:endParaRPr lang="en-US"/>
          </a:p>
        </p:txBody>
      </p:sp>
      <p:sp>
        <p:nvSpPr>
          <p:cNvPr id="15" name="Text 13">
            <a:extLst>
              <a:ext uri="{FF2B5EF4-FFF2-40B4-BE49-F238E27FC236}">
                <a16:creationId xmlns:a16="http://schemas.microsoft.com/office/drawing/2014/main" id="{A54822F1-43A2-5C56-D143-37976AE02150}"/>
              </a:ext>
            </a:extLst>
          </p:cNvPr>
          <p:cNvSpPr txBox="1"/>
          <p:nvPr/>
        </p:nvSpPr>
        <p:spPr>
          <a:xfrm>
            <a:off x="3136392" y="2953512"/>
            <a:ext cx="859536" cy="585216"/>
          </a:xfrm>
          <a:prstGeom prst="rect">
            <a:avLst/>
          </a:prstGeom>
          <a:noFill/>
          <a:ln/>
        </p:spPr>
        <p:txBody>
          <a:bodyPr wrap="square" lIns="0" tIns="0" rIns="0" bIns="0" rtlCol="0" anchor="ctr"/>
          <a:lstStyle/>
          <a:p>
            <a:pPr marL="0" indent="0" algn="ctr">
              <a:buNone/>
            </a:pPr>
            <a:r>
              <a:rPr lang="en-US" sz="1700" b="1" dirty="0">
                <a:solidFill>
                  <a:srgbClr val="16343B"/>
                </a:solidFill>
                <a:latin typeface="Calibri" pitchFamily="34" charset="0"/>
                <a:ea typeface="Calibri" pitchFamily="34" charset="-122"/>
                <a:cs typeface="Calibri" pitchFamily="34" charset="-120"/>
              </a:rPr>
              <a:t>c</a:t>
            </a:r>
            <a:endParaRPr lang="en-US" sz="1700" dirty="0"/>
          </a:p>
        </p:txBody>
      </p:sp>
      <p:sp>
        <p:nvSpPr>
          <p:cNvPr id="16" name="Shape 14">
            <a:extLst>
              <a:ext uri="{FF2B5EF4-FFF2-40B4-BE49-F238E27FC236}">
                <a16:creationId xmlns:a16="http://schemas.microsoft.com/office/drawing/2014/main" id="{EEBAE016-7D6F-9A71-645F-D38CC6781FA6}"/>
              </a:ext>
            </a:extLst>
          </p:cNvPr>
          <p:cNvSpPr/>
          <p:nvPr/>
        </p:nvSpPr>
        <p:spPr>
          <a:xfrm>
            <a:off x="758952" y="4050792"/>
            <a:ext cx="585216" cy="585216"/>
          </a:xfrm>
          <a:prstGeom prst="ellipse">
            <a:avLst/>
          </a:prstGeom>
          <a:solidFill>
            <a:srgbClr val="FFFFFF"/>
          </a:solidFill>
          <a:ln w="22225">
            <a:solidFill>
              <a:srgbClr val="0F5E6E"/>
            </a:solidFill>
            <a:prstDash val="solid"/>
          </a:ln>
        </p:spPr>
        <p:txBody>
          <a:bodyPr/>
          <a:lstStyle/>
          <a:p>
            <a:endParaRPr lang="en-US"/>
          </a:p>
        </p:txBody>
      </p:sp>
      <p:sp>
        <p:nvSpPr>
          <p:cNvPr id="17" name="Text 15">
            <a:extLst>
              <a:ext uri="{FF2B5EF4-FFF2-40B4-BE49-F238E27FC236}">
                <a16:creationId xmlns:a16="http://schemas.microsoft.com/office/drawing/2014/main" id="{C15C621A-8595-AB37-43F3-17949D29E774}"/>
              </a:ext>
            </a:extLst>
          </p:cNvPr>
          <p:cNvSpPr txBox="1"/>
          <p:nvPr/>
        </p:nvSpPr>
        <p:spPr>
          <a:xfrm>
            <a:off x="621792" y="4050792"/>
            <a:ext cx="859536" cy="585216"/>
          </a:xfrm>
          <a:prstGeom prst="rect">
            <a:avLst/>
          </a:prstGeom>
          <a:noFill/>
          <a:ln/>
        </p:spPr>
        <p:txBody>
          <a:bodyPr wrap="square" lIns="0" tIns="0" rIns="0" bIns="0" rtlCol="0" anchor="ctr"/>
          <a:lstStyle/>
          <a:p>
            <a:pPr marL="0" indent="0" algn="ctr">
              <a:buNone/>
            </a:pPr>
            <a:r>
              <a:rPr lang="en-US" sz="1700" b="1" dirty="0">
                <a:solidFill>
                  <a:srgbClr val="16343B"/>
                </a:solidFill>
                <a:latin typeface="Calibri" pitchFamily="34" charset="0"/>
                <a:ea typeface="Calibri" pitchFamily="34" charset="-122"/>
                <a:cs typeface="Calibri" pitchFamily="34" charset="-120"/>
              </a:rPr>
              <a:t>d</a:t>
            </a:r>
            <a:endParaRPr lang="en-US" sz="1700" dirty="0"/>
          </a:p>
        </p:txBody>
      </p:sp>
      <p:sp>
        <p:nvSpPr>
          <p:cNvPr id="18" name="Shape 16">
            <a:extLst>
              <a:ext uri="{FF2B5EF4-FFF2-40B4-BE49-F238E27FC236}">
                <a16:creationId xmlns:a16="http://schemas.microsoft.com/office/drawing/2014/main" id="{658E33E9-AFCC-D044-5D49-89C2E6303F5F}"/>
              </a:ext>
            </a:extLst>
          </p:cNvPr>
          <p:cNvSpPr/>
          <p:nvPr/>
        </p:nvSpPr>
        <p:spPr>
          <a:xfrm>
            <a:off x="3959352" y="4050792"/>
            <a:ext cx="585216" cy="585216"/>
          </a:xfrm>
          <a:prstGeom prst="ellipse">
            <a:avLst/>
          </a:prstGeom>
          <a:solidFill>
            <a:srgbClr val="FFFFFF"/>
          </a:solidFill>
          <a:ln w="22225">
            <a:solidFill>
              <a:srgbClr val="0F5E6E"/>
            </a:solidFill>
            <a:prstDash val="solid"/>
          </a:ln>
        </p:spPr>
        <p:txBody>
          <a:bodyPr/>
          <a:lstStyle/>
          <a:p>
            <a:endParaRPr lang="en-US"/>
          </a:p>
        </p:txBody>
      </p:sp>
      <p:sp>
        <p:nvSpPr>
          <p:cNvPr id="19" name="Text 17">
            <a:extLst>
              <a:ext uri="{FF2B5EF4-FFF2-40B4-BE49-F238E27FC236}">
                <a16:creationId xmlns:a16="http://schemas.microsoft.com/office/drawing/2014/main" id="{02F22C89-2D7F-E9FA-20CC-2C51FBFA8C66}"/>
              </a:ext>
            </a:extLst>
          </p:cNvPr>
          <p:cNvSpPr txBox="1"/>
          <p:nvPr/>
        </p:nvSpPr>
        <p:spPr>
          <a:xfrm>
            <a:off x="3822192" y="4050792"/>
            <a:ext cx="859536" cy="585216"/>
          </a:xfrm>
          <a:prstGeom prst="rect">
            <a:avLst/>
          </a:prstGeom>
          <a:noFill/>
          <a:ln/>
        </p:spPr>
        <p:txBody>
          <a:bodyPr wrap="square" lIns="0" tIns="0" rIns="0" bIns="0" rtlCol="0" anchor="ctr"/>
          <a:lstStyle/>
          <a:p>
            <a:pPr marL="0" indent="0" algn="ctr">
              <a:buNone/>
            </a:pPr>
            <a:r>
              <a:rPr lang="en-US" sz="1700" b="1" dirty="0">
                <a:solidFill>
                  <a:srgbClr val="16343B"/>
                </a:solidFill>
                <a:latin typeface="Calibri" pitchFamily="34" charset="0"/>
                <a:ea typeface="Calibri" pitchFamily="34" charset="-122"/>
                <a:cs typeface="Calibri" pitchFamily="34" charset="-120"/>
              </a:rPr>
              <a:t>e</a:t>
            </a:r>
            <a:endParaRPr lang="en-US" sz="1700" dirty="0"/>
          </a:p>
        </p:txBody>
      </p:sp>
      <p:sp>
        <p:nvSpPr>
          <p:cNvPr id="20" name="Text 18">
            <a:extLst>
              <a:ext uri="{FF2B5EF4-FFF2-40B4-BE49-F238E27FC236}">
                <a16:creationId xmlns:a16="http://schemas.microsoft.com/office/drawing/2014/main" id="{CEE34F38-CBFF-4C84-9A7D-A621A590563D}"/>
              </a:ext>
            </a:extLst>
          </p:cNvPr>
          <p:cNvSpPr txBox="1"/>
          <p:nvPr/>
        </p:nvSpPr>
        <p:spPr>
          <a:xfrm>
            <a:off x="640080" y="5029200"/>
            <a:ext cx="4206240" cy="457200"/>
          </a:xfrm>
          <a:prstGeom prst="rect">
            <a:avLst/>
          </a:prstGeom>
          <a:noFill/>
          <a:ln/>
        </p:spPr>
        <p:txBody>
          <a:bodyPr wrap="square" lIns="0" tIns="0" rIns="0" bIns="0" rtlCol="0" anchor="t"/>
          <a:lstStyle/>
          <a:p>
            <a:pPr marL="0" indent="0" algn="ctr">
              <a:lnSpc>
                <a:spcPts val="1620"/>
              </a:lnSpc>
              <a:buNone/>
            </a:pPr>
            <a:r>
              <a:rPr lang="en-US" sz="1200" dirty="0">
                <a:solidFill>
                  <a:srgbClr val="5F7A80"/>
                </a:solidFill>
                <a:latin typeface="Calibri" pitchFamily="34" charset="0"/>
                <a:ea typeface="Calibri" pitchFamily="34" charset="-122"/>
                <a:cs typeface="Calibri" pitchFamily="34" charset="-120"/>
              </a:rPr>
              <a:t>d is b's LEFT child;  e is c's RIGHT child</a:t>
            </a:r>
            <a:endParaRPr lang="en-US" sz="1200" dirty="0"/>
          </a:p>
        </p:txBody>
      </p:sp>
      <p:sp>
        <p:nvSpPr>
          <p:cNvPr id="21" name="Shape 19">
            <a:extLst>
              <a:ext uri="{FF2B5EF4-FFF2-40B4-BE49-F238E27FC236}">
                <a16:creationId xmlns:a16="http://schemas.microsoft.com/office/drawing/2014/main" id="{2A9ACEB7-10C6-BACC-1D55-BC5364125EEF}"/>
              </a:ext>
            </a:extLst>
          </p:cNvPr>
          <p:cNvSpPr/>
          <p:nvPr/>
        </p:nvSpPr>
        <p:spPr>
          <a:xfrm>
            <a:off x="5486400" y="1783080"/>
            <a:ext cx="6062472" cy="1458468"/>
          </a:xfrm>
          <a:prstGeom prst="roundRect">
            <a:avLst>
              <a:gd name="adj" fmla="val 3135"/>
            </a:avLst>
          </a:prstGeom>
          <a:solidFill>
            <a:srgbClr val="FBEEDA"/>
          </a:solidFill>
          <a:ln w="12700">
            <a:solidFill>
              <a:srgbClr val="EAD3A6"/>
            </a:solidFill>
            <a:prstDash val="solid"/>
          </a:ln>
        </p:spPr>
        <p:txBody>
          <a:bodyPr/>
          <a:lstStyle/>
          <a:p>
            <a:endParaRPr lang="en-US"/>
          </a:p>
        </p:txBody>
      </p:sp>
      <p:sp>
        <p:nvSpPr>
          <p:cNvPr id="22" name="Text 20">
            <a:extLst>
              <a:ext uri="{FF2B5EF4-FFF2-40B4-BE49-F238E27FC236}">
                <a16:creationId xmlns:a16="http://schemas.microsoft.com/office/drawing/2014/main" id="{17071978-CCFE-C315-FB2A-84D23EBCCBD9}"/>
              </a:ext>
            </a:extLst>
          </p:cNvPr>
          <p:cNvSpPr txBox="1"/>
          <p:nvPr/>
        </p:nvSpPr>
        <p:spPr>
          <a:xfrm>
            <a:off x="5705856" y="1929384"/>
            <a:ext cx="5605272"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ANSWER</a:t>
            </a:r>
            <a:endParaRPr lang="en-US" sz="1100" dirty="0"/>
          </a:p>
        </p:txBody>
      </p:sp>
      <p:sp>
        <p:nvSpPr>
          <p:cNvPr id="23" name="Text 21">
            <a:extLst>
              <a:ext uri="{FF2B5EF4-FFF2-40B4-BE49-F238E27FC236}">
                <a16:creationId xmlns:a16="http://schemas.microsoft.com/office/drawing/2014/main" id="{FBFDD753-E049-4E5C-FEB3-BA6131E72C58}"/>
              </a:ext>
            </a:extLst>
          </p:cNvPr>
          <p:cNvSpPr txBox="1"/>
          <p:nvPr/>
        </p:nvSpPr>
        <p:spPr>
          <a:xfrm>
            <a:off x="5705856" y="2221992"/>
            <a:ext cx="5605272" cy="873252"/>
          </a:xfrm>
          <a:prstGeom prst="rect">
            <a:avLst/>
          </a:prstGeom>
          <a:noFill/>
          <a:ln/>
        </p:spPr>
        <p:txBody>
          <a:bodyPr wrap="square" lIns="0" tIns="0" rIns="0" bIns="0" rtlCol="0" anchor="t"/>
          <a:lstStyle/>
          <a:p>
            <a:pPr marL="0" indent="0">
              <a:lnSpc>
                <a:spcPts val="2100"/>
              </a:lnSpc>
              <a:spcAft>
                <a:spcPts val="400"/>
              </a:spcAft>
              <a:buNone/>
            </a:pPr>
            <a:r>
              <a:rPr lang="en-US" sz="1500" b="1" dirty="0">
                <a:solidFill>
                  <a:srgbClr val="16343B"/>
                </a:solidFill>
                <a:latin typeface="Courier New" pitchFamily="34" charset="0"/>
                <a:ea typeface="Courier New" pitchFamily="34" charset="-122"/>
                <a:cs typeface="Courier New" pitchFamily="34" charset="-120"/>
              </a:rPr>
              <a:t>Preorder:    a – b – d – c – e</a:t>
            </a:r>
            <a:endParaRPr lang="en-US" sz="1500" dirty="0"/>
          </a:p>
          <a:p>
            <a:pPr marL="0" indent="0">
              <a:lnSpc>
                <a:spcPts val="2100"/>
              </a:lnSpc>
              <a:spcAft>
                <a:spcPts val="400"/>
              </a:spcAft>
              <a:buNone/>
            </a:pPr>
            <a:r>
              <a:rPr lang="en-US" sz="1500" b="1" dirty="0">
                <a:solidFill>
                  <a:srgbClr val="16343B"/>
                </a:solidFill>
                <a:latin typeface="Courier New" pitchFamily="34" charset="0"/>
                <a:ea typeface="Courier New" pitchFamily="34" charset="-122"/>
                <a:cs typeface="Courier New" pitchFamily="34" charset="-120"/>
              </a:rPr>
              <a:t>Inorder:      d – b – a – c – e</a:t>
            </a:r>
            <a:endParaRPr lang="en-US" sz="1500" dirty="0"/>
          </a:p>
          <a:p>
            <a:pPr marL="0" indent="0">
              <a:lnSpc>
                <a:spcPts val="2100"/>
              </a:lnSpc>
              <a:spcAft>
                <a:spcPts val="400"/>
              </a:spcAft>
              <a:buNone/>
            </a:pPr>
            <a:r>
              <a:rPr lang="en-US" sz="1500" b="1" dirty="0">
                <a:solidFill>
                  <a:srgbClr val="16343B"/>
                </a:solidFill>
                <a:latin typeface="Courier New" pitchFamily="34" charset="0"/>
                <a:ea typeface="Courier New" pitchFamily="34" charset="-122"/>
                <a:cs typeface="Courier New" pitchFamily="34" charset="-120"/>
              </a:rPr>
              <a:t>Postorder:   d – b – e – c – a</a:t>
            </a:r>
            <a:endParaRPr lang="en-US" sz="1500" dirty="0"/>
          </a:p>
        </p:txBody>
      </p:sp>
      <p:sp>
        <p:nvSpPr>
          <p:cNvPr id="24" name="Text 22">
            <a:extLst>
              <a:ext uri="{FF2B5EF4-FFF2-40B4-BE49-F238E27FC236}">
                <a16:creationId xmlns:a16="http://schemas.microsoft.com/office/drawing/2014/main" id="{2FED0D30-AA45-1038-2073-E4685E078BB3}"/>
              </a:ext>
            </a:extLst>
          </p:cNvPr>
          <p:cNvSpPr txBox="1"/>
          <p:nvPr/>
        </p:nvSpPr>
        <p:spPr>
          <a:xfrm>
            <a:off x="5486400" y="3977640"/>
            <a:ext cx="6062472"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Preorder: a, then all of b's subtree (b, d), then all of c's (c, e).</a:t>
            </a:r>
            <a:endParaRPr lang="en-US" sz="1400" dirty="0"/>
          </a:p>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Inorder: b's left child d comes before b, and b's whole subtree comes before a.</a:t>
            </a:r>
            <a:endParaRPr lang="en-US" sz="1400" dirty="0"/>
          </a:p>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Postorder: a can only be written once both subtrees are complete.</a:t>
            </a:r>
            <a:endParaRPr lang="en-US" sz="1400" dirty="0"/>
          </a:p>
          <a:p>
            <a:pPr marL="203200" indent="-203200">
              <a:spcAft>
                <a:spcPts val="800"/>
              </a:spcAft>
              <a:buSzPct val="100000"/>
              <a:buChar char="▪"/>
            </a:pPr>
            <a:r>
              <a:rPr lang="en-US" sz="1400" b="1" dirty="0">
                <a:solidFill>
                  <a:srgbClr val="9C6410"/>
                </a:solidFill>
                <a:latin typeface="Calibri" pitchFamily="34" charset="0"/>
                <a:ea typeface="Calibri" pitchFamily="34" charset="-122"/>
                <a:cs typeface="Calibri" pitchFamily="34" charset="-120"/>
              </a:rPr>
              <a:t>Sanity check: a appears first / middle / last respectively.</a:t>
            </a:r>
            <a:endParaRPr lang="en-US" sz="1400" dirty="0"/>
          </a:p>
        </p:txBody>
      </p:sp>
    </p:spTree>
    <p:extLst>
      <p:ext uri="{BB962C8B-B14F-4D97-AF65-F5344CB8AC3E}">
        <p14:creationId xmlns:p14="http://schemas.microsoft.com/office/powerpoint/2010/main" val="1286172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Q52</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Preorder = inorder. What does the tree look like?</a:t>
            </a:r>
            <a:endParaRPr lang="en-US" sz="3000" dirty="0"/>
          </a:p>
        </p:txBody>
      </p:sp>
      <p:sp>
        <p:nvSpPr>
          <p:cNvPr id="5" name="Text 3"/>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6</a:t>
            </a:r>
            <a:endParaRPr lang="en-US" sz="900" dirty="0"/>
          </a:p>
        </p:txBody>
      </p:sp>
      <p:sp>
        <p:nvSpPr>
          <p:cNvPr id="6" name="Shape 4"/>
          <p:cNvSpPr/>
          <p:nvPr/>
        </p:nvSpPr>
        <p:spPr>
          <a:xfrm>
            <a:off x="640080" y="1554480"/>
            <a:ext cx="5120640" cy="1371600"/>
          </a:xfrm>
          <a:prstGeom prst="roundRect">
            <a:avLst>
              <a:gd name="adj" fmla="val 3333"/>
            </a:avLst>
          </a:prstGeom>
          <a:solidFill>
            <a:srgbClr val="F1F6F7"/>
          </a:solidFill>
          <a:ln w="12700">
            <a:solidFill>
              <a:srgbClr val="D3E0E3"/>
            </a:solidFill>
            <a:prstDash val="solid"/>
          </a:ln>
        </p:spPr>
        <p:txBody>
          <a:bodyPr/>
          <a:lstStyle/>
          <a:p>
            <a:endParaRPr lang="en-US"/>
          </a:p>
        </p:txBody>
      </p:sp>
      <p:sp>
        <p:nvSpPr>
          <p:cNvPr id="7" name="Text 5"/>
          <p:cNvSpPr txBox="1"/>
          <p:nvPr/>
        </p:nvSpPr>
        <p:spPr>
          <a:xfrm>
            <a:off x="914400" y="1737360"/>
            <a:ext cx="4572000" cy="365760"/>
          </a:xfrm>
          <a:prstGeom prst="rect">
            <a:avLst/>
          </a:prstGeom>
          <a:noFill/>
          <a:ln/>
        </p:spPr>
        <p:txBody>
          <a:bodyPr wrap="square" lIns="0" tIns="0" rIns="0" bIns="0" rtlCol="0" anchor="t"/>
          <a:lstStyle/>
          <a:p>
            <a:pPr marL="0" indent="0" algn="l">
              <a:lnSpc>
                <a:spcPts val="2025"/>
              </a:lnSpc>
              <a:buNone/>
            </a:pPr>
            <a:r>
              <a:rPr lang="en-US" sz="1500" b="1" dirty="0">
                <a:solidFill>
                  <a:srgbClr val="16343B"/>
                </a:solidFill>
                <a:latin typeface="Calibri" pitchFamily="34" charset="0"/>
                <a:ea typeface="Calibri" pitchFamily="34" charset="-122"/>
                <a:cs typeface="Calibri" pitchFamily="34" charset="-120"/>
              </a:rPr>
              <a:t>Preorder:   a, b, c, d, e</a:t>
            </a:r>
            <a:endParaRPr lang="en-US" sz="1500" dirty="0"/>
          </a:p>
        </p:txBody>
      </p:sp>
      <p:sp>
        <p:nvSpPr>
          <p:cNvPr id="8" name="Text 6"/>
          <p:cNvSpPr txBox="1"/>
          <p:nvPr/>
        </p:nvSpPr>
        <p:spPr>
          <a:xfrm>
            <a:off x="914400" y="2148840"/>
            <a:ext cx="4572000" cy="365760"/>
          </a:xfrm>
          <a:prstGeom prst="rect">
            <a:avLst/>
          </a:prstGeom>
          <a:noFill/>
          <a:ln/>
        </p:spPr>
        <p:txBody>
          <a:bodyPr wrap="square" lIns="0" tIns="0" rIns="0" bIns="0" rtlCol="0" anchor="t"/>
          <a:lstStyle/>
          <a:p>
            <a:pPr marL="0" indent="0" algn="l">
              <a:lnSpc>
                <a:spcPts val="2025"/>
              </a:lnSpc>
              <a:buNone/>
            </a:pPr>
            <a:r>
              <a:rPr lang="en-US" sz="1500" b="1" dirty="0">
                <a:solidFill>
                  <a:srgbClr val="16343B"/>
                </a:solidFill>
                <a:latin typeface="Calibri" pitchFamily="34" charset="0"/>
                <a:ea typeface="Calibri" pitchFamily="34" charset="-122"/>
                <a:cs typeface="Calibri" pitchFamily="34" charset="-120"/>
              </a:rPr>
              <a:t>Inorder:     a, b, c, d, e</a:t>
            </a:r>
            <a:endParaRPr lang="en-US" sz="1500" dirty="0"/>
          </a:p>
        </p:txBody>
      </p:sp>
      <p:sp>
        <p:nvSpPr>
          <p:cNvPr id="9" name="Text 7"/>
          <p:cNvSpPr txBox="1"/>
          <p:nvPr/>
        </p:nvSpPr>
        <p:spPr>
          <a:xfrm>
            <a:off x="914400" y="2542032"/>
            <a:ext cx="4572000" cy="320040"/>
          </a:xfrm>
          <a:prstGeom prst="rect">
            <a:avLst/>
          </a:prstGeom>
          <a:noFill/>
          <a:ln/>
        </p:spPr>
        <p:txBody>
          <a:bodyPr wrap="square" lIns="0" tIns="0" rIns="0" bIns="0" rtlCol="0" anchor="t"/>
          <a:lstStyle/>
          <a:p>
            <a:pPr marL="0" indent="0" algn="l">
              <a:lnSpc>
                <a:spcPts val="1755"/>
              </a:lnSpc>
              <a:buNone/>
            </a:pPr>
            <a:r>
              <a:rPr lang="en-US" sz="1300" i="1" dirty="0">
                <a:solidFill>
                  <a:srgbClr val="5F7A80"/>
                </a:solidFill>
                <a:latin typeface="Calibri" pitchFamily="34" charset="0"/>
                <a:ea typeface="Calibri" pitchFamily="34" charset="-122"/>
                <a:cs typeface="Calibri" pitchFamily="34" charset="-120"/>
              </a:rPr>
              <a:t>Identical. What is forced?</a:t>
            </a:r>
            <a:endParaRPr lang="en-US" sz="1300" dirty="0"/>
          </a:p>
        </p:txBody>
      </p:sp>
      <p:sp>
        <p:nvSpPr>
          <p:cNvPr id="10" name="Text 8"/>
          <p:cNvSpPr txBox="1"/>
          <p:nvPr/>
        </p:nvSpPr>
        <p:spPr>
          <a:xfrm>
            <a:off x="640080" y="3154680"/>
            <a:ext cx="5120640" cy="21945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Preorder writes the root BEFORE its left subtree:  N L R</a:t>
            </a:r>
            <a:endParaRPr lang="en-US" sz="1400" dirty="0"/>
          </a:p>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Inorder writes the root AFTER its left subtree:  L N 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24C75CB-5098-0665-E861-2109CB77FAE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FEB5EB3-29F2-DE72-ECAA-630C9AD0EC5E}"/>
              </a:ext>
            </a:extLst>
          </p:cNvPr>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a:extLst>
              <a:ext uri="{FF2B5EF4-FFF2-40B4-BE49-F238E27FC236}">
                <a16:creationId xmlns:a16="http://schemas.microsoft.com/office/drawing/2014/main" id="{36066343-6594-7643-6B82-8FB4A64BBD82}"/>
              </a:ext>
            </a:extLst>
          </p:cNvPr>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Q52</a:t>
            </a:r>
            <a:endParaRPr lang="en-US" sz="1500" dirty="0"/>
          </a:p>
        </p:txBody>
      </p:sp>
      <p:sp>
        <p:nvSpPr>
          <p:cNvPr id="4" name="Text 2">
            <a:extLst>
              <a:ext uri="{FF2B5EF4-FFF2-40B4-BE49-F238E27FC236}">
                <a16:creationId xmlns:a16="http://schemas.microsoft.com/office/drawing/2014/main" id="{570D2CD4-D8F6-1C56-14ED-2D708B697C8D}"/>
              </a:ext>
            </a:extLst>
          </p:cNvPr>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Preorder = inorder. What does the tree look like?</a:t>
            </a:r>
            <a:endParaRPr lang="en-US" sz="3000" dirty="0"/>
          </a:p>
        </p:txBody>
      </p:sp>
      <p:sp>
        <p:nvSpPr>
          <p:cNvPr id="5" name="Text 3">
            <a:extLst>
              <a:ext uri="{FF2B5EF4-FFF2-40B4-BE49-F238E27FC236}">
                <a16:creationId xmlns:a16="http://schemas.microsoft.com/office/drawing/2014/main" id="{1A010C20-A2F0-94F2-37D6-DD77741A47B3}"/>
              </a:ext>
            </a:extLst>
          </p:cNvPr>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6</a:t>
            </a:r>
            <a:endParaRPr lang="en-US" sz="900" dirty="0"/>
          </a:p>
        </p:txBody>
      </p:sp>
      <p:sp>
        <p:nvSpPr>
          <p:cNvPr id="6" name="Shape 4">
            <a:extLst>
              <a:ext uri="{FF2B5EF4-FFF2-40B4-BE49-F238E27FC236}">
                <a16:creationId xmlns:a16="http://schemas.microsoft.com/office/drawing/2014/main" id="{29041998-D842-4825-62D7-6A1FCB5E00FF}"/>
              </a:ext>
            </a:extLst>
          </p:cNvPr>
          <p:cNvSpPr/>
          <p:nvPr/>
        </p:nvSpPr>
        <p:spPr>
          <a:xfrm>
            <a:off x="640080" y="1554480"/>
            <a:ext cx="5120640" cy="1371600"/>
          </a:xfrm>
          <a:prstGeom prst="roundRect">
            <a:avLst>
              <a:gd name="adj" fmla="val 3333"/>
            </a:avLst>
          </a:prstGeom>
          <a:solidFill>
            <a:srgbClr val="F1F6F7"/>
          </a:solidFill>
          <a:ln w="12700">
            <a:solidFill>
              <a:srgbClr val="D3E0E3"/>
            </a:solidFill>
            <a:prstDash val="solid"/>
          </a:ln>
        </p:spPr>
        <p:txBody>
          <a:bodyPr/>
          <a:lstStyle/>
          <a:p>
            <a:endParaRPr lang="en-US"/>
          </a:p>
        </p:txBody>
      </p:sp>
      <p:sp>
        <p:nvSpPr>
          <p:cNvPr id="7" name="Text 5">
            <a:extLst>
              <a:ext uri="{FF2B5EF4-FFF2-40B4-BE49-F238E27FC236}">
                <a16:creationId xmlns:a16="http://schemas.microsoft.com/office/drawing/2014/main" id="{7ABBE749-F36A-C67D-39C9-33898C92683D}"/>
              </a:ext>
            </a:extLst>
          </p:cNvPr>
          <p:cNvSpPr txBox="1"/>
          <p:nvPr/>
        </p:nvSpPr>
        <p:spPr>
          <a:xfrm>
            <a:off x="914400" y="1737360"/>
            <a:ext cx="4572000" cy="365760"/>
          </a:xfrm>
          <a:prstGeom prst="rect">
            <a:avLst/>
          </a:prstGeom>
          <a:noFill/>
          <a:ln/>
        </p:spPr>
        <p:txBody>
          <a:bodyPr wrap="square" lIns="0" tIns="0" rIns="0" bIns="0" rtlCol="0" anchor="t"/>
          <a:lstStyle/>
          <a:p>
            <a:pPr marL="0" indent="0" algn="l">
              <a:lnSpc>
                <a:spcPts val="2025"/>
              </a:lnSpc>
              <a:buNone/>
            </a:pPr>
            <a:r>
              <a:rPr lang="en-US" sz="1500" b="1" dirty="0">
                <a:solidFill>
                  <a:srgbClr val="16343B"/>
                </a:solidFill>
                <a:latin typeface="Calibri" pitchFamily="34" charset="0"/>
                <a:ea typeface="Calibri" pitchFamily="34" charset="-122"/>
                <a:cs typeface="Calibri" pitchFamily="34" charset="-120"/>
              </a:rPr>
              <a:t>Preorder:   a, b, c, d, e</a:t>
            </a:r>
            <a:endParaRPr lang="en-US" sz="1500" dirty="0"/>
          </a:p>
        </p:txBody>
      </p:sp>
      <p:sp>
        <p:nvSpPr>
          <p:cNvPr id="8" name="Text 6">
            <a:extLst>
              <a:ext uri="{FF2B5EF4-FFF2-40B4-BE49-F238E27FC236}">
                <a16:creationId xmlns:a16="http://schemas.microsoft.com/office/drawing/2014/main" id="{49AC34AE-7BC3-8F15-ED80-C053DD04B5DA}"/>
              </a:ext>
            </a:extLst>
          </p:cNvPr>
          <p:cNvSpPr txBox="1"/>
          <p:nvPr/>
        </p:nvSpPr>
        <p:spPr>
          <a:xfrm>
            <a:off x="914400" y="2148840"/>
            <a:ext cx="4572000" cy="365760"/>
          </a:xfrm>
          <a:prstGeom prst="rect">
            <a:avLst/>
          </a:prstGeom>
          <a:noFill/>
          <a:ln/>
        </p:spPr>
        <p:txBody>
          <a:bodyPr wrap="square" lIns="0" tIns="0" rIns="0" bIns="0" rtlCol="0" anchor="t"/>
          <a:lstStyle/>
          <a:p>
            <a:pPr marL="0" indent="0" algn="l">
              <a:lnSpc>
                <a:spcPts val="2025"/>
              </a:lnSpc>
              <a:buNone/>
            </a:pPr>
            <a:r>
              <a:rPr lang="en-US" sz="1500" b="1" dirty="0">
                <a:solidFill>
                  <a:srgbClr val="16343B"/>
                </a:solidFill>
                <a:latin typeface="Calibri" pitchFamily="34" charset="0"/>
                <a:ea typeface="Calibri" pitchFamily="34" charset="-122"/>
                <a:cs typeface="Calibri" pitchFamily="34" charset="-120"/>
              </a:rPr>
              <a:t>Inorder:     a, b, c, d, e</a:t>
            </a:r>
            <a:endParaRPr lang="en-US" sz="1500" dirty="0"/>
          </a:p>
        </p:txBody>
      </p:sp>
      <p:sp>
        <p:nvSpPr>
          <p:cNvPr id="9" name="Text 7">
            <a:extLst>
              <a:ext uri="{FF2B5EF4-FFF2-40B4-BE49-F238E27FC236}">
                <a16:creationId xmlns:a16="http://schemas.microsoft.com/office/drawing/2014/main" id="{ABA70D0C-D2CE-3B27-B515-50EC202A5D68}"/>
              </a:ext>
            </a:extLst>
          </p:cNvPr>
          <p:cNvSpPr txBox="1"/>
          <p:nvPr/>
        </p:nvSpPr>
        <p:spPr>
          <a:xfrm>
            <a:off x="914400" y="2542032"/>
            <a:ext cx="4572000" cy="320040"/>
          </a:xfrm>
          <a:prstGeom prst="rect">
            <a:avLst/>
          </a:prstGeom>
          <a:noFill/>
          <a:ln/>
        </p:spPr>
        <p:txBody>
          <a:bodyPr wrap="square" lIns="0" tIns="0" rIns="0" bIns="0" rtlCol="0" anchor="t"/>
          <a:lstStyle/>
          <a:p>
            <a:pPr marL="0" indent="0" algn="l">
              <a:lnSpc>
                <a:spcPts val="1755"/>
              </a:lnSpc>
              <a:buNone/>
            </a:pPr>
            <a:r>
              <a:rPr lang="en-US" sz="1300" i="1" dirty="0">
                <a:solidFill>
                  <a:srgbClr val="5F7A80"/>
                </a:solidFill>
                <a:latin typeface="Calibri" pitchFamily="34" charset="0"/>
                <a:ea typeface="Calibri" pitchFamily="34" charset="-122"/>
                <a:cs typeface="Calibri" pitchFamily="34" charset="-120"/>
              </a:rPr>
              <a:t>Identical. What is forced?</a:t>
            </a:r>
            <a:endParaRPr lang="en-US" sz="1300" dirty="0"/>
          </a:p>
        </p:txBody>
      </p:sp>
      <p:sp>
        <p:nvSpPr>
          <p:cNvPr id="10" name="Text 8">
            <a:extLst>
              <a:ext uri="{FF2B5EF4-FFF2-40B4-BE49-F238E27FC236}">
                <a16:creationId xmlns:a16="http://schemas.microsoft.com/office/drawing/2014/main" id="{2A622B0E-47E0-2CD4-1108-6148A1242FCC}"/>
              </a:ext>
            </a:extLst>
          </p:cNvPr>
          <p:cNvSpPr txBox="1"/>
          <p:nvPr/>
        </p:nvSpPr>
        <p:spPr>
          <a:xfrm>
            <a:off x="640080" y="3154680"/>
            <a:ext cx="5120640" cy="21945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Preorder writes the root BEFORE its left subtree:  N L R</a:t>
            </a:r>
            <a:endParaRPr lang="en-US" sz="1400" dirty="0"/>
          </a:p>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Inorder writes the root AFTER its left subtree:  L N R</a:t>
            </a:r>
            <a:endParaRPr lang="en-US" sz="1400" dirty="0"/>
          </a:p>
          <a:p>
            <a:pPr marL="203200" indent="-203200">
              <a:spcAft>
                <a:spcPts val="800"/>
              </a:spcAft>
              <a:buSzPct val="100000"/>
              <a:buChar char="▪"/>
            </a:pPr>
            <a:r>
              <a:rPr lang="en-US" sz="1400" b="1" dirty="0">
                <a:solidFill>
                  <a:srgbClr val="9C6410"/>
                </a:solidFill>
                <a:latin typeface="Calibri" pitchFamily="34" charset="0"/>
                <a:ea typeface="Calibri" pitchFamily="34" charset="-122"/>
                <a:cs typeface="Calibri" pitchFamily="34" charset="-120"/>
              </a:rPr>
              <a:t>Both sequences agree ⇒ nothing may sit before the root ⇒ every left subtree is empty.</a:t>
            </a:r>
            <a:endParaRPr lang="en-US" sz="1400" dirty="0"/>
          </a:p>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The same argument applies to every node, recursively.</a:t>
            </a:r>
            <a:endParaRPr lang="en-US" sz="1400" dirty="0"/>
          </a:p>
        </p:txBody>
      </p:sp>
      <p:sp>
        <p:nvSpPr>
          <p:cNvPr id="11" name="Shape 9">
            <a:extLst>
              <a:ext uri="{FF2B5EF4-FFF2-40B4-BE49-F238E27FC236}">
                <a16:creationId xmlns:a16="http://schemas.microsoft.com/office/drawing/2014/main" id="{86FD1BE6-B881-8A19-7CDE-B4F0652A8460}"/>
              </a:ext>
            </a:extLst>
          </p:cNvPr>
          <p:cNvSpPr/>
          <p:nvPr/>
        </p:nvSpPr>
        <p:spPr>
          <a:xfrm>
            <a:off x="6858000" y="1691640"/>
            <a:ext cx="777240" cy="731520"/>
          </a:xfrm>
          <a:prstGeom prst="line">
            <a:avLst/>
          </a:prstGeom>
          <a:noFill/>
          <a:ln w="19050">
            <a:solidFill>
              <a:srgbClr val="3D8C9C"/>
            </a:solidFill>
            <a:prstDash val="solid"/>
          </a:ln>
        </p:spPr>
        <p:txBody>
          <a:bodyPr/>
          <a:lstStyle/>
          <a:p>
            <a:endParaRPr lang="en-US"/>
          </a:p>
        </p:txBody>
      </p:sp>
      <p:sp>
        <p:nvSpPr>
          <p:cNvPr id="12" name="Shape 10">
            <a:extLst>
              <a:ext uri="{FF2B5EF4-FFF2-40B4-BE49-F238E27FC236}">
                <a16:creationId xmlns:a16="http://schemas.microsoft.com/office/drawing/2014/main" id="{84FB5B2B-D50E-83B5-194D-B94FD0CFFA72}"/>
              </a:ext>
            </a:extLst>
          </p:cNvPr>
          <p:cNvSpPr/>
          <p:nvPr/>
        </p:nvSpPr>
        <p:spPr>
          <a:xfrm>
            <a:off x="7635240" y="2423160"/>
            <a:ext cx="777240" cy="731520"/>
          </a:xfrm>
          <a:prstGeom prst="line">
            <a:avLst/>
          </a:prstGeom>
          <a:noFill/>
          <a:ln w="19050">
            <a:solidFill>
              <a:srgbClr val="3D8C9C"/>
            </a:solidFill>
            <a:prstDash val="solid"/>
          </a:ln>
        </p:spPr>
        <p:txBody>
          <a:bodyPr/>
          <a:lstStyle/>
          <a:p>
            <a:endParaRPr lang="en-US"/>
          </a:p>
        </p:txBody>
      </p:sp>
      <p:sp>
        <p:nvSpPr>
          <p:cNvPr id="13" name="Shape 11">
            <a:extLst>
              <a:ext uri="{FF2B5EF4-FFF2-40B4-BE49-F238E27FC236}">
                <a16:creationId xmlns:a16="http://schemas.microsoft.com/office/drawing/2014/main" id="{1A35A81E-81E9-943B-D64B-6FBCFCFB47DC}"/>
              </a:ext>
            </a:extLst>
          </p:cNvPr>
          <p:cNvSpPr/>
          <p:nvPr/>
        </p:nvSpPr>
        <p:spPr>
          <a:xfrm>
            <a:off x="8412480" y="3154680"/>
            <a:ext cx="777240" cy="731520"/>
          </a:xfrm>
          <a:prstGeom prst="line">
            <a:avLst/>
          </a:prstGeom>
          <a:noFill/>
          <a:ln w="19050">
            <a:solidFill>
              <a:srgbClr val="3D8C9C"/>
            </a:solidFill>
            <a:prstDash val="solid"/>
          </a:ln>
        </p:spPr>
        <p:txBody>
          <a:bodyPr/>
          <a:lstStyle/>
          <a:p>
            <a:endParaRPr lang="en-US"/>
          </a:p>
        </p:txBody>
      </p:sp>
      <p:sp>
        <p:nvSpPr>
          <p:cNvPr id="14" name="Shape 12">
            <a:extLst>
              <a:ext uri="{FF2B5EF4-FFF2-40B4-BE49-F238E27FC236}">
                <a16:creationId xmlns:a16="http://schemas.microsoft.com/office/drawing/2014/main" id="{4A8F0719-40AD-3DF0-2F4B-C531807D03C5}"/>
              </a:ext>
            </a:extLst>
          </p:cNvPr>
          <p:cNvSpPr/>
          <p:nvPr/>
        </p:nvSpPr>
        <p:spPr>
          <a:xfrm>
            <a:off x="9189720" y="3886200"/>
            <a:ext cx="777240" cy="731520"/>
          </a:xfrm>
          <a:prstGeom prst="line">
            <a:avLst/>
          </a:prstGeom>
          <a:noFill/>
          <a:ln w="19050">
            <a:solidFill>
              <a:srgbClr val="3D8C9C"/>
            </a:solidFill>
            <a:prstDash val="solid"/>
          </a:ln>
        </p:spPr>
        <p:txBody>
          <a:bodyPr/>
          <a:lstStyle/>
          <a:p>
            <a:endParaRPr lang="en-US"/>
          </a:p>
        </p:txBody>
      </p:sp>
      <p:sp>
        <p:nvSpPr>
          <p:cNvPr id="15" name="Shape 13">
            <a:extLst>
              <a:ext uri="{FF2B5EF4-FFF2-40B4-BE49-F238E27FC236}">
                <a16:creationId xmlns:a16="http://schemas.microsoft.com/office/drawing/2014/main" id="{78A01171-5E5F-AB20-8DE2-301DAF924551}"/>
              </a:ext>
            </a:extLst>
          </p:cNvPr>
          <p:cNvSpPr/>
          <p:nvPr/>
        </p:nvSpPr>
        <p:spPr>
          <a:xfrm>
            <a:off x="6611112" y="1444752"/>
            <a:ext cx="493776" cy="493776"/>
          </a:xfrm>
          <a:prstGeom prst="ellipse">
            <a:avLst/>
          </a:prstGeom>
          <a:solidFill>
            <a:srgbClr val="D9932B"/>
          </a:solidFill>
          <a:ln w="22225">
            <a:solidFill>
              <a:srgbClr val="D9932B"/>
            </a:solidFill>
            <a:prstDash val="solid"/>
          </a:ln>
        </p:spPr>
        <p:txBody>
          <a:bodyPr/>
          <a:lstStyle/>
          <a:p>
            <a:endParaRPr lang="en-US"/>
          </a:p>
        </p:txBody>
      </p:sp>
      <p:sp>
        <p:nvSpPr>
          <p:cNvPr id="16" name="Text 14">
            <a:extLst>
              <a:ext uri="{FF2B5EF4-FFF2-40B4-BE49-F238E27FC236}">
                <a16:creationId xmlns:a16="http://schemas.microsoft.com/office/drawing/2014/main" id="{DCB4B65F-7012-E34C-EB48-343308999528}"/>
              </a:ext>
            </a:extLst>
          </p:cNvPr>
          <p:cNvSpPr txBox="1"/>
          <p:nvPr/>
        </p:nvSpPr>
        <p:spPr>
          <a:xfrm>
            <a:off x="6473952" y="1444752"/>
            <a:ext cx="768096" cy="493776"/>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a</a:t>
            </a:r>
            <a:endParaRPr lang="en-US" sz="1500" dirty="0"/>
          </a:p>
        </p:txBody>
      </p:sp>
      <p:sp>
        <p:nvSpPr>
          <p:cNvPr id="17" name="Shape 15">
            <a:extLst>
              <a:ext uri="{FF2B5EF4-FFF2-40B4-BE49-F238E27FC236}">
                <a16:creationId xmlns:a16="http://schemas.microsoft.com/office/drawing/2014/main" id="{80436E1D-94FD-695B-FAA6-6743B8FFFA2B}"/>
              </a:ext>
            </a:extLst>
          </p:cNvPr>
          <p:cNvSpPr/>
          <p:nvPr/>
        </p:nvSpPr>
        <p:spPr>
          <a:xfrm>
            <a:off x="7388352" y="2176272"/>
            <a:ext cx="493776" cy="493776"/>
          </a:xfrm>
          <a:prstGeom prst="ellipse">
            <a:avLst/>
          </a:prstGeom>
          <a:solidFill>
            <a:srgbClr val="FFFFFF"/>
          </a:solidFill>
          <a:ln w="22225">
            <a:solidFill>
              <a:srgbClr val="0F5E6E"/>
            </a:solidFill>
            <a:prstDash val="solid"/>
          </a:ln>
        </p:spPr>
        <p:txBody>
          <a:bodyPr/>
          <a:lstStyle/>
          <a:p>
            <a:endParaRPr lang="en-US"/>
          </a:p>
        </p:txBody>
      </p:sp>
      <p:sp>
        <p:nvSpPr>
          <p:cNvPr id="18" name="Text 16">
            <a:extLst>
              <a:ext uri="{FF2B5EF4-FFF2-40B4-BE49-F238E27FC236}">
                <a16:creationId xmlns:a16="http://schemas.microsoft.com/office/drawing/2014/main" id="{2127347F-139B-7D08-49F9-D208DF8B2DD1}"/>
              </a:ext>
            </a:extLst>
          </p:cNvPr>
          <p:cNvSpPr txBox="1"/>
          <p:nvPr/>
        </p:nvSpPr>
        <p:spPr>
          <a:xfrm>
            <a:off x="7251192" y="2176272"/>
            <a:ext cx="768096" cy="493776"/>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b</a:t>
            </a:r>
            <a:endParaRPr lang="en-US" sz="1500" dirty="0"/>
          </a:p>
        </p:txBody>
      </p:sp>
      <p:sp>
        <p:nvSpPr>
          <p:cNvPr id="19" name="Shape 17">
            <a:extLst>
              <a:ext uri="{FF2B5EF4-FFF2-40B4-BE49-F238E27FC236}">
                <a16:creationId xmlns:a16="http://schemas.microsoft.com/office/drawing/2014/main" id="{4B535275-EEC5-F909-834D-E5754D8A32EC}"/>
              </a:ext>
            </a:extLst>
          </p:cNvPr>
          <p:cNvSpPr/>
          <p:nvPr/>
        </p:nvSpPr>
        <p:spPr>
          <a:xfrm>
            <a:off x="8165592" y="2907792"/>
            <a:ext cx="493776" cy="493776"/>
          </a:xfrm>
          <a:prstGeom prst="ellipse">
            <a:avLst/>
          </a:prstGeom>
          <a:solidFill>
            <a:srgbClr val="FFFFFF"/>
          </a:solidFill>
          <a:ln w="22225">
            <a:solidFill>
              <a:srgbClr val="0F5E6E"/>
            </a:solidFill>
            <a:prstDash val="solid"/>
          </a:ln>
        </p:spPr>
        <p:txBody>
          <a:bodyPr/>
          <a:lstStyle/>
          <a:p>
            <a:endParaRPr lang="en-US"/>
          </a:p>
        </p:txBody>
      </p:sp>
      <p:sp>
        <p:nvSpPr>
          <p:cNvPr id="20" name="Text 18">
            <a:extLst>
              <a:ext uri="{FF2B5EF4-FFF2-40B4-BE49-F238E27FC236}">
                <a16:creationId xmlns:a16="http://schemas.microsoft.com/office/drawing/2014/main" id="{4976FC0F-71BE-0D4D-B189-2028EDEFCEB3}"/>
              </a:ext>
            </a:extLst>
          </p:cNvPr>
          <p:cNvSpPr txBox="1"/>
          <p:nvPr/>
        </p:nvSpPr>
        <p:spPr>
          <a:xfrm>
            <a:off x="8028432" y="2907792"/>
            <a:ext cx="768096" cy="493776"/>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c</a:t>
            </a:r>
            <a:endParaRPr lang="en-US" sz="1500" dirty="0"/>
          </a:p>
        </p:txBody>
      </p:sp>
      <p:sp>
        <p:nvSpPr>
          <p:cNvPr id="21" name="Shape 19">
            <a:extLst>
              <a:ext uri="{FF2B5EF4-FFF2-40B4-BE49-F238E27FC236}">
                <a16:creationId xmlns:a16="http://schemas.microsoft.com/office/drawing/2014/main" id="{FB8B6D55-D02C-0387-F0A7-35947A8EC69D}"/>
              </a:ext>
            </a:extLst>
          </p:cNvPr>
          <p:cNvSpPr/>
          <p:nvPr/>
        </p:nvSpPr>
        <p:spPr>
          <a:xfrm>
            <a:off x="8942832" y="3639312"/>
            <a:ext cx="493776" cy="493776"/>
          </a:xfrm>
          <a:prstGeom prst="ellipse">
            <a:avLst/>
          </a:prstGeom>
          <a:solidFill>
            <a:srgbClr val="FFFFFF"/>
          </a:solidFill>
          <a:ln w="22225">
            <a:solidFill>
              <a:srgbClr val="0F5E6E"/>
            </a:solidFill>
            <a:prstDash val="solid"/>
          </a:ln>
        </p:spPr>
        <p:txBody>
          <a:bodyPr/>
          <a:lstStyle/>
          <a:p>
            <a:endParaRPr lang="en-US"/>
          </a:p>
        </p:txBody>
      </p:sp>
      <p:sp>
        <p:nvSpPr>
          <p:cNvPr id="22" name="Text 20">
            <a:extLst>
              <a:ext uri="{FF2B5EF4-FFF2-40B4-BE49-F238E27FC236}">
                <a16:creationId xmlns:a16="http://schemas.microsoft.com/office/drawing/2014/main" id="{5E5C12A2-5381-91B6-AB05-3421E1F04AAA}"/>
              </a:ext>
            </a:extLst>
          </p:cNvPr>
          <p:cNvSpPr txBox="1"/>
          <p:nvPr/>
        </p:nvSpPr>
        <p:spPr>
          <a:xfrm>
            <a:off x="8805672" y="3639312"/>
            <a:ext cx="768096" cy="493776"/>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d</a:t>
            </a:r>
            <a:endParaRPr lang="en-US" sz="1500" dirty="0"/>
          </a:p>
        </p:txBody>
      </p:sp>
      <p:sp>
        <p:nvSpPr>
          <p:cNvPr id="23" name="Shape 21">
            <a:extLst>
              <a:ext uri="{FF2B5EF4-FFF2-40B4-BE49-F238E27FC236}">
                <a16:creationId xmlns:a16="http://schemas.microsoft.com/office/drawing/2014/main" id="{80C29CD1-F2CD-6A2A-42A6-2D92160E18E4}"/>
              </a:ext>
            </a:extLst>
          </p:cNvPr>
          <p:cNvSpPr/>
          <p:nvPr/>
        </p:nvSpPr>
        <p:spPr>
          <a:xfrm>
            <a:off x="9720072" y="4370832"/>
            <a:ext cx="493776" cy="493776"/>
          </a:xfrm>
          <a:prstGeom prst="ellipse">
            <a:avLst/>
          </a:prstGeom>
          <a:solidFill>
            <a:srgbClr val="FFFFFF"/>
          </a:solidFill>
          <a:ln w="22225">
            <a:solidFill>
              <a:srgbClr val="0F5E6E"/>
            </a:solidFill>
            <a:prstDash val="solid"/>
          </a:ln>
        </p:spPr>
        <p:txBody>
          <a:bodyPr/>
          <a:lstStyle/>
          <a:p>
            <a:endParaRPr lang="en-US"/>
          </a:p>
        </p:txBody>
      </p:sp>
      <p:sp>
        <p:nvSpPr>
          <p:cNvPr id="24" name="Text 22">
            <a:extLst>
              <a:ext uri="{FF2B5EF4-FFF2-40B4-BE49-F238E27FC236}">
                <a16:creationId xmlns:a16="http://schemas.microsoft.com/office/drawing/2014/main" id="{166ACDE7-D404-467B-9145-FFBC55B82A3E}"/>
              </a:ext>
            </a:extLst>
          </p:cNvPr>
          <p:cNvSpPr txBox="1"/>
          <p:nvPr/>
        </p:nvSpPr>
        <p:spPr>
          <a:xfrm>
            <a:off x="9582912" y="4370832"/>
            <a:ext cx="768096" cy="493776"/>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e</a:t>
            </a:r>
            <a:endParaRPr lang="en-US" sz="1500" dirty="0"/>
          </a:p>
        </p:txBody>
      </p:sp>
      <p:sp>
        <p:nvSpPr>
          <p:cNvPr id="25" name="Text 23">
            <a:extLst>
              <a:ext uri="{FF2B5EF4-FFF2-40B4-BE49-F238E27FC236}">
                <a16:creationId xmlns:a16="http://schemas.microsoft.com/office/drawing/2014/main" id="{68DFF8E8-8910-90E2-1248-40F6E5680FDC}"/>
              </a:ext>
            </a:extLst>
          </p:cNvPr>
          <p:cNvSpPr txBox="1"/>
          <p:nvPr/>
        </p:nvSpPr>
        <p:spPr>
          <a:xfrm>
            <a:off x="6492240" y="5074920"/>
            <a:ext cx="4572000" cy="457200"/>
          </a:xfrm>
          <a:prstGeom prst="rect">
            <a:avLst/>
          </a:prstGeom>
          <a:noFill/>
          <a:ln/>
        </p:spPr>
        <p:txBody>
          <a:bodyPr wrap="square" lIns="0" tIns="0" rIns="0" bIns="0" rtlCol="0" anchor="t"/>
          <a:lstStyle/>
          <a:p>
            <a:pPr marL="0" indent="0" algn="ctr">
              <a:lnSpc>
                <a:spcPts val="1755"/>
              </a:lnSpc>
              <a:buNone/>
            </a:pPr>
            <a:r>
              <a:rPr lang="en-US" sz="1300" dirty="0">
                <a:solidFill>
                  <a:srgbClr val="5F7A80"/>
                </a:solidFill>
                <a:latin typeface="Calibri" pitchFamily="34" charset="0"/>
                <a:ea typeface="Calibri" pitchFamily="34" charset="-122"/>
                <a:cs typeface="Calibri" pitchFamily="34" charset="-120"/>
              </a:rPr>
              <a:t>A “stick”: each node has only a right child. Effectively a linked list — height n − 1.</a:t>
            </a:r>
            <a:endParaRPr lang="en-US" sz="1300" dirty="0"/>
          </a:p>
        </p:txBody>
      </p:sp>
    </p:spTree>
    <p:extLst>
      <p:ext uri="{BB962C8B-B14F-4D97-AF65-F5344CB8AC3E}">
        <p14:creationId xmlns:p14="http://schemas.microsoft.com/office/powerpoint/2010/main" val="1169824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Q53</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Rebuild the tree from two traversals</a:t>
            </a:r>
            <a:endParaRPr lang="en-US" sz="3000" dirty="0"/>
          </a:p>
        </p:txBody>
      </p:sp>
      <p:sp>
        <p:nvSpPr>
          <p:cNvPr id="5" name="Text 3"/>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7</a:t>
            </a:r>
            <a:endParaRPr lang="en-US" sz="900" dirty="0"/>
          </a:p>
        </p:txBody>
      </p:sp>
      <p:sp>
        <p:nvSpPr>
          <p:cNvPr id="6" name="Shape 4"/>
          <p:cNvSpPr/>
          <p:nvPr/>
        </p:nvSpPr>
        <p:spPr>
          <a:xfrm>
            <a:off x="640080" y="1508760"/>
            <a:ext cx="10908792" cy="1234440"/>
          </a:xfrm>
          <a:prstGeom prst="roundRect">
            <a:avLst>
              <a:gd name="adj" fmla="val 3704"/>
            </a:avLst>
          </a:prstGeom>
          <a:solidFill>
            <a:srgbClr val="F1F6F7"/>
          </a:solidFill>
          <a:ln w="12700">
            <a:solidFill>
              <a:srgbClr val="D3E0E3"/>
            </a:solidFill>
            <a:prstDash val="solid"/>
          </a:ln>
        </p:spPr>
        <p:txBody>
          <a:bodyPr/>
          <a:lstStyle/>
          <a:p>
            <a:endParaRPr lang="en-US"/>
          </a:p>
        </p:txBody>
      </p:sp>
      <p:sp>
        <p:nvSpPr>
          <p:cNvPr id="7" name="Text 5"/>
          <p:cNvSpPr txBox="1"/>
          <p:nvPr/>
        </p:nvSpPr>
        <p:spPr>
          <a:xfrm>
            <a:off x="960120" y="1691640"/>
            <a:ext cx="1463040" cy="320040"/>
          </a:xfrm>
          <a:prstGeom prst="rect">
            <a:avLst/>
          </a:prstGeom>
          <a:noFill/>
          <a:ln/>
        </p:spPr>
        <p:txBody>
          <a:bodyPr wrap="square" lIns="0" tIns="0" rIns="0" bIns="0" rtlCol="0" anchor="t"/>
          <a:lstStyle/>
          <a:p>
            <a:pPr marL="0" indent="0" algn="l">
              <a:lnSpc>
                <a:spcPts val="1890"/>
              </a:lnSpc>
              <a:buNone/>
            </a:pPr>
            <a:r>
              <a:rPr lang="en-US" sz="1400" b="1" dirty="0">
                <a:solidFill>
                  <a:srgbClr val="0F5E6E"/>
                </a:solidFill>
                <a:latin typeface="Calibri" pitchFamily="34" charset="0"/>
                <a:ea typeface="Calibri" pitchFamily="34" charset="-122"/>
                <a:cs typeface="Calibri" pitchFamily="34" charset="-120"/>
              </a:rPr>
              <a:t>Preorder</a:t>
            </a:r>
            <a:endParaRPr lang="en-US" sz="1400" dirty="0"/>
          </a:p>
        </p:txBody>
      </p:sp>
      <p:sp>
        <p:nvSpPr>
          <p:cNvPr id="8" name="Text 6"/>
          <p:cNvSpPr txBox="1"/>
          <p:nvPr/>
        </p:nvSpPr>
        <p:spPr>
          <a:xfrm>
            <a:off x="2468880" y="1691640"/>
            <a:ext cx="8229600" cy="320040"/>
          </a:xfrm>
          <a:prstGeom prst="rect">
            <a:avLst/>
          </a:prstGeom>
          <a:noFill/>
          <a:ln/>
        </p:spPr>
        <p:txBody>
          <a:bodyPr wrap="square" lIns="0" tIns="0" rIns="0" bIns="0" rtlCol="0" anchor="ctr"/>
          <a:lstStyle/>
          <a:p>
            <a:pPr marL="0" indent="0">
              <a:buNone/>
            </a:pPr>
            <a:r>
              <a:rPr lang="en-US" sz="1500" b="1" dirty="0">
                <a:solidFill>
                  <a:srgbClr val="16343B"/>
                </a:solidFill>
                <a:latin typeface="Courier New" pitchFamily="34" charset="0"/>
                <a:ea typeface="Courier New" pitchFamily="34" charset="-122"/>
                <a:cs typeface="Courier New" pitchFamily="34" charset="-120"/>
              </a:rPr>
              <a:t>14</a:t>
            </a:r>
            <a:r>
              <a:rPr lang="en-US" sz="1500" dirty="0">
                <a:solidFill>
                  <a:srgbClr val="16343B"/>
                </a:solidFill>
                <a:latin typeface="Courier New" pitchFamily="34" charset="0"/>
                <a:ea typeface="Courier New" pitchFamily="34" charset="-122"/>
                <a:cs typeface="Courier New" pitchFamily="34" charset="-120"/>
              </a:rPr>
              <a:t>, 83, 63, 42, 19, 27, 74, 99, 51, 37</a:t>
            </a:r>
            <a:endParaRPr lang="en-US" sz="1500" dirty="0"/>
          </a:p>
        </p:txBody>
      </p:sp>
      <p:sp>
        <p:nvSpPr>
          <p:cNvPr id="9" name="Text 7"/>
          <p:cNvSpPr txBox="1"/>
          <p:nvPr/>
        </p:nvSpPr>
        <p:spPr>
          <a:xfrm>
            <a:off x="960120" y="2176272"/>
            <a:ext cx="1463040" cy="320040"/>
          </a:xfrm>
          <a:prstGeom prst="rect">
            <a:avLst/>
          </a:prstGeom>
          <a:noFill/>
          <a:ln/>
        </p:spPr>
        <p:txBody>
          <a:bodyPr wrap="square" lIns="0" tIns="0" rIns="0" bIns="0" rtlCol="0" anchor="t"/>
          <a:lstStyle/>
          <a:p>
            <a:pPr marL="0" indent="0" algn="l">
              <a:lnSpc>
                <a:spcPts val="1890"/>
              </a:lnSpc>
              <a:buNone/>
            </a:pPr>
            <a:r>
              <a:rPr lang="en-US" sz="1400" b="1" dirty="0">
                <a:solidFill>
                  <a:srgbClr val="0F5E6E"/>
                </a:solidFill>
                <a:latin typeface="Calibri" pitchFamily="34" charset="0"/>
                <a:ea typeface="Calibri" pitchFamily="34" charset="-122"/>
                <a:cs typeface="Calibri" pitchFamily="34" charset="-120"/>
              </a:rPr>
              <a:t>Inorder</a:t>
            </a:r>
            <a:endParaRPr lang="en-US" sz="1400" dirty="0"/>
          </a:p>
        </p:txBody>
      </p:sp>
      <p:sp>
        <p:nvSpPr>
          <p:cNvPr id="10" name="Text 8"/>
          <p:cNvSpPr txBox="1"/>
          <p:nvPr/>
        </p:nvSpPr>
        <p:spPr>
          <a:xfrm>
            <a:off x="2468880" y="2176272"/>
            <a:ext cx="8229600" cy="320040"/>
          </a:xfrm>
          <a:prstGeom prst="rect">
            <a:avLst/>
          </a:prstGeom>
          <a:noFill/>
          <a:ln/>
        </p:spPr>
        <p:txBody>
          <a:bodyPr wrap="square" lIns="0" tIns="0" rIns="0" bIns="0" rtlCol="0" anchor="ctr"/>
          <a:lstStyle/>
          <a:p>
            <a:pPr marL="0" indent="0">
              <a:buNone/>
            </a:pPr>
            <a:r>
              <a:rPr lang="en-US" sz="1500" dirty="0">
                <a:solidFill>
                  <a:srgbClr val="16343B"/>
                </a:solidFill>
                <a:latin typeface="Courier New" pitchFamily="34" charset="0"/>
                <a:ea typeface="Courier New" pitchFamily="34" charset="-122"/>
                <a:cs typeface="Courier New" pitchFamily="34" charset="-120"/>
              </a:rPr>
              <a:t>63, 83, 19, 42, </a:t>
            </a:r>
            <a:r>
              <a:rPr lang="en-US" sz="1500" b="1" dirty="0">
                <a:solidFill>
                  <a:srgbClr val="16343B"/>
                </a:solidFill>
                <a:latin typeface="Courier New" pitchFamily="34" charset="0"/>
                <a:ea typeface="Courier New" pitchFamily="34" charset="-122"/>
                <a:cs typeface="Courier New" pitchFamily="34" charset="-120"/>
              </a:rPr>
              <a:t>14</a:t>
            </a:r>
            <a:r>
              <a:rPr lang="en-US" sz="1500" dirty="0">
                <a:solidFill>
                  <a:srgbClr val="16343B"/>
                </a:solidFill>
                <a:latin typeface="Courier New" pitchFamily="34" charset="0"/>
                <a:ea typeface="Courier New" pitchFamily="34" charset="-122"/>
                <a:cs typeface="Courier New" pitchFamily="34" charset="-120"/>
              </a:rPr>
              <a:t>, 27, 99, 51, 74, 37</a:t>
            </a:r>
            <a:endParaRPr lang="en-US" sz="1500" dirty="0"/>
          </a:p>
        </p:txBody>
      </p:sp>
      <p:sp>
        <p:nvSpPr>
          <p:cNvPr id="11" name="Text 9"/>
          <p:cNvSpPr txBox="1"/>
          <p:nvPr/>
        </p:nvSpPr>
        <p:spPr>
          <a:xfrm>
            <a:off x="640080" y="3154680"/>
            <a:ext cx="10908792" cy="365760"/>
          </a:xfrm>
          <a:prstGeom prst="rect">
            <a:avLst/>
          </a:prstGeom>
          <a:noFill/>
          <a:ln/>
        </p:spPr>
        <p:txBody>
          <a:bodyPr wrap="square" lIns="0" tIns="0" rIns="0" bIns="0" rtlCol="0" anchor="t"/>
          <a:lstStyle/>
          <a:p>
            <a:pPr marL="0" indent="0" algn="l">
              <a:lnSpc>
                <a:spcPts val="2025"/>
              </a:lnSpc>
              <a:buNone/>
            </a:pPr>
            <a:r>
              <a:rPr lang="en-US" sz="1500" b="1" dirty="0">
                <a:solidFill>
                  <a:srgbClr val="16343B"/>
                </a:solidFill>
                <a:latin typeface="Calibri" pitchFamily="34" charset="0"/>
                <a:ea typeface="Calibri" pitchFamily="34" charset="-122"/>
                <a:cs typeface="Calibri" pitchFamily="34" charset="-120"/>
              </a:rPr>
              <a:t>Do not guess the tree. Ask three questions, then repeat them on what is left.</a:t>
            </a:r>
            <a:endParaRPr lang="en-US" sz="1500" dirty="0"/>
          </a:p>
        </p:txBody>
      </p:sp>
      <p:sp>
        <p:nvSpPr>
          <p:cNvPr id="12" name="Shape 10"/>
          <p:cNvSpPr/>
          <p:nvPr/>
        </p:nvSpPr>
        <p:spPr>
          <a:xfrm>
            <a:off x="640080" y="3703320"/>
            <a:ext cx="3422904" cy="1965960"/>
          </a:xfrm>
          <a:prstGeom prst="roundRect">
            <a:avLst>
              <a:gd name="adj" fmla="val 2326"/>
            </a:avLst>
          </a:prstGeom>
          <a:solidFill>
            <a:srgbClr val="F1F6F7"/>
          </a:solidFill>
          <a:ln w="12700">
            <a:solidFill>
              <a:srgbClr val="D3E0E3"/>
            </a:solidFill>
            <a:prstDash val="solid"/>
          </a:ln>
        </p:spPr>
        <p:txBody>
          <a:bodyPr/>
          <a:lstStyle/>
          <a:p>
            <a:endParaRPr lang="en-US"/>
          </a:p>
        </p:txBody>
      </p:sp>
      <p:sp>
        <p:nvSpPr>
          <p:cNvPr id="13" name="Shape 11"/>
          <p:cNvSpPr/>
          <p:nvPr/>
        </p:nvSpPr>
        <p:spPr>
          <a:xfrm>
            <a:off x="896112" y="3931920"/>
            <a:ext cx="384048" cy="384048"/>
          </a:xfrm>
          <a:prstGeom prst="ellipse">
            <a:avLst/>
          </a:prstGeom>
          <a:solidFill>
            <a:srgbClr val="D9932B"/>
          </a:solidFill>
          <a:ln w="12700">
            <a:solidFill>
              <a:srgbClr val="D9932B"/>
            </a:solidFill>
            <a:prstDash val="solid"/>
          </a:ln>
        </p:spPr>
        <p:txBody>
          <a:bodyPr/>
          <a:lstStyle/>
          <a:p>
            <a:endParaRPr lang="en-US"/>
          </a:p>
        </p:txBody>
      </p:sp>
      <p:sp>
        <p:nvSpPr>
          <p:cNvPr id="14" name="Text 12"/>
          <p:cNvSpPr txBox="1"/>
          <p:nvPr/>
        </p:nvSpPr>
        <p:spPr>
          <a:xfrm>
            <a:off x="896112" y="3931920"/>
            <a:ext cx="384048" cy="384048"/>
          </a:xfrm>
          <a:prstGeom prst="rect">
            <a:avLst/>
          </a:prstGeom>
          <a:noFill/>
          <a:ln/>
        </p:spPr>
        <p:txBody>
          <a:bodyPr wrap="square" lIns="0" tIns="0" rIns="0" bIns="0" rtlCol="0" anchor="ctr"/>
          <a:lstStyle/>
          <a:p>
            <a:pPr marL="0" indent="0" algn="ctr">
              <a:buNone/>
            </a:pPr>
            <a:r>
              <a:rPr lang="en-US" sz="1400" b="1" dirty="0">
                <a:solidFill>
                  <a:srgbClr val="0B2E36"/>
                </a:solidFill>
                <a:latin typeface="Calibri" pitchFamily="34" charset="0"/>
                <a:ea typeface="Calibri" pitchFamily="34" charset="-122"/>
                <a:cs typeface="Calibri" pitchFamily="34" charset="-120"/>
              </a:rPr>
              <a:t>1</a:t>
            </a:r>
            <a:endParaRPr lang="en-US" sz="1400" dirty="0"/>
          </a:p>
        </p:txBody>
      </p:sp>
      <p:sp>
        <p:nvSpPr>
          <p:cNvPr id="15" name="Text 13"/>
          <p:cNvSpPr txBox="1"/>
          <p:nvPr/>
        </p:nvSpPr>
        <p:spPr>
          <a:xfrm>
            <a:off x="1417320" y="3959352"/>
            <a:ext cx="2371344" cy="365760"/>
          </a:xfrm>
          <a:prstGeom prst="rect">
            <a:avLst/>
          </a:prstGeom>
          <a:noFill/>
          <a:ln/>
        </p:spPr>
        <p:txBody>
          <a:bodyPr wrap="square" lIns="0" tIns="0" rIns="0" bIns="0" rtlCol="0" anchor="t"/>
          <a:lstStyle/>
          <a:p>
            <a:pPr marL="0" indent="0" algn="l">
              <a:lnSpc>
                <a:spcPts val="2025"/>
              </a:lnSpc>
              <a:buNone/>
            </a:pPr>
            <a:r>
              <a:rPr lang="en-US" sz="1500" b="1" dirty="0">
                <a:solidFill>
                  <a:srgbClr val="0F5E6E"/>
                </a:solidFill>
                <a:latin typeface="Calibri" pitchFamily="34" charset="0"/>
                <a:ea typeface="Calibri" pitchFamily="34" charset="-122"/>
                <a:cs typeface="Calibri" pitchFamily="34" charset="-120"/>
              </a:rPr>
              <a:t>Which node is the root?</a:t>
            </a:r>
            <a:endParaRPr lang="en-US" sz="1500" dirty="0"/>
          </a:p>
        </p:txBody>
      </p:sp>
      <p:sp>
        <p:nvSpPr>
          <p:cNvPr id="16" name="Text 14"/>
          <p:cNvSpPr txBox="1"/>
          <p:nvPr/>
        </p:nvSpPr>
        <p:spPr>
          <a:xfrm>
            <a:off x="896112" y="4498848"/>
            <a:ext cx="2910840" cy="1005840"/>
          </a:xfrm>
          <a:prstGeom prst="rect">
            <a:avLst/>
          </a:prstGeom>
          <a:noFill/>
          <a:ln/>
        </p:spPr>
        <p:txBody>
          <a:bodyPr wrap="square" lIns="0" tIns="0" rIns="0" bIns="0" rtlCol="0" anchor="t"/>
          <a:lstStyle/>
          <a:p>
            <a:pPr marL="0" indent="0" algn="l">
              <a:lnSpc>
                <a:spcPts val="1890"/>
              </a:lnSpc>
              <a:buNone/>
            </a:pPr>
            <a:r>
              <a:rPr lang="en-US" sz="1400" dirty="0">
                <a:solidFill>
                  <a:srgbClr val="16343B"/>
                </a:solidFill>
                <a:latin typeface="Calibri" pitchFamily="34" charset="0"/>
                <a:ea typeface="Calibri" pitchFamily="34" charset="-122"/>
                <a:cs typeface="Calibri" pitchFamily="34" charset="-120"/>
              </a:rPr>
              <a:t>The first key in the preorder sequence.</a:t>
            </a:r>
            <a:endParaRPr lang="en-US" sz="1400" dirty="0"/>
          </a:p>
        </p:txBody>
      </p:sp>
      <p:sp>
        <p:nvSpPr>
          <p:cNvPr id="17" name="Shape 15"/>
          <p:cNvSpPr/>
          <p:nvPr/>
        </p:nvSpPr>
        <p:spPr>
          <a:xfrm>
            <a:off x="4383024" y="3703320"/>
            <a:ext cx="3422904" cy="1965960"/>
          </a:xfrm>
          <a:prstGeom prst="roundRect">
            <a:avLst>
              <a:gd name="adj" fmla="val 2326"/>
            </a:avLst>
          </a:prstGeom>
          <a:solidFill>
            <a:srgbClr val="F1F6F7"/>
          </a:solidFill>
          <a:ln w="12700">
            <a:solidFill>
              <a:srgbClr val="D3E0E3"/>
            </a:solidFill>
            <a:prstDash val="solid"/>
          </a:ln>
        </p:spPr>
        <p:txBody>
          <a:bodyPr/>
          <a:lstStyle/>
          <a:p>
            <a:endParaRPr lang="en-US"/>
          </a:p>
        </p:txBody>
      </p:sp>
      <p:sp>
        <p:nvSpPr>
          <p:cNvPr id="18" name="Shape 16"/>
          <p:cNvSpPr/>
          <p:nvPr/>
        </p:nvSpPr>
        <p:spPr>
          <a:xfrm>
            <a:off x="4639056" y="3931920"/>
            <a:ext cx="384048" cy="384048"/>
          </a:xfrm>
          <a:prstGeom prst="ellipse">
            <a:avLst/>
          </a:prstGeom>
          <a:solidFill>
            <a:srgbClr val="D9932B"/>
          </a:solidFill>
          <a:ln w="12700">
            <a:solidFill>
              <a:srgbClr val="D9932B"/>
            </a:solidFill>
            <a:prstDash val="solid"/>
          </a:ln>
        </p:spPr>
        <p:txBody>
          <a:bodyPr/>
          <a:lstStyle/>
          <a:p>
            <a:endParaRPr lang="en-US"/>
          </a:p>
        </p:txBody>
      </p:sp>
      <p:sp>
        <p:nvSpPr>
          <p:cNvPr id="19" name="Text 17"/>
          <p:cNvSpPr txBox="1"/>
          <p:nvPr/>
        </p:nvSpPr>
        <p:spPr>
          <a:xfrm>
            <a:off x="4639056" y="3931920"/>
            <a:ext cx="384048" cy="384048"/>
          </a:xfrm>
          <a:prstGeom prst="rect">
            <a:avLst/>
          </a:prstGeom>
          <a:noFill/>
          <a:ln/>
        </p:spPr>
        <p:txBody>
          <a:bodyPr wrap="square" lIns="0" tIns="0" rIns="0" bIns="0" rtlCol="0" anchor="ctr"/>
          <a:lstStyle/>
          <a:p>
            <a:pPr marL="0" indent="0" algn="ctr">
              <a:buNone/>
            </a:pPr>
            <a:r>
              <a:rPr lang="en-US" sz="1400" b="1" dirty="0">
                <a:solidFill>
                  <a:srgbClr val="0B2E36"/>
                </a:solidFill>
                <a:latin typeface="Calibri" pitchFamily="34" charset="0"/>
                <a:ea typeface="Calibri" pitchFamily="34" charset="-122"/>
                <a:cs typeface="Calibri" pitchFamily="34" charset="-120"/>
              </a:rPr>
              <a:t>2</a:t>
            </a:r>
            <a:endParaRPr lang="en-US" sz="1400" dirty="0"/>
          </a:p>
        </p:txBody>
      </p:sp>
      <p:sp>
        <p:nvSpPr>
          <p:cNvPr id="20" name="Text 18"/>
          <p:cNvSpPr txBox="1"/>
          <p:nvPr/>
        </p:nvSpPr>
        <p:spPr>
          <a:xfrm>
            <a:off x="5160264" y="3959352"/>
            <a:ext cx="2371344" cy="365760"/>
          </a:xfrm>
          <a:prstGeom prst="rect">
            <a:avLst/>
          </a:prstGeom>
          <a:noFill/>
          <a:ln/>
        </p:spPr>
        <p:txBody>
          <a:bodyPr wrap="square" lIns="0" tIns="0" rIns="0" bIns="0" rtlCol="0" anchor="t"/>
          <a:lstStyle/>
          <a:p>
            <a:pPr marL="0" indent="0" algn="l">
              <a:lnSpc>
                <a:spcPts val="2025"/>
              </a:lnSpc>
              <a:buNone/>
            </a:pPr>
            <a:r>
              <a:rPr lang="en-US" sz="1500" b="1" dirty="0">
                <a:solidFill>
                  <a:srgbClr val="0F5E6E"/>
                </a:solidFill>
                <a:latin typeface="Calibri" pitchFamily="34" charset="0"/>
                <a:ea typeface="Calibri" pitchFamily="34" charset="-122"/>
                <a:cs typeface="Calibri" pitchFamily="34" charset="-120"/>
              </a:rPr>
              <a:t>Which keys go where?</a:t>
            </a:r>
            <a:endParaRPr lang="en-US" sz="1500" dirty="0"/>
          </a:p>
        </p:txBody>
      </p:sp>
      <p:sp>
        <p:nvSpPr>
          <p:cNvPr id="21" name="Text 19"/>
          <p:cNvSpPr txBox="1"/>
          <p:nvPr/>
        </p:nvSpPr>
        <p:spPr>
          <a:xfrm>
            <a:off x="4639056" y="4498848"/>
            <a:ext cx="2910840" cy="1005840"/>
          </a:xfrm>
          <a:prstGeom prst="rect">
            <a:avLst/>
          </a:prstGeom>
          <a:noFill/>
          <a:ln/>
        </p:spPr>
        <p:txBody>
          <a:bodyPr wrap="square" lIns="0" tIns="0" rIns="0" bIns="0" rtlCol="0" anchor="t"/>
          <a:lstStyle/>
          <a:p>
            <a:pPr marL="0" indent="0" algn="l">
              <a:lnSpc>
                <a:spcPts val="1890"/>
              </a:lnSpc>
              <a:buNone/>
            </a:pPr>
            <a:r>
              <a:rPr lang="en-US" sz="1400" b="1" dirty="0">
                <a:solidFill>
                  <a:srgbClr val="16343B"/>
                </a:solidFill>
                <a:latin typeface="Calibri" pitchFamily="34" charset="0"/>
                <a:ea typeface="Calibri" pitchFamily="34" charset="-122"/>
                <a:cs typeface="Calibri" pitchFamily="34" charset="-120"/>
              </a:rPr>
              <a:t>Split the inorder sequence at the root: left part = left subtree, right part = right subtree.</a:t>
            </a:r>
            <a:endParaRPr lang="en-US" sz="1400" b="1" dirty="0"/>
          </a:p>
        </p:txBody>
      </p:sp>
      <p:sp>
        <p:nvSpPr>
          <p:cNvPr id="22" name="Shape 20"/>
          <p:cNvSpPr/>
          <p:nvPr/>
        </p:nvSpPr>
        <p:spPr>
          <a:xfrm>
            <a:off x="8125968" y="3703320"/>
            <a:ext cx="3422904" cy="1965960"/>
          </a:xfrm>
          <a:prstGeom prst="roundRect">
            <a:avLst>
              <a:gd name="adj" fmla="val 2326"/>
            </a:avLst>
          </a:prstGeom>
          <a:solidFill>
            <a:srgbClr val="F1F6F7"/>
          </a:solidFill>
          <a:ln w="12700">
            <a:solidFill>
              <a:srgbClr val="D3E0E3"/>
            </a:solidFill>
            <a:prstDash val="solid"/>
          </a:ln>
        </p:spPr>
        <p:txBody>
          <a:bodyPr/>
          <a:lstStyle/>
          <a:p>
            <a:endParaRPr lang="en-US"/>
          </a:p>
        </p:txBody>
      </p:sp>
      <p:sp>
        <p:nvSpPr>
          <p:cNvPr id="23" name="Shape 21"/>
          <p:cNvSpPr/>
          <p:nvPr/>
        </p:nvSpPr>
        <p:spPr>
          <a:xfrm>
            <a:off x="8382000" y="3931920"/>
            <a:ext cx="384048" cy="384048"/>
          </a:xfrm>
          <a:prstGeom prst="ellipse">
            <a:avLst/>
          </a:prstGeom>
          <a:solidFill>
            <a:srgbClr val="D9932B"/>
          </a:solidFill>
          <a:ln w="12700">
            <a:solidFill>
              <a:srgbClr val="D9932B"/>
            </a:solidFill>
            <a:prstDash val="solid"/>
          </a:ln>
        </p:spPr>
        <p:txBody>
          <a:bodyPr/>
          <a:lstStyle/>
          <a:p>
            <a:endParaRPr lang="en-US"/>
          </a:p>
        </p:txBody>
      </p:sp>
      <p:sp>
        <p:nvSpPr>
          <p:cNvPr id="24" name="Text 22"/>
          <p:cNvSpPr txBox="1"/>
          <p:nvPr/>
        </p:nvSpPr>
        <p:spPr>
          <a:xfrm>
            <a:off x="8382000" y="3931920"/>
            <a:ext cx="384048" cy="384048"/>
          </a:xfrm>
          <a:prstGeom prst="rect">
            <a:avLst/>
          </a:prstGeom>
          <a:noFill/>
          <a:ln/>
        </p:spPr>
        <p:txBody>
          <a:bodyPr wrap="square" lIns="0" tIns="0" rIns="0" bIns="0" rtlCol="0" anchor="ctr"/>
          <a:lstStyle/>
          <a:p>
            <a:pPr marL="0" indent="0" algn="ctr">
              <a:buNone/>
            </a:pPr>
            <a:r>
              <a:rPr lang="en-US" sz="1400" b="1" dirty="0">
                <a:solidFill>
                  <a:srgbClr val="0B2E36"/>
                </a:solidFill>
                <a:latin typeface="Calibri" pitchFamily="34" charset="0"/>
                <a:ea typeface="Calibri" pitchFamily="34" charset="-122"/>
                <a:cs typeface="Calibri" pitchFamily="34" charset="-120"/>
              </a:rPr>
              <a:t>3</a:t>
            </a:r>
            <a:endParaRPr lang="en-US" sz="1400" dirty="0"/>
          </a:p>
        </p:txBody>
      </p:sp>
      <p:sp>
        <p:nvSpPr>
          <p:cNvPr id="25" name="Text 23"/>
          <p:cNvSpPr txBox="1"/>
          <p:nvPr/>
        </p:nvSpPr>
        <p:spPr>
          <a:xfrm>
            <a:off x="8903208" y="3959352"/>
            <a:ext cx="2371344" cy="365760"/>
          </a:xfrm>
          <a:prstGeom prst="rect">
            <a:avLst/>
          </a:prstGeom>
          <a:noFill/>
          <a:ln/>
        </p:spPr>
        <p:txBody>
          <a:bodyPr wrap="square" lIns="0" tIns="0" rIns="0" bIns="0" rtlCol="0" anchor="t"/>
          <a:lstStyle/>
          <a:p>
            <a:pPr marL="0" indent="0" algn="l">
              <a:lnSpc>
                <a:spcPts val="2025"/>
              </a:lnSpc>
              <a:buNone/>
            </a:pPr>
            <a:r>
              <a:rPr lang="en-US" sz="1500" b="1" dirty="0">
                <a:solidFill>
                  <a:srgbClr val="0F5E6E"/>
                </a:solidFill>
                <a:latin typeface="Calibri" pitchFamily="34" charset="0"/>
                <a:ea typeface="Calibri" pitchFamily="34" charset="-122"/>
                <a:cs typeface="Calibri" pitchFamily="34" charset="-120"/>
              </a:rPr>
              <a:t>How do we recurse?</a:t>
            </a:r>
            <a:endParaRPr lang="en-US" sz="1500" dirty="0"/>
          </a:p>
        </p:txBody>
      </p:sp>
      <p:sp>
        <p:nvSpPr>
          <p:cNvPr id="26" name="Text 24"/>
          <p:cNvSpPr txBox="1"/>
          <p:nvPr/>
        </p:nvSpPr>
        <p:spPr>
          <a:xfrm>
            <a:off x="8382000" y="4498848"/>
            <a:ext cx="2910840" cy="1005840"/>
          </a:xfrm>
          <a:prstGeom prst="rect">
            <a:avLst/>
          </a:prstGeom>
          <a:noFill/>
          <a:ln/>
        </p:spPr>
        <p:txBody>
          <a:bodyPr wrap="square" lIns="0" tIns="0" rIns="0" bIns="0" rtlCol="0" anchor="t"/>
          <a:lstStyle/>
          <a:p>
            <a:pPr marL="0" indent="0" algn="l">
              <a:lnSpc>
                <a:spcPts val="1890"/>
              </a:lnSpc>
              <a:buNone/>
            </a:pPr>
            <a:r>
              <a:rPr lang="en-US" sz="1400" dirty="0">
                <a:solidFill>
                  <a:srgbClr val="16343B"/>
                </a:solidFill>
                <a:latin typeface="Calibri" pitchFamily="34" charset="0"/>
                <a:ea typeface="Calibri" pitchFamily="34" charset="-122"/>
                <a:cs typeface="Calibri" pitchFamily="34" charset="-120"/>
              </a:rPr>
              <a:t>Count the left part (k keys). The next k preorder keys are the left subtree, the rest are the right.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Q53</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Recursing on the two sequences</a:t>
            </a:r>
            <a:endParaRPr lang="en-US" sz="3000" dirty="0"/>
          </a:p>
        </p:txBody>
      </p:sp>
      <p:sp>
        <p:nvSpPr>
          <p:cNvPr id="5" name="Text 3"/>
          <p:cNvSpPr txBox="1"/>
          <p:nvPr/>
        </p:nvSpPr>
        <p:spPr>
          <a:xfrm>
            <a:off x="1737360" y="969264"/>
            <a:ext cx="9811512" cy="310896"/>
          </a:xfrm>
          <a:prstGeom prst="rect">
            <a:avLst/>
          </a:prstGeom>
          <a:noFill/>
          <a:ln/>
        </p:spPr>
        <p:txBody>
          <a:bodyPr wrap="square" lIns="0" tIns="0" rIns="0" bIns="0" rtlCol="0" anchor="ctr"/>
          <a:lstStyle/>
          <a:p>
            <a:pPr marL="0" indent="0">
              <a:buNone/>
            </a:pPr>
            <a:r>
              <a:rPr lang="en-US" sz="1400" i="1" dirty="0">
                <a:solidFill>
                  <a:srgbClr val="5F7A80"/>
                </a:solidFill>
                <a:latin typeface="Calibri" pitchFamily="34" charset="0"/>
                <a:ea typeface="Calibri" pitchFamily="34" charset="-122"/>
                <a:cs typeface="Calibri" pitchFamily="34" charset="-120"/>
              </a:rPr>
              <a:t>Each row applies the same three questions to a smaller pair of sequences</a:t>
            </a:r>
            <a:endParaRPr lang="en-US" sz="1400" dirty="0"/>
          </a:p>
        </p:txBody>
      </p:sp>
      <p:sp>
        <p:nvSpPr>
          <p:cNvPr id="6" name="Text 4"/>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08792" cy="3456432"/>
        </p:xfrm>
        <a:graphic>
          <a:graphicData uri="http://schemas.openxmlformats.org/drawingml/2006/table">
            <a:tbl>
              <a:tblPr/>
              <a:tblGrid>
                <a:gridCol w="1298448">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3364992">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2359152">
                  <a:extLst>
                    <a:ext uri="{9D8B030D-6E8A-4147-A177-3AD203B41FA5}">
                      <a16:colId xmlns:a16="http://schemas.microsoft.com/office/drawing/2014/main" val="20004"/>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Sub-tree</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Preorder</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Inorder</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Root</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Reading</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extLst>
                  <a:ext uri="{0D108BD9-81ED-4DB2-BD59-A6C34878D82A}">
                    <a16:rowId xmlns:a16="http://schemas.microsoft.com/office/drawing/2014/main" val="10000"/>
                  </a:ext>
                </a:extLst>
              </a:tr>
              <a:tr h="384048">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whole tree</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14 83 63 42 19 | 27 74 99 51 37</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63 83 19 42 | 14 | 27 99 51 74 37</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16343B"/>
                          </a:solidFill>
                          <a:latin typeface="Courier New" pitchFamily="34" charset="0"/>
                          <a:ea typeface="Courier New" pitchFamily="34" charset="-122"/>
                          <a:cs typeface="Courier New" pitchFamily="34" charset="-120"/>
                        </a:rPr>
                        <a:t>14</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4 keys left, 5 right</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left of 14</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83 | 63 | 42 19</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63 | 83 | 19 42</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b="1" dirty="0">
                          <a:solidFill>
                            <a:srgbClr val="16343B"/>
                          </a:solidFill>
                          <a:latin typeface="Courier New" pitchFamily="34" charset="0"/>
                          <a:ea typeface="Courier New" pitchFamily="34" charset="-122"/>
                          <a:cs typeface="Courier New" pitchFamily="34" charset="-120"/>
                        </a:rPr>
                        <a:t>83</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1 key left, 2 right</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2"/>
                  </a:ext>
                </a:extLst>
              </a:tr>
              <a:tr h="384048">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left of 83</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63</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63</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16343B"/>
                          </a:solidFill>
                          <a:latin typeface="Courier New" pitchFamily="34" charset="0"/>
                          <a:ea typeface="Courier New" pitchFamily="34" charset="-122"/>
                          <a:cs typeface="Courier New" pitchFamily="34" charset="-120"/>
                        </a:rPr>
                        <a:t>63</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leaf</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right of 83</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42 | 19</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19 | 42</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b="1" dirty="0">
                          <a:solidFill>
                            <a:srgbClr val="16343B"/>
                          </a:solidFill>
                          <a:latin typeface="Courier New" pitchFamily="34" charset="0"/>
                          <a:ea typeface="Courier New" pitchFamily="34" charset="-122"/>
                          <a:cs typeface="Courier New" pitchFamily="34" charset="-120"/>
                        </a:rPr>
                        <a:t>42</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19 is 42's left child</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4"/>
                  </a:ext>
                </a:extLst>
              </a:tr>
              <a:tr h="384048">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right of 14</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27 | 74 99 51 37</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27 | 99 51 74 37</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16343B"/>
                          </a:solidFill>
                          <a:latin typeface="Courier New" pitchFamily="34" charset="0"/>
                          <a:ea typeface="Courier New" pitchFamily="34" charset="-122"/>
                          <a:cs typeface="Courier New" pitchFamily="34" charset="-120"/>
                        </a:rPr>
                        <a:t>27</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no left subtree</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right of 27</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74 | 99 51 | 37</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99 51 | 74 | 37</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b="1" dirty="0">
                          <a:solidFill>
                            <a:srgbClr val="16343B"/>
                          </a:solidFill>
                          <a:latin typeface="Courier New" pitchFamily="34" charset="0"/>
                          <a:ea typeface="Courier New" pitchFamily="34" charset="-122"/>
                          <a:cs typeface="Courier New" pitchFamily="34" charset="-120"/>
                        </a:rPr>
                        <a:t>74</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2 keys left, 1 right</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6"/>
                  </a:ext>
                </a:extLst>
              </a:tr>
              <a:tr h="384048">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left of 74</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99 | 51</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99 | 51</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16343B"/>
                          </a:solidFill>
                          <a:latin typeface="Courier New" pitchFamily="34" charset="0"/>
                          <a:ea typeface="Courier New" pitchFamily="34" charset="-122"/>
                          <a:cs typeface="Courier New" pitchFamily="34" charset="-120"/>
                        </a:rPr>
                        <a:t>99</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51 is 99's right child</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right of 74</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37</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dirty="0">
                          <a:solidFill>
                            <a:srgbClr val="16343B"/>
                          </a:solidFill>
                          <a:latin typeface="Courier New" pitchFamily="34" charset="0"/>
                          <a:ea typeface="Courier New" pitchFamily="34" charset="-122"/>
                          <a:cs typeface="Courier New" pitchFamily="34" charset="-120"/>
                        </a:rPr>
                        <a:t>37</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b="1" dirty="0">
                          <a:solidFill>
                            <a:srgbClr val="16343B"/>
                          </a:solidFill>
                          <a:latin typeface="Courier New" pitchFamily="34" charset="0"/>
                          <a:ea typeface="Courier New" pitchFamily="34" charset="-122"/>
                          <a:cs typeface="Courier New" pitchFamily="34" charset="-120"/>
                        </a:rPr>
                        <a:t>37</a:t>
                      </a:r>
                      <a:endParaRPr lang="en-US" sz="115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150" dirty="0">
                          <a:solidFill>
                            <a:srgbClr val="16343B"/>
                          </a:solidFill>
                          <a:latin typeface="Calibri" pitchFamily="34" charset="0"/>
                          <a:ea typeface="Calibri" pitchFamily="34" charset="-122"/>
                          <a:cs typeface="Calibri" pitchFamily="34" charset="-120"/>
                        </a:rPr>
                        <a:t>leaf</a:t>
                      </a:r>
                      <a:endParaRPr lang="en-US" sz="115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8"/>
                  </a:ext>
                </a:extLst>
              </a:tr>
            </a:tbl>
          </a:graphicData>
        </a:graphic>
      </p:graphicFrame>
      <p:sp>
        <p:nvSpPr>
          <p:cNvPr id="8" name="Shape 5"/>
          <p:cNvSpPr/>
          <p:nvPr/>
        </p:nvSpPr>
        <p:spPr>
          <a:xfrm>
            <a:off x="640080" y="5303520"/>
            <a:ext cx="10908792" cy="777240"/>
          </a:xfrm>
          <a:prstGeom prst="roundRect">
            <a:avLst>
              <a:gd name="adj" fmla="val 5882"/>
            </a:avLst>
          </a:prstGeom>
          <a:solidFill>
            <a:srgbClr val="FBEEDA"/>
          </a:solidFill>
          <a:ln w="12700">
            <a:solidFill>
              <a:srgbClr val="EAD3A6"/>
            </a:solidFill>
            <a:prstDash val="solid"/>
          </a:ln>
        </p:spPr>
        <p:txBody>
          <a:bodyPr/>
          <a:lstStyle/>
          <a:p>
            <a:endParaRPr lang="en-US"/>
          </a:p>
        </p:txBody>
      </p:sp>
      <p:sp>
        <p:nvSpPr>
          <p:cNvPr id="7" name="Text 6"/>
          <p:cNvSpPr txBox="1"/>
          <p:nvPr/>
        </p:nvSpPr>
        <p:spPr>
          <a:xfrm>
            <a:off x="914400" y="5468112"/>
            <a:ext cx="10360152" cy="502920"/>
          </a:xfrm>
          <a:prstGeom prst="rect">
            <a:avLst/>
          </a:prstGeom>
          <a:noFill/>
          <a:ln/>
        </p:spPr>
        <p:txBody>
          <a:bodyPr wrap="square" lIns="0" tIns="0" rIns="0" bIns="0" rtlCol="0" anchor="t"/>
          <a:lstStyle/>
          <a:p>
            <a:pPr marL="0" indent="0" algn="l">
              <a:lnSpc>
                <a:spcPts val="1755"/>
              </a:lnSpc>
              <a:buNone/>
            </a:pPr>
            <a:r>
              <a:rPr lang="en-US" sz="1300" dirty="0">
                <a:solidFill>
                  <a:srgbClr val="16343B"/>
                </a:solidFill>
                <a:latin typeface="Calibri" pitchFamily="34" charset="0"/>
                <a:ea typeface="Calibri" pitchFamily="34" charset="-122"/>
                <a:cs typeface="Calibri" pitchFamily="34" charset="-120"/>
              </a:rPr>
              <a:t>Watch row 5: 27 is the leftmost key of its inorder segment, so its left subtree is empty. That is the only thing the inorder split can tell you — and it is enough.</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Q53</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The tree, and its postorder</a:t>
            </a:r>
            <a:endParaRPr lang="en-US" sz="3000" dirty="0"/>
          </a:p>
        </p:txBody>
      </p:sp>
      <p:sp>
        <p:nvSpPr>
          <p:cNvPr id="5" name="Text 3"/>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9</a:t>
            </a:r>
            <a:endParaRPr lang="en-US" sz="900" dirty="0"/>
          </a:p>
        </p:txBody>
      </p:sp>
      <p:sp>
        <p:nvSpPr>
          <p:cNvPr id="6" name="Shape 4"/>
          <p:cNvSpPr/>
          <p:nvPr/>
        </p:nvSpPr>
        <p:spPr>
          <a:xfrm flipV="1">
            <a:off x="2926080" y="1691640"/>
            <a:ext cx="2468880" cy="822960"/>
          </a:xfrm>
          <a:prstGeom prst="line">
            <a:avLst/>
          </a:prstGeom>
          <a:noFill/>
          <a:ln w="19050">
            <a:solidFill>
              <a:srgbClr val="3D8C9C"/>
            </a:solidFill>
            <a:prstDash val="solid"/>
          </a:ln>
        </p:spPr>
        <p:txBody>
          <a:bodyPr/>
          <a:lstStyle/>
          <a:p>
            <a:endParaRPr lang="en-US"/>
          </a:p>
        </p:txBody>
      </p:sp>
      <p:sp>
        <p:nvSpPr>
          <p:cNvPr id="7" name="Shape 5"/>
          <p:cNvSpPr/>
          <p:nvPr/>
        </p:nvSpPr>
        <p:spPr>
          <a:xfrm>
            <a:off x="5394960" y="1691640"/>
            <a:ext cx="2834640" cy="822960"/>
          </a:xfrm>
          <a:prstGeom prst="line">
            <a:avLst/>
          </a:prstGeom>
          <a:noFill/>
          <a:ln w="19050">
            <a:solidFill>
              <a:srgbClr val="3D8C9C"/>
            </a:solidFill>
            <a:prstDash val="solid"/>
          </a:ln>
        </p:spPr>
        <p:txBody>
          <a:bodyPr/>
          <a:lstStyle/>
          <a:p>
            <a:endParaRPr lang="en-US"/>
          </a:p>
        </p:txBody>
      </p:sp>
      <p:sp>
        <p:nvSpPr>
          <p:cNvPr id="8" name="Shape 6"/>
          <p:cNvSpPr/>
          <p:nvPr/>
        </p:nvSpPr>
        <p:spPr>
          <a:xfrm flipV="1">
            <a:off x="1828800" y="2514600"/>
            <a:ext cx="1097280" cy="822960"/>
          </a:xfrm>
          <a:prstGeom prst="line">
            <a:avLst/>
          </a:prstGeom>
          <a:noFill/>
          <a:ln w="19050">
            <a:solidFill>
              <a:srgbClr val="3D8C9C"/>
            </a:solidFill>
            <a:prstDash val="solid"/>
          </a:ln>
        </p:spPr>
        <p:txBody>
          <a:bodyPr/>
          <a:lstStyle/>
          <a:p>
            <a:endParaRPr lang="en-US"/>
          </a:p>
        </p:txBody>
      </p:sp>
      <p:sp>
        <p:nvSpPr>
          <p:cNvPr id="9" name="Shape 7"/>
          <p:cNvSpPr/>
          <p:nvPr/>
        </p:nvSpPr>
        <p:spPr>
          <a:xfrm>
            <a:off x="2926080" y="2514600"/>
            <a:ext cx="1097280" cy="822960"/>
          </a:xfrm>
          <a:prstGeom prst="line">
            <a:avLst/>
          </a:prstGeom>
          <a:noFill/>
          <a:ln w="19050">
            <a:solidFill>
              <a:srgbClr val="3D8C9C"/>
            </a:solidFill>
            <a:prstDash val="solid"/>
          </a:ln>
        </p:spPr>
        <p:txBody>
          <a:bodyPr/>
          <a:lstStyle/>
          <a:p>
            <a:endParaRPr lang="en-US"/>
          </a:p>
        </p:txBody>
      </p:sp>
      <p:sp>
        <p:nvSpPr>
          <p:cNvPr id="10" name="Shape 8"/>
          <p:cNvSpPr/>
          <p:nvPr/>
        </p:nvSpPr>
        <p:spPr>
          <a:xfrm flipV="1">
            <a:off x="3474720" y="3337560"/>
            <a:ext cx="548640" cy="822960"/>
          </a:xfrm>
          <a:prstGeom prst="line">
            <a:avLst/>
          </a:prstGeom>
          <a:noFill/>
          <a:ln w="19050">
            <a:solidFill>
              <a:srgbClr val="3D8C9C"/>
            </a:solidFill>
            <a:prstDash val="solid"/>
          </a:ln>
        </p:spPr>
        <p:txBody>
          <a:bodyPr/>
          <a:lstStyle/>
          <a:p>
            <a:endParaRPr lang="en-US"/>
          </a:p>
        </p:txBody>
      </p:sp>
      <p:sp>
        <p:nvSpPr>
          <p:cNvPr id="11" name="Shape 9"/>
          <p:cNvSpPr/>
          <p:nvPr/>
        </p:nvSpPr>
        <p:spPr>
          <a:xfrm>
            <a:off x="8229600" y="2514600"/>
            <a:ext cx="1188720" cy="822960"/>
          </a:xfrm>
          <a:prstGeom prst="line">
            <a:avLst/>
          </a:prstGeom>
          <a:noFill/>
          <a:ln w="19050">
            <a:solidFill>
              <a:srgbClr val="3D8C9C"/>
            </a:solidFill>
            <a:prstDash val="solid"/>
          </a:ln>
        </p:spPr>
        <p:txBody>
          <a:bodyPr/>
          <a:lstStyle/>
          <a:p>
            <a:endParaRPr lang="en-US"/>
          </a:p>
        </p:txBody>
      </p:sp>
      <p:sp>
        <p:nvSpPr>
          <p:cNvPr id="12" name="Shape 10"/>
          <p:cNvSpPr/>
          <p:nvPr/>
        </p:nvSpPr>
        <p:spPr>
          <a:xfrm flipV="1">
            <a:off x="8686800" y="3337560"/>
            <a:ext cx="731520" cy="822960"/>
          </a:xfrm>
          <a:prstGeom prst="line">
            <a:avLst/>
          </a:prstGeom>
          <a:noFill/>
          <a:ln w="19050">
            <a:solidFill>
              <a:srgbClr val="3D8C9C"/>
            </a:solidFill>
            <a:prstDash val="solid"/>
          </a:ln>
        </p:spPr>
        <p:txBody>
          <a:bodyPr/>
          <a:lstStyle/>
          <a:p>
            <a:endParaRPr lang="en-US"/>
          </a:p>
        </p:txBody>
      </p:sp>
      <p:sp>
        <p:nvSpPr>
          <p:cNvPr id="13" name="Shape 11"/>
          <p:cNvSpPr/>
          <p:nvPr/>
        </p:nvSpPr>
        <p:spPr>
          <a:xfrm>
            <a:off x="9418320" y="3337560"/>
            <a:ext cx="1097280" cy="822960"/>
          </a:xfrm>
          <a:prstGeom prst="line">
            <a:avLst/>
          </a:prstGeom>
          <a:noFill/>
          <a:ln w="19050">
            <a:solidFill>
              <a:srgbClr val="3D8C9C"/>
            </a:solidFill>
            <a:prstDash val="solid"/>
          </a:ln>
        </p:spPr>
        <p:txBody>
          <a:bodyPr/>
          <a:lstStyle/>
          <a:p>
            <a:endParaRPr lang="en-US"/>
          </a:p>
        </p:txBody>
      </p:sp>
      <p:sp>
        <p:nvSpPr>
          <p:cNvPr id="14" name="Shape 12"/>
          <p:cNvSpPr/>
          <p:nvPr/>
        </p:nvSpPr>
        <p:spPr>
          <a:xfrm>
            <a:off x="8686800" y="4160520"/>
            <a:ext cx="548640" cy="731520"/>
          </a:xfrm>
          <a:prstGeom prst="line">
            <a:avLst/>
          </a:prstGeom>
          <a:noFill/>
          <a:ln w="19050">
            <a:solidFill>
              <a:srgbClr val="3D8C9C"/>
            </a:solidFill>
            <a:prstDash val="solid"/>
          </a:ln>
        </p:spPr>
        <p:txBody>
          <a:bodyPr/>
          <a:lstStyle/>
          <a:p>
            <a:endParaRPr lang="en-US"/>
          </a:p>
        </p:txBody>
      </p:sp>
      <p:sp>
        <p:nvSpPr>
          <p:cNvPr id="15" name="Shape 13"/>
          <p:cNvSpPr/>
          <p:nvPr/>
        </p:nvSpPr>
        <p:spPr>
          <a:xfrm>
            <a:off x="5129784" y="1426464"/>
            <a:ext cx="530352" cy="530352"/>
          </a:xfrm>
          <a:prstGeom prst="ellipse">
            <a:avLst/>
          </a:prstGeom>
          <a:solidFill>
            <a:srgbClr val="D9932B"/>
          </a:solidFill>
          <a:ln w="22225">
            <a:solidFill>
              <a:srgbClr val="D9932B"/>
            </a:solidFill>
            <a:prstDash val="solid"/>
          </a:ln>
        </p:spPr>
        <p:txBody>
          <a:bodyPr/>
          <a:lstStyle/>
          <a:p>
            <a:endParaRPr lang="en-US"/>
          </a:p>
        </p:txBody>
      </p:sp>
      <p:sp>
        <p:nvSpPr>
          <p:cNvPr id="16" name="Text 14"/>
          <p:cNvSpPr txBox="1"/>
          <p:nvPr/>
        </p:nvSpPr>
        <p:spPr>
          <a:xfrm>
            <a:off x="4992624" y="1426464"/>
            <a:ext cx="804672" cy="530352"/>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14</a:t>
            </a:r>
            <a:endParaRPr lang="en-US" sz="1300" dirty="0"/>
          </a:p>
        </p:txBody>
      </p:sp>
      <p:sp>
        <p:nvSpPr>
          <p:cNvPr id="17" name="Shape 15"/>
          <p:cNvSpPr/>
          <p:nvPr/>
        </p:nvSpPr>
        <p:spPr>
          <a:xfrm>
            <a:off x="2660904" y="2249424"/>
            <a:ext cx="530352" cy="530352"/>
          </a:xfrm>
          <a:prstGeom prst="ellipse">
            <a:avLst/>
          </a:prstGeom>
          <a:solidFill>
            <a:srgbClr val="FFFFFF"/>
          </a:solidFill>
          <a:ln w="22225">
            <a:solidFill>
              <a:srgbClr val="0F5E6E"/>
            </a:solidFill>
            <a:prstDash val="solid"/>
          </a:ln>
        </p:spPr>
        <p:txBody>
          <a:bodyPr/>
          <a:lstStyle/>
          <a:p>
            <a:endParaRPr lang="en-US"/>
          </a:p>
        </p:txBody>
      </p:sp>
      <p:sp>
        <p:nvSpPr>
          <p:cNvPr id="18" name="Text 16"/>
          <p:cNvSpPr txBox="1"/>
          <p:nvPr/>
        </p:nvSpPr>
        <p:spPr>
          <a:xfrm>
            <a:off x="2523744" y="2249424"/>
            <a:ext cx="804672" cy="530352"/>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83</a:t>
            </a:r>
            <a:endParaRPr lang="en-US" sz="1300" dirty="0"/>
          </a:p>
        </p:txBody>
      </p:sp>
      <p:sp>
        <p:nvSpPr>
          <p:cNvPr id="19" name="Shape 17"/>
          <p:cNvSpPr/>
          <p:nvPr/>
        </p:nvSpPr>
        <p:spPr>
          <a:xfrm>
            <a:off x="7964424" y="2249424"/>
            <a:ext cx="530352" cy="530352"/>
          </a:xfrm>
          <a:prstGeom prst="ellipse">
            <a:avLst/>
          </a:prstGeom>
          <a:solidFill>
            <a:srgbClr val="FFFFFF"/>
          </a:solidFill>
          <a:ln w="22225">
            <a:solidFill>
              <a:srgbClr val="0F5E6E"/>
            </a:solidFill>
            <a:prstDash val="solid"/>
          </a:ln>
        </p:spPr>
        <p:txBody>
          <a:bodyPr/>
          <a:lstStyle/>
          <a:p>
            <a:endParaRPr lang="en-US"/>
          </a:p>
        </p:txBody>
      </p:sp>
      <p:sp>
        <p:nvSpPr>
          <p:cNvPr id="20" name="Text 18"/>
          <p:cNvSpPr txBox="1"/>
          <p:nvPr/>
        </p:nvSpPr>
        <p:spPr>
          <a:xfrm>
            <a:off x="7827264" y="2249424"/>
            <a:ext cx="804672" cy="530352"/>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27</a:t>
            </a:r>
            <a:endParaRPr lang="en-US" sz="1300" dirty="0"/>
          </a:p>
        </p:txBody>
      </p:sp>
      <p:sp>
        <p:nvSpPr>
          <p:cNvPr id="21" name="Shape 19"/>
          <p:cNvSpPr/>
          <p:nvPr/>
        </p:nvSpPr>
        <p:spPr>
          <a:xfrm>
            <a:off x="1563624" y="3072384"/>
            <a:ext cx="530352" cy="530352"/>
          </a:xfrm>
          <a:prstGeom prst="ellipse">
            <a:avLst/>
          </a:prstGeom>
          <a:solidFill>
            <a:srgbClr val="FFFFFF"/>
          </a:solidFill>
          <a:ln w="22225">
            <a:solidFill>
              <a:srgbClr val="0F5E6E"/>
            </a:solidFill>
            <a:prstDash val="solid"/>
          </a:ln>
        </p:spPr>
        <p:txBody>
          <a:bodyPr/>
          <a:lstStyle/>
          <a:p>
            <a:endParaRPr lang="en-US"/>
          </a:p>
        </p:txBody>
      </p:sp>
      <p:sp>
        <p:nvSpPr>
          <p:cNvPr id="22" name="Text 20"/>
          <p:cNvSpPr txBox="1"/>
          <p:nvPr/>
        </p:nvSpPr>
        <p:spPr>
          <a:xfrm>
            <a:off x="1426464" y="3072384"/>
            <a:ext cx="804672" cy="530352"/>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63</a:t>
            </a:r>
            <a:endParaRPr lang="en-US" sz="1300" dirty="0"/>
          </a:p>
        </p:txBody>
      </p:sp>
      <p:sp>
        <p:nvSpPr>
          <p:cNvPr id="23" name="Shape 21"/>
          <p:cNvSpPr/>
          <p:nvPr/>
        </p:nvSpPr>
        <p:spPr>
          <a:xfrm>
            <a:off x="3758184" y="3072384"/>
            <a:ext cx="530352" cy="530352"/>
          </a:xfrm>
          <a:prstGeom prst="ellipse">
            <a:avLst/>
          </a:prstGeom>
          <a:solidFill>
            <a:srgbClr val="FFFFFF"/>
          </a:solidFill>
          <a:ln w="22225">
            <a:solidFill>
              <a:srgbClr val="0F5E6E"/>
            </a:solidFill>
            <a:prstDash val="solid"/>
          </a:ln>
        </p:spPr>
        <p:txBody>
          <a:bodyPr/>
          <a:lstStyle/>
          <a:p>
            <a:endParaRPr lang="en-US"/>
          </a:p>
        </p:txBody>
      </p:sp>
      <p:sp>
        <p:nvSpPr>
          <p:cNvPr id="24" name="Text 22"/>
          <p:cNvSpPr txBox="1"/>
          <p:nvPr/>
        </p:nvSpPr>
        <p:spPr>
          <a:xfrm>
            <a:off x="3621024" y="3072384"/>
            <a:ext cx="804672" cy="530352"/>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42</a:t>
            </a:r>
            <a:endParaRPr lang="en-US" sz="1300" dirty="0"/>
          </a:p>
        </p:txBody>
      </p:sp>
      <p:sp>
        <p:nvSpPr>
          <p:cNvPr id="25" name="Shape 23"/>
          <p:cNvSpPr/>
          <p:nvPr/>
        </p:nvSpPr>
        <p:spPr>
          <a:xfrm>
            <a:off x="9153144" y="3072384"/>
            <a:ext cx="530352" cy="530352"/>
          </a:xfrm>
          <a:prstGeom prst="ellipse">
            <a:avLst/>
          </a:prstGeom>
          <a:solidFill>
            <a:srgbClr val="FFFFFF"/>
          </a:solidFill>
          <a:ln w="22225">
            <a:solidFill>
              <a:srgbClr val="0F5E6E"/>
            </a:solidFill>
            <a:prstDash val="solid"/>
          </a:ln>
        </p:spPr>
        <p:txBody>
          <a:bodyPr/>
          <a:lstStyle/>
          <a:p>
            <a:endParaRPr lang="en-US"/>
          </a:p>
        </p:txBody>
      </p:sp>
      <p:sp>
        <p:nvSpPr>
          <p:cNvPr id="26" name="Text 24"/>
          <p:cNvSpPr txBox="1"/>
          <p:nvPr/>
        </p:nvSpPr>
        <p:spPr>
          <a:xfrm>
            <a:off x="9015984" y="3072384"/>
            <a:ext cx="804672" cy="530352"/>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74</a:t>
            </a:r>
            <a:endParaRPr lang="en-US" sz="1300" dirty="0"/>
          </a:p>
        </p:txBody>
      </p:sp>
      <p:sp>
        <p:nvSpPr>
          <p:cNvPr id="27" name="Shape 25"/>
          <p:cNvSpPr/>
          <p:nvPr/>
        </p:nvSpPr>
        <p:spPr>
          <a:xfrm>
            <a:off x="3209544" y="3895344"/>
            <a:ext cx="530352" cy="530352"/>
          </a:xfrm>
          <a:prstGeom prst="ellipse">
            <a:avLst/>
          </a:prstGeom>
          <a:solidFill>
            <a:srgbClr val="FFFFFF"/>
          </a:solidFill>
          <a:ln w="22225">
            <a:solidFill>
              <a:srgbClr val="0F5E6E"/>
            </a:solidFill>
            <a:prstDash val="solid"/>
          </a:ln>
        </p:spPr>
        <p:txBody>
          <a:bodyPr/>
          <a:lstStyle/>
          <a:p>
            <a:endParaRPr lang="en-US"/>
          </a:p>
        </p:txBody>
      </p:sp>
      <p:sp>
        <p:nvSpPr>
          <p:cNvPr id="28" name="Text 26"/>
          <p:cNvSpPr txBox="1"/>
          <p:nvPr/>
        </p:nvSpPr>
        <p:spPr>
          <a:xfrm>
            <a:off x="3072384" y="3895344"/>
            <a:ext cx="804672" cy="530352"/>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19</a:t>
            </a:r>
            <a:endParaRPr lang="en-US" sz="1300" dirty="0"/>
          </a:p>
        </p:txBody>
      </p:sp>
      <p:sp>
        <p:nvSpPr>
          <p:cNvPr id="29" name="Shape 27"/>
          <p:cNvSpPr/>
          <p:nvPr/>
        </p:nvSpPr>
        <p:spPr>
          <a:xfrm>
            <a:off x="8421624" y="3895344"/>
            <a:ext cx="530352" cy="530352"/>
          </a:xfrm>
          <a:prstGeom prst="ellipse">
            <a:avLst/>
          </a:prstGeom>
          <a:solidFill>
            <a:srgbClr val="FFFFFF"/>
          </a:solidFill>
          <a:ln w="22225">
            <a:solidFill>
              <a:srgbClr val="0F5E6E"/>
            </a:solidFill>
            <a:prstDash val="solid"/>
          </a:ln>
        </p:spPr>
        <p:txBody>
          <a:bodyPr/>
          <a:lstStyle/>
          <a:p>
            <a:endParaRPr lang="en-US"/>
          </a:p>
        </p:txBody>
      </p:sp>
      <p:sp>
        <p:nvSpPr>
          <p:cNvPr id="30" name="Text 28"/>
          <p:cNvSpPr txBox="1"/>
          <p:nvPr/>
        </p:nvSpPr>
        <p:spPr>
          <a:xfrm>
            <a:off x="8284464" y="3895344"/>
            <a:ext cx="804672" cy="530352"/>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99</a:t>
            </a:r>
            <a:endParaRPr lang="en-US" sz="1300" dirty="0"/>
          </a:p>
        </p:txBody>
      </p:sp>
      <p:sp>
        <p:nvSpPr>
          <p:cNvPr id="31" name="Shape 29"/>
          <p:cNvSpPr/>
          <p:nvPr/>
        </p:nvSpPr>
        <p:spPr>
          <a:xfrm>
            <a:off x="10250424" y="3895344"/>
            <a:ext cx="530352" cy="530352"/>
          </a:xfrm>
          <a:prstGeom prst="ellipse">
            <a:avLst/>
          </a:prstGeom>
          <a:solidFill>
            <a:srgbClr val="FFFFFF"/>
          </a:solidFill>
          <a:ln w="22225">
            <a:solidFill>
              <a:srgbClr val="0F5E6E"/>
            </a:solidFill>
            <a:prstDash val="solid"/>
          </a:ln>
        </p:spPr>
        <p:txBody>
          <a:bodyPr/>
          <a:lstStyle/>
          <a:p>
            <a:endParaRPr lang="en-US"/>
          </a:p>
        </p:txBody>
      </p:sp>
      <p:sp>
        <p:nvSpPr>
          <p:cNvPr id="32" name="Text 30"/>
          <p:cNvSpPr txBox="1"/>
          <p:nvPr/>
        </p:nvSpPr>
        <p:spPr>
          <a:xfrm>
            <a:off x="10113264" y="3895344"/>
            <a:ext cx="804672" cy="530352"/>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37</a:t>
            </a:r>
            <a:endParaRPr lang="en-US" sz="1300" dirty="0"/>
          </a:p>
        </p:txBody>
      </p:sp>
      <p:sp>
        <p:nvSpPr>
          <p:cNvPr id="33" name="Shape 31"/>
          <p:cNvSpPr/>
          <p:nvPr/>
        </p:nvSpPr>
        <p:spPr>
          <a:xfrm>
            <a:off x="8970264" y="4626864"/>
            <a:ext cx="530352" cy="530352"/>
          </a:xfrm>
          <a:prstGeom prst="ellipse">
            <a:avLst/>
          </a:prstGeom>
          <a:solidFill>
            <a:srgbClr val="FFFFFF"/>
          </a:solidFill>
          <a:ln w="22225">
            <a:solidFill>
              <a:srgbClr val="0F5E6E"/>
            </a:solidFill>
            <a:prstDash val="solid"/>
          </a:ln>
        </p:spPr>
        <p:txBody>
          <a:bodyPr/>
          <a:lstStyle/>
          <a:p>
            <a:endParaRPr lang="en-US"/>
          </a:p>
        </p:txBody>
      </p:sp>
      <p:sp>
        <p:nvSpPr>
          <p:cNvPr id="34" name="Text 32"/>
          <p:cNvSpPr txBox="1"/>
          <p:nvPr/>
        </p:nvSpPr>
        <p:spPr>
          <a:xfrm>
            <a:off x="8833104" y="4626864"/>
            <a:ext cx="804672" cy="530352"/>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51</a:t>
            </a:r>
            <a:endParaRPr lang="en-US" sz="1300" dirty="0"/>
          </a:p>
        </p:txBody>
      </p:sp>
      <p:sp>
        <p:nvSpPr>
          <p:cNvPr id="35" name="Shape 33"/>
          <p:cNvSpPr/>
          <p:nvPr/>
        </p:nvSpPr>
        <p:spPr>
          <a:xfrm>
            <a:off x="640080" y="5257800"/>
            <a:ext cx="6858000" cy="1005840"/>
          </a:xfrm>
          <a:prstGeom prst="roundRect">
            <a:avLst>
              <a:gd name="adj" fmla="val 4545"/>
            </a:avLst>
          </a:prstGeom>
          <a:solidFill>
            <a:srgbClr val="FBEEDA"/>
          </a:solidFill>
          <a:ln w="12700">
            <a:solidFill>
              <a:srgbClr val="EAD3A6"/>
            </a:solidFill>
            <a:prstDash val="solid"/>
          </a:ln>
        </p:spPr>
        <p:txBody>
          <a:bodyPr/>
          <a:lstStyle/>
          <a:p>
            <a:endParaRPr lang="en-US"/>
          </a:p>
        </p:txBody>
      </p:sp>
      <p:sp>
        <p:nvSpPr>
          <p:cNvPr id="36" name="Text 34"/>
          <p:cNvSpPr txBox="1"/>
          <p:nvPr/>
        </p:nvSpPr>
        <p:spPr>
          <a:xfrm>
            <a:off x="932688" y="5422392"/>
            <a:ext cx="2743200"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POSTORDER</a:t>
            </a:r>
            <a:endParaRPr lang="en-US" sz="1100" dirty="0"/>
          </a:p>
        </p:txBody>
      </p:sp>
      <p:sp>
        <p:nvSpPr>
          <p:cNvPr id="37" name="Text 35"/>
          <p:cNvSpPr txBox="1"/>
          <p:nvPr/>
        </p:nvSpPr>
        <p:spPr>
          <a:xfrm>
            <a:off x="932688" y="5715000"/>
            <a:ext cx="6400800" cy="411480"/>
          </a:xfrm>
          <a:prstGeom prst="rect">
            <a:avLst/>
          </a:prstGeom>
          <a:noFill/>
          <a:ln/>
        </p:spPr>
        <p:txBody>
          <a:bodyPr wrap="square" lIns="0" tIns="0" rIns="0" bIns="0" rtlCol="0" anchor="ctr"/>
          <a:lstStyle/>
          <a:p>
            <a:pPr marL="0" indent="0">
              <a:buNone/>
            </a:pPr>
            <a:r>
              <a:rPr lang="en-US" sz="1700" b="1" dirty="0">
                <a:solidFill>
                  <a:srgbClr val="16343B"/>
                </a:solidFill>
                <a:latin typeface="Courier New" pitchFamily="34" charset="0"/>
                <a:ea typeface="Courier New" pitchFamily="34" charset="-122"/>
                <a:cs typeface="Courier New" pitchFamily="34" charset="-120"/>
              </a:rPr>
              <a:t>63, 19, 42, 83, 51, 99, 37, 74, 27, 14</a:t>
            </a:r>
            <a:endParaRPr lang="en-US" sz="1700" dirty="0"/>
          </a:p>
        </p:txBody>
      </p:sp>
      <p:sp>
        <p:nvSpPr>
          <p:cNvPr id="38" name="Shape 36"/>
          <p:cNvSpPr/>
          <p:nvPr/>
        </p:nvSpPr>
        <p:spPr>
          <a:xfrm>
            <a:off x="7863840" y="5257800"/>
            <a:ext cx="3685032" cy="1005840"/>
          </a:xfrm>
          <a:prstGeom prst="roundRect">
            <a:avLst>
              <a:gd name="adj" fmla="val 4545"/>
            </a:avLst>
          </a:prstGeom>
          <a:solidFill>
            <a:srgbClr val="F1F6F7"/>
          </a:solidFill>
          <a:ln w="12700">
            <a:solidFill>
              <a:srgbClr val="D3E0E3"/>
            </a:solidFill>
            <a:prstDash val="solid"/>
          </a:ln>
        </p:spPr>
        <p:txBody>
          <a:bodyPr/>
          <a:lstStyle/>
          <a:p>
            <a:endParaRPr lang="en-US"/>
          </a:p>
        </p:txBody>
      </p:sp>
      <p:sp>
        <p:nvSpPr>
          <p:cNvPr id="39" name="Text 37"/>
          <p:cNvSpPr txBox="1"/>
          <p:nvPr/>
        </p:nvSpPr>
        <p:spPr>
          <a:xfrm>
            <a:off x="8138160" y="5440680"/>
            <a:ext cx="3227832" cy="685800"/>
          </a:xfrm>
          <a:prstGeom prst="rect">
            <a:avLst/>
          </a:prstGeom>
          <a:noFill/>
          <a:ln/>
        </p:spPr>
        <p:txBody>
          <a:bodyPr wrap="square" lIns="0" tIns="0" rIns="0" bIns="0" rtlCol="0" anchor="t"/>
          <a:lstStyle/>
          <a:p>
            <a:pPr marL="0" indent="0" algn="l">
              <a:lnSpc>
                <a:spcPts val="1755"/>
              </a:lnSpc>
              <a:buNone/>
            </a:pPr>
            <a:r>
              <a:rPr lang="en-US" sz="1300" dirty="0">
                <a:solidFill>
                  <a:srgbClr val="16343B"/>
                </a:solidFill>
                <a:latin typeface="Calibri" pitchFamily="34" charset="0"/>
                <a:ea typeface="Calibri" pitchFamily="34" charset="-122"/>
                <a:cs typeface="Calibri" pitchFamily="34" charset="-120"/>
              </a:rPr>
              <a:t>Check yourself: run inorder over the tree you drew and confirm you get the given sequence back.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Q54</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This leaf-counting algorithm is wrong</a:t>
            </a:r>
            <a:endParaRPr lang="en-US" sz="3000" dirty="0"/>
          </a:p>
        </p:txBody>
      </p:sp>
      <p:sp>
        <p:nvSpPr>
          <p:cNvPr id="5" name="Text 3"/>
          <p:cNvSpPr txBox="1"/>
          <p:nvPr/>
        </p:nvSpPr>
        <p:spPr>
          <a:xfrm>
            <a:off x="1737360" y="969264"/>
            <a:ext cx="9811512" cy="310896"/>
          </a:xfrm>
          <a:prstGeom prst="rect">
            <a:avLst/>
          </a:prstGeom>
          <a:noFill/>
          <a:ln/>
        </p:spPr>
        <p:txBody>
          <a:bodyPr wrap="square" lIns="0" tIns="0" rIns="0" bIns="0" rtlCol="0" anchor="ctr"/>
          <a:lstStyle/>
          <a:p>
            <a:pPr marL="0" indent="0">
              <a:buNone/>
            </a:pPr>
            <a:r>
              <a:rPr lang="en-US" sz="1400" i="1" dirty="0">
                <a:solidFill>
                  <a:srgbClr val="5F7A80"/>
                </a:solidFill>
                <a:latin typeface="Calibri" pitchFamily="34" charset="0"/>
                <a:ea typeface="Calibri" pitchFamily="34" charset="-122"/>
                <a:cs typeface="Calibri" pitchFamily="34" charset="-120"/>
              </a:rPr>
              <a:t>Run it on the smallest tree you can think of before trying to fix it</a:t>
            </a:r>
            <a:endParaRPr lang="en-US" sz="1400" dirty="0"/>
          </a:p>
        </p:txBody>
      </p:sp>
      <p:sp>
        <p:nvSpPr>
          <p:cNvPr id="6" name="Text 4"/>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10</a:t>
            </a:r>
            <a:endParaRPr lang="en-US" sz="900" dirty="0"/>
          </a:p>
        </p:txBody>
      </p:sp>
      <p:sp>
        <p:nvSpPr>
          <p:cNvPr id="7" name="Shape 5"/>
          <p:cNvSpPr/>
          <p:nvPr/>
        </p:nvSpPr>
        <p:spPr>
          <a:xfrm>
            <a:off x="640080" y="1737360"/>
            <a:ext cx="6035040" cy="1857756"/>
          </a:xfrm>
          <a:prstGeom prst="roundRect">
            <a:avLst>
              <a:gd name="adj" fmla="val 2461"/>
            </a:avLst>
          </a:prstGeom>
          <a:solidFill>
            <a:srgbClr val="F1F6F7"/>
          </a:solidFill>
          <a:ln w="12700">
            <a:solidFill>
              <a:srgbClr val="D3E0E3"/>
            </a:solidFill>
            <a:prstDash val="solid"/>
          </a:ln>
        </p:spPr>
        <p:txBody>
          <a:bodyPr/>
          <a:lstStyle/>
          <a:p>
            <a:endParaRPr lang="en-US"/>
          </a:p>
        </p:txBody>
      </p:sp>
      <p:sp>
        <p:nvSpPr>
          <p:cNvPr id="8" name="Text 6"/>
          <p:cNvSpPr txBox="1"/>
          <p:nvPr/>
        </p:nvSpPr>
        <p:spPr>
          <a:xfrm>
            <a:off x="841248" y="1892808"/>
            <a:ext cx="5632704" cy="1546860"/>
          </a:xfrm>
          <a:prstGeom prst="rect">
            <a:avLst/>
          </a:prstGeom>
          <a:noFill/>
          <a:ln/>
        </p:spPr>
        <p:txBody>
          <a:bodyPr wrap="square" lIns="0" tIns="0" rIns="0" bIns="0" rtlCol="0" anchor="t"/>
          <a:lstStyle/>
          <a:p>
            <a:pPr marL="0" indent="0">
              <a:lnSpc>
                <a:spcPts val="2030"/>
              </a:lnSpc>
              <a:buNone/>
            </a:pPr>
            <a:r>
              <a:rPr lang="en-US" sz="1400" b="1" dirty="0">
                <a:solidFill>
                  <a:srgbClr val="0F5E6E"/>
                </a:solidFill>
                <a:latin typeface="Courier New" pitchFamily="34" charset="0"/>
                <a:ea typeface="Courier New" pitchFamily="34" charset="-122"/>
                <a:cs typeface="Courier New" pitchFamily="34" charset="-120"/>
              </a:rPr>
              <a:t>function LeafCount(T)</a:t>
            </a:r>
            <a:endParaRPr lang="en-US" sz="1400" dirty="0"/>
          </a:p>
          <a:p>
            <a:pPr marL="0" indent="0">
              <a:lnSpc>
                <a:spcPts val="2030"/>
              </a:lnSpc>
              <a:buNone/>
            </a:pPr>
            <a:r>
              <a:rPr lang="en-US" sz="1400" dirty="0">
                <a:solidFill>
                  <a:srgbClr val="16343B"/>
                </a:solidFill>
                <a:latin typeface="Courier New" pitchFamily="34" charset="0"/>
                <a:ea typeface="Courier New" pitchFamily="34" charset="-122"/>
                <a:cs typeface="Courier New" pitchFamily="34" charset="-120"/>
              </a:rPr>
              <a:t>  if T = null then</a:t>
            </a:r>
            <a:endParaRPr lang="en-US" sz="1400" dirty="0"/>
          </a:p>
          <a:p>
            <a:pPr marL="0" indent="0">
              <a:lnSpc>
                <a:spcPts val="2030"/>
              </a:lnSpc>
              <a:buNone/>
            </a:pPr>
            <a:r>
              <a:rPr lang="en-US" sz="1400" dirty="0">
                <a:solidFill>
                  <a:srgbClr val="16343B"/>
                </a:solidFill>
                <a:latin typeface="Courier New" pitchFamily="34" charset="0"/>
                <a:ea typeface="Courier New" pitchFamily="34" charset="-122"/>
                <a:cs typeface="Courier New" pitchFamily="34" charset="-120"/>
              </a:rPr>
              <a:t>    return 0</a:t>
            </a:r>
            <a:endParaRPr lang="en-US" sz="1400" dirty="0"/>
          </a:p>
          <a:p>
            <a:pPr marL="0" indent="0">
              <a:lnSpc>
                <a:spcPts val="2030"/>
              </a:lnSpc>
              <a:buNone/>
            </a:pPr>
            <a:r>
              <a:rPr lang="en-US" sz="1400" dirty="0">
                <a:solidFill>
                  <a:srgbClr val="16343B"/>
                </a:solidFill>
                <a:latin typeface="Courier New" pitchFamily="34" charset="0"/>
                <a:ea typeface="Courier New" pitchFamily="34" charset="-122"/>
                <a:cs typeface="Courier New" pitchFamily="34" charset="-120"/>
              </a:rPr>
              <a:t>  else</a:t>
            </a:r>
            <a:endParaRPr lang="en-US" sz="1400" dirty="0"/>
          </a:p>
          <a:p>
            <a:pPr marL="0" indent="0">
              <a:lnSpc>
                <a:spcPts val="2030"/>
              </a:lnSpc>
              <a:buNone/>
            </a:pPr>
            <a:r>
              <a:rPr lang="en-US" sz="1400" dirty="0">
                <a:solidFill>
                  <a:srgbClr val="16343B"/>
                </a:solidFill>
                <a:latin typeface="Courier New" pitchFamily="34" charset="0"/>
                <a:ea typeface="Courier New" pitchFamily="34" charset="-122"/>
                <a:cs typeface="Courier New" pitchFamily="34" charset="-120"/>
              </a:rPr>
              <a:t>    return LeafCount(T.left)</a:t>
            </a:r>
            <a:endParaRPr lang="en-US" sz="1400" dirty="0"/>
          </a:p>
          <a:p>
            <a:pPr marL="0" indent="0">
              <a:lnSpc>
                <a:spcPts val="2030"/>
              </a:lnSpc>
              <a:buNone/>
            </a:pPr>
            <a:r>
              <a:rPr lang="en-US" sz="1400" dirty="0">
                <a:solidFill>
                  <a:srgbClr val="16343B"/>
                </a:solidFill>
                <a:latin typeface="Courier New" pitchFamily="34" charset="0"/>
                <a:ea typeface="Courier New" pitchFamily="34" charset="-122"/>
                <a:cs typeface="Courier New" pitchFamily="34" charset="-120"/>
              </a:rPr>
              <a:t>           + LeafCount(T.right)</a:t>
            </a:r>
            <a:endParaRPr lang="en-US" sz="1400" dirty="0"/>
          </a:p>
        </p:txBody>
      </p:sp>
      <p:sp>
        <p:nvSpPr>
          <p:cNvPr id="9" name="Text 7"/>
          <p:cNvSpPr txBox="1"/>
          <p:nvPr/>
        </p:nvSpPr>
        <p:spPr>
          <a:xfrm>
            <a:off x="7863840" y="1737360"/>
            <a:ext cx="3657600" cy="320040"/>
          </a:xfrm>
          <a:prstGeom prst="rect">
            <a:avLst/>
          </a:prstGeom>
          <a:noFill/>
          <a:ln/>
        </p:spPr>
        <p:txBody>
          <a:bodyPr wrap="square" lIns="0" tIns="0" rIns="0" bIns="0" rtlCol="0" anchor="t"/>
          <a:lstStyle/>
          <a:p>
            <a:pPr marL="0" indent="0" algn="l">
              <a:lnSpc>
                <a:spcPts val="1890"/>
              </a:lnSpc>
              <a:buNone/>
            </a:pPr>
            <a:r>
              <a:rPr lang="en-US" sz="1400" b="1" dirty="0">
                <a:solidFill>
                  <a:srgbClr val="0F5E6E"/>
                </a:solidFill>
                <a:latin typeface="Calibri" pitchFamily="34" charset="0"/>
                <a:ea typeface="Calibri" pitchFamily="34" charset="-122"/>
                <a:cs typeface="Calibri" pitchFamily="34" charset="-120"/>
              </a:rPr>
              <a:t>Try it on a single node:</a:t>
            </a:r>
            <a:endParaRPr lang="en-US" sz="1400" dirty="0"/>
          </a:p>
        </p:txBody>
      </p:sp>
      <p:sp>
        <p:nvSpPr>
          <p:cNvPr id="10" name="Shape 8"/>
          <p:cNvSpPr/>
          <p:nvPr/>
        </p:nvSpPr>
        <p:spPr>
          <a:xfrm flipV="1">
            <a:off x="8001000" y="2606040"/>
            <a:ext cx="320040" cy="502920"/>
          </a:xfrm>
          <a:prstGeom prst="line">
            <a:avLst/>
          </a:prstGeom>
          <a:noFill/>
          <a:ln w="15875">
            <a:solidFill>
              <a:srgbClr val="D3E0E3"/>
            </a:solidFill>
            <a:prstDash val="solid"/>
          </a:ln>
        </p:spPr>
        <p:txBody>
          <a:bodyPr/>
          <a:lstStyle/>
          <a:p>
            <a:endParaRPr lang="en-US"/>
          </a:p>
        </p:txBody>
      </p:sp>
      <p:sp>
        <p:nvSpPr>
          <p:cNvPr id="11" name="Shape 9"/>
          <p:cNvSpPr/>
          <p:nvPr/>
        </p:nvSpPr>
        <p:spPr>
          <a:xfrm>
            <a:off x="8321040" y="2606040"/>
            <a:ext cx="594360" cy="502920"/>
          </a:xfrm>
          <a:prstGeom prst="line">
            <a:avLst/>
          </a:prstGeom>
          <a:noFill/>
          <a:ln w="15875">
            <a:solidFill>
              <a:srgbClr val="D3E0E3"/>
            </a:solidFill>
            <a:prstDash val="solid"/>
          </a:ln>
        </p:spPr>
        <p:txBody>
          <a:bodyPr/>
          <a:lstStyle/>
          <a:p>
            <a:endParaRPr lang="en-US"/>
          </a:p>
        </p:txBody>
      </p:sp>
      <p:sp>
        <p:nvSpPr>
          <p:cNvPr id="12" name="Shape 10"/>
          <p:cNvSpPr/>
          <p:nvPr/>
        </p:nvSpPr>
        <p:spPr>
          <a:xfrm>
            <a:off x="8046720" y="2331720"/>
            <a:ext cx="548640" cy="548640"/>
          </a:xfrm>
          <a:prstGeom prst="ellipse">
            <a:avLst/>
          </a:prstGeom>
          <a:solidFill>
            <a:srgbClr val="D9932B"/>
          </a:solidFill>
          <a:ln w="22225">
            <a:solidFill>
              <a:srgbClr val="D9932B"/>
            </a:solidFill>
            <a:prstDash val="solid"/>
          </a:ln>
        </p:spPr>
        <p:txBody>
          <a:bodyPr/>
          <a:lstStyle/>
          <a:p>
            <a:endParaRPr lang="en-US"/>
          </a:p>
        </p:txBody>
      </p:sp>
      <p:sp>
        <p:nvSpPr>
          <p:cNvPr id="13" name="Text 11"/>
          <p:cNvSpPr txBox="1"/>
          <p:nvPr/>
        </p:nvSpPr>
        <p:spPr>
          <a:xfrm>
            <a:off x="7909560" y="2331720"/>
            <a:ext cx="822960" cy="548640"/>
          </a:xfrm>
          <a:prstGeom prst="rect">
            <a:avLst/>
          </a:prstGeom>
          <a:noFill/>
          <a:ln/>
        </p:spPr>
        <p:txBody>
          <a:bodyPr wrap="square" lIns="0" tIns="0" rIns="0" bIns="0" rtlCol="0" anchor="ctr"/>
          <a:lstStyle/>
          <a:p>
            <a:pPr marL="0" indent="0" algn="ctr">
              <a:buNone/>
            </a:pPr>
            <a:r>
              <a:rPr lang="en-US" sz="1700" b="1" dirty="0">
                <a:solidFill>
                  <a:srgbClr val="16343B"/>
                </a:solidFill>
                <a:latin typeface="Calibri" pitchFamily="34" charset="0"/>
                <a:ea typeface="Calibri" pitchFamily="34" charset="-122"/>
                <a:cs typeface="Calibri" pitchFamily="34" charset="-120"/>
              </a:rPr>
              <a:t>a</a:t>
            </a:r>
            <a:endParaRPr lang="en-US" sz="1700" dirty="0"/>
          </a:p>
        </p:txBody>
      </p:sp>
      <p:sp>
        <p:nvSpPr>
          <p:cNvPr id="14" name="Text 12"/>
          <p:cNvSpPr txBox="1"/>
          <p:nvPr/>
        </p:nvSpPr>
        <p:spPr>
          <a:xfrm>
            <a:off x="7635240" y="3127248"/>
            <a:ext cx="731520" cy="274320"/>
          </a:xfrm>
          <a:prstGeom prst="rect">
            <a:avLst/>
          </a:prstGeom>
          <a:noFill/>
          <a:ln/>
        </p:spPr>
        <p:txBody>
          <a:bodyPr wrap="square" lIns="0" tIns="0" rIns="0" bIns="0" rtlCol="0" anchor="ctr"/>
          <a:lstStyle/>
          <a:p>
            <a:pPr marL="0" indent="0" algn="ctr">
              <a:buNone/>
            </a:pPr>
            <a:r>
              <a:rPr lang="en-US" sz="1100" dirty="0">
                <a:solidFill>
                  <a:srgbClr val="5F7A80"/>
                </a:solidFill>
                <a:latin typeface="Courier New" pitchFamily="34" charset="0"/>
                <a:ea typeface="Courier New" pitchFamily="34" charset="-122"/>
                <a:cs typeface="Courier New" pitchFamily="34" charset="-120"/>
              </a:rPr>
              <a:t>null</a:t>
            </a:r>
            <a:endParaRPr lang="en-US" sz="1100" dirty="0"/>
          </a:p>
        </p:txBody>
      </p:sp>
      <p:sp>
        <p:nvSpPr>
          <p:cNvPr id="15" name="Text 13"/>
          <p:cNvSpPr txBox="1"/>
          <p:nvPr/>
        </p:nvSpPr>
        <p:spPr>
          <a:xfrm>
            <a:off x="8549640" y="3127248"/>
            <a:ext cx="731520" cy="274320"/>
          </a:xfrm>
          <a:prstGeom prst="rect">
            <a:avLst/>
          </a:prstGeom>
          <a:noFill/>
          <a:ln/>
        </p:spPr>
        <p:txBody>
          <a:bodyPr wrap="square" lIns="0" tIns="0" rIns="0" bIns="0" rtlCol="0" anchor="ctr"/>
          <a:lstStyle/>
          <a:p>
            <a:pPr marL="0" indent="0" algn="ctr">
              <a:buNone/>
            </a:pPr>
            <a:r>
              <a:rPr lang="en-US" sz="1100" dirty="0">
                <a:solidFill>
                  <a:srgbClr val="5F7A80"/>
                </a:solidFill>
                <a:latin typeface="Courier New" pitchFamily="34" charset="0"/>
                <a:ea typeface="Courier New" pitchFamily="34" charset="-122"/>
                <a:cs typeface="Courier New" pitchFamily="34" charset="-120"/>
              </a:rPr>
              <a:t>null</a:t>
            </a:r>
            <a:endParaRPr lang="en-US" sz="1100" dirty="0"/>
          </a:p>
        </p:txBody>
      </p:sp>
      <p:sp>
        <p:nvSpPr>
          <p:cNvPr id="16" name="Shape 14"/>
          <p:cNvSpPr/>
          <p:nvPr/>
        </p:nvSpPr>
        <p:spPr>
          <a:xfrm>
            <a:off x="9601200" y="2286000"/>
            <a:ext cx="2468880" cy="960120"/>
          </a:xfrm>
          <a:prstGeom prst="roundRect">
            <a:avLst>
              <a:gd name="adj" fmla="val 4762"/>
            </a:avLst>
          </a:prstGeom>
          <a:solidFill>
            <a:srgbClr val="FBEEDA"/>
          </a:solidFill>
          <a:ln w="12700">
            <a:solidFill>
              <a:srgbClr val="EAD3A6"/>
            </a:solidFill>
            <a:prstDash val="solid"/>
          </a:ln>
        </p:spPr>
        <p:txBody>
          <a:bodyPr/>
          <a:lstStyle/>
          <a:p>
            <a:endParaRPr lang="en-US"/>
          </a:p>
        </p:txBody>
      </p:sp>
      <p:sp>
        <p:nvSpPr>
          <p:cNvPr id="17" name="Text 15"/>
          <p:cNvSpPr txBox="1"/>
          <p:nvPr/>
        </p:nvSpPr>
        <p:spPr>
          <a:xfrm>
            <a:off x="9738360" y="2450592"/>
            <a:ext cx="2194560" cy="731520"/>
          </a:xfrm>
          <a:prstGeom prst="rect">
            <a:avLst/>
          </a:prstGeom>
          <a:noFill/>
          <a:ln/>
        </p:spPr>
        <p:txBody>
          <a:bodyPr wrap="square" lIns="0" tIns="0" rIns="0" bIns="0" rtlCol="0" anchor="ctr"/>
          <a:lstStyle/>
          <a:p>
            <a:pPr marL="0" indent="0" algn="ctr">
              <a:lnSpc>
                <a:spcPts val="1890"/>
              </a:lnSpc>
              <a:buNone/>
            </a:pPr>
            <a:r>
              <a:rPr lang="en-US" sz="1400" b="1" dirty="0">
                <a:solidFill>
                  <a:srgbClr val="9C6410"/>
                </a:solidFill>
                <a:latin typeface="Calibri" pitchFamily="34" charset="0"/>
                <a:ea typeface="Calibri" pitchFamily="34" charset="-122"/>
                <a:cs typeface="Calibri" pitchFamily="34" charset="-120"/>
              </a:rPr>
              <a:t>0 + 0 = 0</a:t>
            </a:r>
            <a:endParaRPr lang="en-US" sz="1400" dirty="0"/>
          </a:p>
          <a:p>
            <a:pPr marL="0" indent="0" algn="ctr">
              <a:lnSpc>
                <a:spcPts val="1890"/>
              </a:lnSpc>
              <a:buNone/>
            </a:pPr>
            <a:r>
              <a:rPr lang="en-US" sz="1400" b="1" dirty="0">
                <a:solidFill>
                  <a:srgbClr val="9C6410"/>
                </a:solidFill>
                <a:latin typeface="Calibri" pitchFamily="34" charset="0"/>
                <a:ea typeface="Calibri" pitchFamily="34" charset="-122"/>
                <a:cs typeface="Calibri" pitchFamily="34" charset="-120"/>
              </a:rPr>
              <a:t>but a IS a leaf</a:t>
            </a:r>
            <a:endParaRPr lang="en-US" sz="1400" dirty="0"/>
          </a:p>
        </p:txBody>
      </p:sp>
      <p:sp>
        <p:nvSpPr>
          <p:cNvPr id="18" name="Text 16"/>
          <p:cNvSpPr txBox="1"/>
          <p:nvPr/>
        </p:nvSpPr>
        <p:spPr>
          <a:xfrm>
            <a:off x="640080" y="4343400"/>
            <a:ext cx="10908792" cy="173736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rgbClr val="9C6410"/>
                </a:solidFill>
                <a:latin typeface="Calibri" pitchFamily="34" charset="0"/>
                <a:ea typeface="Calibri" pitchFamily="34" charset="-122"/>
                <a:cs typeface="Calibri" pitchFamily="34" charset="-120"/>
              </a:rPr>
              <a:t>Every recursion path bottoms out at null, and null contributes 0 — so the function returns 0 for every tree.</a:t>
            </a:r>
            <a:endParaRPr lang="en-US" sz="1500" dirty="0"/>
          </a:p>
          <a:p>
            <a:pPr marL="203200" indent="-203200">
              <a:spcAft>
                <a:spcPts val="800"/>
              </a:spcAft>
              <a:buSzPct val="100000"/>
              <a:buChar char="▪"/>
            </a:pPr>
            <a:r>
              <a:rPr lang="en-US" sz="1500" dirty="0">
                <a:solidFill>
                  <a:srgbClr val="16343B"/>
                </a:solidFill>
                <a:latin typeface="Calibri" pitchFamily="34" charset="0"/>
                <a:ea typeface="Calibri" pitchFamily="34" charset="-122"/>
                <a:cs typeface="Calibri" pitchFamily="34" charset="-120"/>
              </a:rPr>
              <a:t>The </a:t>
            </a:r>
            <a:r>
              <a:rPr lang="en-US" sz="1500" b="1" dirty="0">
                <a:solidFill>
                  <a:srgbClr val="16343B"/>
                </a:solidFill>
                <a:latin typeface="Calibri" pitchFamily="34" charset="0"/>
                <a:ea typeface="Calibri" pitchFamily="34" charset="-122"/>
                <a:cs typeface="Calibri" pitchFamily="34" charset="-120"/>
              </a:rPr>
              <a:t>base case </a:t>
            </a:r>
            <a:r>
              <a:rPr lang="en-US" sz="1500" dirty="0">
                <a:solidFill>
                  <a:srgbClr val="16343B"/>
                </a:solidFill>
                <a:latin typeface="Calibri" pitchFamily="34" charset="0"/>
                <a:ea typeface="Calibri" pitchFamily="34" charset="-122"/>
                <a:cs typeface="Calibri" pitchFamily="34" charset="-120"/>
              </a:rPr>
              <a:t>answers “what does an empty tree contribute?”</a:t>
            </a:r>
            <a:endParaRPr lang="en-US" sz="1500" dirty="0"/>
          </a:p>
          <a:p>
            <a:pPr marL="203200" indent="-203200">
              <a:spcAft>
                <a:spcPts val="800"/>
              </a:spcAft>
              <a:buSzPct val="100000"/>
              <a:buChar char="▪"/>
            </a:pPr>
            <a:r>
              <a:rPr lang="en-US" sz="1500" dirty="0">
                <a:solidFill>
                  <a:srgbClr val="16343B"/>
                </a:solidFill>
                <a:latin typeface="Calibri" pitchFamily="34" charset="0"/>
                <a:ea typeface="Calibri" pitchFamily="34" charset="-122"/>
                <a:cs typeface="Calibri" pitchFamily="34" charset="-120"/>
              </a:rPr>
              <a:t>A leaf is not the empty tree: it is a node whose two subtrees are both empty.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Q54</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Add the missing base case</a:t>
            </a:r>
            <a:endParaRPr lang="en-US" sz="3000" dirty="0"/>
          </a:p>
        </p:txBody>
      </p:sp>
      <p:sp>
        <p:nvSpPr>
          <p:cNvPr id="5" name="Text 3"/>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11</a:t>
            </a:r>
            <a:endParaRPr lang="en-US" sz="900" dirty="0"/>
          </a:p>
        </p:txBody>
      </p:sp>
      <p:sp>
        <p:nvSpPr>
          <p:cNvPr id="6" name="Shape 4"/>
          <p:cNvSpPr/>
          <p:nvPr/>
        </p:nvSpPr>
        <p:spPr>
          <a:xfrm>
            <a:off x="640080" y="1874520"/>
            <a:ext cx="6400800" cy="2631186"/>
          </a:xfrm>
          <a:prstGeom prst="roundRect">
            <a:avLst>
              <a:gd name="adj" fmla="val 1738"/>
            </a:avLst>
          </a:prstGeom>
          <a:solidFill>
            <a:srgbClr val="F1F6F7"/>
          </a:solidFill>
          <a:ln w="12700">
            <a:solidFill>
              <a:srgbClr val="D3E0E3"/>
            </a:solidFill>
            <a:prstDash val="solid"/>
          </a:ln>
        </p:spPr>
        <p:txBody>
          <a:bodyPr/>
          <a:lstStyle/>
          <a:p>
            <a:endParaRPr lang="en-US"/>
          </a:p>
        </p:txBody>
      </p:sp>
      <p:sp>
        <p:nvSpPr>
          <p:cNvPr id="7" name="Text 5"/>
          <p:cNvSpPr txBox="1"/>
          <p:nvPr/>
        </p:nvSpPr>
        <p:spPr>
          <a:xfrm>
            <a:off x="841248" y="2029968"/>
            <a:ext cx="5998464" cy="2320290"/>
          </a:xfrm>
          <a:prstGeom prst="rect">
            <a:avLst/>
          </a:prstGeom>
          <a:noFill/>
          <a:ln/>
        </p:spPr>
        <p:txBody>
          <a:bodyPr wrap="square" lIns="0" tIns="0" rIns="0" bIns="0" rtlCol="0" anchor="t"/>
          <a:lstStyle/>
          <a:p>
            <a:pPr marL="0" indent="0">
              <a:lnSpc>
                <a:spcPts val="2030"/>
              </a:lnSpc>
              <a:buNone/>
            </a:pPr>
            <a:r>
              <a:rPr lang="en-US" sz="1400" b="1" dirty="0">
                <a:solidFill>
                  <a:srgbClr val="0F5E6E"/>
                </a:solidFill>
                <a:latin typeface="Courier New" pitchFamily="34" charset="0"/>
                <a:ea typeface="Courier New" pitchFamily="34" charset="-122"/>
                <a:cs typeface="Courier New" pitchFamily="34" charset="-120"/>
              </a:rPr>
              <a:t>function LeafCount(T)</a:t>
            </a:r>
            <a:endParaRPr lang="en-US" sz="1400" dirty="0"/>
          </a:p>
          <a:p>
            <a:pPr marL="0" indent="0">
              <a:lnSpc>
                <a:spcPts val="2030"/>
              </a:lnSpc>
              <a:buNone/>
            </a:pPr>
            <a:r>
              <a:rPr lang="en-US" sz="1400" dirty="0">
                <a:solidFill>
                  <a:srgbClr val="16343B"/>
                </a:solidFill>
                <a:latin typeface="Courier New" pitchFamily="34" charset="0"/>
                <a:ea typeface="Courier New" pitchFamily="34" charset="-122"/>
                <a:cs typeface="Courier New" pitchFamily="34" charset="-120"/>
              </a:rPr>
              <a:t>  if T = null then</a:t>
            </a:r>
            <a:endParaRPr lang="en-US" sz="1400" dirty="0"/>
          </a:p>
          <a:p>
            <a:pPr marL="0" indent="0">
              <a:lnSpc>
                <a:spcPts val="2030"/>
              </a:lnSpc>
              <a:buNone/>
            </a:pPr>
            <a:r>
              <a:rPr lang="en-US" sz="1400" dirty="0">
                <a:solidFill>
                  <a:srgbClr val="16343B"/>
                </a:solidFill>
                <a:latin typeface="Courier New" pitchFamily="34" charset="0"/>
                <a:ea typeface="Courier New" pitchFamily="34" charset="-122"/>
                <a:cs typeface="Courier New" pitchFamily="34" charset="-120"/>
              </a:rPr>
              <a:t>    return 0</a:t>
            </a:r>
            <a:endParaRPr lang="en-US" sz="1400" dirty="0"/>
          </a:p>
          <a:p>
            <a:pPr marL="0" indent="0">
              <a:lnSpc>
                <a:spcPts val="2030"/>
              </a:lnSpc>
              <a:buNone/>
            </a:pPr>
            <a:r>
              <a:rPr lang="en-US" sz="1400" dirty="0">
                <a:solidFill>
                  <a:srgbClr val="16343B"/>
                </a:solidFill>
                <a:latin typeface="Courier New" pitchFamily="34" charset="0"/>
                <a:ea typeface="Courier New" pitchFamily="34" charset="-122"/>
                <a:cs typeface="Courier New" pitchFamily="34" charset="-120"/>
              </a:rPr>
              <a:t>  else</a:t>
            </a:r>
            <a:endParaRPr lang="en-US" sz="1400" dirty="0"/>
          </a:p>
          <a:p>
            <a:pPr marL="0" indent="0">
              <a:lnSpc>
                <a:spcPts val="2030"/>
              </a:lnSpc>
              <a:buNone/>
            </a:pPr>
            <a:r>
              <a:rPr lang="en-US" sz="1400" b="1" dirty="0">
                <a:solidFill>
                  <a:srgbClr val="9C6410"/>
                </a:solidFill>
                <a:latin typeface="Courier New" pitchFamily="34" charset="0"/>
                <a:ea typeface="Courier New" pitchFamily="34" charset="-122"/>
                <a:cs typeface="Courier New" pitchFamily="34" charset="-120"/>
              </a:rPr>
              <a:t>    if T.left = null and T.right = null then</a:t>
            </a:r>
            <a:endParaRPr lang="en-US" sz="1400" dirty="0"/>
          </a:p>
          <a:p>
            <a:pPr marL="0" indent="0">
              <a:lnSpc>
                <a:spcPts val="2030"/>
              </a:lnSpc>
              <a:buNone/>
            </a:pPr>
            <a:r>
              <a:rPr lang="en-US" sz="1400" b="1" dirty="0">
                <a:solidFill>
                  <a:srgbClr val="9C6410"/>
                </a:solidFill>
                <a:latin typeface="Courier New" pitchFamily="34" charset="0"/>
                <a:ea typeface="Courier New" pitchFamily="34" charset="-122"/>
                <a:cs typeface="Courier New" pitchFamily="34" charset="-120"/>
              </a:rPr>
              <a:t>      return 1</a:t>
            </a:r>
            <a:endParaRPr lang="en-US" sz="1400" dirty="0"/>
          </a:p>
          <a:p>
            <a:pPr marL="0" indent="0">
              <a:lnSpc>
                <a:spcPts val="2030"/>
              </a:lnSpc>
              <a:buNone/>
            </a:pPr>
            <a:r>
              <a:rPr lang="en-US" sz="1400" dirty="0">
                <a:solidFill>
                  <a:srgbClr val="16343B"/>
                </a:solidFill>
                <a:latin typeface="Courier New" pitchFamily="34" charset="0"/>
                <a:ea typeface="Courier New" pitchFamily="34" charset="-122"/>
                <a:cs typeface="Courier New" pitchFamily="34" charset="-120"/>
              </a:rPr>
              <a:t>    else</a:t>
            </a:r>
            <a:endParaRPr lang="en-US" sz="1400" dirty="0"/>
          </a:p>
          <a:p>
            <a:pPr marL="0" indent="0">
              <a:lnSpc>
                <a:spcPts val="2030"/>
              </a:lnSpc>
              <a:buNone/>
            </a:pPr>
            <a:r>
              <a:rPr lang="en-US" sz="1400" dirty="0">
                <a:solidFill>
                  <a:srgbClr val="16343B"/>
                </a:solidFill>
                <a:latin typeface="Courier New" pitchFamily="34" charset="0"/>
                <a:ea typeface="Courier New" pitchFamily="34" charset="-122"/>
                <a:cs typeface="Courier New" pitchFamily="34" charset="-120"/>
              </a:rPr>
              <a:t>      return LeafCount(T.left)</a:t>
            </a:r>
            <a:endParaRPr lang="en-US" sz="1400" dirty="0"/>
          </a:p>
          <a:p>
            <a:pPr marL="0" indent="0">
              <a:lnSpc>
                <a:spcPts val="2030"/>
              </a:lnSpc>
              <a:buNone/>
            </a:pPr>
            <a:r>
              <a:rPr lang="en-US" sz="1400" dirty="0">
                <a:solidFill>
                  <a:srgbClr val="16343B"/>
                </a:solidFill>
                <a:latin typeface="Courier New" pitchFamily="34" charset="0"/>
                <a:ea typeface="Courier New" pitchFamily="34" charset="-122"/>
                <a:cs typeface="Courier New" pitchFamily="34" charset="-120"/>
              </a:rPr>
              <a:t>             + LeafCount(T.right)</a:t>
            </a:r>
            <a:endParaRPr lang="en-US" sz="1400" dirty="0"/>
          </a:p>
        </p:txBody>
      </p:sp>
      <p:sp>
        <p:nvSpPr>
          <p:cNvPr id="8" name="Text 6"/>
          <p:cNvSpPr txBox="1"/>
          <p:nvPr/>
        </p:nvSpPr>
        <p:spPr>
          <a:xfrm>
            <a:off x="7589520" y="1965960"/>
            <a:ext cx="3959352" cy="310896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16343B"/>
                </a:solidFill>
                <a:latin typeface="Calibri" pitchFamily="34" charset="0"/>
                <a:ea typeface="Calibri" pitchFamily="34" charset="-122"/>
                <a:cs typeface="Calibri" pitchFamily="34" charset="-120"/>
              </a:rPr>
              <a:t>Three cases now: empty tree → 0, leaf → 1, internal node → sum of the two subtrees.</a:t>
            </a:r>
            <a:endParaRPr lang="en-US" sz="1400" dirty="0"/>
          </a:p>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Each node is visited once, so the cost is Θ(n).</a:t>
            </a:r>
            <a:endParaRPr lang="en-US" sz="1400" dirty="0"/>
          </a:p>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The same shape works for height, node count, sum of keys — only the combine step changes.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B2E36"/>
        </a:solidFill>
        <a:effectLst/>
      </p:bgPr>
    </p:bg>
    <p:spTree>
      <p:nvGrpSpPr>
        <p:cNvPr id="1" name=""/>
        <p:cNvGrpSpPr/>
        <p:nvPr/>
      </p:nvGrpSpPr>
      <p:grpSpPr>
        <a:xfrm>
          <a:off x="0" y="0"/>
          <a:ext cx="0" cy="0"/>
          <a:chOff x="0" y="0"/>
          <a:chExt cx="0" cy="0"/>
        </a:xfrm>
      </p:grpSpPr>
      <p:sp>
        <p:nvSpPr>
          <p:cNvPr id="2" name="Text 0"/>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3D8C9C"/>
                </a:solidFill>
                <a:latin typeface="Calibri" pitchFamily="34" charset="0"/>
                <a:ea typeface="Calibri" pitchFamily="34" charset="-122"/>
                <a:cs typeface="Calibri" pitchFamily="34" charset="-120"/>
              </a:rPr>
              <a:t>COMP90038 · Tutorial 8  |  12</a:t>
            </a:r>
            <a:endParaRPr lang="en-US" sz="900" dirty="0"/>
          </a:p>
        </p:txBody>
      </p:sp>
      <p:sp>
        <p:nvSpPr>
          <p:cNvPr id="3" name="Text 1"/>
          <p:cNvSpPr txBox="1"/>
          <p:nvPr/>
        </p:nvSpPr>
        <p:spPr>
          <a:xfrm>
            <a:off x="640080" y="2286000"/>
            <a:ext cx="5486400" cy="457200"/>
          </a:xfrm>
          <a:prstGeom prst="rect">
            <a:avLst/>
          </a:prstGeom>
          <a:noFill/>
          <a:ln/>
        </p:spPr>
        <p:txBody>
          <a:bodyPr wrap="square" lIns="0" tIns="0" rIns="0" bIns="0" rtlCol="0" anchor="ctr"/>
          <a:lstStyle/>
          <a:p>
            <a:pPr marL="0" indent="0">
              <a:buNone/>
            </a:pPr>
            <a:r>
              <a:rPr lang="en-US" sz="1500" b="1" kern="0" spc="300" dirty="0">
                <a:solidFill>
                  <a:srgbClr val="D9932B"/>
                </a:solidFill>
                <a:latin typeface="Calibri" pitchFamily="34" charset="0"/>
                <a:ea typeface="Calibri" pitchFamily="34" charset="-122"/>
                <a:cs typeface="Calibri" pitchFamily="34" charset="-120"/>
              </a:rPr>
              <a:t>Part 2</a:t>
            </a:r>
            <a:endParaRPr lang="en-US" sz="1500" dirty="0"/>
          </a:p>
        </p:txBody>
      </p:sp>
      <p:sp>
        <p:nvSpPr>
          <p:cNvPr id="4" name="Text 2"/>
          <p:cNvSpPr txBox="1"/>
          <p:nvPr/>
        </p:nvSpPr>
        <p:spPr>
          <a:xfrm>
            <a:off x="640080" y="2743200"/>
            <a:ext cx="82296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Heaps &amp; heapsort</a:t>
            </a:r>
            <a:endParaRPr lang="en-US" sz="4000" dirty="0"/>
          </a:p>
        </p:txBody>
      </p:sp>
      <p:sp>
        <p:nvSpPr>
          <p:cNvPr id="5" name="Text 3"/>
          <p:cNvSpPr txBox="1"/>
          <p:nvPr/>
        </p:nvSpPr>
        <p:spPr>
          <a:xfrm>
            <a:off x="640080" y="3657600"/>
            <a:ext cx="8229600" cy="457200"/>
          </a:xfrm>
          <a:prstGeom prst="rect">
            <a:avLst/>
          </a:prstGeom>
          <a:noFill/>
          <a:ln/>
        </p:spPr>
        <p:txBody>
          <a:bodyPr wrap="square" lIns="0" tIns="0" rIns="0" bIns="0" rtlCol="0" anchor="ctr"/>
          <a:lstStyle/>
          <a:p>
            <a:pPr marL="0" indent="0">
              <a:buNone/>
            </a:pPr>
            <a:r>
              <a:rPr lang="en-US" sz="1800" kern="0" spc="150" dirty="0">
                <a:solidFill>
                  <a:srgbClr val="3D8C9C"/>
                </a:solidFill>
                <a:latin typeface="Calibri" pitchFamily="34" charset="0"/>
                <a:ea typeface="Calibri" pitchFamily="34" charset="-122"/>
                <a:cs typeface="Calibri" pitchFamily="34" charset="-120"/>
              </a:rPr>
              <a:t>Q56  ·  Q57  ·  Q58  ·  Q59</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38912"/>
            <a:ext cx="1090879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A max-heap, and why we store it in an array</a:t>
            </a:r>
            <a:endParaRPr lang="en-US" sz="3000" dirty="0"/>
          </a:p>
        </p:txBody>
      </p:sp>
      <p:sp>
        <p:nvSpPr>
          <p:cNvPr id="3" name="Text 1"/>
          <p:cNvSpPr txBox="1"/>
          <p:nvPr/>
        </p:nvSpPr>
        <p:spPr>
          <a:xfrm>
            <a:off x="640080" y="969264"/>
            <a:ext cx="10908792" cy="310896"/>
          </a:xfrm>
          <a:prstGeom prst="rect">
            <a:avLst/>
          </a:prstGeom>
          <a:noFill/>
          <a:ln/>
        </p:spPr>
        <p:txBody>
          <a:bodyPr wrap="square" lIns="0" tIns="0" rIns="0" bIns="0" rtlCol="0" anchor="ctr"/>
          <a:lstStyle/>
          <a:p>
            <a:pPr marL="0" indent="0">
              <a:buNone/>
            </a:pPr>
            <a:r>
              <a:rPr lang="en-US" sz="1400" b="1" i="1" dirty="0">
                <a:solidFill>
                  <a:srgbClr val="5F7A80"/>
                </a:solidFill>
                <a:latin typeface="Calibri" pitchFamily="34" charset="0"/>
                <a:ea typeface="Calibri" pitchFamily="34" charset="-122"/>
                <a:cs typeface="Calibri" pitchFamily="34" charset="-120"/>
              </a:rPr>
              <a:t>Essentially complete binary tree + every parent ≥ its children</a:t>
            </a:r>
            <a:endParaRPr lang="en-US" sz="1400" b="1" dirty="0"/>
          </a:p>
        </p:txBody>
      </p:sp>
      <p:sp>
        <p:nvSpPr>
          <p:cNvPr id="4" name="Text 2"/>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13</a:t>
            </a:r>
            <a:endParaRPr lang="en-US" sz="900" dirty="0"/>
          </a:p>
        </p:txBody>
      </p:sp>
      <p:sp>
        <p:nvSpPr>
          <p:cNvPr id="5" name="Shape 3"/>
          <p:cNvSpPr/>
          <p:nvPr/>
        </p:nvSpPr>
        <p:spPr>
          <a:xfrm flipV="1">
            <a:off x="1691640" y="1783080"/>
            <a:ext cx="1051560" cy="822960"/>
          </a:xfrm>
          <a:prstGeom prst="line">
            <a:avLst/>
          </a:prstGeom>
          <a:noFill/>
          <a:ln w="19050">
            <a:solidFill>
              <a:srgbClr val="3D8C9C"/>
            </a:solidFill>
            <a:prstDash val="solid"/>
          </a:ln>
        </p:spPr>
        <p:txBody>
          <a:bodyPr/>
          <a:lstStyle/>
          <a:p>
            <a:endParaRPr lang="en-US"/>
          </a:p>
        </p:txBody>
      </p:sp>
      <p:sp>
        <p:nvSpPr>
          <p:cNvPr id="6" name="Shape 4"/>
          <p:cNvSpPr/>
          <p:nvPr/>
        </p:nvSpPr>
        <p:spPr>
          <a:xfrm>
            <a:off x="2743200" y="1783080"/>
            <a:ext cx="1051560" cy="822960"/>
          </a:xfrm>
          <a:prstGeom prst="line">
            <a:avLst/>
          </a:prstGeom>
          <a:noFill/>
          <a:ln w="19050">
            <a:solidFill>
              <a:srgbClr val="3D8C9C"/>
            </a:solidFill>
            <a:prstDash val="solid"/>
          </a:ln>
        </p:spPr>
        <p:txBody>
          <a:bodyPr/>
          <a:lstStyle/>
          <a:p>
            <a:endParaRPr lang="en-US"/>
          </a:p>
        </p:txBody>
      </p:sp>
      <p:sp>
        <p:nvSpPr>
          <p:cNvPr id="7" name="Shape 5"/>
          <p:cNvSpPr/>
          <p:nvPr/>
        </p:nvSpPr>
        <p:spPr>
          <a:xfrm flipV="1">
            <a:off x="1143000" y="2606040"/>
            <a:ext cx="548640" cy="822960"/>
          </a:xfrm>
          <a:prstGeom prst="line">
            <a:avLst/>
          </a:prstGeom>
          <a:noFill/>
          <a:ln w="19050">
            <a:solidFill>
              <a:srgbClr val="3D8C9C"/>
            </a:solidFill>
            <a:prstDash val="solid"/>
          </a:ln>
        </p:spPr>
        <p:txBody>
          <a:bodyPr/>
          <a:lstStyle/>
          <a:p>
            <a:endParaRPr lang="en-US"/>
          </a:p>
        </p:txBody>
      </p:sp>
      <p:sp>
        <p:nvSpPr>
          <p:cNvPr id="8" name="Shape 6"/>
          <p:cNvSpPr/>
          <p:nvPr/>
        </p:nvSpPr>
        <p:spPr>
          <a:xfrm>
            <a:off x="1691640" y="2606040"/>
            <a:ext cx="548640" cy="822960"/>
          </a:xfrm>
          <a:prstGeom prst="line">
            <a:avLst/>
          </a:prstGeom>
          <a:noFill/>
          <a:ln w="19050">
            <a:solidFill>
              <a:srgbClr val="3D8C9C"/>
            </a:solidFill>
            <a:prstDash val="solid"/>
          </a:ln>
        </p:spPr>
        <p:txBody>
          <a:bodyPr/>
          <a:lstStyle/>
          <a:p>
            <a:endParaRPr lang="en-US"/>
          </a:p>
        </p:txBody>
      </p:sp>
      <p:sp>
        <p:nvSpPr>
          <p:cNvPr id="9" name="Shape 7"/>
          <p:cNvSpPr/>
          <p:nvPr/>
        </p:nvSpPr>
        <p:spPr>
          <a:xfrm flipV="1">
            <a:off x="3246120" y="2606040"/>
            <a:ext cx="548640" cy="822960"/>
          </a:xfrm>
          <a:prstGeom prst="line">
            <a:avLst/>
          </a:prstGeom>
          <a:noFill/>
          <a:ln w="19050">
            <a:solidFill>
              <a:srgbClr val="3D8C9C"/>
            </a:solidFill>
            <a:prstDash val="solid"/>
          </a:ln>
        </p:spPr>
        <p:txBody>
          <a:bodyPr/>
          <a:lstStyle/>
          <a:p>
            <a:endParaRPr lang="en-US"/>
          </a:p>
        </p:txBody>
      </p:sp>
      <p:sp>
        <p:nvSpPr>
          <p:cNvPr id="10" name="Shape 8"/>
          <p:cNvSpPr/>
          <p:nvPr/>
        </p:nvSpPr>
        <p:spPr>
          <a:xfrm>
            <a:off x="3794760" y="2606040"/>
            <a:ext cx="548640" cy="822960"/>
          </a:xfrm>
          <a:prstGeom prst="line">
            <a:avLst/>
          </a:prstGeom>
          <a:noFill/>
          <a:ln w="19050">
            <a:solidFill>
              <a:srgbClr val="3D8C9C"/>
            </a:solidFill>
            <a:prstDash val="solid"/>
          </a:ln>
        </p:spPr>
        <p:txBody>
          <a:bodyPr/>
          <a:lstStyle/>
          <a:p>
            <a:endParaRPr lang="en-US"/>
          </a:p>
        </p:txBody>
      </p:sp>
      <p:sp>
        <p:nvSpPr>
          <p:cNvPr id="11" name="Shape 9"/>
          <p:cNvSpPr/>
          <p:nvPr/>
        </p:nvSpPr>
        <p:spPr>
          <a:xfrm flipV="1">
            <a:off x="868680" y="3429000"/>
            <a:ext cx="274320" cy="822960"/>
          </a:xfrm>
          <a:prstGeom prst="line">
            <a:avLst/>
          </a:prstGeom>
          <a:noFill/>
          <a:ln w="19050">
            <a:solidFill>
              <a:srgbClr val="3D8C9C"/>
            </a:solidFill>
            <a:prstDash val="solid"/>
          </a:ln>
        </p:spPr>
        <p:txBody>
          <a:bodyPr/>
          <a:lstStyle/>
          <a:p>
            <a:endParaRPr lang="en-US"/>
          </a:p>
        </p:txBody>
      </p:sp>
      <p:sp>
        <p:nvSpPr>
          <p:cNvPr id="12" name="Shape 10"/>
          <p:cNvSpPr/>
          <p:nvPr/>
        </p:nvSpPr>
        <p:spPr>
          <a:xfrm>
            <a:off x="1143000" y="3429000"/>
            <a:ext cx="548640" cy="822960"/>
          </a:xfrm>
          <a:prstGeom prst="line">
            <a:avLst/>
          </a:prstGeom>
          <a:noFill/>
          <a:ln w="19050">
            <a:solidFill>
              <a:srgbClr val="3D8C9C"/>
            </a:solidFill>
            <a:prstDash val="solid"/>
          </a:ln>
        </p:spPr>
        <p:txBody>
          <a:bodyPr/>
          <a:lstStyle/>
          <a:p>
            <a:endParaRPr lang="en-US"/>
          </a:p>
        </p:txBody>
      </p:sp>
      <p:sp>
        <p:nvSpPr>
          <p:cNvPr id="13" name="Shape 11"/>
          <p:cNvSpPr/>
          <p:nvPr/>
        </p:nvSpPr>
        <p:spPr>
          <a:xfrm>
            <a:off x="2514600" y="1554480"/>
            <a:ext cx="457200" cy="457200"/>
          </a:xfrm>
          <a:prstGeom prst="ellipse">
            <a:avLst/>
          </a:prstGeom>
          <a:solidFill>
            <a:srgbClr val="D9932B"/>
          </a:solidFill>
          <a:ln w="22225">
            <a:solidFill>
              <a:srgbClr val="D9932B"/>
            </a:solidFill>
            <a:prstDash val="solid"/>
          </a:ln>
        </p:spPr>
        <p:txBody>
          <a:bodyPr/>
          <a:lstStyle/>
          <a:p>
            <a:endParaRPr lang="en-US"/>
          </a:p>
        </p:txBody>
      </p:sp>
      <p:sp>
        <p:nvSpPr>
          <p:cNvPr id="14" name="Text 12"/>
          <p:cNvSpPr txBox="1"/>
          <p:nvPr/>
        </p:nvSpPr>
        <p:spPr>
          <a:xfrm>
            <a:off x="2377440" y="155448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T</a:t>
            </a:r>
            <a:endParaRPr lang="en-US" sz="1300" dirty="0"/>
          </a:p>
        </p:txBody>
      </p:sp>
      <p:sp>
        <p:nvSpPr>
          <p:cNvPr id="15" name="Shape 13"/>
          <p:cNvSpPr/>
          <p:nvPr/>
        </p:nvSpPr>
        <p:spPr>
          <a:xfrm>
            <a:off x="1463040" y="2377440"/>
            <a:ext cx="457200" cy="457200"/>
          </a:xfrm>
          <a:prstGeom prst="ellipse">
            <a:avLst/>
          </a:prstGeom>
          <a:solidFill>
            <a:srgbClr val="FFFFFF"/>
          </a:solidFill>
          <a:ln w="22225">
            <a:solidFill>
              <a:srgbClr val="0F5E6E"/>
            </a:solidFill>
            <a:prstDash val="solid"/>
          </a:ln>
        </p:spPr>
        <p:txBody>
          <a:bodyPr/>
          <a:lstStyle/>
          <a:p>
            <a:endParaRPr lang="en-US"/>
          </a:p>
        </p:txBody>
      </p:sp>
      <p:sp>
        <p:nvSpPr>
          <p:cNvPr id="16" name="Text 14"/>
          <p:cNvSpPr txBox="1"/>
          <p:nvPr/>
        </p:nvSpPr>
        <p:spPr>
          <a:xfrm>
            <a:off x="1325880" y="237744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R</a:t>
            </a:r>
            <a:endParaRPr lang="en-US" sz="1300" dirty="0"/>
          </a:p>
        </p:txBody>
      </p:sp>
      <p:sp>
        <p:nvSpPr>
          <p:cNvPr id="17" name="Shape 15"/>
          <p:cNvSpPr/>
          <p:nvPr/>
        </p:nvSpPr>
        <p:spPr>
          <a:xfrm>
            <a:off x="3566160" y="2377440"/>
            <a:ext cx="457200" cy="457200"/>
          </a:xfrm>
          <a:prstGeom prst="ellipse">
            <a:avLst/>
          </a:prstGeom>
          <a:solidFill>
            <a:srgbClr val="FFFFFF"/>
          </a:solidFill>
          <a:ln w="22225">
            <a:solidFill>
              <a:srgbClr val="0F5E6E"/>
            </a:solidFill>
            <a:prstDash val="solid"/>
          </a:ln>
        </p:spPr>
        <p:txBody>
          <a:bodyPr/>
          <a:lstStyle/>
          <a:p>
            <a:endParaRPr lang="en-US"/>
          </a:p>
        </p:txBody>
      </p:sp>
      <p:sp>
        <p:nvSpPr>
          <p:cNvPr id="18" name="Text 16"/>
          <p:cNvSpPr txBox="1"/>
          <p:nvPr/>
        </p:nvSpPr>
        <p:spPr>
          <a:xfrm>
            <a:off x="3429000" y="237744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I</a:t>
            </a:r>
            <a:endParaRPr lang="en-US" sz="1300" dirty="0"/>
          </a:p>
        </p:txBody>
      </p:sp>
      <p:sp>
        <p:nvSpPr>
          <p:cNvPr id="19" name="Shape 17"/>
          <p:cNvSpPr/>
          <p:nvPr/>
        </p:nvSpPr>
        <p:spPr>
          <a:xfrm>
            <a:off x="914400" y="3200400"/>
            <a:ext cx="457200" cy="457200"/>
          </a:xfrm>
          <a:prstGeom prst="ellipse">
            <a:avLst/>
          </a:prstGeom>
          <a:solidFill>
            <a:srgbClr val="FFFFFF"/>
          </a:solidFill>
          <a:ln w="22225">
            <a:solidFill>
              <a:srgbClr val="0F5E6E"/>
            </a:solidFill>
            <a:prstDash val="solid"/>
          </a:ln>
        </p:spPr>
        <p:txBody>
          <a:bodyPr/>
          <a:lstStyle/>
          <a:p>
            <a:endParaRPr lang="en-US"/>
          </a:p>
        </p:txBody>
      </p:sp>
      <p:sp>
        <p:nvSpPr>
          <p:cNvPr id="20" name="Text 18"/>
          <p:cNvSpPr txBox="1"/>
          <p:nvPr/>
        </p:nvSpPr>
        <p:spPr>
          <a:xfrm>
            <a:off x="777240" y="320040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O</a:t>
            </a:r>
            <a:endParaRPr lang="en-US" sz="1300" dirty="0"/>
          </a:p>
        </p:txBody>
      </p:sp>
      <p:sp>
        <p:nvSpPr>
          <p:cNvPr id="21" name="Shape 19"/>
          <p:cNvSpPr/>
          <p:nvPr/>
        </p:nvSpPr>
        <p:spPr>
          <a:xfrm>
            <a:off x="2011680" y="3200400"/>
            <a:ext cx="457200" cy="457200"/>
          </a:xfrm>
          <a:prstGeom prst="ellipse">
            <a:avLst/>
          </a:prstGeom>
          <a:solidFill>
            <a:srgbClr val="FFFFFF"/>
          </a:solidFill>
          <a:ln w="22225">
            <a:solidFill>
              <a:srgbClr val="0F5E6E"/>
            </a:solidFill>
            <a:prstDash val="solid"/>
          </a:ln>
        </p:spPr>
        <p:txBody>
          <a:bodyPr/>
          <a:lstStyle/>
          <a:p>
            <a:endParaRPr lang="en-US"/>
          </a:p>
        </p:txBody>
      </p:sp>
      <p:sp>
        <p:nvSpPr>
          <p:cNvPr id="22" name="Text 20"/>
          <p:cNvSpPr txBox="1"/>
          <p:nvPr/>
        </p:nvSpPr>
        <p:spPr>
          <a:xfrm>
            <a:off x="1874520" y="320040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L</a:t>
            </a:r>
            <a:endParaRPr lang="en-US" sz="1300" dirty="0"/>
          </a:p>
        </p:txBody>
      </p:sp>
      <p:sp>
        <p:nvSpPr>
          <p:cNvPr id="23" name="Shape 21"/>
          <p:cNvSpPr/>
          <p:nvPr/>
        </p:nvSpPr>
        <p:spPr>
          <a:xfrm>
            <a:off x="3017520" y="3200400"/>
            <a:ext cx="457200" cy="457200"/>
          </a:xfrm>
          <a:prstGeom prst="ellipse">
            <a:avLst/>
          </a:prstGeom>
          <a:solidFill>
            <a:srgbClr val="FFFFFF"/>
          </a:solidFill>
          <a:ln w="22225">
            <a:solidFill>
              <a:srgbClr val="0F5E6E"/>
            </a:solidFill>
            <a:prstDash val="solid"/>
          </a:ln>
        </p:spPr>
        <p:txBody>
          <a:bodyPr/>
          <a:lstStyle/>
          <a:p>
            <a:endParaRPr lang="en-US"/>
          </a:p>
        </p:txBody>
      </p:sp>
      <p:sp>
        <p:nvSpPr>
          <p:cNvPr id="24" name="Text 22"/>
          <p:cNvSpPr txBox="1"/>
          <p:nvPr/>
        </p:nvSpPr>
        <p:spPr>
          <a:xfrm>
            <a:off x="2880360" y="320040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A</a:t>
            </a:r>
            <a:endParaRPr lang="en-US" sz="1300" dirty="0"/>
          </a:p>
        </p:txBody>
      </p:sp>
      <p:sp>
        <p:nvSpPr>
          <p:cNvPr id="25" name="Shape 23"/>
          <p:cNvSpPr/>
          <p:nvPr/>
        </p:nvSpPr>
        <p:spPr>
          <a:xfrm>
            <a:off x="4114800" y="3200400"/>
            <a:ext cx="457200" cy="457200"/>
          </a:xfrm>
          <a:prstGeom prst="ellipse">
            <a:avLst/>
          </a:prstGeom>
          <a:solidFill>
            <a:srgbClr val="FFFFFF"/>
          </a:solidFill>
          <a:ln w="22225">
            <a:solidFill>
              <a:srgbClr val="0F5E6E"/>
            </a:solidFill>
            <a:prstDash val="solid"/>
          </a:ln>
        </p:spPr>
        <p:txBody>
          <a:bodyPr/>
          <a:lstStyle/>
          <a:p>
            <a:endParaRPr lang="en-US"/>
          </a:p>
        </p:txBody>
      </p:sp>
      <p:sp>
        <p:nvSpPr>
          <p:cNvPr id="26" name="Text 24"/>
          <p:cNvSpPr txBox="1"/>
          <p:nvPr/>
        </p:nvSpPr>
        <p:spPr>
          <a:xfrm>
            <a:off x="3977640" y="320040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G</a:t>
            </a:r>
            <a:endParaRPr lang="en-US" sz="1300" dirty="0"/>
          </a:p>
        </p:txBody>
      </p:sp>
      <p:sp>
        <p:nvSpPr>
          <p:cNvPr id="27" name="Shape 25"/>
          <p:cNvSpPr/>
          <p:nvPr/>
        </p:nvSpPr>
        <p:spPr>
          <a:xfrm>
            <a:off x="640080" y="4023360"/>
            <a:ext cx="457200" cy="457200"/>
          </a:xfrm>
          <a:prstGeom prst="ellipse">
            <a:avLst/>
          </a:prstGeom>
          <a:solidFill>
            <a:srgbClr val="FFFFFF"/>
          </a:solidFill>
          <a:ln w="22225">
            <a:solidFill>
              <a:srgbClr val="0F5E6E"/>
            </a:solidFill>
            <a:prstDash val="solid"/>
          </a:ln>
        </p:spPr>
        <p:txBody>
          <a:bodyPr/>
          <a:lstStyle/>
          <a:p>
            <a:endParaRPr lang="en-US"/>
          </a:p>
        </p:txBody>
      </p:sp>
      <p:sp>
        <p:nvSpPr>
          <p:cNvPr id="28" name="Text 26"/>
          <p:cNvSpPr txBox="1"/>
          <p:nvPr/>
        </p:nvSpPr>
        <p:spPr>
          <a:xfrm>
            <a:off x="502920" y="402336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H</a:t>
            </a:r>
            <a:endParaRPr lang="en-US" sz="1300" dirty="0"/>
          </a:p>
        </p:txBody>
      </p:sp>
      <p:sp>
        <p:nvSpPr>
          <p:cNvPr id="29" name="Shape 27"/>
          <p:cNvSpPr/>
          <p:nvPr/>
        </p:nvSpPr>
        <p:spPr>
          <a:xfrm>
            <a:off x="1463040" y="4023360"/>
            <a:ext cx="457200" cy="457200"/>
          </a:xfrm>
          <a:prstGeom prst="ellipse">
            <a:avLst/>
          </a:prstGeom>
          <a:solidFill>
            <a:srgbClr val="FFFFFF"/>
          </a:solidFill>
          <a:ln w="22225">
            <a:solidFill>
              <a:srgbClr val="0F5E6E"/>
            </a:solidFill>
            <a:prstDash val="solid"/>
          </a:ln>
        </p:spPr>
        <p:txBody>
          <a:bodyPr/>
          <a:lstStyle/>
          <a:p>
            <a:endParaRPr lang="en-US"/>
          </a:p>
        </p:txBody>
      </p:sp>
      <p:sp>
        <p:nvSpPr>
          <p:cNvPr id="30" name="Text 28"/>
          <p:cNvSpPr txBox="1"/>
          <p:nvPr/>
        </p:nvSpPr>
        <p:spPr>
          <a:xfrm>
            <a:off x="1325880" y="402336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M</a:t>
            </a:r>
            <a:endParaRPr lang="en-US" sz="1300" dirty="0"/>
          </a:p>
        </p:txBody>
      </p:sp>
      <p:sp>
        <p:nvSpPr>
          <p:cNvPr id="31" name="Text 29"/>
          <p:cNvSpPr txBox="1"/>
          <p:nvPr/>
        </p:nvSpPr>
        <p:spPr>
          <a:xfrm>
            <a:off x="640080" y="4800600"/>
            <a:ext cx="4389120" cy="365760"/>
          </a:xfrm>
          <a:prstGeom prst="rect">
            <a:avLst/>
          </a:prstGeom>
          <a:noFill/>
          <a:ln/>
        </p:spPr>
        <p:txBody>
          <a:bodyPr wrap="square" lIns="0" tIns="0" rIns="0" bIns="0" rtlCol="0" anchor="t"/>
          <a:lstStyle/>
          <a:p>
            <a:pPr marL="0" indent="0" algn="l">
              <a:lnSpc>
                <a:spcPts val="1755"/>
              </a:lnSpc>
              <a:buNone/>
            </a:pPr>
            <a:r>
              <a:rPr lang="en-US" sz="1300" dirty="0">
                <a:solidFill>
                  <a:srgbClr val="5F7A80"/>
                </a:solidFill>
                <a:latin typeface="Calibri" pitchFamily="34" charset="0"/>
                <a:ea typeface="Calibri" pitchFamily="34" charset="-122"/>
                <a:cs typeface="Calibri" pitchFamily="34" charset="-120"/>
              </a:rPr>
              <a:t>Read the tree level by level, left to right:</a:t>
            </a:r>
            <a:endParaRPr lang="en-US" sz="1300" dirty="0"/>
          </a:p>
        </p:txBody>
      </p:sp>
      <p:sp>
        <p:nvSpPr>
          <p:cNvPr id="32" name="Shape 30"/>
          <p:cNvSpPr/>
          <p:nvPr/>
        </p:nvSpPr>
        <p:spPr>
          <a:xfrm>
            <a:off x="685800" y="5212080"/>
            <a:ext cx="475488" cy="402336"/>
          </a:xfrm>
          <a:prstGeom prst="rect">
            <a:avLst/>
          </a:prstGeom>
          <a:solidFill>
            <a:srgbClr val="FFFFFF"/>
          </a:solidFill>
          <a:ln w="12700">
            <a:solidFill>
              <a:srgbClr val="D3E0E3"/>
            </a:solidFill>
            <a:prstDash val="solid"/>
          </a:ln>
        </p:spPr>
        <p:txBody>
          <a:bodyPr/>
          <a:lstStyle/>
          <a:p>
            <a:endParaRPr lang="en-US"/>
          </a:p>
        </p:txBody>
      </p:sp>
      <p:sp>
        <p:nvSpPr>
          <p:cNvPr id="33" name="Text 31"/>
          <p:cNvSpPr txBox="1"/>
          <p:nvPr/>
        </p:nvSpPr>
        <p:spPr>
          <a:xfrm>
            <a:off x="685800" y="5212080"/>
            <a:ext cx="475488" cy="402336"/>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T</a:t>
            </a:r>
            <a:endParaRPr lang="en-US" sz="1300" dirty="0"/>
          </a:p>
        </p:txBody>
      </p:sp>
      <p:sp>
        <p:nvSpPr>
          <p:cNvPr id="34" name="Text 32"/>
          <p:cNvSpPr txBox="1"/>
          <p:nvPr/>
        </p:nvSpPr>
        <p:spPr>
          <a:xfrm>
            <a:off x="685800" y="5632704"/>
            <a:ext cx="47548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1</a:t>
            </a:r>
            <a:endParaRPr lang="en-US" sz="900" dirty="0"/>
          </a:p>
        </p:txBody>
      </p:sp>
      <p:sp>
        <p:nvSpPr>
          <p:cNvPr id="35" name="Shape 33"/>
          <p:cNvSpPr/>
          <p:nvPr/>
        </p:nvSpPr>
        <p:spPr>
          <a:xfrm>
            <a:off x="1161288" y="5212080"/>
            <a:ext cx="475488" cy="402336"/>
          </a:xfrm>
          <a:prstGeom prst="rect">
            <a:avLst/>
          </a:prstGeom>
          <a:solidFill>
            <a:srgbClr val="FFFFFF"/>
          </a:solidFill>
          <a:ln w="12700">
            <a:solidFill>
              <a:srgbClr val="D3E0E3"/>
            </a:solidFill>
            <a:prstDash val="solid"/>
          </a:ln>
        </p:spPr>
        <p:txBody>
          <a:bodyPr/>
          <a:lstStyle/>
          <a:p>
            <a:endParaRPr lang="en-US"/>
          </a:p>
        </p:txBody>
      </p:sp>
      <p:sp>
        <p:nvSpPr>
          <p:cNvPr id="36" name="Text 34"/>
          <p:cNvSpPr txBox="1"/>
          <p:nvPr/>
        </p:nvSpPr>
        <p:spPr>
          <a:xfrm>
            <a:off x="1161288" y="5212080"/>
            <a:ext cx="475488" cy="402336"/>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R</a:t>
            </a:r>
            <a:endParaRPr lang="en-US" sz="1300" dirty="0"/>
          </a:p>
        </p:txBody>
      </p:sp>
      <p:sp>
        <p:nvSpPr>
          <p:cNvPr id="37" name="Text 35"/>
          <p:cNvSpPr txBox="1"/>
          <p:nvPr/>
        </p:nvSpPr>
        <p:spPr>
          <a:xfrm>
            <a:off x="1161288" y="5632704"/>
            <a:ext cx="47548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2</a:t>
            </a:r>
            <a:endParaRPr lang="en-US" sz="900" dirty="0"/>
          </a:p>
        </p:txBody>
      </p:sp>
      <p:sp>
        <p:nvSpPr>
          <p:cNvPr id="38" name="Shape 36"/>
          <p:cNvSpPr/>
          <p:nvPr/>
        </p:nvSpPr>
        <p:spPr>
          <a:xfrm>
            <a:off x="1636776" y="5212080"/>
            <a:ext cx="475488" cy="402336"/>
          </a:xfrm>
          <a:prstGeom prst="rect">
            <a:avLst/>
          </a:prstGeom>
          <a:solidFill>
            <a:srgbClr val="FFFFFF"/>
          </a:solidFill>
          <a:ln w="12700">
            <a:solidFill>
              <a:srgbClr val="D3E0E3"/>
            </a:solidFill>
            <a:prstDash val="solid"/>
          </a:ln>
        </p:spPr>
        <p:txBody>
          <a:bodyPr/>
          <a:lstStyle/>
          <a:p>
            <a:endParaRPr lang="en-US"/>
          </a:p>
        </p:txBody>
      </p:sp>
      <p:sp>
        <p:nvSpPr>
          <p:cNvPr id="39" name="Text 37"/>
          <p:cNvSpPr txBox="1"/>
          <p:nvPr/>
        </p:nvSpPr>
        <p:spPr>
          <a:xfrm>
            <a:off x="1636776" y="5212080"/>
            <a:ext cx="475488" cy="402336"/>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I</a:t>
            </a:r>
            <a:endParaRPr lang="en-US" sz="1300" dirty="0"/>
          </a:p>
        </p:txBody>
      </p:sp>
      <p:sp>
        <p:nvSpPr>
          <p:cNvPr id="40" name="Text 38"/>
          <p:cNvSpPr txBox="1"/>
          <p:nvPr/>
        </p:nvSpPr>
        <p:spPr>
          <a:xfrm>
            <a:off x="1636776" y="5632704"/>
            <a:ext cx="47548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3</a:t>
            </a:r>
            <a:endParaRPr lang="en-US" sz="900" dirty="0"/>
          </a:p>
        </p:txBody>
      </p:sp>
      <p:sp>
        <p:nvSpPr>
          <p:cNvPr id="41" name="Shape 39"/>
          <p:cNvSpPr/>
          <p:nvPr/>
        </p:nvSpPr>
        <p:spPr>
          <a:xfrm>
            <a:off x="2112264" y="5212080"/>
            <a:ext cx="475488" cy="402336"/>
          </a:xfrm>
          <a:prstGeom prst="rect">
            <a:avLst/>
          </a:prstGeom>
          <a:solidFill>
            <a:srgbClr val="FFFFFF"/>
          </a:solidFill>
          <a:ln w="12700">
            <a:solidFill>
              <a:srgbClr val="D3E0E3"/>
            </a:solidFill>
            <a:prstDash val="solid"/>
          </a:ln>
        </p:spPr>
        <p:txBody>
          <a:bodyPr/>
          <a:lstStyle/>
          <a:p>
            <a:endParaRPr lang="en-US"/>
          </a:p>
        </p:txBody>
      </p:sp>
      <p:sp>
        <p:nvSpPr>
          <p:cNvPr id="42" name="Text 40"/>
          <p:cNvSpPr txBox="1"/>
          <p:nvPr/>
        </p:nvSpPr>
        <p:spPr>
          <a:xfrm>
            <a:off x="2112264" y="5212080"/>
            <a:ext cx="475488" cy="402336"/>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O</a:t>
            </a:r>
            <a:endParaRPr lang="en-US" sz="1300" dirty="0"/>
          </a:p>
        </p:txBody>
      </p:sp>
      <p:sp>
        <p:nvSpPr>
          <p:cNvPr id="43" name="Text 41"/>
          <p:cNvSpPr txBox="1"/>
          <p:nvPr/>
        </p:nvSpPr>
        <p:spPr>
          <a:xfrm>
            <a:off x="2112264" y="5632704"/>
            <a:ext cx="47548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4</a:t>
            </a:r>
            <a:endParaRPr lang="en-US" sz="900" dirty="0"/>
          </a:p>
        </p:txBody>
      </p:sp>
      <p:sp>
        <p:nvSpPr>
          <p:cNvPr id="44" name="Shape 42"/>
          <p:cNvSpPr/>
          <p:nvPr/>
        </p:nvSpPr>
        <p:spPr>
          <a:xfrm>
            <a:off x="2587752" y="5212080"/>
            <a:ext cx="475488" cy="402336"/>
          </a:xfrm>
          <a:prstGeom prst="rect">
            <a:avLst/>
          </a:prstGeom>
          <a:solidFill>
            <a:srgbClr val="FFFFFF"/>
          </a:solidFill>
          <a:ln w="12700">
            <a:solidFill>
              <a:srgbClr val="D3E0E3"/>
            </a:solidFill>
            <a:prstDash val="solid"/>
          </a:ln>
        </p:spPr>
        <p:txBody>
          <a:bodyPr/>
          <a:lstStyle/>
          <a:p>
            <a:endParaRPr lang="en-US"/>
          </a:p>
        </p:txBody>
      </p:sp>
      <p:sp>
        <p:nvSpPr>
          <p:cNvPr id="45" name="Text 43"/>
          <p:cNvSpPr txBox="1"/>
          <p:nvPr/>
        </p:nvSpPr>
        <p:spPr>
          <a:xfrm>
            <a:off x="2587752" y="5212080"/>
            <a:ext cx="475488" cy="402336"/>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L</a:t>
            </a:r>
            <a:endParaRPr lang="en-US" sz="1300" dirty="0"/>
          </a:p>
        </p:txBody>
      </p:sp>
      <p:sp>
        <p:nvSpPr>
          <p:cNvPr id="46" name="Text 44"/>
          <p:cNvSpPr txBox="1"/>
          <p:nvPr/>
        </p:nvSpPr>
        <p:spPr>
          <a:xfrm>
            <a:off x="2587752" y="5632704"/>
            <a:ext cx="47548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5</a:t>
            </a:r>
            <a:endParaRPr lang="en-US" sz="900" dirty="0"/>
          </a:p>
        </p:txBody>
      </p:sp>
      <p:sp>
        <p:nvSpPr>
          <p:cNvPr id="47" name="Shape 45"/>
          <p:cNvSpPr/>
          <p:nvPr/>
        </p:nvSpPr>
        <p:spPr>
          <a:xfrm>
            <a:off x="3063240" y="5212080"/>
            <a:ext cx="475488" cy="402336"/>
          </a:xfrm>
          <a:prstGeom prst="rect">
            <a:avLst/>
          </a:prstGeom>
          <a:solidFill>
            <a:srgbClr val="FFFFFF"/>
          </a:solidFill>
          <a:ln w="12700">
            <a:solidFill>
              <a:srgbClr val="D3E0E3"/>
            </a:solidFill>
            <a:prstDash val="solid"/>
          </a:ln>
        </p:spPr>
        <p:txBody>
          <a:bodyPr/>
          <a:lstStyle/>
          <a:p>
            <a:endParaRPr lang="en-US"/>
          </a:p>
        </p:txBody>
      </p:sp>
      <p:sp>
        <p:nvSpPr>
          <p:cNvPr id="48" name="Text 46"/>
          <p:cNvSpPr txBox="1"/>
          <p:nvPr/>
        </p:nvSpPr>
        <p:spPr>
          <a:xfrm>
            <a:off x="3063240" y="5212080"/>
            <a:ext cx="475488" cy="402336"/>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A</a:t>
            </a:r>
            <a:endParaRPr lang="en-US" sz="1300" dirty="0"/>
          </a:p>
        </p:txBody>
      </p:sp>
      <p:sp>
        <p:nvSpPr>
          <p:cNvPr id="49" name="Text 47"/>
          <p:cNvSpPr txBox="1"/>
          <p:nvPr/>
        </p:nvSpPr>
        <p:spPr>
          <a:xfrm>
            <a:off x="3063240" y="5632704"/>
            <a:ext cx="47548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6</a:t>
            </a:r>
            <a:endParaRPr lang="en-US" sz="900" dirty="0"/>
          </a:p>
        </p:txBody>
      </p:sp>
      <p:sp>
        <p:nvSpPr>
          <p:cNvPr id="50" name="Shape 48"/>
          <p:cNvSpPr/>
          <p:nvPr/>
        </p:nvSpPr>
        <p:spPr>
          <a:xfrm>
            <a:off x="3538728" y="5212080"/>
            <a:ext cx="475488" cy="402336"/>
          </a:xfrm>
          <a:prstGeom prst="rect">
            <a:avLst/>
          </a:prstGeom>
          <a:solidFill>
            <a:srgbClr val="FFFFFF"/>
          </a:solidFill>
          <a:ln w="12700">
            <a:solidFill>
              <a:srgbClr val="D3E0E3"/>
            </a:solidFill>
            <a:prstDash val="solid"/>
          </a:ln>
        </p:spPr>
        <p:txBody>
          <a:bodyPr/>
          <a:lstStyle/>
          <a:p>
            <a:endParaRPr lang="en-US"/>
          </a:p>
        </p:txBody>
      </p:sp>
      <p:sp>
        <p:nvSpPr>
          <p:cNvPr id="51" name="Text 49"/>
          <p:cNvSpPr txBox="1"/>
          <p:nvPr/>
        </p:nvSpPr>
        <p:spPr>
          <a:xfrm>
            <a:off x="3538728" y="5212080"/>
            <a:ext cx="475488" cy="402336"/>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G</a:t>
            </a:r>
            <a:endParaRPr lang="en-US" sz="1300" dirty="0"/>
          </a:p>
        </p:txBody>
      </p:sp>
      <p:sp>
        <p:nvSpPr>
          <p:cNvPr id="52" name="Text 50"/>
          <p:cNvSpPr txBox="1"/>
          <p:nvPr/>
        </p:nvSpPr>
        <p:spPr>
          <a:xfrm>
            <a:off x="3538728" y="5632704"/>
            <a:ext cx="47548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7</a:t>
            </a:r>
            <a:endParaRPr lang="en-US" sz="900" dirty="0"/>
          </a:p>
        </p:txBody>
      </p:sp>
      <p:sp>
        <p:nvSpPr>
          <p:cNvPr id="53" name="Shape 51"/>
          <p:cNvSpPr/>
          <p:nvPr/>
        </p:nvSpPr>
        <p:spPr>
          <a:xfrm>
            <a:off x="4014216" y="5212080"/>
            <a:ext cx="475488" cy="402336"/>
          </a:xfrm>
          <a:prstGeom prst="rect">
            <a:avLst/>
          </a:prstGeom>
          <a:solidFill>
            <a:srgbClr val="FFFFFF"/>
          </a:solidFill>
          <a:ln w="12700">
            <a:solidFill>
              <a:srgbClr val="D3E0E3"/>
            </a:solidFill>
            <a:prstDash val="solid"/>
          </a:ln>
        </p:spPr>
        <p:txBody>
          <a:bodyPr/>
          <a:lstStyle/>
          <a:p>
            <a:endParaRPr lang="en-US"/>
          </a:p>
        </p:txBody>
      </p:sp>
      <p:sp>
        <p:nvSpPr>
          <p:cNvPr id="54" name="Text 52"/>
          <p:cNvSpPr txBox="1"/>
          <p:nvPr/>
        </p:nvSpPr>
        <p:spPr>
          <a:xfrm>
            <a:off x="4014216" y="5212080"/>
            <a:ext cx="475488" cy="402336"/>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H</a:t>
            </a:r>
            <a:endParaRPr lang="en-US" sz="1300" dirty="0"/>
          </a:p>
        </p:txBody>
      </p:sp>
      <p:sp>
        <p:nvSpPr>
          <p:cNvPr id="55" name="Text 53"/>
          <p:cNvSpPr txBox="1"/>
          <p:nvPr/>
        </p:nvSpPr>
        <p:spPr>
          <a:xfrm>
            <a:off x="4014216" y="5632704"/>
            <a:ext cx="47548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8</a:t>
            </a:r>
            <a:endParaRPr lang="en-US" sz="900" dirty="0"/>
          </a:p>
        </p:txBody>
      </p:sp>
      <p:sp>
        <p:nvSpPr>
          <p:cNvPr id="56" name="Shape 54"/>
          <p:cNvSpPr/>
          <p:nvPr/>
        </p:nvSpPr>
        <p:spPr>
          <a:xfrm>
            <a:off x="4489704" y="5212080"/>
            <a:ext cx="475488" cy="402336"/>
          </a:xfrm>
          <a:prstGeom prst="rect">
            <a:avLst/>
          </a:prstGeom>
          <a:solidFill>
            <a:srgbClr val="FFFFFF"/>
          </a:solidFill>
          <a:ln w="12700">
            <a:solidFill>
              <a:srgbClr val="D3E0E3"/>
            </a:solidFill>
            <a:prstDash val="solid"/>
          </a:ln>
        </p:spPr>
        <p:txBody>
          <a:bodyPr/>
          <a:lstStyle/>
          <a:p>
            <a:endParaRPr lang="en-US"/>
          </a:p>
        </p:txBody>
      </p:sp>
      <p:sp>
        <p:nvSpPr>
          <p:cNvPr id="57" name="Text 55"/>
          <p:cNvSpPr txBox="1"/>
          <p:nvPr/>
        </p:nvSpPr>
        <p:spPr>
          <a:xfrm>
            <a:off x="4489704" y="5212080"/>
            <a:ext cx="475488" cy="402336"/>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M</a:t>
            </a:r>
            <a:endParaRPr lang="en-US" sz="1300" dirty="0"/>
          </a:p>
        </p:txBody>
      </p:sp>
      <p:sp>
        <p:nvSpPr>
          <p:cNvPr id="58" name="Text 56"/>
          <p:cNvSpPr txBox="1"/>
          <p:nvPr/>
        </p:nvSpPr>
        <p:spPr>
          <a:xfrm>
            <a:off x="4489704" y="5632704"/>
            <a:ext cx="47548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9</a:t>
            </a:r>
            <a:endParaRPr lang="en-US" sz="900" dirty="0"/>
          </a:p>
        </p:txBody>
      </p:sp>
      <p:sp>
        <p:nvSpPr>
          <p:cNvPr id="59" name="Shape 57"/>
          <p:cNvSpPr/>
          <p:nvPr/>
        </p:nvSpPr>
        <p:spPr>
          <a:xfrm>
            <a:off x="5852160" y="1691640"/>
            <a:ext cx="5696712" cy="1600200"/>
          </a:xfrm>
          <a:prstGeom prst="roundRect">
            <a:avLst>
              <a:gd name="adj" fmla="val 2857"/>
            </a:avLst>
          </a:prstGeom>
          <a:solidFill>
            <a:srgbClr val="F1F6F7"/>
          </a:solidFill>
          <a:ln w="12700">
            <a:solidFill>
              <a:srgbClr val="D3E0E3"/>
            </a:solidFill>
            <a:prstDash val="solid"/>
          </a:ln>
        </p:spPr>
        <p:txBody>
          <a:bodyPr/>
          <a:lstStyle/>
          <a:p>
            <a:endParaRPr lang="en-US"/>
          </a:p>
        </p:txBody>
      </p:sp>
      <p:sp>
        <p:nvSpPr>
          <p:cNvPr id="60" name="Text 58"/>
          <p:cNvSpPr txBox="1"/>
          <p:nvPr/>
        </p:nvSpPr>
        <p:spPr>
          <a:xfrm>
            <a:off x="6126480" y="1874520"/>
            <a:ext cx="5148072"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INDEX ARITHMETIC (1-BASED)</a:t>
            </a:r>
            <a:endParaRPr lang="en-US" sz="1100" dirty="0"/>
          </a:p>
        </p:txBody>
      </p:sp>
      <p:sp>
        <p:nvSpPr>
          <p:cNvPr id="61" name="Text 59"/>
          <p:cNvSpPr txBox="1"/>
          <p:nvPr/>
        </p:nvSpPr>
        <p:spPr>
          <a:xfrm>
            <a:off x="6126480" y="2212848"/>
            <a:ext cx="5148072" cy="1005840"/>
          </a:xfrm>
          <a:prstGeom prst="rect">
            <a:avLst/>
          </a:prstGeom>
          <a:noFill/>
          <a:ln/>
        </p:spPr>
        <p:txBody>
          <a:bodyPr wrap="square" lIns="0" tIns="0" rIns="0" bIns="0" rtlCol="0" anchor="t"/>
          <a:lstStyle/>
          <a:p>
            <a:pPr marL="203200" indent="-203200">
              <a:spcAft>
                <a:spcPts val="400"/>
              </a:spcAft>
              <a:buSzPct val="100000"/>
              <a:buChar char="▪"/>
            </a:pPr>
            <a:r>
              <a:rPr lang="en-US" sz="1400" b="1" dirty="0">
                <a:solidFill>
                  <a:srgbClr val="16343B"/>
                </a:solidFill>
                <a:latin typeface="Courier New" pitchFamily="34" charset="0"/>
                <a:ea typeface="Courier New" pitchFamily="34" charset="-122"/>
                <a:cs typeface="Courier New" pitchFamily="34" charset="-120"/>
              </a:rPr>
              <a:t>children of i:  2i  and  2i + 1</a:t>
            </a:r>
            <a:endParaRPr lang="en-US" sz="1400" dirty="0"/>
          </a:p>
          <a:p>
            <a:pPr marL="203200" indent="-203200">
              <a:spcAft>
                <a:spcPts val="400"/>
              </a:spcAft>
              <a:buSzPct val="100000"/>
              <a:buChar char="▪"/>
            </a:pPr>
            <a:r>
              <a:rPr lang="en-US" sz="1400" b="1" dirty="0">
                <a:solidFill>
                  <a:srgbClr val="16343B"/>
                </a:solidFill>
                <a:latin typeface="Courier New" pitchFamily="34" charset="0"/>
                <a:ea typeface="Courier New" pitchFamily="34" charset="-122"/>
                <a:cs typeface="Courier New" pitchFamily="34" charset="-120"/>
              </a:rPr>
              <a:t>parent of i:  ⌊i / 2⌋</a:t>
            </a:r>
            <a:endParaRPr lang="en-US" sz="1400" dirty="0"/>
          </a:p>
          <a:p>
            <a:pPr marL="203200" indent="-203200">
              <a:spcAft>
                <a:spcPts val="400"/>
              </a:spcAft>
              <a:buSzPct val="100000"/>
              <a:buChar char="▪"/>
            </a:pPr>
            <a:r>
              <a:rPr lang="en-US" sz="1400" b="1" dirty="0">
                <a:solidFill>
                  <a:srgbClr val="16343B"/>
                </a:solidFill>
                <a:latin typeface="Courier New" pitchFamily="34" charset="0"/>
                <a:ea typeface="Courier New" pitchFamily="34" charset="-122"/>
                <a:cs typeface="Courier New" pitchFamily="34" charset="-120"/>
              </a:rPr>
              <a:t>leaves:  ⌊n / 2⌋ + 1 … n</a:t>
            </a:r>
            <a:endParaRPr lang="en-US" sz="1400" dirty="0"/>
          </a:p>
        </p:txBody>
      </p:sp>
      <p:sp>
        <p:nvSpPr>
          <p:cNvPr id="62" name="Text 60"/>
          <p:cNvSpPr txBox="1"/>
          <p:nvPr/>
        </p:nvSpPr>
        <p:spPr>
          <a:xfrm>
            <a:off x="5852160" y="3520440"/>
            <a:ext cx="5696712" cy="228600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6343B"/>
                </a:solidFill>
                <a:latin typeface="Calibri" pitchFamily="34" charset="0"/>
                <a:ea typeface="Calibri" pitchFamily="34" charset="-122"/>
                <a:cs typeface="Calibri" pitchFamily="34" charset="-120"/>
              </a:rPr>
              <a:t>No pointers, no wasted space — the shape of the tree is implied by the indices.</a:t>
            </a:r>
            <a:endParaRPr lang="en-US" sz="1300" dirty="0"/>
          </a:p>
          <a:p>
            <a:pPr marL="203200" indent="-203200">
              <a:spcAft>
                <a:spcPts val="800"/>
              </a:spcAft>
              <a:buSzPct val="100000"/>
              <a:buChar char="▪"/>
            </a:pPr>
            <a:r>
              <a:rPr lang="en-US" sz="1300" dirty="0">
                <a:solidFill>
                  <a:srgbClr val="16343B"/>
                </a:solidFill>
                <a:latin typeface="Calibri" pitchFamily="34" charset="0"/>
                <a:ea typeface="Calibri" pitchFamily="34" charset="-122"/>
                <a:cs typeface="Calibri" pitchFamily="34" charset="-120"/>
              </a:rPr>
              <a:t>“Essentially complete” means every level is full except possibly the last, which fills left to right. </a:t>
            </a:r>
          </a:p>
          <a:p>
            <a:pPr marL="203200" indent="-203200">
              <a:spcAft>
                <a:spcPts val="800"/>
              </a:spcAft>
              <a:buSzPct val="100000"/>
              <a:buChar char="▪"/>
            </a:pPr>
            <a:r>
              <a:rPr lang="en-US" sz="1300" dirty="0">
                <a:solidFill>
                  <a:srgbClr val="16343B"/>
                </a:solidFill>
                <a:latin typeface="Calibri" pitchFamily="34" charset="0"/>
                <a:ea typeface="Calibri" pitchFamily="34" charset="-122"/>
                <a:cs typeface="Calibri" pitchFamily="34" charset="-120"/>
              </a:rPr>
              <a:t>The heap property is local: a parent beats its own children. It says nothing about left vs right, so </a:t>
            </a:r>
            <a:r>
              <a:rPr lang="en-US" sz="1300" b="1" dirty="0">
                <a:solidFill>
                  <a:srgbClr val="16343B"/>
                </a:solidFill>
                <a:latin typeface="Calibri" pitchFamily="34" charset="0"/>
                <a:ea typeface="Calibri" pitchFamily="34" charset="-122"/>
                <a:cs typeface="Calibri" pitchFamily="34" charset="-120"/>
              </a:rPr>
              <a:t>heaps are not search trees.</a:t>
            </a:r>
            <a:endParaRPr lang="en-US" sz="1300" b="1" dirty="0"/>
          </a:p>
          <a:p>
            <a:pPr marL="203200" indent="-203200">
              <a:spcAft>
                <a:spcPts val="800"/>
              </a:spcAft>
              <a:buSzPct val="100000"/>
              <a:buChar char="▪"/>
            </a:pPr>
            <a:r>
              <a:rPr lang="en-US" sz="1300" b="1" dirty="0">
                <a:solidFill>
                  <a:srgbClr val="9C6410"/>
                </a:solidFill>
                <a:latin typeface="Calibri" pitchFamily="34" charset="0"/>
                <a:ea typeface="Calibri" pitchFamily="34" charset="-122"/>
                <a:cs typeface="Calibri" pitchFamily="34" charset="-120"/>
              </a:rPr>
              <a:t>Height is ⌊log₂ n⌋, so bubble-up and bubble-down are O(log 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Q56</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Build a max-heap bottom-up</a:t>
            </a:r>
            <a:endParaRPr lang="en-US" sz="3000" dirty="0"/>
          </a:p>
        </p:txBody>
      </p:sp>
      <p:sp>
        <p:nvSpPr>
          <p:cNvPr id="5" name="Text 3"/>
          <p:cNvSpPr txBox="1"/>
          <p:nvPr/>
        </p:nvSpPr>
        <p:spPr>
          <a:xfrm>
            <a:off x="1737360" y="969264"/>
            <a:ext cx="9811512" cy="310896"/>
          </a:xfrm>
          <a:prstGeom prst="rect">
            <a:avLst/>
          </a:prstGeom>
          <a:noFill/>
          <a:ln/>
        </p:spPr>
        <p:txBody>
          <a:bodyPr wrap="square" lIns="0" tIns="0" rIns="0" bIns="0" rtlCol="0" anchor="ctr"/>
          <a:lstStyle/>
          <a:p>
            <a:pPr marL="0" indent="0">
              <a:buNone/>
            </a:pPr>
            <a:r>
              <a:rPr lang="en-US" sz="1400" i="1" dirty="0">
                <a:solidFill>
                  <a:srgbClr val="5F7A80"/>
                </a:solidFill>
                <a:latin typeface="Calibri" pitchFamily="34" charset="0"/>
                <a:ea typeface="Calibri" pitchFamily="34" charset="-122"/>
                <a:cs typeface="Calibri" pitchFamily="34" charset="-120"/>
              </a:rPr>
              <a:t>Keys A, L, G, O, R, I, T, H, M placed in the array as given, then repaired</a:t>
            </a:r>
            <a:endParaRPr lang="en-US" sz="1400" dirty="0"/>
          </a:p>
        </p:txBody>
      </p:sp>
      <p:sp>
        <p:nvSpPr>
          <p:cNvPr id="6" name="Text 4"/>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14</a:t>
            </a:r>
            <a:endParaRPr lang="en-US" sz="900" dirty="0"/>
          </a:p>
        </p:txBody>
      </p:sp>
      <p:sp>
        <p:nvSpPr>
          <p:cNvPr id="7" name="Text 5"/>
          <p:cNvSpPr txBox="1"/>
          <p:nvPr/>
        </p:nvSpPr>
        <p:spPr>
          <a:xfrm>
            <a:off x="640080" y="1600200"/>
            <a:ext cx="10908792" cy="320040"/>
          </a:xfrm>
          <a:prstGeom prst="rect">
            <a:avLst/>
          </a:prstGeom>
          <a:noFill/>
          <a:ln/>
        </p:spPr>
        <p:txBody>
          <a:bodyPr wrap="square" lIns="0" tIns="0" rIns="0" bIns="0" rtlCol="0" anchor="t"/>
          <a:lstStyle/>
          <a:p>
            <a:pPr marL="0" indent="0" algn="l">
              <a:lnSpc>
                <a:spcPts val="1890"/>
              </a:lnSpc>
              <a:buNone/>
            </a:pPr>
            <a:r>
              <a:rPr lang="en-US" sz="1400" dirty="0">
                <a:solidFill>
                  <a:srgbClr val="16343B"/>
                </a:solidFill>
                <a:latin typeface="Calibri" pitchFamily="34" charset="0"/>
                <a:ea typeface="Calibri" pitchFamily="34" charset="-122"/>
                <a:cs typeface="Calibri" pitchFamily="34" charset="-120"/>
              </a:rPr>
              <a:t>Start: put the keys straight into the array and read it as a tree.</a:t>
            </a:r>
            <a:endParaRPr lang="en-US" sz="1400" dirty="0"/>
          </a:p>
        </p:txBody>
      </p:sp>
      <p:sp>
        <p:nvSpPr>
          <p:cNvPr id="8" name="Shape 6"/>
          <p:cNvSpPr/>
          <p:nvPr/>
        </p:nvSpPr>
        <p:spPr>
          <a:xfrm>
            <a:off x="640080" y="2011680"/>
            <a:ext cx="566928" cy="457200"/>
          </a:xfrm>
          <a:prstGeom prst="rect">
            <a:avLst/>
          </a:prstGeom>
          <a:solidFill>
            <a:srgbClr val="FFFFFF"/>
          </a:solidFill>
          <a:ln w="12700">
            <a:solidFill>
              <a:srgbClr val="D3E0E3"/>
            </a:solidFill>
            <a:prstDash val="solid"/>
          </a:ln>
        </p:spPr>
        <p:txBody>
          <a:bodyPr/>
          <a:lstStyle/>
          <a:p>
            <a:endParaRPr lang="en-US"/>
          </a:p>
        </p:txBody>
      </p:sp>
      <p:sp>
        <p:nvSpPr>
          <p:cNvPr id="9" name="Text 7"/>
          <p:cNvSpPr txBox="1"/>
          <p:nvPr/>
        </p:nvSpPr>
        <p:spPr>
          <a:xfrm>
            <a:off x="640080" y="201168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A</a:t>
            </a:r>
            <a:endParaRPr lang="en-US" sz="1500" dirty="0"/>
          </a:p>
        </p:txBody>
      </p:sp>
      <p:sp>
        <p:nvSpPr>
          <p:cNvPr id="10" name="Text 8"/>
          <p:cNvSpPr txBox="1"/>
          <p:nvPr/>
        </p:nvSpPr>
        <p:spPr>
          <a:xfrm>
            <a:off x="640080" y="248716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1</a:t>
            </a:r>
            <a:endParaRPr lang="en-US" sz="900" dirty="0"/>
          </a:p>
        </p:txBody>
      </p:sp>
      <p:sp>
        <p:nvSpPr>
          <p:cNvPr id="11" name="Shape 9"/>
          <p:cNvSpPr/>
          <p:nvPr/>
        </p:nvSpPr>
        <p:spPr>
          <a:xfrm>
            <a:off x="1207008" y="2011680"/>
            <a:ext cx="566928" cy="457200"/>
          </a:xfrm>
          <a:prstGeom prst="rect">
            <a:avLst/>
          </a:prstGeom>
          <a:solidFill>
            <a:srgbClr val="FFFFFF"/>
          </a:solidFill>
          <a:ln w="12700">
            <a:solidFill>
              <a:srgbClr val="D3E0E3"/>
            </a:solidFill>
            <a:prstDash val="solid"/>
          </a:ln>
        </p:spPr>
        <p:txBody>
          <a:bodyPr/>
          <a:lstStyle/>
          <a:p>
            <a:endParaRPr lang="en-US"/>
          </a:p>
        </p:txBody>
      </p:sp>
      <p:sp>
        <p:nvSpPr>
          <p:cNvPr id="12" name="Text 10"/>
          <p:cNvSpPr txBox="1"/>
          <p:nvPr/>
        </p:nvSpPr>
        <p:spPr>
          <a:xfrm>
            <a:off x="1207008" y="201168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L</a:t>
            </a:r>
            <a:endParaRPr lang="en-US" sz="1500" dirty="0"/>
          </a:p>
        </p:txBody>
      </p:sp>
      <p:sp>
        <p:nvSpPr>
          <p:cNvPr id="13" name="Text 11"/>
          <p:cNvSpPr txBox="1"/>
          <p:nvPr/>
        </p:nvSpPr>
        <p:spPr>
          <a:xfrm>
            <a:off x="1207008" y="248716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2</a:t>
            </a:r>
            <a:endParaRPr lang="en-US" sz="900" dirty="0"/>
          </a:p>
        </p:txBody>
      </p:sp>
      <p:sp>
        <p:nvSpPr>
          <p:cNvPr id="14" name="Shape 12"/>
          <p:cNvSpPr/>
          <p:nvPr/>
        </p:nvSpPr>
        <p:spPr>
          <a:xfrm>
            <a:off x="1773936" y="2011680"/>
            <a:ext cx="566928" cy="457200"/>
          </a:xfrm>
          <a:prstGeom prst="rect">
            <a:avLst/>
          </a:prstGeom>
          <a:solidFill>
            <a:srgbClr val="FFFFFF"/>
          </a:solidFill>
          <a:ln w="12700">
            <a:solidFill>
              <a:srgbClr val="D3E0E3"/>
            </a:solidFill>
            <a:prstDash val="solid"/>
          </a:ln>
        </p:spPr>
        <p:txBody>
          <a:bodyPr/>
          <a:lstStyle/>
          <a:p>
            <a:endParaRPr lang="en-US"/>
          </a:p>
        </p:txBody>
      </p:sp>
      <p:sp>
        <p:nvSpPr>
          <p:cNvPr id="15" name="Text 13"/>
          <p:cNvSpPr txBox="1"/>
          <p:nvPr/>
        </p:nvSpPr>
        <p:spPr>
          <a:xfrm>
            <a:off x="1773936" y="201168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G</a:t>
            </a:r>
            <a:endParaRPr lang="en-US" sz="1500" dirty="0"/>
          </a:p>
        </p:txBody>
      </p:sp>
      <p:sp>
        <p:nvSpPr>
          <p:cNvPr id="16" name="Text 14"/>
          <p:cNvSpPr txBox="1"/>
          <p:nvPr/>
        </p:nvSpPr>
        <p:spPr>
          <a:xfrm>
            <a:off x="1773936" y="248716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3</a:t>
            </a:r>
            <a:endParaRPr lang="en-US" sz="900" dirty="0"/>
          </a:p>
        </p:txBody>
      </p:sp>
      <p:sp>
        <p:nvSpPr>
          <p:cNvPr id="17" name="Shape 15"/>
          <p:cNvSpPr/>
          <p:nvPr/>
        </p:nvSpPr>
        <p:spPr>
          <a:xfrm>
            <a:off x="2340864" y="2011680"/>
            <a:ext cx="566928" cy="457200"/>
          </a:xfrm>
          <a:prstGeom prst="rect">
            <a:avLst/>
          </a:prstGeom>
          <a:solidFill>
            <a:srgbClr val="FFFFFF"/>
          </a:solidFill>
          <a:ln w="12700">
            <a:solidFill>
              <a:srgbClr val="D3E0E3"/>
            </a:solidFill>
            <a:prstDash val="solid"/>
          </a:ln>
        </p:spPr>
        <p:txBody>
          <a:bodyPr/>
          <a:lstStyle/>
          <a:p>
            <a:endParaRPr lang="en-US"/>
          </a:p>
        </p:txBody>
      </p:sp>
      <p:sp>
        <p:nvSpPr>
          <p:cNvPr id="18" name="Text 16"/>
          <p:cNvSpPr txBox="1"/>
          <p:nvPr/>
        </p:nvSpPr>
        <p:spPr>
          <a:xfrm>
            <a:off x="2340864" y="201168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O</a:t>
            </a:r>
            <a:endParaRPr lang="en-US" sz="1500" dirty="0"/>
          </a:p>
        </p:txBody>
      </p:sp>
      <p:sp>
        <p:nvSpPr>
          <p:cNvPr id="19" name="Text 17"/>
          <p:cNvSpPr txBox="1"/>
          <p:nvPr/>
        </p:nvSpPr>
        <p:spPr>
          <a:xfrm>
            <a:off x="2340864" y="248716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4</a:t>
            </a:r>
            <a:endParaRPr lang="en-US" sz="900" dirty="0"/>
          </a:p>
        </p:txBody>
      </p:sp>
      <p:sp>
        <p:nvSpPr>
          <p:cNvPr id="20" name="Shape 18"/>
          <p:cNvSpPr/>
          <p:nvPr/>
        </p:nvSpPr>
        <p:spPr>
          <a:xfrm>
            <a:off x="2907792" y="2011680"/>
            <a:ext cx="566928" cy="457200"/>
          </a:xfrm>
          <a:prstGeom prst="rect">
            <a:avLst/>
          </a:prstGeom>
          <a:solidFill>
            <a:srgbClr val="FFFFFF"/>
          </a:solidFill>
          <a:ln w="12700">
            <a:solidFill>
              <a:srgbClr val="D3E0E3"/>
            </a:solidFill>
            <a:prstDash val="solid"/>
          </a:ln>
        </p:spPr>
        <p:txBody>
          <a:bodyPr/>
          <a:lstStyle/>
          <a:p>
            <a:endParaRPr lang="en-US"/>
          </a:p>
        </p:txBody>
      </p:sp>
      <p:sp>
        <p:nvSpPr>
          <p:cNvPr id="21" name="Text 19"/>
          <p:cNvSpPr txBox="1"/>
          <p:nvPr/>
        </p:nvSpPr>
        <p:spPr>
          <a:xfrm>
            <a:off x="2907792" y="201168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R</a:t>
            </a:r>
            <a:endParaRPr lang="en-US" sz="1500" dirty="0"/>
          </a:p>
        </p:txBody>
      </p:sp>
      <p:sp>
        <p:nvSpPr>
          <p:cNvPr id="22" name="Text 20"/>
          <p:cNvSpPr txBox="1"/>
          <p:nvPr/>
        </p:nvSpPr>
        <p:spPr>
          <a:xfrm>
            <a:off x="2907792" y="248716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5</a:t>
            </a:r>
            <a:endParaRPr lang="en-US" sz="900" dirty="0"/>
          </a:p>
        </p:txBody>
      </p:sp>
      <p:sp>
        <p:nvSpPr>
          <p:cNvPr id="23" name="Shape 21"/>
          <p:cNvSpPr/>
          <p:nvPr/>
        </p:nvSpPr>
        <p:spPr>
          <a:xfrm>
            <a:off x="3474720" y="2011680"/>
            <a:ext cx="566928" cy="457200"/>
          </a:xfrm>
          <a:prstGeom prst="rect">
            <a:avLst/>
          </a:prstGeom>
          <a:solidFill>
            <a:srgbClr val="FFFFFF"/>
          </a:solidFill>
          <a:ln w="12700">
            <a:solidFill>
              <a:srgbClr val="D3E0E3"/>
            </a:solidFill>
            <a:prstDash val="solid"/>
          </a:ln>
        </p:spPr>
        <p:txBody>
          <a:bodyPr/>
          <a:lstStyle/>
          <a:p>
            <a:endParaRPr lang="en-US"/>
          </a:p>
        </p:txBody>
      </p:sp>
      <p:sp>
        <p:nvSpPr>
          <p:cNvPr id="24" name="Text 22"/>
          <p:cNvSpPr txBox="1"/>
          <p:nvPr/>
        </p:nvSpPr>
        <p:spPr>
          <a:xfrm>
            <a:off x="3474720" y="201168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I</a:t>
            </a:r>
            <a:endParaRPr lang="en-US" sz="1500" dirty="0"/>
          </a:p>
        </p:txBody>
      </p:sp>
      <p:sp>
        <p:nvSpPr>
          <p:cNvPr id="25" name="Text 23"/>
          <p:cNvSpPr txBox="1"/>
          <p:nvPr/>
        </p:nvSpPr>
        <p:spPr>
          <a:xfrm>
            <a:off x="3474720" y="248716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6</a:t>
            </a:r>
            <a:endParaRPr lang="en-US" sz="900" dirty="0"/>
          </a:p>
        </p:txBody>
      </p:sp>
      <p:sp>
        <p:nvSpPr>
          <p:cNvPr id="26" name="Shape 24"/>
          <p:cNvSpPr/>
          <p:nvPr/>
        </p:nvSpPr>
        <p:spPr>
          <a:xfrm>
            <a:off x="4041648" y="2011680"/>
            <a:ext cx="566928" cy="457200"/>
          </a:xfrm>
          <a:prstGeom prst="rect">
            <a:avLst/>
          </a:prstGeom>
          <a:solidFill>
            <a:srgbClr val="FFFFFF"/>
          </a:solidFill>
          <a:ln w="12700">
            <a:solidFill>
              <a:srgbClr val="D3E0E3"/>
            </a:solidFill>
            <a:prstDash val="solid"/>
          </a:ln>
        </p:spPr>
        <p:txBody>
          <a:bodyPr/>
          <a:lstStyle/>
          <a:p>
            <a:endParaRPr lang="en-US"/>
          </a:p>
        </p:txBody>
      </p:sp>
      <p:sp>
        <p:nvSpPr>
          <p:cNvPr id="27" name="Text 25"/>
          <p:cNvSpPr txBox="1"/>
          <p:nvPr/>
        </p:nvSpPr>
        <p:spPr>
          <a:xfrm>
            <a:off x="4041648" y="201168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T</a:t>
            </a:r>
            <a:endParaRPr lang="en-US" sz="1500" dirty="0"/>
          </a:p>
        </p:txBody>
      </p:sp>
      <p:sp>
        <p:nvSpPr>
          <p:cNvPr id="28" name="Text 26"/>
          <p:cNvSpPr txBox="1"/>
          <p:nvPr/>
        </p:nvSpPr>
        <p:spPr>
          <a:xfrm>
            <a:off x="4041648" y="248716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7</a:t>
            </a:r>
            <a:endParaRPr lang="en-US" sz="900" dirty="0"/>
          </a:p>
        </p:txBody>
      </p:sp>
      <p:sp>
        <p:nvSpPr>
          <p:cNvPr id="29" name="Shape 27"/>
          <p:cNvSpPr/>
          <p:nvPr/>
        </p:nvSpPr>
        <p:spPr>
          <a:xfrm>
            <a:off x="4608576" y="2011680"/>
            <a:ext cx="566928" cy="457200"/>
          </a:xfrm>
          <a:prstGeom prst="rect">
            <a:avLst/>
          </a:prstGeom>
          <a:solidFill>
            <a:srgbClr val="FFFFFF"/>
          </a:solidFill>
          <a:ln w="12700">
            <a:solidFill>
              <a:srgbClr val="D3E0E3"/>
            </a:solidFill>
            <a:prstDash val="solid"/>
          </a:ln>
        </p:spPr>
        <p:txBody>
          <a:bodyPr/>
          <a:lstStyle/>
          <a:p>
            <a:endParaRPr lang="en-US"/>
          </a:p>
        </p:txBody>
      </p:sp>
      <p:sp>
        <p:nvSpPr>
          <p:cNvPr id="30" name="Text 28"/>
          <p:cNvSpPr txBox="1"/>
          <p:nvPr/>
        </p:nvSpPr>
        <p:spPr>
          <a:xfrm>
            <a:off x="4608576" y="201168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H</a:t>
            </a:r>
            <a:endParaRPr lang="en-US" sz="1500" dirty="0"/>
          </a:p>
        </p:txBody>
      </p:sp>
      <p:sp>
        <p:nvSpPr>
          <p:cNvPr id="31" name="Text 29"/>
          <p:cNvSpPr txBox="1"/>
          <p:nvPr/>
        </p:nvSpPr>
        <p:spPr>
          <a:xfrm>
            <a:off x="4608576" y="248716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8</a:t>
            </a:r>
            <a:endParaRPr lang="en-US" sz="900" dirty="0"/>
          </a:p>
        </p:txBody>
      </p:sp>
      <p:sp>
        <p:nvSpPr>
          <p:cNvPr id="32" name="Shape 30"/>
          <p:cNvSpPr/>
          <p:nvPr/>
        </p:nvSpPr>
        <p:spPr>
          <a:xfrm>
            <a:off x="5175504" y="2011680"/>
            <a:ext cx="566928" cy="457200"/>
          </a:xfrm>
          <a:prstGeom prst="rect">
            <a:avLst/>
          </a:prstGeom>
          <a:solidFill>
            <a:srgbClr val="FFFFFF"/>
          </a:solidFill>
          <a:ln w="12700">
            <a:solidFill>
              <a:srgbClr val="D3E0E3"/>
            </a:solidFill>
            <a:prstDash val="solid"/>
          </a:ln>
        </p:spPr>
        <p:txBody>
          <a:bodyPr/>
          <a:lstStyle/>
          <a:p>
            <a:endParaRPr lang="en-US"/>
          </a:p>
        </p:txBody>
      </p:sp>
      <p:sp>
        <p:nvSpPr>
          <p:cNvPr id="33" name="Text 31"/>
          <p:cNvSpPr txBox="1"/>
          <p:nvPr/>
        </p:nvSpPr>
        <p:spPr>
          <a:xfrm>
            <a:off x="5175504" y="201168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M</a:t>
            </a:r>
            <a:endParaRPr lang="en-US" sz="1500" dirty="0"/>
          </a:p>
        </p:txBody>
      </p:sp>
      <p:sp>
        <p:nvSpPr>
          <p:cNvPr id="34" name="Text 32"/>
          <p:cNvSpPr txBox="1"/>
          <p:nvPr/>
        </p:nvSpPr>
        <p:spPr>
          <a:xfrm>
            <a:off x="5175504" y="248716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9</a:t>
            </a:r>
            <a:endParaRPr lang="en-US" sz="900" dirty="0"/>
          </a:p>
        </p:txBody>
      </p:sp>
      <p:sp>
        <p:nvSpPr>
          <p:cNvPr id="35" name="Shape 33"/>
          <p:cNvSpPr/>
          <p:nvPr/>
        </p:nvSpPr>
        <p:spPr>
          <a:xfrm flipV="1">
            <a:off x="1417320" y="3200400"/>
            <a:ext cx="960120" cy="777240"/>
          </a:xfrm>
          <a:prstGeom prst="line">
            <a:avLst/>
          </a:prstGeom>
          <a:noFill/>
          <a:ln w="19050">
            <a:solidFill>
              <a:srgbClr val="3D8C9C"/>
            </a:solidFill>
            <a:prstDash val="solid"/>
          </a:ln>
        </p:spPr>
        <p:txBody>
          <a:bodyPr/>
          <a:lstStyle/>
          <a:p>
            <a:endParaRPr lang="en-US"/>
          </a:p>
        </p:txBody>
      </p:sp>
      <p:sp>
        <p:nvSpPr>
          <p:cNvPr id="36" name="Shape 34"/>
          <p:cNvSpPr/>
          <p:nvPr/>
        </p:nvSpPr>
        <p:spPr>
          <a:xfrm>
            <a:off x="2377440" y="3200400"/>
            <a:ext cx="960120" cy="777240"/>
          </a:xfrm>
          <a:prstGeom prst="line">
            <a:avLst/>
          </a:prstGeom>
          <a:noFill/>
          <a:ln w="19050">
            <a:solidFill>
              <a:srgbClr val="3D8C9C"/>
            </a:solidFill>
            <a:prstDash val="solid"/>
          </a:ln>
        </p:spPr>
        <p:txBody>
          <a:bodyPr/>
          <a:lstStyle/>
          <a:p>
            <a:endParaRPr lang="en-US"/>
          </a:p>
        </p:txBody>
      </p:sp>
      <p:sp>
        <p:nvSpPr>
          <p:cNvPr id="37" name="Shape 35"/>
          <p:cNvSpPr/>
          <p:nvPr/>
        </p:nvSpPr>
        <p:spPr>
          <a:xfrm flipV="1">
            <a:off x="914400" y="3977640"/>
            <a:ext cx="502920" cy="777240"/>
          </a:xfrm>
          <a:prstGeom prst="line">
            <a:avLst/>
          </a:prstGeom>
          <a:noFill/>
          <a:ln w="19050">
            <a:solidFill>
              <a:srgbClr val="3D8C9C"/>
            </a:solidFill>
            <a:prstDash val="solid"/>
          </a:ln>
        </p:spPr>
        <p:txBody>
          <a:bodyPr/>
          <a:lstStyle/>
          <a:p>
            <a:endParaRPr lang="en-US"/>
          </a:p>
        </p:txBody>
      </p:sp>
      <p:sp>
        <p:nvSpPr>
          <p:cNvPr id="38" name="Shape 36"/>
          <p:cNvSpPr/>
          <p:nvPr/>
        </p:nvSpPr>
        <p:spPr>
          <a:xfrm>
            <a:off x="1417320" y="3977640"/>
            <a:ext cx="502920" cy="777240"/>
          </a:xfrm>
          <a:prstGeom prst="line">
            <a:avLst/>
          </a:prstGeom>
          <a:noFill/>
          <a:ln w="19050">
            <a:solidFill>
              <a:srgbClr val="3D8C9C"/>
            </a:solidFill>
            <a:prstDash val="solid"/>
          </a:ln>
        </p:spPr>
        <p:txBody>
          <a:bodyPr/>
          <a:lstStyle/>
          <a:p>
            <a:endParaRPr lang="en-US"/>
          </a:p>
        </p:txBody>
      </p:sp>
      <p:sp>
        <p:nvSpPr>
          <p:cNvPr id="39" name="Shape 37"/>
          <p:cNvSpPr/>
          <p:nvPr/>
        </p:nvSpPr>
        <p:spPr>
          <a:xfrm flipV="1">
            <a:off x="2834640" y="3977640"/>
            <a:ext cx="502920" cy="777240"/>
          </a:xfrm>
          <a:prstGeom prst="line">
            <a:avLst/>
          </a:prstGeom>
          <a:noFill/>
          <a:ln w="19050">
            <a:solidFill>
              <a:srgbClr val="3D8C9C"/>
            </a:solidFill>
            <a:prstDash val="solid"/>
          </a:ln>
        </p:spPr>
        <p:txBody>
          <a:bodyPr/>
          <a:lstStyle/>
          <a:p>
            <a:endParaRPr lang="en-US"/>
          </a:p>
        </p:txBody>
      </p:sp>
      <p:sp>
        <p:nvSpPr>
          <p:cNvPr id="40" name="Shape 38"/>
          <p:cNvSpPr/>
          <p:nvPr/>
        </p:nvSpPr>
        <p:spPr>
          <a:xfrm>
            <a:off x="3337560" y="3977640"/>
            <a:ext cx="502920" cy="777240"/>
          </a:xfrm>
          <a:prstGeom prst="line">
            <a:avLst/>
          </a:prstGeom>
          <a:noFill/>
          <a:ln w="19050">
            <a:solidFill>
              <a:srgbClr val="3D8C9C"/>
            </a:solidFill>
            <a:prstDash val="solid"/>
          </a:ln>
        </p:spPr>
        <p:txBody>
          <a:bodyPr/>
          <a:lstStyle/>
          <a:p>
            <a:endParaRPr lang="en-US"/>
          </a:p>
        </p:txBody>
      </p:sp>
      <p:sp>
        <p:nvSpPr>
          <p:cNvPr id="41" name="Shape 39"/>
          <p:cNvSpPr/>
          <p:nvPr/>
        </p:nvSpPr>
        <p:spPr>
          <a:xfrm flipV="1">
            <a:off x="640080" y="4754880"/>
            <a:ext cx="274320" cy="777240"/>
          </a:xfrm>
          <a:prstGeom prst="line">
            <a:avLst/>
          </a:prstGeom>
          <a:noFill/>
          <a:ln w="19050">
            <a:solidFill>
              <a:srgbClr val="3D8C9C"/>
            </a:solidFill>
            <a:prstDash val="solid"/>
          </a:ln>
        </p:spPr>
        <p:txBody>
          <a:bodyPr/>
          <a:lstStyle/>
          <a:p>
            <a:endParaRPr lang="en-US"/>
          </a:p>
        </p:txBody>
      </p:sp>
      <p:sp>
        <p:nvSpPr>
          <p:cNvPr id="42" name="Shape 40"/>
          <p:cNvSpPr/>
          <p:nvPr/>
        </p:nvSpPr>
        <p:spPr>
          <a:xfrm>
            <a:off x="914400" y="4754880"/>
            <a:ext cx="457200" cy="777240"/>
          </a:xfrm>
          <a:prstGeom prst="line">
            <a:avLst/>
          </a:prstGeom>
          <a:noFill/>
          <a:ln w="19050">
            <a:solidFill>
              <a:srgbClr val="3D8C9C"/>
            </a:solidFill>
            <a:prstDash val="solid"/>
          </a:ln>
        </p:spPr>
        <p:txBody>
          <a:bodyPr/>
          <a:lstStyle/>
          <a:p>
            <a:endParaRPr lang="en-US"/>
          </a:p>
        </p:txBody>
      </p:sp>
      <p:sp>
        <p:nvSpPr>
          <p:cNvPr id="43" name="Shape 41"/>
          <p:cNvSpPr/>
          <p:nvPr/>
        </p:nvSpPr>
        <p:spPr>
          <a:xfrm>
            <a:off x="2157984" y="2980944"/>
            <a:ext cx="438912" cy="438912"/>
          </a:xfrm>
          <a:prstGeom prst="ellipse">
            <a:avLst/>
          </a:prstGeom>
          <a:solidFill>
            <a:srgbClr val="FFFFFF"/>
          </a:solidFill>
          <a:ln w="22225">
            <a:solidFill>
              <a:srgbClr val="0F5E6E"/>
            </a:solidFill>
            <a:prstDash val="solid"/>
          </a:ln>
        </p:spPr>
        <p:txBody>
          <a:bodyPr/>
          <a:lstStyle/>
          <a:p>
            <a:endParaRPr lang="en-US"/>
          </a:p>
        </p:txBody>
      </p:sp>
      <p:sp>
        <p:nvSpPr>
          <p:cNvPr id="44" name="Text 42"/>
          <p:cNvSpPr txBox="1"/>
          <p:nvPr/>
        </p:nvSpPr>
        <p:spPr>
          <a:xfrm>
            <a:off x="2020824" y="2980944"/>
            <a:ext cx="713232" cy="438912"/>
          </a:xfrm>
          <a:prstGeom prst="rect">
            <a:avLst/>
          </a:prstGeom>
          <a:noFill/>
          <a:ln/>
        </p:spPr>
        <p:txBody>
          <a:bodyPr wrap="square" lIns="0" tIns="0" rIns="0" bIns="0" rtlCol="0" anchor="ctr"/>
          <a:lstStyle/>
          <a:p>
            <a:pPr marL="0" indent="0" algn="ctr">
              <a:buNone/>
            </a:pPr>
            <a:r>
              <a:rPr lang="en-US" sz="1200" b="1" dirty="0">
                <a:solidFill>
                  <a:srgbClr val="16343B"/>
                </a:solidFill>
                <a:latin typeface="Calibri" pitchFamily="34" charset="0"/>
                <a:ea typeface="Calibri" pitchFamily="34" charset="-122"/>
                <a:cs typeface="Calibri" pitchFamily="34" charset="-120"/>
              </a:rPr>
              <a:t>A</a:t>
            </a:r>
            <a:endParaRPr lang="en-US" sz="1200" dirty="0"/>
          </a:p>
        </p:txBody>
      </p:sp>
      <p:sp>
        <p:nvSpPr>
          <p:cNvPr id="45" name="Shape 43"/>
          <p:cNvSpPr/>
          <p:nvPr/>
        </p:nvSpPr>
        <p:spPr>
          <a:xfrm>
            <a:off x="1197864" y="3758184"/>
            <a:ext cx="438912" cy="438912"/>
          </a:xfrm>
          <a:prstGeom prst="ellipse">
            <a:avLst/>
          </a:prstGeom>
          <a:solidFill>
            <a:srgbClr val="FFFFFF"/>
          </a:solidFill>
          <a:ln w="22225">
            <a:solidFill>
              <a:srgbClr val="0F5E6E"/>
            </a:solidFill>
            <a:prstDash val="solid"/>
          </a:ln>
        </p:spPr>
        <p:txBody>
          <a:bodyPr/>
          <a:lstStyle/>
          <a:p>
            <a:endParaRPr lang="en-US"/>
          </a:p>
        </p:txBody>
      </p:sp>
      <p:sp>
        <p:nvSpPr>
          <p:cNvPr id="46" name="Text 44"/>
          <p:cNvSpPr txBox="1"/>
          <p:nvPr/>
        </p:nvSpPr>
        <p:spPr>
          <a:xfrm>
            <a:off x="1060704" y="3758184"/>
            <a:ext cx="713232" cy="438912"/>
          </a:xfrm>
          <a:prstGeom prst="rect">
            <a:avLst/>
          </a:prstGeom>
          <a:noFill/>
          <a:ln/>
        </p:spPr>
        <p:txBody>
          <a:bodyPr wrap="square" lIns="0" tIns="0" rIns="0" bIns="0" rtlCol="0" anchor="ctr"/>
          <a:lstStyle/>
          <a:p>
            <a:pPr marL="0" indent="0" algn="ctr">
              <a:buNone/>
            </a:pPr>
            <a:r>
              <a:rPr lang="en-US" sz="1200" b="1" dirty="0">
                <a:solidFill>
                  <a:srgbClr val="16343B"/>
                </a:solidFill>
                <a:latin typeface="Calibri" pitchFamily="34" charset="0"/>
                <a:ea typeface="Calibri" pitchFamily="34" charset="-122"/>
                <a:cs typeface="Calibri" pitchFamily="34" charset="-120"/>
              </a:rPr>
              <a:t>L</a:t>
            </a:r>
            <a:endParaRPr lang="en-US" sz="1200" dirty="0"/>
          </a:p>
        </p:txBody>
      </p:sp>
      <p:sp>
        <p:nvSpPr>
          <p:cNvPr id="47" name="Shape 45"/>
          <p:cNvSpPr/>
          <p:nvPr/>
        </p:nvSpPr>
        <p:spPr>
          <a:xfrm>
            <a:off x="3118104" y="3758184"/>
            <a:ext cx="438912" cy="438912"/>
          </a:xfrm>
          <a:prstGeom prst="ellipse">
            <a:avLst/>
          </a:prstGeom>
          <a:solidFill>
            <a:srgbClr val="FFFFFF"/>
          </a:solidFill>
          <a:ln w="22225">
            <a:solidFill>
              <a:srgbClr val="0F5E6E"/>
            </a:solidFill>
            <a:prstDash val="solid"/>
          </a:ln>
        </p:spPr>
        <p:txBody>
          <a:bodyPr/>
          <a:lstStyle/>
          <a:p>
            <a:endParaRPr lang="en-US"/>
          </a:p>
        </p:txBody>
      </p:sp>
      <p:sp>
        <p:nvSpPr>
          <p:cNvPr id="48" name="Text 46"/>
          <p:cNvSpPr txBox="1"/>
          <p:nvPr/>
        </p:nvSpPr>
        <p:spPr>
          <a:xfrm>
            <a:off x="2980944" y="3758184"/>
            <a:ext cx="713232" cy="438912"/>
          </a:xfrm>
          <a:prstGeom prst="rect">
            <a:avLst/>
          </a:prstGeom>
          <a:noFill/>
          <a:ln/>
        </p:spPr>
        <p:txBody>
          <a:bodyPr wrap="square" lIns="0" tIns="0" rIns="0" bIns="0" rtlCol="0" anchor="ctr"/>
          <a:lstStyle/>
          <a:p>
            <a:pPr marL="0" indent="0" algn="ctr">
              <a:buNone/>
            </a:pPr>
            <a:r>
              <a:rPr lang="en-US" sz="1200" b="1" dirty="0">
                <a:solidFill>
                  <a:srgbClr val="16343B"/>
                </a:solidFill>
                <a:latin typeface="Calibri" pitchFamily="34" charset="0"/>
                <a:ea typeface="Calibri" pitchFamily="34" charset="-122"/>
                <a:cs typeface="Calibri" pitchFamily="34" charset="-120"/>
              </a:rPr>
              <a:t>G</a:t>
            </a:r>
            <a:endParaRPr lang="en-US" sz="1200" dirty="0"/>
          </a:p>
        </p:txBody>
      </p:sp>
      <p:sp>
        <p:nvSpPr>
          <p:cNvPr id="49" name="Shape 47"/>
          <p:cNvSpPr/>
          <p:nvPr/>
        </p:nvSpPr>
        <p:spPr>
          <a:xfrm>
            <a:off x="694944" y="4535424"/>
            <a:ext cx="438912" cy="438912"/>
          </a:xfrm>
          <a:prstGeom prst="ellipse">
            <a:avLst/>
          </a:prstGeom>
          <a:solidFill>
            <a:srgbClr val="FBEEDA"/>
          </a:solidFill>
          <a:ln w="22225">
            <a:solidFill>
              <a:srgbClr val="D9932B"/>
            </a:solidFill>
            <a:prstDash val="solid"/>
          </a:ln>
        </p:spPr>
        <p:txBody>
          <a:bodyPr/>
          <a:lstStyle/>
          <a:p>
            <a:endParaRPr lang="en-US"/>
          </a:p>
        </p:txBody>
      </p:sp>
      <p:sp>
        <p:nvSpPr>
          <p:cNvPr id="50" name="Text 48"/>
          <p:cNvSpPr txBox="1"/>
          <p:nvPr/>
        </p:nvSpPr>
        <p:spPr>
          <a:xfrm>
            <a:off x="557784" y="4535424"/>
            <a:ext cx="713232" cy="438912"/>
          </a:xfrm>
          <a:prstGeom prst="rect">
            <a:avLst/>
          </a:prstGeom>
          <a:noFill/>
          <a:ln/>
        </p:spPr>
        <p:txBody>
          <a:bodyPr wrap="square" lIns="0" tIns="0" rIns="0" bIns="0" rtlCol="0" anchor="ctr"/>
          <a:lstStyle/>
          <a:p>
            <a:pPr marL="0" indent="0" algn="ctr">
              <a:buNone/>
            </a:pPr>
            <a:r>
              <a:rPr lang="en-US" sz="1200" b="1" dirty="0">
                <a:solidFill>
                  <a:srgbClr val="16343B"/>
                </a:solidFill>
                <a:latin typeface="Calibri" pitchFamily="34" charset="0"/>
                <a:ea typeface="Calibri" pitchFamily="34" charset="-122"/>
                <a:cs typeface="Calibri" pitchFamily="34" charset="-120"/>
              </a:rPr>
              <a:t>O</a:t>
            </a:r>
            <a:endParaRPr lang="en-US" sz="1200" dirty="0"/>
          </a:p>
        </p:txBody>
      </p:sp>
      <p:sp>
        <p:nvSpPr>
          <p:cNvPr id="51" name="Shape 49"/>
          <p:cNvSpPr/>
          <p:nvPr/>
        </p:nvSpPr>
        <p:spPr>
          <a:xfrm>
            <a:off x="1700784" y="4535424"/>
            <a:ext cx="438912" cy="438912"/>
          </a:xfrm>
          <a:prstGeom prst="ellipse">
            <a:avLst/>
          </a:prstGeom>
          <a:solidFill>
            <a:srgbClr val="FFFFFF"/>
          </a:solidFill>
          <a:ln w="22225">
            <a:solidFill>
              <a:srgbClr val="0F5E6E"/>
            </a:solidFill>
            <a:prstDash val="solid"/>
          </a:ln>
        </p:spPr>
        <p:txBody>
          <a:bodyPr/>
          <a:lstStyle/>
          <a:p>
            <a:endParaRPr lang="en-US"/>
          </a:p>
        </p:txBody>
      </p:sp>
      <p:sp>
        <p:nvSpPr>
          <p:cNvPr id="52" name="Text 50"/>
          <p:cNvSpPr txBox="1"/>
          <p:nvPr/>
        </p:nvSpPr>
        <p:spPr>
          <a:xfrm>
            <a:off x="1563624" y="4535424"/>
            <a:ext cx="713232" cy="438912"/>
          </a:xfrm>
          <a:prstGeom prst="rect">
            <a:avLst/>
          </a:prstGeom>
          <a:noFill/>
          <a:ln/>
        </p:spPr>
        <p:txBody>
          <a:bodyPr wrap="square" lIns="0" tIns="0" rIns="0" bIns="0" rtlCol="0" anchor="ctr"/>
          <a:lstStyle/>
          <a:p>
            <a:pPr marL="0" indent="0" algn="ctr">
              <a:buNone/>
            </a:pPr>
            <a:r>
              <a:rPr lang="en-US" sz="1200" b="1" dirty="0">
                <a:solidFill>
                  <a:srgbClr val="16343B"/>
                </a:solidFill>
                <a:latin typeface="Calibri" pitchFamily="34" charset="0"/>
                <a:ea typeface="Calibri" pitchFamily="34" charset="-122"/>
                <a:cs typeface="Calibri" pitchFamily="34" charset="-120"/>
              </a:rPr>
              <a:t>R</a:t>
            </a:r>
            <a:endParaRPr lang="en-US" sz="1200" dirty="0"/>
          </a:p>
        </p:txBody>
      </p:sp>
      <p:sp>
        <p:nvSpPr>
          <p:cNvPr id="53" name="Shape 51"/>
          <p:cNvSpPr/>
          <p:nvPr/>
        </p:nvSpPr>
        <p:spPr>
          <a:xfrm>
            <a:off x="2615184" y="4535424"/>
            <a:ext cx="438912" cy="438912"/>
          </a:xfrm>
          <a:prstGeom prst="ellipse">
            <a:avLst/>
          </a:prstGeom>
          <a:solidFill>
            <a:srgbClr val="FFFFFF"/>
          </a:solidFill>
          <a:ln w="22225">
            <a:solidFill>
              <a:srgbClr val="0F5E6E"/>
            </a:solidFill>
            <a:prstDash val="solid"/>
          </a:ln>
        </p:spPr>
        <p:txBody>
          <a:bodyPr/>
          <a:lstStyle/>
          <a:p>
            <a:endParaRPr lang="en-US"/>
          </a:p>
        </p:txBody>
      </p:sp>
      <p:sp>
        <p:nvSpPr>
          <p:cNvPr id="54" name="Text 52"/>
          <p:cNvSpPr txBox="1"/>
          <p:nvPr/>
        </p:nvSpPr>
        <p:spPr>
          <a:xfrm>
            <a:off x="2478024" y="4535424"/>
            <a:ext cx="713232" cy="438912"/>
          </a:xfrm>
          <a:prstGeom prst="rect">
            <a:avLst/>
          </a:prstGeom>
          <a:noFill/>
          <a:ln/>
        </p:spPr>
        <p:txBody>
          <a:bodyPr wrap="square" lIns="0" tIns="0" rIns="0" bIns="0" rtlCol="0" anchor="ctr"/>
          <a:lstStyle/>
          <a:p>
            <a:pPr marL="0" indent="0" algn="ctr">
              <a:buNone/>
            </a:pPr>
            <a:r>
              <a:rPr lang="en-US" sz="1200" b="1" dirty="0">
                <a:solidFill>
                  <a:srgbClr val="16343B"/>
                </a:solidFill>
                <a:latin typeface="Calibri" pitchFamily="34" charset="0"/>
                <a:ea typeface="Calibri" pitchFamily="34" charset="-122"/>
                <a:cs typeface="Calibri" pitchFamily="34" charset="-120"/>
              </a:rPr>
              <a:t>I</a:t>
            </a:r>
            <a:endParaRPr lang="en-US" sz="1200" dirty="0"/>
          </a:p>
        </p:txBody>
      </p:sp>
      <p:sp>
        <p:nvSpPr>
          <p:cNvPr id="55" name="Shape 53"/>
          <p:cNvSpPr/>
          <p:nvPr/>
        </p:nvSpPr>
        <p:spPr>
          <a:xfrm>
            <a:off x="3621024" y="4535424"/>
            <a:ext cx="438912" cy="438912"/>
          </a:xfrm>
          <a:prstGeom prst="ellipse">
            <a:avLst/>
          </a:prstGeom>
          <a:solidFill>
            <a:srgbClr val="FFFFFF"/>
          </a:solidFill>
          <a:ln w="22225">
            <a:solidFill>
              <a:srgbClr val="0F5E6E"/>
            </a:solidFill>
            <a:prstDash val="solid"/>
          </a:ln>
        </p:spPr>
        <p:txBody>
          <a:bodyPr/>
          <a:lstStyle/>
          <a:p>
            <a:endParaRPr lang="en-US"/>
          </a:p>
        </p:txBody>
      </p:sp>
      <p:sp>
        <p:nvSpPr>
          <p:cNvPr id="56" name="Text 54"/>
          <p:cNvSpPr txBox="1"/>
          <p:nvPr/>
        </p:nvSpPr>
        <p:spPr>
          <a:xfrm>
            <a:off x="3483864" y="4535424"/>
            <a:ext cx="713232" cy="438912"/>
          </a:xfrm>
          <a:prstGeom prst="rect">
            <a:avLst/>
          </a:prstGeom>
          <a:noFill/>
          <a:ln/>
        </p:spPr>
        <p:txBody>
          <a:bodyPr wrap="square" lIns="0" tIns="0" rIns="0" bIns="0" rtlCol="0" anchor="ctr"/>
          <a:lstStyle/>
          <a:p>
            <a:pPr marL="0" indent="0" algn="ctr">
              <a:buNone/>
            </a:pPr>
            <a:r>
              <a:rPr lang="en-US" sz="1200" b="1" dirty="0">
                <a:solidFill>
                  <a:srgbClr val="16343B"/>
                </a:solidFill>
                <a:latin typeface="Calibri" pitchFamily="34" charset="0"/>
                <a:ea typeface="Calibri" pitchFamily="34" charset="-122"/>
                <a:cs typeface="Calibri" pitchFamily="34" charset="-120"/>
              </a:rPr>
              <a:t>T</a:t>
            </a:r>
            <a:endParaRPr lang="en-US" sz="1200" dirty="0"/>
          </a:p>
        </p:txBody>
      </p:sp>
      <p:sp>
        <p:nvSpPr>
          <p:cNvPr id="57" name="Shape 55"/>
          <p:cNvSpPr/>
          <p:nvPr/>
        </p:nvSpPr>
        <p:spPr>
          <a:xfrm>
            <a:off x="420624" y="5312664"/>
            <a:ext cx="438912" cy="438912"/>
          </a:xfrm>
          <a:prstGeom prst="ellipse">
            <a:avLst/>
          </a:prstGeom>
          <a:solidFill>
            <a:srgbClr val="FFFFFF"/>
          </a:solidFill>
          <a:ln w="22225">
            <a:solidFill>
              <a:srgbClr val="0F5E6E"/>
            </a:solidFill>
            <a:prstDash val="solid"/>
          </a:ln>
        </p:spPr>
        <p:txBody>
          <a:bodyPr/>
          <a:lstStyle/>
          <a:p>
            <a:endParaRPr lang="en-US"/>
          </a:p>
        </p:txBody>
      </p:sp>
      <p:sp>
        <p:nvSpPr>
          <p:cNvPr id="58" name="Text 56"/>
          <p:cNvSpPr txBox="1"/>
          <p:nvPr/>
        </p:nvSpPr>
        <p:spPr>
          <a:xfrm>
            <a:off x="283464" y="5312664"/>
            <a:ext cx="713232" cy="438912"/>
          </a:xfrm>
          <a:prstGeom prst="rect">
            <a:avLst/>
          </a:prstGeom>
          <a:noFill/>
          <a:ln/>
        </p:spPr>
        <p:txBody>
          <a:bodyPr wrap="square" lIns="0" tIns="0" rIns="0" bIns="0" rtlCol="0" anchor="ctr"/>
          <a:lstStyle/>
          <a:p>
            <a:pPr marL="0" indent="0" algn="ctr">
              <a:buNone/>
            </a:pPr>
            <a:r>
              <a:rPr lang="en-US" sz="1200" b="1" dirty="0">
                <a:solidFill>
                  <a:srgbClr val="16343B"/>
                </a:solidFill>
                <a:latin typeface="Calibri" pitchFamily="34" charset="0"/>
                <a:ea typeface="Calibri" pitchFamily="34" charset="-122"/>
                <a:cs typeface="Calibri" pitchFamily="34" charset="-120"/>
              </a:rPr>
              <a:t>H</a:t>
            </a:r>
            <a:endParaRPr lang="en-US" sz="1200" dirty="0"/>
          </a:p>
        </p:txBody>
      </p:sp>
      <p:sp>
        <p:nvSpPr>
          <p:cNvPr id="59" name="Shape 57"/>
          <p:cNvSpPr/>
          <p:nvPr/>
        </p:nvSpPr>
        <p:spPr>
          <a:xfrm>
            <a:off x="1152144" y="5312664"/>
            <a:ext cx="438912" cy="438912"/>
          </a:xfrm>
          <a:prstGeom prst="ellipse">
            <a:avLst/>
          </a:prstGeom>
          <a:solidFill>
            <a:srgbClr val="FFFFFF"/>
          </a:solidFill>
          <a:ln w="22225">
            <a:solidFill>
              <a:srgbClr val="0F5E6E"/>
            </a:solidFill>
            <a:prstDash val="solid"/>
          </a:ln>
        </p:spPr>
        <p:txBody>
          <a:bodyPr/>
          <a:lstStyle/>
          <a:p>
            <a:endParaRPr lang="en-US"/>
          </a:p>
        </p:txBody>
      </p:sp>
      <p:sp>
        <p:nvSpPr>
          <p:cNvPr id="60" name="Text 58"/>
          <p:cNvSpPr txBox="1"/>
          <p:nvPr/>
        </p:nvSpPr>
        <p:spPr>
          <a:xfrm>
            <a:off x="1014984" y="5312664"/>
            <a:ext cx="713232" cy="438912"/>
          </a:xfrm>
          <a:prstGeom prst="rect">
            <a:avLst/>
          </a:prstGeom>
          <a:noFill/>
          <a:ln/>
        </p:spPr>
        <p:txBody>
          <a:bodyPr wrap="square" lIns="0" tIns="0" rIns="0" bIns="0" rtlCol="0" anchor="ctr"/>
          <a:lstStyle/>
          <a:p>
            <a:pPr marL="0" indent="0" algn="ctr">
              <a:buNone/>
            </a:pPr>
            <a:r>
              <a:rPr lang="en-US" sz="1200" b="1" dirty="0">
                <a:solidFill>
                  <a:srgbClr val="16343B"/>
                </a:solidFill>
                <a:latin typeface="Calibri" pitchFamily="34" charset="0"/>
                <a:ea typeface="Calibri" pitchFamily="34" charset="-122"/>
                <a:cs typeface="Calibri" pitchFamily="34" charset="-120"/>
              </a:rPr>
              <a:t>M</a:t>
            </a:r>
            <a:endParaRPr lang="en-US" sz="1200" dirty="0"/>
          </a:p>
        </p:txBody>
      </p:sp>
      <p:sp>
        <p:nvSpPr>
          <p:cNvPr id="61" name="Shape 59"/>
          <p:cNvSpPr/>
          <p:nvPr/>
        </p:nvSpPr>
        <p:spPr>
          <a:xfrm>
            <a:off x="5120640" y="2971800"/>
            <a:ext cx="6428232" cy="1051560"/>
          </a:xfrm>
          <a:prstGeom prst="roundRect">
            <a:avLst>
              <a:gd name="adj" fmla="val 4348"/>
            </a:avLst>
          </a:prstGeom>
          <a:solidFill>
            <a:srgbClr val="FBEEDA"/>
          </a:solidFill>
          <a:ln w="12700">
            <a:solidFill>
              <a:srgbClr val="EAD3A6"/>
            </a:solidFill>
            <a:prstDash val="solid"/>
          </a:ln>
        </p:spPr>
        <p:txBody>
          <a:bodyPr/>
          <a:lstStyle/>
          <a:p>
            <a:endParaRPr lang="en-US"/>
          </a:p>
        </p:txBody>
      </p:sp>
      <p:sp>
        <p:nvSpPr>
          <p:cNvPr id="62" name="Text 60"/>
          <p:cNvSpPr txBox="1"/>
          <p:nvPr/>
        </p:nvSpPr>
        <p:spPr>
          <a:xfrm>
            <a:off x="5394960" y="3127248"/>
            <a:ext cx="5879592"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THE ALGORITHM</a:t>
            </a:r>
            <a:endParaRPr lang="en-US" sz="1100" dirty="0"/>
          </a:p>
        </p:txBody>
      </p:sp>
      <p:sp>
        <p:nvSpPr>
          <p:cNvPr id="63" name="Text 61"/>
          <p:cNvSpPr txBox="1"/>
          <p:nvPr/>
        </p:nvSpPr>
        <p:spPr>
          <a:xfrm>
            <a:off x="5394960" y="3429000"/>
            <a:ext cx="5879592" cy="502920"/>
          </a:xfrm>
          <a:prstGeom prst="rect">
            <a:avLst/>
          </a:prstGeom>
          <a:noFill/>
          <a:ln/>
        </p:spPr>
        <p:txBody>
          <a:bodyPr wrap="square" lIns="0" tIns="0" rIns="0" bIns="0" rtlCol="0" anchor="t"/>
          <a:lstStyle/>
          <a:p>
            <a:pPr marL="0" indent="0" algn="l">
              <a:lnSpc>
                <a:spcPts val="2160"/>
              </a:lnSpc>
              <a:buNone/>
            </a:pPr>
            <a:r>
              <a:rPr lang="en-US" sz="1600" b="1" dirty="0">
                <a:solidFill>
                  <a:srgbClr val="16343B"/>
                </a:solidFill>
                <a:latin typeface="Calibri" pitchFamily="34" charset="0"/>
                <a:ea typeface="Calibri" pitchFamily="34" charset="-122"/>
                <a:cs typeface="Calibri" pitchFamily="34" charset="-120"/>
              </a:rPr>
              <a:t>for i ← ⌊n/2⌋ down to 1:  bubble-down(i)</a:t>
            </a:r>
            <a:endParaRPr lang="en-US" sz="1600" dirty="0"/>
          </a:p>
        </p:txBody>
      </p:sp>
      <p:sp>
        <p:nvSpPr>
          <p:cNvPr id="64" name="Text 62"/>
          <p:cNvSpPr txBox="1"/>
          <p:nvPr/>
        </p:nvSpPr>
        <p:spPr>
          <a:xfrm>
            <a:off x="5120640" y="4251960"/>
            <a:ext cx="6428232" cy="182880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6343B"/>
                </a:solidFill>
                <a:latin typeface="Calibri" pitchFamily="34" charset="0"/>
                <a:ea typeface="Calibri" pitchFamily="34" charset="-122"/>
                <a:cs typeface="Calibri" pitchFamily="34" charset="-120"/>
              </a:rPr>
              <a:t>Leaves are already legal one-node heaps, so we skip them and start at the last parent — here i = ⌊9/2⌋ = 4, the node holding O.</a:t>
            </a:r>
            <a:endParaRPr lang="en-US" sz="1300" dirty="0"/>
          </a:p>
          <a:p>
            <a:pPr marL="203200" indent="-203200">
              <a:spcAft>
                <a:spcPts val="800"/>
              </a:spcAft>
              <a:buSzPct val="100000"/>
              <a:buChar char="▪"/>
            </a:pPr>
            <a:r>
              <a:rPr lang="en-US" sz="1300" dirty="0">
                <a:solidFill>
                  <a:srgbClr val="16343B"/>
                </a:solidFill>
                <a:latin typeface="Calibri" pitchFamily="34" charset="0"/>
                <a:ea typeface="Calibri" pitchFamily="34" charset="-122"/>
                <a:cs typeface="Calibri" pitchFamily="34" charset="-120"/>
              </a:rPr>
              <a:t>Bubble-down: </a:t>
            </a:r>
            <a:r>
              <a:rPr lang="en-US" sz="1300" b="1" dirty="0">
                <a:solidFill>
                  <a:srgbClr val="16343B"/>
                </a:solidFill>
                <a:latin typeface="Calibri" pitchFamily="34" charset="0"/>
                <a:ea typeface="Calibri" pitchFamily="34" charset="-122"/>
                <a:cs typeface="Calibri" pitchFamily="34" charset="-120"/>
              </a:rPr>
              <a:t>compare with the LARGER child</a:t>
            </a:r>
            <a:r>
              <a:rPr lang="en-US" sz="1300" dirty="0">
                <a:solidFill>
                  <a:srgbClr val="16343B"/>
                </a:solidFill>
                <a:latin typeface="Calibri" pitchFamily="34" charset="0"/>
                <a:ea typeface="Calibri" pitchFamily="34" charset="-122"/>
                <a:cs typeface="Calibri" pitchFamily="34" charset="-120"/>
              </a:rPr>
              <a:t>; swap if the child is bigger; repeat from the new position.</a:t>
            </a:r>
            <a:endParaRPr lang="en-US" sz="1300" dirty="0"/>
          </a:p>
          <a:p>
            <a:pPr marL="203200" indent="-203200">
              <a:spcAft>
                <a:spcPts val="800"/>
              </a:spcAft>
              <a:buSzPct val="100000"/>
              <a:buChar char="▪"/>
            </a:pPr>
            <a:r>
              <a:rPr lang="en-US" sz="1300" dirty="0">
                <a:solidFill>
                  <a:srgbClr val="16343B"/>
                </a:solidFill>
                <a:latin typeface="Calibri" pitchFamily="34" charset="0"/>
                <a:ea typeface="Calibri" pitchFamily="34" charset="-122"/>
                <a:cs typeface="Calibri" pitchFamily="34" charset="-120"/>
              </a:rPr>
              <a:t>Going right-to-left, bottom-up guarantees both subtrees are already heaps when we process a node.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Q56</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Bottom-up: four passes of bubble-down</a:t>
            </a:r>
            <a:endParaRPr lang="en-US" sz="3000" dirty="0"/>
          </a:p>
        </p:txBody>
      </p:sp>
      <p:sp>
        <p:nvSpPr>
          <p:cNvPr id="5" name="Text 3"/>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2194560"/>
        </p:xfrm>
        <a:graphic>
          <a:graphicData uri="http://schemas.openxmlformats.org/drawingml/2006/table">
            <a:tbl>
              <a:tblPr/>
              <a:tblGrid>
                <a:gridCol w="640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4233672">
                  <a:extLst>
                    <a:ext uri="{9D8B030D-6E8A-4147-A177-3AD203B41FA5}">
                      <a16:colId xmlns:a16="http://schemas.microsoft.com/office/drawing/2014/main" val="20003"/>
                    </a:ext>
                  </a:extLst>
                </a:gridCol>
                <a:gridCol w="3291840">
                  <a:extLst>
                    <a:ext uri="{9D8B030D-6E8A-4147-A177-3AD203B41FA5}">
                      <a16:colId xmlns:a16="http://schemas.microsoft.com/office/drawing/2014/main" val="20004"/>
                    </a:ext>
                  </a:extLst>
                </a:gridCol>
              </a:tblGrid>
              <a:tr h="438912">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Key at i</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Children</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Array after the pass</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extLst>
                  <a:ext uri="{0D108BD9-81ED-4DB2-BD59-A6C34878D82A}">
                    <a16:rowId xmlns:a16="http://schemas.microsoft.com/office/drawing/2014/main" val="10000"/>
                  </a:ext>
                </a:extLst>
              </a:tr>
              <a:tr h="438912">
                <a:tc>
                  <a:txBody>
                    <a:bodyPr/>
                    <a:lstStyle/>
                    <a:p>
                      <a:pPr marL="0" indent="0" algn="l">
                        <a:buNone/>
                      </a:pPr>
                      <a:r>
                        <a:rPr lang="en-US" sz="1300" b="1" dirty="0">
                          <a:solidFill>
                            <a:srgbClr val="16343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O</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H, M</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largest child M &lt; O — no swap</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ourier New" pitchFamily="34" charset="0"/>
                          <a:ea typeface="Courier New" pitchFamily="34" charset="-122"/>
                          <a:cs typeface="Courier New" pitchFamily="34" charset="-120"/>
                        </a:rPr>
                        <a:t>A L G O R I T H M</a:t>
                      </a:r>
                      <a:endParaRPr lang="en-US" sz="13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300" b="1" dirty="0">
                          <a:solidFill>
                            <a:srgbClr val="16343B"/>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G</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I, T</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T &gt; G — swap G and T</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ourier New" pitchFamily="34" charset="0"/>
                          <a:ea typeface="Courier New" pitchFamily="34" charset="-122"/>
                          <a:cs typeface="Courier New" pitchFamily="34" charset="-120"/>
                        </a:rPr>
                        <a:t>A L T O R I G H M</a:t>
                      </a:r>
                      <a:endParaRPr lang="en-US" sz="13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2"/>
                  </a:ext>
                </a:extLst>
              </a:tr>
              <a:tr h="438912">
                <a:tc>
                  <a:txBody>
                    <a:bodyPr/>
                    <a:lstStyle/>
                    <a:p>
                      <a:pPr marL="0" indent="0" algn="l">
                        <a:buNone/>
                      </a:pPr>
                      <a:r>
                        <a:rPr lang="en-US" sz="1300" b="1" dirty="0">
                          <a:solidFill>
                            <a:srgbClr val="16343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L</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O, R</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R &gt; L — swap L and R</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ourier New" pitchFamily="34" charset="0"/>
                          <a:ea typeface="Courier New" pitchFamily="34" charset="-122"/>
                          <a:cs typeface="Courier New" pitchFamily="34" charset="-120"/>
                        </a:rPr>
                        <a:t>A R T O L I G H M</a:t>
                      </a:r>
                      <a:endParaRPr lang="en-US" sz="13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300" b="1" dirty="0">
                          <a:solidFill>
                            <a:srgbClr val="16343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R, T</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T &gt; A — swap; then A vs I, G — swap A and I</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ourier New" pitchFamily="34" charset="0"/>
                          <a:ea typeface="Courier New" pitchFamily="34" charset="-122"/>
                          <a:cs typeface="Courier New" pitchFamily="34" charset="-120"/>
                        </a:rPr>
                        <a:t>T R I O L A G H M</a:t>
                      </a:r>
                      <a:endParaRPr lang="en-US" sz="13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4"/>
                  </a:ext>
                </a:extLst>
              </a:tr>
            </a:tbl>
          </a:graphicData>
        </a:graphic>
      </p:graphicFrame>
      <p:sp>
        <p:nvSpPr>
          <p:cNvPr id="7" name="Shape 4"/>
          <p:cNvSpPr/>
          <p:nvPr/>
        </p:nvSpPr>
        <p:spPr>
          <a:xfrm>
            <a:off x="640080" y="4114800"/>
            <a:ext cx="10908792" cy="960120"/>
          </a:xfrm>
          <a:prstGeom prst="roundRect">
            <a:avLst>
              <a:gd name="adj" fmla="val 4762"/>
            </a:avLst>
          </a:prstGeom>
          <a:solidFill>
            <a:srgbClr val="FBEEDA"/>
          </a:solidFill>
          <a:ln w="12700">
            <a:solidFill>
              <a:srgbClr val="EAD3A6"/>
            </a:solidFill>
            <a:prstDash val="solid"/>
          </a:ln>
        </p:spPr>
        <p:txBody>
          <a:bodyPr/>
          <a:lstStyle/>
          <a:p>
            <a:endParaRPr lang="en-US"/>
          </a:p>
        </p:txBody>
      </p:sp>
      <p:sp>
        <p:nvSpPr>
          <p:cNvPr id="8" name="Text 5"/>
          <p:cNvSpPr txBox="1"/>
          <p:nvPr/>
        </p:nvSpPr>
        <p:spPr>
          <a:xfrm>
            <a:off x="914400" y="4279392"/>
            <a:ext cx="5486400"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WATCH THE LAST PASS</a:t>
            </a:r>
            <a:endParaRPr lang="en-US" sz="1100" dirty="0"/>
          </a:p>
        </p:txBody>
      </p:sp>
      <p:sp>
        <p:nvSpPr>
          <p:cNvPr id="9" name="Text 6"/>
          <p:cNvSpPr txBox="1"/>
          <p:nvPr/>
        </p:nvSpPr>
        <p:spPr>
          <a:xfrm>
            <a:off x="914400" y="4572000"/>
            <a:ext cx="10360152" cy="411480"/>
          </a:xfrm>
          <a:prstGeom prst="rect">
            <a:avLst/>
          </a:prstGeom>
          <a:noFill/>
          <a:ln/>
        </p:spPr>
        <p:txBody>
          <a:bodyPr wrap="square" lIns="0" tIns="0" rIns="0" bIns="0" rtlCol="0" anchor="t"/>
          <a:lstStyle/>
          <a:p>
            <a:pPr marL="0" indent="0" algn="l">
              <a:lnSpc>
                <a:spcPts val="1755"/>
              </a:lnSpc>
              <a:buNone/>
            </a:pPr>
            <a:r>
              <a:rPr lang="en-US" sz="1300" dirty="0">
                <a:solidFill>
                  <a:srgbClr val="16343B"/>
                </a:solidFill>
                <a:latin typeface="Calibri" pitchFamily="34" charset="0"/>
                <a:ea typeface="Calibri" pitchFamily="34" charset="-122"/>
                <a:cs typeface="Calibri" pitchFamily="34" charset="-120"/>
              </a:rPr>
              <a:t>A does not stop after one swap. Once T comes up to the root, A sits at index 3 with children I and G — still out of place, so it keeps sinking. Bubble-down is a loop, not a single comparison.</a:t>
            </a:r>
            <a:endParaRPr lang="en-US" sz="1300" dirty="0"/>
          </a:p>
        </p:txBody>
      </p:sp>
      <p:sp>
        <p:nvSpPr>
          <p:cNvPr id="10" name="Text 7"/>
          <p:cNvSpPr txBox="1"/>
          <p:nvPr/>
        </p:nvSpPr>
        <p:spPr>
          <a:xfrm>
            <a:off x="640080" y="5257800"/>
            <a:ext cx="10908792" cy="320040"/>
          </a:xfrm>
          <a:prstGeom prst="rect">
            <a:avLst/>
          </a:prstGeom>
          <a:noFill/>
          <a:ln/>
        </p:spPr>
        <p:txBody>
          <a:bodyPr wrap="square" lIns="0" tIns="0" rIns="0" bIns="0" rtlCol="0" anchor="t"/>
          <a:lstStyle/>
          <a:p>
            <a:pPr marL="0" indent="0" algn="l">
              <a:lnSpc>
                <a:spcPts val="1890"/>
              </a:lnSpc>
              <a:buNone/>
            </a:pPr>
            <a:r>
              <a:rPr lang="en-US" sz="1400" b="1" dirty="0">
                <a:solidFill>
                  <a:srgbClr val="0F5E6E"/>
                </a:solidFill>
                <a:latin typeface="Calibri" pitchFamily="34" charset="0"/>
                <a:ea typeface="Calibri" pitchFamily="34" charset="-122"/>
                <a:cs typeface="Calibri" pitchFamily="34" charset="-120"/>
              </a:rPr>
              <a:t>Resulting heap:</a:t>
            </a:r>
            <a:endParaRPr lang="en-US" sz="1400" dirty="0"/>
          </a:p>
        </p:txBody>
      </p:sp>
      <p:sp>
        <p:nvSpPr>
          <p:cNvPr id="11" name="Shape 8"/>
          <p:cNvSpPr/>
          <p:nvPr/>
        </p:nvSpPr>
        <p:spPr>
          <a:xfrm>
            <a:off x="640080" y="5596128"/>
            <a:ext cx="548640" cy="438912"/>
          </a:xfrm>
          <a:prstGeom prst="rect">
            <a:avLst/>
          </a:prstGeom>
          <a:solidFill>
            <a:srgbClr val="F1F6F7"/>
          </a:solidFill>
          <a:ln w="12700">
            <a:solidFill>
              <a:srgbClr val="D3E0E3"/>
            </a:solidFill>
            <a:prstDash val="solid"/>
          </a:ln>
        </p:spPr>
        <p:txBody>
          <a:bodyPr/>
          <a:lstStyle/>
          <a:p>
            <a:endParaRPr lang="en-US"/>
          </a:p>
        </p:txBody>
      </p:sp>
      <p:sp>
        <p:nvSpPr>
          <p:cNvPr id="12" name="Text 9"/>
          <p:cNvSpPr txBox="1"/>
          <p:nvPr/>
        </p:nvSpPr>
        <p:spPr>
          <a:xfrm>
            <a:off x="640080" y="5596128"/>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T</a:t>
            </a:r>
            <a:endParaRPr lang="en-US" sz="1400" dirty="0"/>
          </a:p>
        </p:txBody>
      </p:sp>
      <p:sp>
        <p:nvSpPr>
          <p:cNvPr id="13" name="Shape 10"/>
          <p:cNvSpPr/>
          <p:nvPr/>
        </p:nvSpPr>
        <p:spPr>
          <a:xfrm>
            <a:off x="1188720" y="5596128"/>
            <a:ext cx="548640" cy="438912"/>
          </a:xfrm>
          <a:prstGeom prst="rect">
            <a:avLst/>
          </a:prstGeom>
          <a:solidFill>
            <a:srgbClr val="F1F6F7"/>
          </a:solidFill>
          <a:ln w="12700">
            <a:solidFill>
              <a:srgbClr val="D3E0E3"/>
            </a:solidFill>
            <a:prstDash val="solid"/>
          </a:ln>
        </p:spPr>
        <p:txBody>
          <a:bodyPr/>
          <a:lstStyle/>
          <a:p>
            <a:endParaRPr lang="en-US"/>
          </a:p>
        </p:txBody>
      </p:sp>
      <p:sp>
        <p:nvSpPr>
          <p:cNvPr id="14" name="Text 11"/>
          <p:cNvSpPr txBox="1"/>
          <p:nvPr/>
        </p:nvSpPr>
        <p:spPr>
          <a:xfrm>
            <a:off x="1188720" y="5596128"/>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R</a:t>
            </a:r>
            <a:endParaRPr lang="en-US" sz="1400" dirty="0"/>
          </a:p>
        </p:txBody>
      </p:sp>
      <p:sp>
        <p:nvSpPr>
          <p:cNvPr id="15" name="Shape 12"/>
          <p:cNvSpPr/>
          <p:nvPr/>
        </p:nvSpPr>
        <p:spPr>
          <a:xfrm>
            <a:off x="1737360" y="5596128"/>
            <a:ext cx="548640" cy="438912"/>
          </a:xfrm>
          <a:prstGeom prst="rect">
            <a:avLst/>
          </a:prstGeom>
          <a:solidFill>
            <a:srgbClr val="F1F6F7"/>
          </a:solidFill>
          <a:ln w="12700">
            <a:solidFill>
              <a:srgbClr val="D3E0E3"/>
            </a:solidFill>
            <a:prstDash val="solid"/>
          </a:ln>
        </p:spPr>
        <p:txBody>
          <a:bodyPr/>
          <a:lstStyle/>
          <a:p>
            <a:endParaRPr lang="en-US"/>
          </a:p>
        </p:txBody>
      </p:sp>
      <p:sp>
        <p:nvSpPr>
          <p:cNvPr id="6" name="Text 13"/>
          <p:cNvSpPr txBox="1"/>
          <p:nvPr/>
        </p:nvSpPr>
        <p:spPr>
          <a:xfrm>
            <a:off x="1737360" y="5596128"/>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I</a:t>
            </a:r>
            <a:endParaRPr lang="en-US" sz="1400" dirty="0"/>
          </a:p>
        </p:txBody>
      </p:sp>
      <p:sp>
        <p:nvSpPr>
          <p:cNvPr id="17" name="Shape 14"/>
          <p:cNvSpPr/>
          <p:nvPr/>
        </p:nvSpPr>
        <p:spPr>
          <a:xfrm>
            <a:off x="2286000" y="5596128"/>
            <a:ext cx="548640" cy="438912"/>
          </a:xfrm>
          <a:prstGeom prst="rect">
            <a:avLst/>
          </a:prstGeom>
          <a:solidFill>
            <a:srgbClr val="F1F6F7"/>
          </a:solidFill>
          <a:ln w="12700">
            <a:solidFill>
              <a:srgbClr val="D3E0E3"/>
            </a:solidFill>
            <a:prstDash val="solid"/>
          </a:ln>
        </p:spPr>
        <p:txBody>
          <a:bodyPr/>
          <a:lstStyle/>
          <a:p>
            <a:endParaRPr lang="en-US"/>
          </a:p>
        </p:txBody>
      </p:sp>
      <p:sp>
        <p:nvSpPr>
          <p:cNvPr id="18" name="Text 15"/>
          <p:cNvSpPr txBox="1"/>
          <p:nvPr/>
        </p:nvSpPr>
        <p:spPr>
          <a:xfrm>
            <a:off x="2286000" y="5596128"/>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O</a:t>
            </a:r>
            <a:endParaRPr lang="en-US" sz="1400" dirty="0"/>
          </a:p>
        </p:txBody>
      </p:sp>
      <p:sp>
        <p:nvSpPr>
          <p:cNvPr id="19" name="Shape 16"/>
          <p:cNvSpPr/>
          <p:nvPr/>
        </p:nvSpPr>
        <p:spPr>
          <a:xfrm>
            <a:off x="2834640" y="5596128"/>
            <a:ext cx="548640" cy="438912"/>
          </a:xfrm>
          <a:prstGeom prst="rect">
            <a:avLst/>
          </a:prstGeom>
          <a:solidFill>
            <a:srgbClr val="F1F6F7"/>
          </a:solidFill>
          <a:ln w="12700">
            <a:solidFill>
              <a:srgbClr val="D3E0E3"/>
            </a:solidFill>
            <a:prstDash val="solid"/>
          </a:ln>
        </p:spPr>
        <p:txBody>
          <a:bodyPr/>
          <a:lstStyle/>
          <a:p>
            <a:endParaRPr lang="en-US"/>
          </a:p>
        </p:txBody>
      </p:sp>
      <p:sp>
        <p:nvSpPr>
          <p:cNvPr id="20" name="Text 17"/>
          <p:cNvSpPr txBox="1"/>
          <p:nvPr/>
        </p:nvSpPr>
        <p:spPr>
          <a:xfrm>
            <a:off x="2834640" y="5596128"/>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L</a:t>
            </a:r>
            <a:endParaRPr lang="en-US" sz="1400" dirty="0"/>
          </a:p>
        </p:txBody>
      </p:sp>
      <p:sp>
        <p:nvSpPr>
          <p:cNvPr id="21" name="Shape 18"/>
          <p:cNvSpPr/>
          <p:nvPr/>
        </p:nvSpPr>
        <p:spPr>
          <a:xfrm>
            <a:off x="3383280" y="5596128"/>
            <a:ext cx="548640" cy="438912"/>
          </a:xfrm>
          <a:prstGeom prst="rect">
            <a:avLst/>
          </a:prstGeom>
          <a:solidFill>
            <a:srgbClr val="F1F6F7"/>
          </a:solidFill>
          <a:ln w="12700">
            <a:solidFill>
              <a:srgbClr val="D3E0E3"/>
            </a:solidFill>
            <a:prstDash val="solid"/>
          </a:ln>
        </p:spPr>
        <p:txBody>
          <a:bodyPr/>
          <a:lstStyle/>
          <a:p>
            <a:endParaRPr lang="en-US"/>
          </a:p>
        </p:txBody>
      </p:sp>
      <p:sp>
        <p:nvSpPr>
          <p:cNvPr id="22" name="Text 19"/>
          <p:cNvSpPr txBox="1"/>
          <p:nvPr/>
        </p:nvSpPr>
        <p:spPr>
          <a:xfrm>
            <a:off x="3383280" y="5596128"/>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A</a:t>
            </a:r>
            <a:endParaRPr lang="en-US" sz="1400" dirty="0"/>
          </a:p>
        </p:txBody>
      </p:sp>
      <p:sp>
        <p:nvSpPr>
          <p:cNvPr id="23" name="Shape 20"/>
          <p:cNvSpPr/>
          <p:nvPr/>
        </p:nvSpPr>
        <p:spPr>
          <a:xfrm>
            <a:off x="3931920" y="5596128"/>
            <a:ext cx="548640" cy="438912"/>
          </a:xfrm>
          <a:prstGeom prst="rect">
            <a:avLst/>
          </a:prstGeom>
          <a:solidFill>
            <a:srgbClr val="F1F6F7"/>
          </a:solidFill>
          <a:ln w="12700">
            <a:solidFill>
              <a:srgbClr val="D3E0E3"/>
            </a:solidFill>
            <a:prstDash val="solid"/>
          </a:ln>
        </p:spPr>
        <p:txBody>
          <a:bodyPr/>
          <a:lstStyle/>
          <a:p>
            <a:endParaRPr lang="en-US"/>
          </a:p>
        </p:txBody>
      </p:sp>
      <p:sp>
        <p:nvSpPr>
          <p:cNvPr id="24" name="Text 21"/>
          <p:cNvSpPr txBox="1"/>
          <p:nvPr/>
        </p:nvSpPr>
        <p:spPr>
          <a:xfrm>
            <a:off x="3931920" y="5596128"/>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G</a:t>
            </a:r>
            <a:endParaRPr lang="en-US" sz="1400" dirty="0"/>
          </a:p>
        </p:txBody>
      </p:sp>
      <p:sp>
        <p:nvSpPr>
          <p:cNvPr id="25" name="Shape 22"/>
          <p:cNvSpPr/>
          <p:nvPr/>
        </p:nvSpPr>
        <p:spPr>
          <a:xfrm>
            <a:off x="4480560" y="5596128"/>
            <a:ext cx="548640" cy="438912"/>
          </a:xfrm>
          <a:prstGeom prst="rect">
            <a:avLst/>
          </a:prstGeom>
          <a:solidFill>
            <a:srgbClr val="F1F6F7"/>
          </a:solidFill>
          <a:ln w="12700">
            <a:solidFill>
              <a:srgbClr val="D3E0E3"/>
            </a:solidFill>
            <a:prstDash val="solid"/>
          </a:ln>
        </p:spPr>
        <p:txBody>
          <a:bodyPr/>
          <a:lstStyle/>
          <a:p>
            <a:endParaRPr lang="en-US"/>
          </a:p>
        </p:txBody>
      </p:sp>
      <p:sp>
        <p:nvSpPr>
          <p:cNvPr id="26" name="Text 23"/>
          <p:cNvSpPr txBox="1"/>
          <p:nvPr/>
        </p:nvSpPr>
        <p:spPr>
          <a:xfrm>
            <a:off x="4480560" y="5596128"/>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H</a:t>
            </a:r>
            <a:endParaRPr lang="en-US" sz="1400" dirty="0"/>
          </a:p>
        </p:txBody>
      </p:sp>
      <p:sp>
        <p:nvSpPr>
          <p:cNvPr id="27" name="Shape 24"/>
          <p:cNvSpPr/>
          <p:nvPr/>
        </p:nvSpPr>
        <p:spPr>
          <a:xfrm>
            <a:off x="5029200" y="5596128"/>
            <a:ext cx="548640" cy="438912"/>
          </a:xfrm>
          <a:prstGeom prst="rect">
            <a:avLst/>
          </a:prstGeom>
          <a:solidFill>
            <a:srgbClr val="F1F6F7"/>
          </a:solidFill>
          <a:ln w="12700">
            <a:solidFill>
              <a:srgbClr val="D3E0E3"/>
            </a:solidFill>
            <a:prstDash val="solid"/>
          </a:ln>
        </p:spPr>
        <p:txBody>
          <a:bodyPr/>
          <a:lstStyle/>
          <a:p>
            <a:endParaRPr lang="en-US"/>
          </a:p>
        </p:txBody>
      </p:sp>
      <p:sp>
        <p:nvSpPr>
          <p:cNvPr id="28" name="Text 25"/>
          <p:cNvSpPr txBox="1"/>
          <p:nvPr/>
        </p:nvSpPr>
        <p:spPr>
          <a:xfrm>
            <a:off x="5029200" y="5596128"/>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M</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Q56</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The bottom-up heap</a:t>
            </a:r>
            <a:endParaRPr lang="en-US" sz="3000" dirty="0"/>
          </a:p>
        </p:txBody>
      </p:sp>
      <p:sp>
        <p:nvSpPr>
          <p:cNvPr id="5" name="Text 3"/>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16</a:t>
            </a:r>
            <a:endParaRPr lang="en-US" sz="900" dirty="0"/>
          </a:p>
        </p:txBody>
      </p:sp>
      <p:sp>
        <p:nvSpPr>
          <p:cNvPr id="6" name="Shape 4"/>
          <p:cNvSpPr/>
          <p:nvPr/>
        </p:nvSpPr>
        <p:spPr>
          <a:xfrm flipV="1">
            <a:off x="4206240" y="1783080"/>
            <a:ext cx="1645920" cy="914400"/>
          </a:xfrm>
          <a:prstGeom prst="line">
            <a:avLst/>
          </a:prstGeom>
          <a:noFill/>
          <a:ln w="19050">
            <a:solidFill>
              <a:srgbClr val="3D8C9C"/>
            </a:solidFill>
            <a:prstDash val="solid"/>
          </a:ln>
        </p:spPr>
        <p:txBody>
          <a:bodyPr/>
          <a:lstStyle/>
          <a:p>
            <a:endParaRPr lang="en-US"/>
          </a:p>
        </p:txBody>
      </p:sp>
      <p:sp>
        <p:nvSpPr>
          <p:cNvPr id="7" name="Shape 5"/>
          <p:cNvSpPr/>
          <p:nvPr/>
        </p:nvSpPr>
        <p:spPr>
          <a:xfrm>
            <a:off x="5852160" y="1783080"/>
            <a:ext cx="1645920" cy="914400"/>
          </a:xfrm>
          <a:prstGeom prst="line">
            <a:avLst/>
          </a:prstGeom>
          <a:noFill/>
          <a:ln w="19050">
            <a:solidFill>
              <a:srgbClr val="3D8C9C"/>
            </a:solidFill>
            <a:prstDash val="solid"/>
          </a:ln>
        </p:spPr>
        <p:txBody>
          <a:bodyPr/>
          <a:lstStyle/>
          <a:p>
            <a:endParaRPr lang="en-US"/>
          </a:p>
        </p:txBody>
      </p:sp>
      <p:sp>
        <p:nvSpPr>
          <p:cNvPr id="8" name="Shape 6"/>
          <p:cNvSpPr/>
          <p:nvPr/>
        </p:nvSpPr>
        <p:spPr>
          <a:xfrm flipV="1">
            <a:off x="3200400" y="2697480"/>
            <a:ext cx="1005840" cy="914400"/>
          </a:xfrm>
          <a:prstGeom prst="line">
            <a:avLst/>
          </a:prstGeom>
          <a:noFill/>
          <a:ln w="19050">
            <a:solidFill>
              <a:srgbClr val="3D8C9C"/>
            </a:solidFill>
            <a:prstDash val="solid"/>
          </a:ln>
        </p:spPr>
        <p:txBody>
          <a:bodyPr/>
          <a:lstStyle/>
          <a:p>
            <a:endParaRPr lang="en-US"/>
          </a:p>
        </p:txBody>
      </p:sp>
      <p:sp>
        <p:nvSpPr>
          <p:cNvPr id="9" name="Shape 7"/>
          <p:cNvSpPr/>
          <p:nvPr/>
        </p:nvSpPr>
        <p:spPr>
          <a:xfrm>
            <a:off x="4206240" y="2697480"/>
            <a:ext cx="1005840" cy="914400"/>
          </a:xfrm>
          <a:prstGeom prst="line">
            <a:avLst/>
          </a:prstGeom>
          <a:noFill/>
          <a:ln w="19050">
            <a:solidFill>
              <a:srgbClr val="3D8C9C"/>
            </a:solidFill>
            <a:prstDash val="solid"/>
          </a:ln>
        </p:spPr>
        <p:txBody>
          <a:bodyPr/>
          <a:lstStyle/>
          <a:p>
            <a:endParaRPr lang="en-US"/>
          </a:p>
        </p:txBody>
      </p:sp>
      <p:sp>
        <p:nvSpPr>
          <p:cNvPr id="10" name="Shape 8"/>
          <p:cNvSpPr/>
          <p:nvPr/>
        </p:nvSpPr>
        <p:spPr>
          <a:xfrm flipV="1">
            <a:off x="6675120" y="2697480"/>
            <a:ext cx="822960" cy="914400"/>
          </a:xfrm>
          <a:prstGeom prst="line">
            <a:avLst/>
          </a:prstGeom>
          <a:noFill/>
          <a:ln w="19050">
            <a:solidFill>
              <a:srgbClr val="3D8C9C"/>
            </a:solidFill>
            <a:prstDash val="solid"/>
          </a:ln>
        </p:spPr>
        <p:txBody>
          <a:bodyPr/>
          <a:lstStyle/>
          <a:p>
            <a:endParaRPr lang="en-US"/>
          </a:p>
        </p:txBody>
      </p:sp>
      <p:sp>
        <p:nvSpPr>
          <p:cNvPr id="11" name="Shape 9"/>
          <p:cNvSpPr/>
          <p:nvPr/>
        </p:nvSpPr>
        <p:spPr>
          <a:xfrm>
            <a:off x="7498080" y="2697480"/>
            <a:ext cx="1188720" cy="914400"/>
          </a:xfrm>
          <a:prstGeom prst="line">
            <a:avLst/>
          </a:prstGeom>
          <a:noFill/>
          <a:ln w="19050">
            <a:solidFill>
              <a:srgbClr val="3D8C9C"/>
            </a:solidFill>
            <a:prstDash val="solid"/>
          </a:ln>
        </p:spPr>
        <p:txBody>
          <a:bodyPr/>
          <a:lstStyle/>
          <a:p>
            <a:endParaRPr lang="en-US"/>
          </a:p>
        </p:txBody>
      </p:sp>
      <p:sp>
        <p:nvSpPr>
          <p:cNvPr id="12" name="Shape 10"/>
          <p:cNvSpPr/>
          <p:nvPr/>
        </p:nvSpPr>
        <p:spPr>
          <a:xfrm flipV="1">
            <a:off x="2651760" y="3611880"/>
            <a:ext cx="548640" cy="914400"/>
          </a:xfrm>
          <a:prstGeom prst="line">
            <a:avLst/>
          </a:prstGeom>
          <a:noFill/>
          <a:ln w="19050">
            <a:solidFill>
              <a:srgbClr val="3D8C9C"/>
            </a:solidFill>
            <a:prstDash val="solid"/>
          </a:ln>
        </p:spPr>
        <p:txBody>
          <a:bodyPr/>
          <a:lstStyle/>
          <a:p>
            <a:endParaRPr lang="en-US"/>
          </a:p>
        </p:txBody>
      </p:sp>
      <p:sp>
        <p:nvSpPr>
          <p:cNvPr id="13" name="Shape 11"/>
          <p:cNvSpPr/>
          <p:nvPr/>
        </p:nvSpPr>
        <p:spPr>
          <a:xfrm>
            <a:off x="3200400" y="3611880"/>
            <a:ext cx="731520" cy="914400"/>
          </a:xfrm>
          <a:prstGeom prst="line">
            <a:avLst/>
          </a:prstGeom>
          <a:noFill/>
          <a:ln w="19050">
            <a:solidFill>
              <a:srgbClr val="3D8C9C"/>
            </a:solidFill>
            <a:prstDash val="solid"/>
          </a:ln>
        </p:spPr>
        <p:txBody>
          <a:bodyPr/>
          <a:lstStyle/>
          <a:p>
            <a:endParaRPr lang="en-US"/>
          </a:p>
        </p:txBody>
      </p:sp>
      <p:sp>
        <p:nvSpPr>
          <p:cNvPr id="14" name="Shape 12"/>
          <p:cNvSpPr/>
          <p:nvPr/>
        </p:nvSpPr>
        <p:spPr>
          <a:xfrm>
            <a:off x="5596128" y="1527048"/>
            <a:ext cx="512064" cy="512064"/>
          </a:xfrm>
          <a:prstGeom prst="ellipse">
            <a:avLst/>
          </a:prstGeom>
          <a:solidFill>
            <a:srgbClr val="D9932B"/>
          </a:solidFill>
          <a:ln w="22225">
            <a:solidFill>
              <a:srgbClr val="D9932B"/>
            </a:solidFill>
            <a:prstDash val="solid"/>
          </a:ln>
        </p:spPr>
        <p:txBody>
          <a:bodyPr/>
          <a:lstStyle/>
          <a:p>
            <a:endParaRPr lang="en-US"/>
          </a:p>
        </p:txBody>
      </p:sp>
      <p:sp>
        <p:nvSpPr>
          <p:cNvPr id="15" name="Text 13"/>
          <p:cNvSpPr txBox="1"/>
          <p:nvPr/>
        </p:nvSpPr>
        <p:spPr>
          <a:xfrm>
            <a:off x="5458968" y="1527048"/>
            <a:ext cx="786384" cy="512064"/>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T</a:t>
            </a:r>
            <a:endParaRPr lang="en-US" sz="1400" dirty="0"/>
          </a:p>
        </p:txBody>
      </p:sp>
      <p:sp>
        <p:nvSpPr>
          <p:cNvPr id="16" name="Shape 14"/>
          <p:cNvSpPr/>
          <p:nvPr/>
        </p:nvSpPr>
        <p:spPr>
          <a:xfrm>
            <a:off x="3950208" y="2441448"/>
            <a:ext cx="512064" cy="512064"/>
          </a:xfrm>
          <a:prstGeom prst="ellipse">
            <a:avLst/>
          </a:prstGeom>
          <a:solidFill>
            <a:srgbClr val="FFFFFF"/>
          </a:solidFill>
          <a:ln w="22225">
            <a:solidFill>
              <a:srgbClr val="0F5E6E"/>
            </a:solidFill>
            <a:prstDash val="solid"/>
          </a:ln>
        </p:spPr>
        <p:txBody>
          <a:bodyPr/>
          <a:lstStyle/>
          <a:p>
            <a:endParaRPr lang="en-US"/>
          </a:p>
        </p:txBody>
      </p:sp>
      <p:sp>
        <p:nvSpPr>
          <p:cNvPr id="17" name="Text 15"/>
          <p:cNvSpPr txBox="1"/>
          <p:nvPr/>
        </p:nvSpPr>
        <p:spPr>
          <a:xfrm>
            <a:off x="3813048" y="2441448"/>
            <a:ext cx="786384" cy="512064"/>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R</a:t>
            </a:r>
            <a:endParaRPr lang="en-US" sz="1400" dirty="0"/>
          </a:p>
        </p:txBody>
      </p:sp>
      <p:sp>
        <p:nvSpPr>
          <p:cNvPr id="18" name="Shape 16"/>
          <p:cNvSpPr/>
          <p:nvPr/>
        </p:nvSpPr>
        <p:spPr>
          <a:xfrm>
            <a:off x="7242048" y="2441448"/>
            <a:ext cx="512064" cy="512064"/>
          </a:xfrm>
          <a:prstGeom prst="ellipse">
            <a:avLst/>
          </a:prstGeom>
          <a:solidFill>
            <a:srgbClr val="FFFFFF"/>
          </a:solidFill>
          <a:ln w="22225">
            <a:solidFill>
              <a:srgbClr val="0F5E6E"/>
            </a:solidFill>
            <a:prstDash val="solid"/>
          </a:ln>
        </p:spPr>
        <p:txBody>
          <a:bodyPr/>
          <a:lstStyle/>
          <a:p>
            <a:endParaRPr lang="en-US"/>
          </a:p>
        </p:txBody>
      </p:sp>
      <p:sp>
        <p:nvSpPr>
          <p:cNvPr id="19" name="Text 17"/>
          <p:cNvSpPr txBox="1"/>
          <p:nvPr/>
        </p:nvSpPr>
        <p:spPr>
          <a:xfrm>
            <a:off x="7104888" y="2441448"/>
            <a:ext cx="786384" cy="512064"/>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I</a:t>
            </a:r>
            <a:endParaRPr lang="en-US" sz="1400" dirty="0"/>
          </a:p>
        </p:txBody>
      </p:sp>
      <p:sp>
        <p:nvSpPr>
          <p:cNvPr id="20" name="Shape 18"/>
          <p:cNvSpPr/>
          <p:nvPr/>
        </p:nvSpPr>
        <p:spPr>
          <a:xfrm>
            <a:off x="2944368" y="3355848"/>
            <a:ext cx="512064" cy="512064"/>
          </a:xfrm>
          <a:prstGeom prst="ellipse">
            <a:avLst/>
          </a:prstGeom>
          <a:solidFill>
            <a:srgbClr val="FFFFFF"/>
          </a:solidFill>
          <a:ln w="22225">
            <a:solidFill>
              <a:srgbClr val="0F5E6E"/>
            </a:solidFill>
            <a:prstDash val="solid"/>
          </a:ln>
        </p:spPr>
        <p:txBody>
          <a:bodyPr/>
          <a:lstStyle/>
          <a:p>
            <a:endParaRPr lang="en-US"/>
          </a:p>
        </p:txBody>
      </p:sp>
      <p:sp>
        <p:nvSpPr>
          <p:cNvPr id="21" name="Text 19"/>
          <p:cNvSpPr txBox="1"/>
          <p:nvPr/>
        </p:nvSpPr>
        <p:spPr>
          <a:xfrm>
            <a:off x="2807208" y="3355848"/>
            <a:ext cx="786384" cy="512064"/>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O</a:t>
            </a:r>
            <a:endParaRPr lang="en-US" sz="1400" dirty="0"/>
          </a:p>
        </p:txBody>
      </p:sp>
      <p:sp>
        <p:nvSpPr>
          <p:cNvPr id="22" name="Shape 20"/>
          <p:cNvSpPr/>
          <p:nvPr/>
        </p:nvSpPr>
        <p:spPr>
          <a:xfrm>
            <a:off x="4956048" y="3355848"/>
            <a:ext cx="512064" cy="512064"/>
          </a:xfrm>
          <a:prstGeom prst="ellipse">
            <a:avLst/>
          </a:prstGeom>
          <a:solidFill>
            <a:srgbClr val="FFFFFF"/>
          </a:solidFill>
          <a:ln w="22225">
            <a:solidFill>
              <a:srgbClr val="0F5E6E"/>
            </a:solidFill>
            <a:prstDash val="solid"/>
          </a:ln>
        </p:spPr>
        <p:txBody>
          <a:bodyPr/>
          <a:lstStyle/>
          <a:p>
            <a:endParaRPr lang="en-US"/>
          </a:p>
        </p:txBody>
      </p:sp>
      <p:sp>
        <p:nvSpPr>
          <p:cNvPr id="23" name="Text 21"/>
          <p:cNvSpPr txBox="1"/>
          <p:nvPr/>
        </p:nvSpPr>
        <p:spPr>
          <a:xfrm>
            <a:off x="4818888" y="3355848"/>
            <a:ext cx="786384" cy="512064"/>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L</a:t>
            </a:r>
            <a:endParaRPr lang="en-US" sz="1400" dirty="0"/>
          </a:p>
        </p:txBody>
      </p:sp>
      <p:sp>
        <p:nvSpPr>
          <p:cNvPr id="24" name="Shape 22"/>
          <p:cNvSpPr/>
          <p:nvPr/>
        </p:nvSpPr>
        <p:spPr>
          <a:xfrm>
            <a:off x="6419088" y="3355848"/>
            <a:ext cx="512064" cy="512064"/>
          </a:xfrm>
          <a:prstGeom prst="ellipse">
            <a:avLst/>
          </a:prstGeom>
          <a:solidFill>
            <a:srgbClr val="FFFFFF"/>
          </a:solidFill>
          <a:ln w="22225">
            <a:solidFill>
              <a:srgbClr val="0F5E6E"/>
            </a:solidFill>
            <a:prstDash val="solid"/>
          </a:ln>
        </p:spPr>
        <p:txBody>
          <a:bodyPr/>
          <a:lstStyle/>
          <a:p>
            <a:endParaRPr lang="en-US"/>
          </a:p>
        </p:txBody>
      </p:sp>
      <p:sp>
        <p:nvSpPr>
          <p:cNvPr id="25" name="Text 23"/>
          <p:cNvSpPr txBox="1"/>
          <p:nvPr/>
        </p:nvSpPr>
        <p:spPr>
          <a:xfrm>
            <a:off x="6281928" y="3355848"/>
            <a:ext cx="786384" cy="512064"/>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A</a:t>
            </a:r>
            <a:endParaRPr lang="en-US" sz="1400" dirty="0"/>
          </a:p>
        </p:txBody>
      </p:sp>
      <p:sp>
        <p:nvSpPr>
          <p:cNvPr id="26" name="Shape 24"/>
          <p:cNvSpPr/>
          <p:nvPr/>
        </p:nvSpPr>
        <p:spPr>
          <a:xfrm>
            <a:off x="8430768" y="3355848"/>
            <a:ext cx="512064" cy="512064"/>
          </a:xfrm>
          <a:prstGeom prst="ellipse">
            <a:avLst/>
          </a:prstGeom>
          <a:solidFill>
            <a:srgbClr val="FFFFFF"/>
          </a:solidFill>
          <a:ln w="22225">
            <a:solidFill>
              <a:srgbClr val="0F5E6E"/>
            </a:solidFill>
            <a:prstDash val="solid"/>
          </a:ln>
        </p:spPr>
        <p:txBody>
          <a:bodyPr/>
          <a:lstStyle/>
          <a:p>
            <a:endParaRPr lang="en-US"/>
          </a:p>
        </p:txBody>
      </p:sp>
      <p:sp>
        <p:nvSpPr>
          <p:cNvPr id="27" name="Text 25"/>
          <p:cNvSpPr txBox="1"/>
          <p:nvPr/>
        </p:nvSpPr>
        <p:spPr>
          <a:xfrm>
            <a:off x="8293608" y="3355848"/>
            <a:ext cx="786384" cy="512064"/>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G</a:t>
            </a:r>
            <a:endParaRPr lang="en-US" sz="1400" dirty="0"/>
          </a:p>
        </p:txBody>
      </p:sp>
      <p:sp>
        <p:nvSpPr>
          <p:cNvPr id="28" name="Shape 26"/>
          <p:cNvSpPr/>
          <p:nvPr/>
        </p:nvSpPr>
        <p:spPr>
          <a:xfrm>
            <a:off x="2395728" y="4270248"/>
            <a:ext cx="512064" cy="512064"/>
          </a:xfrm>
          <a:prstGeom prst="ellipse">
            <a:avLst/>
          </a:prstGeom>
          <a:solidFill>
            <a:srgbClr val="FFFFFF"/>
          </a:solidFill>
          <a:ln w="22225">
            <a:solidFill>
              <a:srgbClr val="0F5E6E"/>
            </a:solidFill>
            <a:prstDash val="solid"/>
          </a:ln>
        </p:spPr>
        <p:txBody>
          <a:bodyPr/>
          <a:lstStyle/>
          <a:p>
            <a:endParaRPr lang="en-US"/>
          </a:p>
        </p:txBody>
      </p:sp>
      <p:sp>
        <p:nvSpPr>
          <p:cNvPr id="29" name="Text 27"/>
          <p:cNvSpPr txBox="1"/>
          <p:nvPr/>
        </p:nvSpPr>
        <p:spPr>
          <a:xfrm>
            <a:off x="2258568" y="4270248"/>
            <a:ext cx="786384" cy="512064"/>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H</a:t>
            </a:r>
            <a:endParaRPr lang="en-US" sz="1400" dirty="0"/>
          </a:p>
        </p:txBody>
      </p:sp>
      <p:sp>
        <p:nvSpPr>
          <p:cNvPr id="30" name="Shape 28"/>
          <p:cNvSpPr/>
          <p:nvPr/>
        </p:nvSpPr>
        <p:spPr>
          <a:xfrm>
            <a:off x="3675888" y="4270248"/>
            <a:ext cx="512064" cy="512064"/>
          </a:xfrm>
          <a:prstGeom prst="ellipse">
            <a:avLst/>
          </a:prstGeom>
          <a:solidFill>
            <a:srgbClr val="FFFFFF"/>
          </a:solidFill>
          <a:ln w="22225">
            <a:solidFill>
              <a:srgbClr val="0F5E6E"/>
            </a:solidFill>
            <a:prstDash val="solid"/>
          </a:ln>
        </p:spPr>
        <p:txBody>
          <a:bodyPr/>
          <a:lstStyle/>
          <a:p>
            <a:endParaRPr lang="en-US"/>
          </a:p>
        </p:txBody>
      </p:sp>
      <p:sp>
        <p:nvSpPr>
          <p:cNvPr id="31" name="Text 29"/>
          <p:cNvSpPr txBox="1"/>
          <p:nvPr/>
        </p:nvSpPr>
        <p:spPr>
          <a:xfrm>
            <a:off x="3538728" y="4270248"/>
            <a:ext cx="786384" cy="512064"/>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M</a:t>
            </a:r>
            <a:endParaRPr lang="en-US" sz="1400" dirty="0"/>
          </a:p>
        </p:txBody>
      </p:sp>
      <p:sp>
        <p:nvSpPr>
          <p:cNvPr id="32" name="Shape 30"/>
          <p:cNvSpPr/>
          <p:nvPr/>
        </p:nvSpPr>
        <p:spPr>
          <a:xfrm>
            <a:off x="3611880" y="5166360"/>
            <a:ext cx="548640" cy="438912"/>
          </a:xfrm>
          <a:prstGeom prst="rect">
            <a:avLst/>
          </a:prstGeom>
          <a:solidFill>
            <a:srgbClr val="F1F6F7"/>
          </a:solidFill>
          <a:ln w="12700">
            <a:solidFill>
              <a:srgbClr val="D3E0E3"/>
            </a:solidFill>
            <a:prstDash val="solid"/>
          </a:ln>
        </p:spPr>
        <p:txBody>
          <a:bodyPr/>
          <a:lstStyle/>
          <a:p>
            <a:endParaRPr lang="en-US"/>
          </a:p>
        </p:txBody>
      </p:sp>
      <p:sp>
        <p:nvSpPr>
          <p:cNvPr id="33" name="Text 31"/>
          <p:cNvSpPr txBox="1"/>
          <p:nvPr/>
        </p:nvSpPr>
        <p:spPr>
          <a:xfrm>
            <a:off x="3611880" y="51663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T</a:t>
            </a:r>
            <a:endParaRPr lang="en-US" sz="1400" dirty="0"/>
          </a:p>
        </p:txBody>
      </p:sp>
      <p:sp>
        <p:nvSpPr>
          <p:cNvPr id="34" name="Text 32"/>
          <p:cNvSpPr txBox="1"/>
          <p:nvPr/>
        </p:nvSpPr>
        <p:spPr>
          <a:xfrm>
            <a:off x="3611880" y="5623560"/>
            <a:ext cx="548640"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1</a:t>
            </a:r>
            <a:endParaRPr lang="en-US" sz="900" dirty="0"/>
          </a:p>
        </p:txBody>
      </p:sp>
      <p:sp>
        <p:nvSpPr>
          <p:cNvPr id="35" name="Shape 33"/>
          <p:cNvSpPr/>
          <p:nvPr/>
        </p:nvSpPr>
        <p:spPr>
          <a:xfrm>
            <a:off x="4160520" y="5166360"/>
            <a:ext cx="548640" cy="438912"/>
          </a:xfrm>
          <a:prstGeom prst="rect">
            <a:avLst/>
          </a:prstGeom>
          <a:solidFill>
            <a:srgbClr val="F1F6F7"/>
          </a:solidFill>
          <a:ln w="12700">
            <a:solidFill>
              <a:srgbClr val="D3E0E3"/>
            </a:solidFill>
            <a:prstDash val="solid"/>
          </a:ln>
        </p:spPr>
        <p:txBody>
          <a:bodyPr/>
          <a:lstStyle/>
          <a:p>
            <a:endParaRPr lang="en-US"/>
          </a:p>
        </p:txBody>
      </p:sp>
      <p:sp>
        <p:nvSpPr>
          <p:cNvPr id="36" name="Text 34"/>
          <p:cNvSpPr txBox="1"/>
          <p:nvPr/>
        </p:nvSpPr>
        <p:spPr>
          <a:xfrm>
            <a:off x="4160520" y="51663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R</a:t>
            </a:r>
            <a:endParaRPr lang="en-US" sz="1400" dirty="0"/>
          </a:p>
        </p:txBody>
      </p:sp>
      <p:sp>
        <p:nvSpPr>
          <p:cNvPr id="37" name="Text 35"/>
          <p:cNvSpPr txBox="1"/>
          <p:nvPr/>
        </p:nvSpPr>
        <p:spPr>
          <a:xfrm>
            <a:off x="4160520" y="5623560"/>
            <a:ext cx="548640"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2</a:t>
            </a:r>
            <a:endParaRPr lang="en-US" sz="900" dirty="0"/>
          </a:p>
        </p:txBody>
      </p:sp>
      <p:sp>
        <p:nvSpPr>
          <p:cNvPr id="38" name="Shape 36"/>
          <p:cNvSpPr/>
          <p:nvPr/>
        </p:nvSpPr>
        <p:spPr>
          <a:xfrm>
            <a:off x="4709160" y="5166360"/>
            <a:ext cx="548640" cy="438912"/>
          </a:xfrm>
          <a:prstGeom prst="rect">
            <a:avLst/>
          </a:prstGeom>
          <a:solidFill>
            <a:srgbClr val="F1F6F7"/>
          </a:solidFill>
          <a:ln w="12700">
            <a:solidFill>
              <a:srgbClr val="D3E0E3"/>
            </a:solidFill>
            <a:prstDash val="solid"/>
          </a:ln>
        </p:spPr>
        <p:txBody>
          <a:bodyPr/>
          <a:lstStyle/>
          <a:p>
            <a:endParaRPr lang="en-US"/>
          </a:p>
        </p:txBody>
      </p:sp>
      <p:sp>
        <p:nvSpPr>
          <p:cNvPr id="39" name="Text 37"/>
          <p:cNvSpPr txBox="1"/>
          <p:nvPr/>
        </p:nvSpPr>
        <p:spPr>
          <a:xfrm>
            <a:off x="4709160" y="51663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I</a:t>
            </a:r>
            <a:endParaRPr lang="en-US" sz="1400" dirty="0"/>
          </a:p>
        </p:txBody>
      </p:sp>
      <p:sp>
        <p:nvSpPr>
          <p:cNvPr id="40" name="Text 38"/>
          <p:cNvSpPr txBox="1"/>
          <p:nvPr/>
        </p:nvSpPr>
        <p:spPr>
          <a:xfrm>
            <a:off x="4709160" y="5623560"/>
            <a:ext cx="548640"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3</a:t>
            </a:r>
            <a:endParaRPr lang="en-US" sz="900" dirty="0"/>
          </a:p>
        </p:txBody>
      </p:sp>
      <p:sp>
        <p:nvSpPr>
          <p:cNvPr id="41" name="Shape 39"/>
          <p:cNvSpPr/>
          <p:nvPr/>
        </p:nvSpPr>
        <p:spPr>
          <a:xfrm>
            <a:off x="5257800" y="5166360"/>
            <a:ext cx="548640" cy="438912"/>
          </a:xfrm>
          <a:prstGeom prst="rect">
            <a:avLst/>
          </a:prstGeom>
          <a:solidFill>
            <a:srgbClr val="F1F6F7"/>
          </a:solidFill>
          <a:ln w="12700">
            <a:solidFill>
              <a:srgbClr val="D3E0E3"/>
            </a:solidFill>
            <a:prstDash val="solid"/>
          </a:ln>
        </p:spPr>
        <p:txBody>
          <a:bodyPr/>
          <a:lstStyle/>
          <a:p>
            <a:endParaRPr lang="en-US"/>
          </a:p>
        </p:txBody>
      </p:sp>
      <p:sp>
        <p:nvSpPr>
          <p:cNvPr id="42" name="Text 40"/>
          <p:cNvSpPr txBox="1"/>
          <p:nvPr/>
        </p:nvSpPr>
        <p:spPr>
          <a:xfrm>
            <a:off x="5257800" y="51663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O</a:t>
            </a:r>
            <a:endParaRPr lang="en-US" sz="1400" dirty="0"/>
          </a:p>
        </p:txBody>
      </p:sp>
      <p:sp>
        <p:nvSpPr>
          <p:cNvPr id="43" name="Text 41"/>
          <p:cNvSpPr txBox="1"/>
          <p:nvPr/>
        </p:nvSpPr>
        <p:spPr>
          <a:xfrm>
            <a:off x="5257800" y="5623560"/>
            <a:ext cx="548640"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4</a:t>
            </a:r>
            <a:endParaRPr lang="en-US" sz="900" dirty="0"/>
          </a:p>
        </p:txBody>
      </p:sp>
      <p:sp>
        <p:nvSpPr>
          <p:cNvPr id="44" name="Shape 42"/>
          <p:cNvSpPr/>
          <p:nvPr/>
        </p:nvSpPr>
        <p:spPr>
          <a:xfrm>
            <a:off x="5806440" y="5166360"/>
            <a:ext cx="548640" cy="438912"/>
          </a:xfrm>
          <a:prstGeom prst="rect">
            <a:avLst/>
          </a:prstGeom>
          <a:solidFill>
            <a:srgbClr val="F1F6F7"/>
          </a:solidFill>
          <a:ln w="12700">
            <a:solidFill>
              <a:srgbClr val="D3E0E3"/>
            </a:solidFill>
            <a:prstDash val="solid"/>
          </a:ln>
        </p:spPr>
        <p:txBody>
          <a:bodyPr/>
          <a:lstStyle/>
          <a:p>
            <a:endParaRPr lang="en-US"/>
          </a:p>
        </p:txBody>
      </p:sp>
      <p:sp>
        <p:nvSpPr>
          <p:cNvPr id="45" name="Text 43"/>
          <p:cNvSpPr txBox="1"/>
          <p:nvPr/>
        </p:nvSpPr>
        <p:spPr>
          <a:xfrm>
            <a:off x="5806440" y="51663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L</a:t>
            </a:r>
            <a:endParaRPr lang="en-US" sz="1400" dirty="0"/>
          </a:p>
        </p:txBody>
      </p:sp>
      <p:sp>
        <p:nvSpPr>
          <p:cNvPr id="46" name="Text 44"/>
          <p:cNvSpPr txBox="1"/>
          <p:nvPr/>
        </p:nvSpPr>
        <p:spPr>
          <a:xfrm>
            <a:off x="5806440" y="5623560"/>
            <a:ext cx="548640"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5</a:t>
            </a:r>
            <a:endParaRPr lang="en-US" sz="900" dirty="0"/>
          </a:p>
        </p:txBody>
      </p:sp>
      <p:sp>
        <p:nvSpPr>
          <p:cNvPr id="47" name="Shape 45"/>
          <p:cNvSpPr/>
          <p:nvPr/>
        </p:nvSpPr>
        <p:spPr>
          <a:xfrm>
            <a:off x="6355080" y="5166360"/>
            <a:ext cx="548640" cy="438912"/>
          </a:xfrm>
          <a:prstGeom prst="rect">
            <a:avLst/>
          </a:prstGeom>
          <a:solidFill>
            <a:srgbClr val="F1F6F7"/>
          </a:solidFill>
          <a:ln w="12700">
            <a:solidFill>
              <a:srgbClr val="D3E0E3"/>
            </a:solidFill>
            <a:prstDash val="solid"/>
          </a:ln>
        </p:spPr>
        <p:txBody>
          <a:bodyPr/>
          <a:lstStyle/>
          <a:p>
            <a:endParaRPr lang="en-US"/>
          </a:p>
        </p:txBody>
      </p:sp>
      <p:sp>
        <p:nvSpPr>
          <p:cNvPr id="48" name="Text 46"/>
          <p:cNvSpPr txBox="1"/>
          <p:nvPr/>
        </p:nvSpPr>
        <p:spPr>
          <a:xfrm>
            <a:off x="6355080" y="51663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A</a:t>
            </a:r>
            <a:endParaRPr lang="en-US" sz="1400" dirty="0"/>
          </a:p>
        </p:txBody>
      </p:sp>
      <p:sp>
        <p:nvSpPr>
          <p:cNvPr id="49" name="Text 47"/>
          <p:cNvSpPr txBox="1"/>
          <p:nvPr/>
        </p:nvSpPr>
        <p:spPr>
          <a:xfrm>
            <a:off x="6355080" y="5623560"/>
            <a:ext cx="548640"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6</a:t>
            </a:r>
            <a:endParaRPr lang="en-US" sz="900" dirty="0"/>
          </a:p>
        </p:txBody>
      </p:sp>
      <p:sp>
        <p:nvSpPr>
          <p:cNvPr id="50" name="Shape 48"/>
          <p:cNvSpPr/>
          <p:nvPr/>
        </p:nvSpPr>
        <p:spPr>
          <a:xfrm>
            <a:off x="6903720" y="5166360"/>
            <a:ext cx="548640" cy="438912"/>
          </a:xfrm>
          <a:prstGeom prst="rect">
            <a:avLst/>
          </a:prstGeom>
          <a:solidFill>
            <a:srgbClr val="F1F6F7"/>
          </a:solidFill>
          <a:ln w="12700">
            <a:solidFill>
              <a:srgbClr val="D3E0E3"/>
            </a:solidFill>
            <a:prstDash val="solid"/>
          </a:ln>
        </p:spPr>
        <p:txBody>
          <a:bodyPr/>
          <a:lstStyle/>
          <a:p>
            <a:endParaRPr lang="en-US"/>
          </a:p>
        </p:txBody>
      </p:sp>
      <p:sp>
        <p:nvSpPr>
          <p:cNvPr id="51" name="Text 49"/>
          <p:cNvSpPr txBox="1"/>
          <p:nvPr/>
        </p:nvSpPr>
        <p:spPr>
          <a:xfrm>
            <a:off x="6903720" y="51663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G</a:t>
            </a:r>
            <a:endParaRPr lang="en-US" sz="1400" dirty="0"/>
          </a:p>
        </p:txBody>
      </p:sp>
      <p:sp>
        <p:nvSpPr>
          <p:cNvPr id="52" name="Text 50"/>
          <p:cNvSpPr txBox="1"/>
          <p:nvPr/>
        </p:nvSpPr>
        <p:spPr>
          <a:xfrm>
            <a:off x="6903720" y="5623560"/>
            <a:ext cx="548640"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7</a:t>
            </a:r>
            <a:endParaRPr lang="en-US" sz="900" dirty="0"/>
          </a:p>
        </p:txBody>
      </p:sp>
      <p:sp>
        <p:nvSpPr>
          <p:cNvPr id="53" name="Shape 51"/>
          <p:cNvSpPr/>
          <p:nvPr/>
        </p:nvSpPr>
        <p:spPr>
          <a:xfrm>
            <a:off x="7452360" y="5166360"/>
            <a:ext cx="548640" cy="438912"/>
          </a:xfrm>
          <a:prstGeom prst="rect">
            <a:avLst/>
          </a:prstGeom>
          <a:solidFill>
            <a:srgbClr val="F1F6F7"/>
          </a:solidFill>
          <a:ln w="12700">
            <a:solidFill>
              <a:srgbClr val="D3E0E3"/>
            </a:solidFill>
            <a:prstDash val="solid"/>
          </a:ln>
        </p:spPr>
        <p:txBody>
          <a:bodyPr/>
          <a:lstStyle/>
          <a:p>
            <a:endParaRPr lang="en-US"/>
          </a:p>
        </p:txBody>
      </p:sp>
      <p:sp>
        <p:nvSpPr>
          <p:cNvPr id="54" name="Text 52"/>
          <p:cNvSpPr txBox="1"/>
          <p:nvPr/>
        </p:nvSpPr>
        <p:spPr>
          <a:xfrm>
            <a:off x="7452360" y="51663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H</a:t>
            </a:r>
            <a:endParaRPr lang="en-US" sz="1400" dirty="0"/>
          </a:p>
        </p:txBody>
      </p:sp>
      <p:sp>
        <p:nvSpPr>
          <p:cNvPr id="55" name="Text 53"/>
          <p:cNvSpPr txBox="1"/>
          <p:nvPr/>
        </p:nvSpPr>
        <p:spPr>
          <a:xfrm>
            <a:off x="7452360" y="5623560"/>
            <a:ext cx="548640"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8</a:t>
            </a:r>
            <a:endParaRPr lang="en-US" sz="900" dirty="0"/>
          </a:p>
        </p:txBody>
      </p:sp>
      <p:sp>
        <p:nvSpPr>
          <p:cNvPr id="56" name="Shape 54"/>
          <p:cNvSpPr/>
          <p:nvPr/>
        </p:nvSpPr>
        <p:spPr>
          <a:xfrm>
            <a:off x="8001000" y="5166360"/>
            <a:ext cx="548640" cy="438912"/>
          </a:xfrm>
          <a:prstGeom prst="rect">
            <a:avLst/>
          </a:prstGeom>
          <a:solidFill>
            <a:srgbClr val="F1F6F7"/>
          </a:solidFill>
          <a:ln w="12700">
            <a:solidFill>
              <a:srgbClr val="D3E0E3"/>
            </a:solidFill>
            <a:prstDash val="solid"/>
          </a:ln>
        </p:spPr>
        <p:txBody>
          <a:bodyPr/>
          <a:lstStyle/>
          <a:p>
            <a:endParaRPr lang="en-US"/>
          </a:p>
        </p:txBody>
      </p:sp>
      <p:sp>
        <p:nvSpPr>
          <p:cNvPr id="57" name="Text 55"/>
          <p:cNvSpPr txBox="1"/>
          <p:nvPr/>
        </p:nvSpPr>
        <p:spPr>
          <a:xfrm>
            <a:off x="8001000" y="51663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M</a:t>
            </a:r>
            <a:endParaRPr lang="en-US" sz="1400" dirty="0"/>
          </a:p>
        </p:txBody>
      </p:sp>
      <p:sp>
        <p:nvSpPr>
          <p:cNvPr id="58" name="Text 56"/>
          <p:cNvSpPr txBox="1"/>
          <p:nvPr/>
        </p:nvSpPr>
        <p:spPr>
          <a:xfrm>
            <a:off x="8001000" y="5623560"/>
            <a:ext cx="548640"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9</a:t>
            </a:r>
            <a:endParaRPr lang="en-US" sz="900" dirty="0"/>
          </a:p>
        </p:txBody>
      </p:sp>
      <p:sp>
        <p:nvSpPr>
          <p:cNvPr id="59" name="Text 57"/>
          <p:cNvSpPr txBox="1"/>
          <p:nvPr/>
        </p:nvSpPr>
        <p:spPr>
          <a:xfrm>
            <a:off x="640080" y="1783080"/>
            <a:ext cx="2651760" cy="274320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6343B"/>
                </a:solidFill>
                <a:latin typeface="Calibri" pitchFamily="34" charset="0"/>
                <a:ea typeface="Calibri" pitchFamily="34" charset="-122"/>
                <a:cs typeface="Calibri" pitchFamily="34" charset="-120"/>
              </a:rPr>
              <a:t>Every parent beats its children.</a:t>
            </a:r>
            <a:endParaRPr lang="en-US" sz="1300" dirty="0"/>
          </a:p>
          <a:p>
            <a:pPr marL="203200" indent="-203200">
              <a:spcAft>
                <a:spcPts val="800"/>
              </a:spcAft>
              <a:buSzPct val="100000"/>
              <a:buChar char="▪"/>
            </a:pPr>
            <a:r>
              <a:rPr lang="en-US" sz="1300" dirty="0">
                <a:solidFill>
                  <a:srgbClr val="16343B"/>
                </a:solidFill>
                <a:latin typeface="Calibri" pitchFamily="34" charset="0"/>
                <a:ea typeface="Calibri" pitchFamily="34" charset="-122"/>
                <a:cs typeface="Calibri" pitchFamily="34" charset="-120"/>
              </a:rPr>
              <a:t>Levels fill left to right — no gaps.</a:t>
            </a:r>
            <a:endParaRPr lang="en-US" sz="1300" dirty="0"/>
          </a:p>
          <a:p>
            <a:pPr marL="203200" indent="-203200">
              <a:spcAft>
                <a:spcPts val="800"/>
              </a:spcAft>
              <a:buSzPct val="100000"/>
              <a:buChar char="▪"/>
            </a:pPr>
            <a:r>
              <a:rPr lang="en-US" sz="1300" dirty="0">
                <a:solidFill>
                  <a:srgbClr val="16343B"/>
                </a:solidFill>
                <a:latin typeface="Calibri" pitchFamily="34" charset="0"/>
                <a:ea typeface="Calibri" pitchFamily="34" charset="-122"/>
                <a:cs typeface="Calibri" pitchFamily="34" charset="-120"/>
              </a:rPr>
              <a:t>A and G sit low; nothing forces small keys to any particular side.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Q57</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Build the same keys by repeated insertion</a:t>
            </a:r>
            <a:endParaRPr lang="en-US" sz="3000" dirty="0"/>
          </a:p>
        </p:txBody>
      </p:sp>
      <p:sp>
        <p:nvSpPr>
          <p:cNvPr id="5" name="Text 3"/>
          <p:cNvSpPr txBox="1"/>
          <p:nvPr/>
        </p:nvSpPr>
        <p:spPr>
          <a:xfrm>
            <a:off x="1737360" y="969264"/>
            <a:ext cx="9811512" cy="310896"/>
          </a:xfrm>
          <a:prstGeom prst="rect">
            <a:avLst/>
          </a:prstGeom>
          <a:noFill/>
          <a:ln/>
        </p:spPr>
        <p:txBody>
          <a:bodyPr wrap="square" lIns="0" tIns="0" rIns="0" bIns="0" rtlCol="0" anchor="ctr"/>
          <a:lstStyle/>
          <a:p>
            <a:pPr marL="0" indent="0">
              <a:buNone/>
            </a:pPr>
            <a:r>
              <a:rPr lang="en-US" sz="1400" i="1" dirty="0">
                <a:solidFill>
                  <a:srgbClr val="5F7A80"/>
                </a:solidFill>
                <a:latin typeface="Calibri" pitchFamily="34" charset="0"/>
                <a:ea typeface="Calibri" pitchFamily="34" charset="-122"/>
                <a:cs typeface="Calibri" pitchFamily="34" charset="-120"/>
              </a:rPr>
              <a:t>Each key is appended at the end, then bubbled up past any smaller parent</a:t>
            </a:r>
            <a:endParaRPr lang="en-US" sz="1400" dirty="0"/>
          </a:p>
        </p:txBody>
      </p:sp>
      <p:sp>
        <p:nvSpPr>
          <p:cNvPr id="6" name="Text 4"/>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6766560" cy="3657600"/>
        </p:xfrm>
        <a:graphic>
          <a:graphicData uri="http://schemas.openxmlformats.org/drawingml/2006/table">
            <a:tbl>
              <a:tblPr/>
              <a:tblGrid>
                <a:gridCol w="1005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Insert</a:t>
                      </a:r>
                      <a:endParaRPr lang="en-US" sz="12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Bubble-up</a:t>
                      </a:r>
                      <a:endParaRPr lang="en-US" sz="12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Heap after insertion</a:t>
                      </a:r>
                      <a:endParaRPr lang="en-US" sz="12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16343B"/>
                          </a:solidFill>
                          <a:latin typeface="Courier New" pitchFamily="34" charset="0"/>
                          <a:ea typeface="Courier New" pitchFamily="34" charset="-122"/>
                          <a:cs typeface="Courier New" pitchFamily="34" charset="-120"/>
                        </a:rPr>
                        <a:t>A</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343B"/>
                          </a:solidFill>
                          <a:latin typeface="Calibri" pitchFamily="34" charset="0"/>
                          <a:ea typeface="Calibri" pitchFamily="34" charset="-122"/>
                          <a:cs typeface="Calibri" pitchFamily="34" charset="-120"/>
                        </a:rPr>
                        <a:t>root — nothing to do</a:t>
                      </a:r>
                      <a:endParaRPr lang="en-US" sz="12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343B"/>
                          </a:solidFill>
                          <a:latin typeface="Courier New" pitchFamily="34" charset="0"/>
                          <a:ea typeface="Courier New" pitchFamily="34" charset="-122"/>
                          <a:cs typeface="Courier New" pitchFamily="34" charset="-120"/>
                        </a:rPr>
                        <a:t>A</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rgbClr val="16343B"/>
                          </a:solidFill>
                          <a:latin typeface="Courier New" pitchFamily="34" charset="0"/>
                          <a:ea typeface="Courier New" pitchFamily="34" charset="-122"/>
                          <a:cs typeface="Courier New" pitchFamily="34" charset="-120"/>
                        </a:rPr>
                        <a:t>L</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200" dirty="0">
                          <a:solidFill>
                            <a:srgbClr val="16343B"/>
                          </a:solidFill>
                          <a:latin typeface="Calibri" pitchFamily="34" charset="0"/>
                          <a:ea typeface="Calibri" pitchFamily="34" charset="-122"/>
                          <a:cs typeface="Calibri" pitchFamily="34" charset="-120"/>
                        </a:rPr>
                        <a:t>L &gt; A — swap</a:t>
                      </a:r>
                      <a:endParaRPr lang="en-US" sz="12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200" dirty="0">
                          <a:solidFill>
                            <a:srgbClr val="16343B"/>
                          </a:solidFill>
                          <a:latin typeface="Courier New" pitchFamily="34" charset="0"/>
                          <a:ea typeface="Courier New" pitchFamily="34" charset="-122"/>
                          <a:cs typeface="Courier New" pitchFamily="34" charset="-120"/>
                        </a:rPr>
                        <a:t>L A</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2"/>
                  </a:ext>
                </a:extLst>
              </a:tr>
              <a:tr h="365760">
                <a:tc>
                  <a:txBody>
                    <a:bodyPr/>
                    <a:lstStyle/>
                    <a:p>
                      <a:pPr marL="0" indent="0" algn="l">
                        <a:buNone/>
                      </a:pPr>
                      <a:r>
                        <a:rPr lang="en-US" sz="1200" b="1" dirty="0">
                          <a:solidFill>
                            <a:srgbClr val="16343B"/>
                          </a:solidFill>
                          <a:latin typeface="Courier New" pitchFamily="34" charset="0"/>
                          <a:ea typeface="Courier New" pitchFamily="34" charset="-122"/>
                          <a:cs typeface="Courier New" pitchFamily="34" charset="-120"/>
                        </a:rPr>
                        <a:t>G</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343B"/>
                          </a:solidFill>
                          <a:latin typeface="Calibri" pitchFamily="34" charset="0"/>
                          <a:ea typeface="Calibri" pitchFamily="34" charset="-122"/>
                          <a:cs typeface="Calibri" pitchFamily="34" charset="-120"/>
                        </a:rPr>
                        <a:t>G &lt; L — stays</a:t>
                      </a:r>
                      <a:endParaRPr lang="en-US" sz="12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343B"/>
                          </a:solidFill>
                          <a:latin typeface="Courier New" pitchFamily="34" charset="0"/>
                          <a:ea typeface="Courier New" pitchFamily="34" charset="-122"/>
                          <a:cs typeface="Courier New" pitchFamily="34" charset="-120"/>
                        </a:rPr>
                        <a:t>L A G</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rgbClr val="16343B"/>
                          </a:solidFill>
                          <a:latin typeface="Courier New" pitchFamily="34" charset="0"/>
                          <a:ea typeface="Courier New" pitchFamily="34" charset="-122"/>
                          <a:cs typeface="Courier New" pitchFamily="34" charset="-120"/>
                        </a:rPr>
                        <a:t>O</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200" dirty="0">
                          <a:solidFill>
                            <a:srgbClr val="16343B"/>
                          </a:solidFill>
                          <a:latin typeface="Calibri" pitchFamily="34" charset="0"/>
                          <a:ea typeface="Calibri" pitchFamily="34" charset="-122"/>
                          <a:cs typeface="Calibri" pitchFamily="34" charset="-120"/>
                        </a:rPr>
                        <a:t>past A, then past L</a:t>
                      </a:r>
                      <a:endParaRPr lang="en-US" sz="12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200" dirty="0">
                          <a:solidFill>
                            <a:srgbClr val="16343B"/>
                          </a:solidFill>
                          <a:latin typeface="Courier New" pitchFamily="34" charset="0"/>
                          <a:ea typeface="Courier New" pitchFamily="34" charset="-122"/>
                          <a:cs typeface="Courier New" pitchFamily="34" charset="-120"/>
                        </a:rPr>
                        <a:t>O L G A</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4"/>
                  </a:ext>
                </a:extLst>
              </a:tr>
              <a:tr h="365760">
                <a:tc>
                  <a:txBody>
                    <a:bodyPr/>
                    <a:lstStyle/>
                    <a:p>
                      <a:pPr marL="0" indent="0" algn="l">
                        <a:buNone/>
                      </a:pPr>
                      <a:r>
                        <a:rPr lang="en-US" sz="1200" b="1" dirty="0">
                          <a:solidFill>
                            <a:srgbClr val="16343B"/>
                          </a:solidFill>
                          <a:latin typeface="Courier New" pitchFamily="34" charset="0"/>
                          <a:ea typeface="Courier New" pitchFamily="34" charset="-122"/>
                          <a:cs typeface="Courier New" pitchFamily="34" charset="-120"/>
                        </a:rPr>
                        <a:t>R</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343B"/>
                          </a:solidFill>
                          <a:latin typeface="Calibri" pitchFamily="34" charset="0"/>
                          <a:ea typeface="Calibri" pitchFamily="34" charset="-122"/>
                          <a:cs typeface="Calibri" pitchFamily="34" charset="-120"/>
                        </a:rPr>
                        <a:t>past L, then past O</a:t>
                      </a:r>
                      <a:endParaRPr lang="en-US" sz="12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343B"/>
                          </a:solidFill>
                          <a:latin typeface="Courier New" pitchFamily="34" charset="0"/>
                          <a:ea typeface="Courier New" pitchFamily="34" charset="-122"/>
                          <a:cs typeface="Courier New" pitchFamily="34" charset="-120"/>
                        </a:rPr>
                        <a:t>R O G A L</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00" b="1" dirty="0">
                          <a:solidFill>
                            <a:srgbClr val="16343B"/>
                          </a:solidFill>
                          <a:latin typeface="Courier New" pitchFamily="34" charset="0"/>
                          <a:ea typeface="Courier New" pitchFamily="34" charset="-122"/>
                          <a:cs typeface="Courier New" pitchFamily="34" charset="-120"/>
                        </a:rPr>
                        <a:t>I</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200" dirty="0">
                          <a:solidFill>
                            <a:srgbClr val="16343B"/>
                          </a:solidFill>
                          <a:latin typeface="Calibri" pitchFamily="34" charset="0"/>
                          <a:ea typeface="Calibri" pitchFamily="34" charset="-122"/>
                          <a:cs typeface="Calibri" pitchFamily="34" charset="-120"/>
                        </a:rPr>
                        <a:t>past G — stops below R</a:t>
                      </a:r>
                      <a:endParaRPr lang="en-US" sz="12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200" dirty="0">
                          <a:solidFill>
                            <a:srgbClr val="16343B"/>
                          </a:solidFill>
                          <a:latin typeface="Courier New" pitchFamily="34" charset="0"/>
                          <a:ea typeface="Courier New" pitchFamily="34" charset="-122"/>
                          <a:cs typeface="Courier New" pitchFamily="34" charset="-120"/>
                        </a:rPr>
                        <a:t>R O I A L G</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6"/>
                  </a:ext>
                </a:extLst>
              </a:tr>
              <a:tr h="365760">
                <a:tc>
                  <a:txBody>
                    <a:bodyPr/>
                    <a:lstStyle/>
                    <a:p>
                      <a:pPr marL="0" indent="0" algn="l">
                        <a:buNone/>
                      </a:pPr>
                      <a:r>
                        <a:rPr lang="en-US" sz="1200" b="1" dirty="0">
                          <a:solidFill>
                            <a:srgbClr val="16343B"/>
                          </a:solidFill>
                          <a:latin typeface="Courier New" pitchFamily="34" charset="0"/>
                          <a:ea typeface="Courier New" pitchFamily="34" charset="-122"/>
                          <a:cs typeface="Courier New" pitchFamily="34" charset="-120"/>
                        </a:rPr>
                        <a:t>T</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343B"/>
                          </a:solidFill>
                          <a:latin typeface="Calibri" pitchFamily="34" charset="0"/>
                          <a:ea typeface="Calibri" pitchFamily="34" charset="-122"/>
                          <a:cs typeface="Calibri" pitchFamily="34" charset="-120"/>
                        </a:rPr>
                        <a:t>past I, then past R</a:t>
                      </a:r>
                      <a:endParaRPr lang="en-US" sz="12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343B"/>
                          </a:solidFill>
                          <a:latin typeface="Courier New" pitchFamily="34" charset="0"/>
                          <a:ea typeface="Courier New" pitchFamily="34" charset="-122"/>
                          <a:cs typeface="Courier New" pitchFamily="34" charset="-120"/>
                        </a:rPr>
                        <a:t>T O R A L G I</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200" b="1" dirty="0">
                          <a:solidFill>
                            <a:srgbClr val="16343B"/>
                          </a:solidFill>
                          <a:latin typeface="Courier New" pitchFamily="34" charset="0"/>
                          <a:ea typeface="Courier New" pitchFamily="34" charset="-122"/>
                          <a:cs typeface="Courier New" pitchFamily="34" charset="-120"/>
                        </a:rPr>
                        <a:t>H</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200" dirty="0">
                          <a:solidFill>
                            <a:srgbClr val="16343B"/>
                          </a:solidFill>
                          <a:latin typeface="Calibri" pitchFamily="34" charset="0"/>
                          <a:ea typeface="Calibri" pitchFamily="34" charset="-122"/>
                          <a:cs typeface="Calibri" pitchFamily="34" charset="-120"/>
                        </a:rPr>
                        <a:t>past A — stops below O</a:t>
                      </a:r>
                      <a:endParaRPr lang="en-US" sz="12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200" dirty="0">
                          <a:solidFill>
                            <a:srgbClr val="16343B"/>
                          </a:solidFill>
                          <a:latin typeface="Courier New" pitchFamily="34" charset="0"/>
                          <a:ea typeface="Courier New" pitchFamily="34" charset="-122"/>
                          <a:cs typeface="Courier New" pitchFamily="34" charset="-120"/>
                        </a:rPr>
                        <a:t>T O R H L G I A</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8"/>
                  </a:ext>
                </a:extLst>
              </a:tr>
              <a:tr h="365760">
                <a:tc>
                  <a:txBody>
                    <a:bodyPr/>
                    <a:lstStyle/>
                    <a:p>
                      <a:pPr marL="0" indent="0" algn="l">
                        <a:buNone/>
                      </a:pPr>
                      <a:r>
                        <a:rPr lang="en-US" sz="1200" b="1" dirty="0">
                          <a:solidFill>
                            <a:srgbClr val="16343B"/>
                          </a:solidFill>
                          <a:latin typeface="Courier New" pitchFamily="34" charset="0"/>
                          <a:ea typeface="Courier New" pitchFamily="34" charset="-122"/>
                          <a:cs typeface="Courier New" pitchFamily="34" charset="-120"/>
                        </a:rPr>
                        <a:t>M</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343B"/>
                          </a:solidFill>
                          <a:latin typeface="Calibri" pitchFamily="34" charset="0"/>
                          <a:ea typeface="Calibri" pitchFamily="34" charset="-122"/>
                          <a:cs typeface="Calibri" pitchFamily="34" charset="-120"/>
                        </a:rPr>
                        <a:t>past H — stops below O</a:t>
                      </a:r>
                      <a:endParaRPr lang="en-US" sz="12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343B"/>
                          </a:solidFill>
                          <a:latin typeface="Courier New" pitchFamily="34" charset="0"/>
                          <a:ea typeface="Courier New" pitchFamily="34" charset="-122"/>
                          <a:cs typeface="Courier New" pitchFamily="34" charset="-120"/>
                        </a:rPr>
                        <a:t>T O R M L G I A H</a:t>
                      </a:r>
                      <a:endParaRPr lang="en-US" sz="12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8" name="Shape 5"/>
          <p:cNvSpPr/>
          <p:nvPr/>
        </p:nvSpPr>
        <p:spPr>
          <a:xfrm>
            <a:off x="7818120" y="1828800"/>
            <a:ext cx="3730752" cy="1417320"/>
          </a:xfrm>
          <a:prstGeom prst="roundRect">
            <a:avLst>
              <a:gd name="adj" fmla="val 3226"/>
            </a:avLst>
          </a:prstGeom>
          <a:solidFill>
            <a:srgbClr val="FBEEDA"/>
          </a:solidFill>
          <a:ln w="12700">
            <a:solidFill>
              <a:srgbClr val="EAD3A6"/>
            </a:solidFill>
            <a:prstDash val="solid"/>
          </a:ln>
        </p:spPr>
        <p:txBody>
          <a:bodyPr/>
          <a:lstStyle/>
          <a:p>
            <a:endParaRPr lang="en-US"/>
          </a:p>
        </p:txBody>
      </p:sp>
      <p:sp>
        <p:nvSpPr>
          <p:cNvPr id="9" name="Text 6"/>
          <p:cNvSpPr txBox="1"/>
          <p:nvPr/>
        </p:nvSpPr>
        <p:spPr>
          <a:xfrm>
            <a:off x="8092440" y="1993392"/>
            <a:ext cx="3182112"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INSERTION</a:t>
            </a:r>
            <a:endParaRPr lang="en-US" sz="1100" dirty="0"/>
          </a:p>
        </p:txBody>
      </p:sp>
      <p:sp>
        <p:nvSpPr>
          <p:cNvPr id="10" name="Text 7"/>
          <p:cNvSpPr txBox="1"/>
          <p:nvPr/>
        </p:nvSpPr>
        <p:spPr>
          <a:xfrm>
            <a:off x="8092440" y="2304288"/>
            <a:ext cx="3182112" cy="868680"/>
          </a:xfrm>
          <a:prstGeom prst="rect">
            <a:avLst/>
          </a:prstGeom>
          <a:noFill/>
          <a:ln/>
        </p:spPr>
        <p:txBody>
          <a:bodyPr wrap="square" lIns="0" tIns="0" rIns="0" bIns="0" rtlCol="0" anchor="t"/>
          <a:lstStyle/>
          <a:p>
            <a:pPr marL="203200" indent="-203200">
              <a:spcAft>
                <a:spcPts val="300"/>
              </a:spcAft>
              <a:buSzPct val="100000"/>
              <a:buChar char="▪"/>
            </a:pPr>
            <a:r>
              <a:rPr lang="en-US" sz="1200" dirty="0">
                <a:solidFill>
                  <a:srgbClr val="16343B"/>
                </a:solidFill>
                <a:latin typeface="Courier New" pitchFamily="34" charset="0"/>
                <a:ea typeface="Courier New" pitchFamily="34" charset="-122"/>
                <a:cs typeface="Courier New" pitchFamily="34" charset="-120"/>
              </a:rPr>
              <a:t>append at index n + 1</a:t>
            </a:r>
            <a:endParaRPr lang="en-US" sz="1200" dirty="0"/>
          </a:p>
          <a:p>
            <a:pPr marL="203200" indent="-203200">
              <a:spcAft>
                <a:spcPts val="300"/>
              </a:spcAft>
              <a:buSzPct val="100000"/>
              <a:buChar char="▪"/>
            </a:pPr>
            <a:r>
              <a:rPr lang="en-US" sz="1200" dirty="0">
                <a:solidFill>
                  <a:srgbClr val="16343B"/>
                </a:solidFill>
                <a:latin typeface="Courier New" pitchFamily="34" charset="0"/>
                <a:ea typeface="Courier New" pitchFamily="34" charset="-122"/>
                <a:cs typeface="Courier New" pitchFamily="34" charset="-120"/>
              </a:rPr>
              <a:t>while parent &lt; key: swap up</a:t>
            </a:r>
            <a:endParaRPr lang="en-US" sz="1200" dirty="0"/>
          </a:p>
        </p:txBody>
      </p:sp>
      <p:sp>
        <p:nvSpPr>
          <p:cNvPr id="11" name="Text 8"/>
          <p:cNvSpPr txBox="1"/>
          <p:nvPr/>
        </p:nvSpPr>
        <p:spPr>
          <a:xfrm>
            <a:off x="7818120" y="3520440"/>
            <a:ext cx="3730752" cy="237744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6343B"/>
                </a:solidFill>
                <a:latin typeface="Calibri" pitchFamily="34" charset="0"/>
                <a:ea typeface="Calibri" pitchFamily="34" charset="-122"/>
                <a:cs typeface="Calibri" pitchFamily="34" charset="-120"/>
              </a:rPr>
              <a:t>The new key only ever compares against its ancestors — one chain, O(log n).</a:t>
            </a:r>
            <a:endParaRPr lang="en-US" sz="1300" dirty="0"/>
          </a:p>
          <a:p>
            <a:pPr marL="203200" indent="-203200">
              <a:spcAft>
                <a:spcPts val="800"/>
              </a:spcAft>
              <a:buSzPct val="100000"/>
              <a:buChar char="▪"/>
            </a:pPr>
            <a:r>
              <a:rPr lang="en-US" sz="1300" dirty="0">
                <a:solidFill>
                  <a:srgbClr val="16343B"/>
                </a:solidFill>
                <a:latin typeface="Calibri" pitchFamily="34" charset="0"/>
                <a:ea typeface="Calibri" pitchFamily="34" charset="-122"/>
                <a:cs typeface="Calibri" pitchFamily="34" charset="-120"/>
              </a:rPr>
              <a:t>Nothing ever moves sideways or down, so the shape stays essentially complete automatically.</a:t>
            </a:r>
            <a:endParaRPr lang="en-US" sz="1300" dirty="0"/>
          </a:p>
          <a:p>
            <a:pPr marL="203200" indent="-203200">
              <a:spcAft>
                <a:spcPts val="800"/>
              </a:spcAft>
              <a:buSzPct val="100000"/>
              <a:buChar char="▪"/>
            </a:pPr>
            <a:r>
              <a:rPr lang="en-US" sz="1300" b="1" dirty="0">
                <a:solidFill>
                  <a:srgbClr val="9C6410"/>
                </a:solidFill>
                <a:latin typeface="Calibri" pitchFamily="34" charset="0"/>
                <a:ea typeface="Calibri" pitchFamily="34" charset="-122"/>
                <a:cs typeface="Calibri" pitchFamily="34" charset="-120"/>
              </a:rPr>
              <a:t>n insertions cost O(n log n) — worse than bottom-up heapify's Θ(n).</a:t>
            </a:r>
            <a:endParaRPr lang="en-US" sz="1300" dirty="0"/>
          </a:p>
          <a:p>
            <a:pPr marL="203200" indent="-203200">
              <a:spcAft>
                <a:spcPts val="800"/>
              </a:spcAft>
              <a:buSzPct val="100000"/>
              <a:buChar char="▪"/>
            </a:pPr>
            <a:r>
              <a:rPr lang="en-US" sz="1300" dirty="0">
                <a:solidFill>
                  <a:srgbClr val="16343B"/>
                </a:solidFill>
                <a:latin typeface="Calibri" pitchFamily="34" charset="0"/>
                <a:ea typeface="Calibri" pitchFamily="34" charset="-122"/>
                <a:cs typeface="Calibri" pitchFamily="34" charset="-120"/>
              </a:rPr>
              <a:t>Insertion is the right tool when keys arrive over time; heapify is the right tool when you already hold them all.</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Q57</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Same keys, different heap</a:t>
            </a:r>
            <a:endParaRPr lang="en-US" sz="3000" dirty="0"/>
          </a:p>
        </p:txBody>
      </p:sp>
      <p:sp>
        <p:nvSpPr>
          <p:cNvPr id="5" name="Text 3"/>
          <p:cNvSpPr txBox="1"/>
          <p:nvPr/>
        </p:nvSpPr>
        <p:spPr>
          <a:xfrm>
            <a:off x="1737360" y="969264"/>
            <a:ext cx="9811512" cy="310896"/>
          </a:xfrm>
          <a:prstGeom prst="rect">
            <a:avLst/>
          </a:prstGeom>
          <a:noFill/>
          <a:ln/>
        </p:spPr>
        <p:txBody>
          <a:bodyPr wrap="square" lIns="0" tIns="0" rIns="0" bIns="0" rtlCol="0" anchor="ctr"/>
          <a:lstStyle/>
          <a:p>
            <a:pPr marL="0" indent="0">
              <a:buNone/>
            </a:pPr>
            <a:r>
              <a:rPr lang="en-US" sz="1400" i="1" dirty="0">
                <a:solidFill>
                  <a:srgbClr val="5F7A80"/>
                </a:solidFill>
                <a:latin typeface="Calibri" pitchFamily="34" charset="0"/>
                <a:ea typeface="Calibri" pitchFamily="34" charset="-122"/>
                <a:cs typeface="Calibri" pitchFamily="34" charset="-120"/>
              </a:rPr>
              <a:t>Is the result the same as Q56? No</a:t>
            </a:r>
            <a:endParaRPr lang="en-US" sz="1400" dirty="0"/>
          </a:p>
        </p:txBody>
      </p:sp>
      <p:sp>
        <p:nvSpPr>
          <p:cNvPr id="6" name="Text 4"/>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18</a:t>
            </a:r>
            <a:endParaRPr lang="en-US" sz="900" dirty="0"/>
          </a:p>
        </p:txBody>
      </p:sp>
      <p:sp>
        <p:nvSpPr>
          <p:cNvPr id="7" name="Shape 5"/>
          <p:cNvSpPr/>
          <p:nvPr/>
        </p:nvSpPr>
        <p:spPr>
          <a:xfrm flipV="1">
            <a:off x="2057400" y="1920240"/>
            <a:ext cx="1051560" cy="822960"/>
          </a:xfrm>
          <a:prstGeom prst="line">
            <a:avLst/>
          </a:prstGeom>
          <a:noFill/>
          <a:ln w="19050">
            <a:solidFill>
              <a:srgbClr val="3D8C9C"/>
            </a:solidFill>
            <a:prstDash val="solid"/>
          </a:ln>
        </p:spPr>
        <p:txBody>
          <a:bodyPr/>
          <a:lstStyle/>
          <a:p>
            <a:endParaRPr lang="en-US"/>
          </a:p>
        </p:txBody>
      </p:sp>
      <p:sp>
        <p:nvSpPr>
          <p:cNvPr id="8" name="Shape 6"/>
          <p:cNvSpPr/>
          <p:nvPr/>
        </p:nvSpPr>
        <p:spPr>
          <a:xfrm>
            <a:off x="3108960" y="1920240"/>
            <a:ext cx="1051560" cy="822960"/>
          </a:xfrm>
          <a:prstGeom prst="line">
            <a:avLst/>
          </a:prstGeom>
          <a:noFill/>
          <a:ln w="19050">
            <a:solidFill>
              <a:srgbClr val="3D8C9C"/>
            </a:solidFill>
            <a:prstDash val="solid"/>
          </a:ln>
        </p:spPr>
        <p:txBody>
          <a:bodyPr/>
          <a:lstStyle/>
          <a:p>
            <a:endParaRPr lang="en-US"/>
          </a:p>
        </p:txBody>
      </p:sp>
      <p:sp>
        <p:nvSpPr>
          <p:cNvPr id="9" name="Shape 7"/>
          <p:cNvSpPr/>
          <p:nvPr/>
        </p:nvSpPr>
        <p:spPr>
          <a:xfrm flipV="1">
            <a:off x="1508760" y="2743200"/>
            <a:ext cx="548640" cy="822960"/>
          </a:xfrm>
          <a:prstGeom prst="line">
            <a:avLst/>
          </a:prstGeom>
          <a:noFill/>
          <a:ln w="19050">
            <a:solidFill>
              <a:srgbClr val="3D8C9C"/>
            </a:solidFill>
            <a:prstDash val="solid"/>
          </a:ln>
        </p:spPr>
        <p:txBody>
          <a:bodyPr/>
          <a:lstStyle/>
          <a:p>
            <a:endParaRPr lang="en-US"/>
          </a:p>
        </p:txBody>
      </p:sp>
      <p:sp>
        <p:nvSpPr>
          <p:cNvPr id="10" name="Shape 8"/>
          <p:cNvSpPr/>
          <p:nvPr/>
        </p:nvSpPr>
        <p:spPr>
          <a:xfrm>
            <a:off x="2057400" y="2743200"/>
            <a:ext cx="548640" cy="822960"/>
          </a:xfrm>
          <a:prstGeom prst="line">
            <a:avLst/>
          </a:prstGeom>
          <a:noFill/>
          <a:ln w="19050">
            <a:solidFill>
              <a:srgbClr val="3D8C9C"/>
            </a:solidFill>
            <a:prstDash val="solid"/>
          </a:ln>
        </p:spPr>
        <p:txBody>
          <a:bodyPr/>
          <a:lstStyle/>
          <a:p>
            <a:endParaRPr lang="en-US"/>
          </a:p>
        </p:txBody>
      </p:sp>
      <p:sp>
        <p:nvSpPr>
          <p:cNvPr id="11" name="Shape 9"/>
          <p:cNvSpPr/>
          <p:nvPr/>
        </p:nvSpPr>
        <p:spPr>
          <a:xfrm flipV="1">
            <a:off x="3611880" y="2743200"/>
            <a:ext cx="548640" cy="822960"/>
          </a:xfrm>
          <a:prstGeom prst="line">
            <a:avLst/>
          </a:prstGeom>
          <a:noFill/>
          <a:ln w="19050">
            <a:solidFill>
              <a:srgbClr val="3D8C9C"/>
            </a:solidFill>
            <a:prstDash val="solid"/>
          </a:ln>
        </p:spPr>
        <p:txBody>
          <a:bodyPr/>
          <a:lstStyle/>
          <a:p>
            <a:endParaRPr lang="en-US"/>
          </a:p>
        </p:txBody>
      </p:sp>
      <p:sp>
        <p:nvSpPr>
          <p:cNvPr id="12" name="Shape 10"/>
          <p:cNvSpPr/>
          <p:nvPr/>
        </p:nvSpPr>
        <p:spPr>
          <a:xfrm>
            <a:off x="4160520" y="2743200"/>
            <a:ext cx="548640" cy="822960"/>
          </a:xfrm>
          <a:prstGeom prst="line">
            <a:avLst/>
          </a:prstGeom>
          <a:noFill/>
          <a:ln w="19050">
            <a:solidFill>
              <a:srgbClr val="3D8C9C"/>
            </a:solidFill>
            <a:prstDash val="solid"/>
          </a:ln>
        </p:spPr>
        <p:txBody>
          <a:bodyPr/>
          <a:lstStyle/>
          <a:p>
            <a:endParaRPr lang="en-US"/>
          </a:p>
        </p:txBody>
      </p:sp>
      <p:sp>
        <p:nvSpPr>
          <p:cNvPr id="13" name="Shape 11"/>
          <p:cNvSpPr/>
          <p:nvPr/>
        </p:nvSpPr>
        <p:spPr>
          <a:xfrm flipV="1">
            <a:off x="1143000" y="3566160"/>
            <a:ext cx="365760" cy="822960"/>
          </a:xfrm>
          <a:prstGeom prst="line">
            <a:avLst/>
          </a:prstGeom>
          <a:noFill/>
          <a:ln w="19050">
            <a:solidFill>
              <a:srgbClr val="3D8C9C"/>
            </a:solidFill>
            <a:prstDash val="solid"/>
          </a:ln>
        </p:spPr>
        <p:txBody>
          <a:bodyPr/>
          <a:lstStyle/>
          <a:p>
            <a:endParaRPr lang="en-US"/>
          </a:p>
        </p:txBody>
      </p:sp>
      <p:sp>
        <p:nvSpPr>
          <p:cNvPr id="14" name="Shape 12"/>
          <p:cNvSpPr/>
          <p:nvPr/>
        </p:nvSpPr>
        <p:spPr>
          <a:xfrm>
            <a:off x="1508760" y="3566160"/>
            <a:ext cx="457200" cy="822960"/>
          </a:xfrm>
          <a:prstGeom prst="line">
            <a:avLst/>
          </a:prstGeom>
          <a:noFill/>
          <a:ln w="19050">
            <a:solidFill>
              <a:srgbClr val="3D8C9C"/>
            </a:solidFill>
            <a:prstDash val="solid"/>
          </a:ln>
        </p:spPr>
        <p:txBody>
          <a:bodyPr/>
          <a:lstStyle/>
          <a:p>
            <a:endParaRPr lang="en-US"/>
          </a:p>
        </p:txBody>
      </p:sp>
      <p:sp>
        <p:nvSpPr>
          <p:cNvPr id="15" name="Shape 13"/>
          <p:cNvSpPr/>
          <p:nvPr/>
        </p:nvSpPr>
        <p:spPr>
          <a:xfrm>
            <a:off x="2880360" y="1691640"/>
            <a:ext cx="457200" cy="457200"/>
          </a:xfrm>
          <a:prstGeom prst="ellipse">
            <a:avLst/>
          </a:prstGeom>
          <a:solidFill>
            <a:srgbClr val="D9932B"/>
          </a:solidFill>
          <a:ln w="22225">
            <a:solidFill>
              <a:srgbClr val="D9932B"/>
            </a:solidFill>
            <a:prstDash val="solid"/>
          </a:ln>
        </p:spPr>
        <p:txBody>
          <a:bodyPr/>
          <a:lstStyle/>
          <a:p>
            <a:endParaRPr lang="en-US"/>
          </a:p>
        </p:txBody>
      </p:sp>
      <p:sp>
        <p:nvSpPr>
          <p:cNvPr id="16" name="Text 14"/>
          <p:cNvSpPr txBox="1"/>
          <p:nvPr/>
        </p:nvSpPr>
        <p:spPr>
          <a:xfrm>
            <a:off x="2743200" y="169164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T</a:t>
            </a:r>
            <a:endParaRPr lang="en-US" sz="1300" dirty="0"/>
          </a:p>
        </p:txBody>
      </p:sp>
      <p:sp>
        <p:nvSpPr>
          <p:cNvPr id="17" name="Shape 15"/>
          <p:cNvSpPr/>
          <p:nvPr/>
        </p:nvSpPr>
        <p:spPr>
          <a:xfrm>
            <a:off x="1828800" y="2514600"/>
            <a:ext cx="457200" cy="457200"/>
          </a:xfrm>
          <a:prstGeom prst="ellipse">
            <a:avLst/>
          </a:prstGeom>
          <a:solidFill>
            <a:srgbClr val="FFFFFF"/>
          </a:solidFill>
          <a:ln w="22225">
            <a:solidFill>
              <a:srgbClr val="0F5E6E"/>
            </a:solidFill>
            <a:prstDash val="solid"/>
          </a:ln>
        </p:spPr>
        <p:txBody>
          <a:bodyPr/>
          <a:lstStyle/>
          <a:p>
            <a:endParaRPr lang="en-US"/>
          </a:p>
        </p:txBody>
      </p:sp>
      <p:sp>
        <p:nvSpPr>
          <p:cNvPr id="18" name="Text 16"/>
          <p:cNvSpPr txBox="1"/>
          <p:nvPr/>
        </p:nvSpPr>
        <p:spPr>
          <a:xfrm>
            <a:off x="1691640" y="251460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O</a:t>
            </a:r>
            <a:endParaRPr lang="en-US" sz="1300" dirty="0"/>
          </a:p>
        </p:txBody>
      </p:sp>
      <p:sp>
        <p:nvSpPr>
          <p:cNvPr id="19" name="Shape 17"/>
          <p:cNvSpPr/>
          <p:nvPr/>
        </p:nvSpPr>
        <p:spPr>
          <a:xfrm>
            <a:off x="3931920" y="2514600"/>
            <a:ext cx="457200" cy="457200"/>
          </a:xfrm>
          <a:prstGeom prst="ellipse">
            <a:avLst/>
          </a:prstGeom>
          <a:solidFill>
            <a:srgbClr val="FFFFFF"/>
          </a:solidFill>
          <a:ln w="22225">
            <a:solidFill>
              <a:srgbClr val="0F5E6E"/>
            </a:solidFill>
            <a:prstDash val="solid"/>
          </a:ln>
        </p:spPr>
        <p:txBody>
          <a:bodyPr/>
          <a:lstStyle/>
          <a:p>
            <a:endParaRPr lang="en-US"/>
          </a:p>
        </p:txBody>
      </p:sp>
      <p:sp>
        <p:nvSpPr>
          <p:cNvPr id="20" name="Text 18"/>
          <p:cNvSpPr txBox="1"/>
          <p:nvPr/>
        </p:nvSpPr>
        <p:spPr>
          <a:xfrm>
            <a:off x="3794760" y="251460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R</a:t>
            </a:r>
            <a:endParaRPr lang="en-US" sz="1300" dirty="0"/>
          </a:p>
        </p:txBody>
      </p:sp>
      <p:sp>
        <p:nvSpPr>
          <p:cNvPr id="21" name="Shape 19"/>
          <p:cNvSpPr/>
          <p:nvPr/>
        </p:nvSpPr>
        <p:spPr>
          <a:xfrm>
            <a:off x="1280160" y="3337560"/>
            <a:ext cx="457200" cy="457200"/>
          </a:xfrm>
          <a:prstGeom prst="ellipse">
            <a:avLst/>
          </a:prstGeom>
          <a:solidFill>
            <a:srgbClr val="FFFFFF"/>
          </a:solidFill>
          <a:ln w="22225">
            <a:solidFill>
              <a:srgbClr val="0F5E6E"/>
            </a:solidFill>
            <a:prstDash val="solid"/>
          </a:ln>
        </p:spPr>
        <p:txBody>
          <a:bodyPr/>
          <a:lstStyle/>
          <a:p>
            <a:endParaRPr lang="en-US"/>
          </a:p>
        </p:txBody>
      </p:sp>
      <p:sp>
        <p:nvSpPr>
          <p:cNvPr id="22" name="Text 20"/>
          <p:cNvSpPr txBox="1"/>
          <p:nvPr/>
        </p:nvSpPr>
        <p:spPr>
          <a:xfrm>
            <a:off x="1143000" y="333756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M</a:t>
            </a:r>
            <a:endParaRPr lang="en-US" sz="1300" dirty="0"/>
          </a:p>
        </p:txBody>
      </p:sp>
      <p:sp>
        <p:nvSpPr>
          <p:cNvPr id="23" name="Shape 21"/>
          <p:cNvSpPr/>
          <p:nvPr/>
        </p:nvSpPr>
        <p:spPr>
          <a:xfrm>
            <a:off x="2377440" y="3337560"/>
            <a:ext cx="457200" cy="457200"/>
          </a:xfrm>
          <a:prstGeom prst="ellipse">
            <a:avLst/>
          </a:prstGeom>
          <a:solidFill>
            <a:srgbClr val="FFFFFF"/>
          </a:solidFill>
          <a:ln w="22225">
            <a:solidFill>
              <a:srgbClr val="0F5E6E"/>
            </a:solidFill>
            <a:prstDash val="solid"/>
          </a:ln>
        </p:spPr>
        <p:txBody>
          <a:bodyPr/>
          <a:lstStyle/>
          <a:p>
            <a:endParaRPr lang="en-US"/>
          </a:p>
        </p:txBody>
      </p:sp>
      <p:sp>
        <p:nvSpPr>
          <p:cNvPr id="24" name="Text 22"/>
          <p:cNvSpPr txBox="1"/>
          <p:nvPr/>
        </p:nvSpPr>
        <p:spPr>
          <a:xfrm>
            <a:off x="2240280" y="333756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L</a:t>
            </a:r>
            <a:endParaRPr lang="en-US" sz="1300" dirty="0"/>
          </a:p>
        </p:txBody>
      </p:sp>
      <p:sp>
        <p:nvSpPr>
          <p:cNvPr id="25" name="Shape 23"/>
          <p:cNvSpPr/>
          <p:nvPr/>
        </p:nvSpPr>
        <p:spPr>
          <a:xfrm>
            <a:off x="3383280" y="3337560"/>
            <a:ext cx="457200" cy="457200"/>
          </a:xfrm>
          <a:prstGeom prst="ellipse">
            <a:avLst/>
          </a:prstGeom>
          <a:solidFill>
            <a:srgbClr val="FFFFFF"/>
          </a:solidFill>
          <a:ln w="22225">
            <a:solidFill>
              <a:srgbClr val="0F5E6E"/>
            </a:solidFill>
            <a:prstDash val="solid"/>
          </a:ln>
        </p:spPr>
        <p:txBody>
          <a:bodyPr/>
          <a:lstStyle/>
          <a:p>
            <a:endParaRPr lang="en-US"/>
          </a:p>
        </p:txBody>
      </p:sp>
      <p:sp>
        <p:nvSpPr>
          <p:cNvPr id="26" name="Text 24"/>
          <p:cNvSpPr txBox="1"/>
          <p:nvPr/>
        </p:nvSpPr>
        <p:spPr>
          <a:xfrm>
            <a:off x="3246120" y="333756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G</a:t>
            </a:r>
            <a:endParaRPr lang="en-US" sz="1300" dirty="0"/>
          </a:p>
        </p:txBody>
      </p:sp>
      <p:sp>
        <p:nvSpPr>
          <p:cNvPr id="27" name="Shape 25"/>
          <p:cNvSpPr/>
          <p:nvPr/>
        </p:nvSpPr>
        <p:spPr>
          <a:xfrm>
            <a:off x="4480560" y="3337560"/>
            <a:ext cx="457200" cy="457200"/>
          </a:xfrm>
          <a:prstGeom prst="ellipse">
            <a:avLst/>
          </a:prstGeom>
          <a:solidFill>
            <a:srgbClr val="FFFFFF"/>
          </a:solidFill>
          <a:ln w="22225">
            <a:solidFill>
              <a:srgbClr val="0F5E6E"/>
            </a:solidFill>
            <a:prstDash val="solid"/>
          </a:ln>
        </p:spPr>
        <p:txBody>
          <a:bodyPr/>
          <a:lstStyle/>
          <a:p>
            <a:endParaRPr lang="en-US"/>
          </a:p>
        </p:txBody>
      </p:sp>
      <p:sp>
        <p:nvSpPr>
          <p:cNvPr id="28" name="Text 26"/>
          <p:cNvSpPr txBox="1"/>
          <p:nvPr/>
        </p:nvSpPr>
        <p:spPr>
          <a:xfrm>
            <a:off x="4343400" y="333756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I</a:t>
            </a:r>
            <a:endParaRPr lang="en-US" sz="1300" dirty="0"/>
          </a:p>
        </p:txBody>
      </p:sp>
      <p:sp>
        <p:nvSpPr>
          <p:cNvPr id="29" name="Shape 27"/>
          <p:cNvSpPr/>
          <p:nvPr/>
        </p:nvSpPr>
        <p:spPr>
          <a:xfrm>
            <a:off x="914400" y="4160520"/>
            <a:ext cx="457200" cy="457200"/>
          </a:xfrm>
          <a:prstGeom prst="ellipse">
            <a:avLst/>
          </a:prstGeom>
          <a:solidFill>
            <a:srgbClr val="FFFFFF"/>
          </a:solidFill>
          <a:ln w="22225">
            <a:solidFill>
              <a:srgbClr val="0F5E6E"/>
            </a:solidFill>
            <a:prstDash val="solid"/>
          </a:ln>
        </p:spPr>
        <p:txBody>
          <a:bodyPr/>
          <a:lstStyle/>
          <a:p>
            <a:endParaRPr lang="en-US"/>
          </a:p>
        </p:txBody>
      </p:sp>
      <p:sp>
        <p:nvSpPr>
          <p:cNvPr id="30" name="Text 28"/>
          <p:cNvSpPr txBox="1"/>
          <p:nvPr/>
        </p:nvSpPr>
        <p:spPr>
          <a:xfrm>
            <a:off x="777240" y="416052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A</a:t>
            </a:r>
            <a:endParaRPr lang="en-US" sz="1300" dirty="0"/>
          </a:p>
        </p:txBody>
      </p:sp>
      <p:sp>
        <p:nvSpPr>
          <p:cNvPr id="31" name="Shape 29"/>
          <p:cNvSpPr/>
          <p:nvPr/>
        </p:nvSpPr>
        <p:spPr>
          <a:xfrm>
            <a:off x="1737360" y="4160520"/>
            <a:ext cx="457200" cy="457200"/>
          </a:xfrm>
          <a:prstGeom prst="ellipse">
            <a:avLst/>
          </a:prstGeom>
          <a:solidFill>
            <a:srgbClr val="FFFFFF"/>
          </a:solidFill>
          <a:ln w="22225">
            <a:solidFill>
              <a:srgbClr val="0F5E6E"/>
            </a:solidFill>
            <a:prstDash val="solid"/>
          </a:ln>
        </p:spPr>
        <p:txBody>
          <a:bodyPr/>
          <a:lstStyle/>
          <a:p>
            <a:endParaRPr lang="en-US"/>
          </a:p>
        </p:txBody>
      </p:sp>
      <p:sp>
        <p:nvSpPr>
          <p:cNvPr id="32" name="Text 30"/>
          <p:cNvSpPr txBox="1"/>
          <p:nvPr/>
        </p:nvSpPr>
        <p:spPr>
          <a:xfrm>
            <a:off x="1600200" y="4160520"/>
            <a:ext cx="731520" cy="457200"/>
          </a:xfrm>
          <a:prstGeom prst="rect">
            <a:avLst/>
          </a:prstGeom>
          <a:noFill/>
          <a:ln/>
        </p:spPr>
        <p:txBody>
          <a:bodyPr wrap="square" lIns="0" tIns="0" rIns="0" bIns="0" rtlCol="0" anchor="ctr"/>
          <a:lstStyle/>
          <a:p>
            <a:pPr marL="0" indent="0" algn="ctr">
              <a:buNone/>
            </a:pPr>
            <a:r>
              <a:rPr lang="en-US" sz="1300" b="1" dirty="0">
                <a:solidFill>
                  <a:srgbClr val="16343B"/>
                </a:solidFill>
                <a:latin typeface="Calibri" pitchFamily="34" charset="0"/>
                <a:ea typeface="Calibri" pitchFamily="34" charset="-122"/>
                <a:cs typeface="Calibri" pitchFamily="34" charset="-120"/>
              </a:rPr>
              <a:t>H</a:t>
            </a:r>
            <a:endParaRPr lang="en-US" sz="1300" dirty="0"/>
          </a:p>
        </p:txBody>
      </p:sp>
      <p:sp>
        <p:nvSpPr>
          <p:cNvPr id="33" name="Text 31"/>
          <p:cNvSpPr txBox="1"/>
          <p:nvPr/>
        </p:nvSpPr>
        <p:spPr>
          <a:xfrm>
            <a:off x="640080" y="4846320"/>
            <a:ext cx="4754880" cy="320040"/>
          </a:xfrm>
          <a:prstGeom prst="rect">
            <a:avLst/>
          </a:prstGeom>
          <a:noFill/>
          <a:ln/>
        </p:spPr>
        <p:txBody>
          <a:bodyPr wrap="square" lIns="0" tIns="0" rIns="0" bIns="0" rtlCol="0" anchor="t"/>
          <a:lstStyle/>
          <a:p>
            <a:pPr marL="0" indent="0" algn="ctr">
              <a:lnSpc>
                <a:spcPts val="1755"/>
              </a:lnSpc>
              <a:buNone/>
            </a:pPr>
            <a:r>
              <a:rPr lang="en-US" sz="1300" b="1" dirty="0">
                <a:solidFill>
                  <a:srgbClr val="0F5E6E"/>
                </a:solidFill>
                <a:latin typeface="Calibri" pitchFamily="34" charset="0"/>
                <a:ea typeface="Calibri" pitchFamily="34" charset="-122"/>
                <a:cs typeface="Calibri" pitchFamily="34" charset="-120"/>
              </a:rPr>
              <a:t>Insertion (Q57)</a:t>
            </a:r>
            <a:endParaRPr lang="en-US" sz="1300" dirty="0"/>
          </a:p>
        </p:txBody>
      </p:sp>
      <p:sp>
        <p:nvSpPr>
          <p:cNvPr id="34" name="Text 32"/>
          <p:cNvSpPr txBox="1"/>
          <p:nvPr/>
        </p:nvSpPr>
        <p:spPr>
          <a:xfrm>
            <a:off x="5943600" y="1737360"/>
            <a:ext cx="5605272" cy="320040"/>
          </a:xfrm>
          <a:prstGeom prst="rect">
            <a:avLst/>
          </a:prstGeom>
          <a:noFill/>
          <a:ln/>
        </p:spPr>
        <p:txBody>
          <a:bodyPr wrap="square" lIns="0" tIns="0" rIns="0" bIns="0" rtlCol="0" anchor="t"/>
          <a:lstStyle/>
          <a:p>
            <a:pPr marL="0" indent="0" algn="l">
              <a:lnSpc>
                <a:spcPts val="1890"/>
              </a:lnSpc>
              <a:buNone/>
            </a:pPr>
            <a:r>
              <a:rPr lang="en-US" sz="1400" b="1" dirty="0">
                <a:solidFill>
                  <a:srgbClr val="0F5E6E"/>
                </a:solidFill>
                <a:latin typeface="Calibri" pitchFamily="34" charset="0"/>
                <a:ea typeface="Calibri" pitchFamily="34" charset="-122"/>
                <a:cs typeface="Calibri" pitchFamily="34" charset="-120"/>
              </a:rPr>
              <a:t>Q56 · bottom-up heapify</a:t>
            </a:r>
            <a:endParaRPr lang="en-US" sz="1400" dirty="0"/>
          </a:p>
        </p:txBody>
      </p:sp>
      <p:sp>
        <p:nvSpPr>
          <p:cNvPr id="35" name="Shape 33"/>
          <p:cNvSpPr/>
          <p:nvPr/>
        </p:nvSpPr>
        <p:spPr>
          <a:xfrm>
            <a:off x="5943600" y="2103120"/>
            <a:ext cx="548640" cy="438912"/>
          </a:xfrm>
          <a:prstGeom prst="rect">
            <a:avLst/>
          </a:prstGeom>
          <a:solidFill>
            <a:srgbClr val="F1F6F7"/>
          </a:solidFill>
          <a:ln w="12700">
            <a:solidFill>
              <a:srgbClr val="D3E0E3"/>
            </a:solidFill>
            <a:prstDash val="solid"/>
          </a:ln>
        </p:spPr>
        <p:txBody>
          <a:bodyPr/>
          <a:lstStyle/>
          <a:p>
            <a:endParaRPr lang="en-US"/>
          </a:p>
        </p:txBody>
      </p:sp>
      <p:sp>
        <p:nvSpPr>
          <p:cNvPr id="36" name="Text 34"/>
          <p:cNvSpPr txBox="1"/>
          <p:nvPr/>
        </p:nvSpPr>
        <p:spPr>
          <a:xfrm>
            <a:off x="5943600" y="210312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T</a:t>
            </a:r>
            <a:endParaRPr lang="en-US" sz="1400" dirty="0"/>
          </a:p>
        </p:txBody>
      </p:sp>
      <p:sp>
        <p:nvSpPr>
          <p:cNvPr id="37" name="Shape 35"/>
          <p:cNvSpPr/>
          <p:nvPr/>
        </p:nvSpPr>
        <p:spPr>
          <a:xfrm>
            <a:off x="6492240" y="2103120"/>
            <a:ext cx="548640" cy="438912"/>
          </a:xfrm>
          <a:prstGeom prst="rect">
            <a:avLst/>
          </a:prstGeom>
          <a:solidFill>
            <a:srgbClr val="F1F6F7"/>
          </a:solidFill>
          <a:ln w="12700">
            <a:solidFill>
              <a:srgbClr val="D3E0E3"/>
            </a:solidFill>
            <a:prstDash val="solid"/>
          </a:ln>
        </p:spPr>
        <p:txBody>
          <a:bodyPr/>
          <a:lstStyle/>
          <a:p>
            <a:endParaRPr lang="en-US"/>
          </a:p>
        </p:txBody>
      </p:sp>
      <p:sp>
        <p:nvSpPr>
          <p:cNvPr id="38" name="Text 36"/>
          <p:cNvSpPr txBox="1"/>
          <p:nvPr/>
        </p:nvSpPr>
        <p:spPr>
          <a:xfrm>
            <a:off x="6492240" y="210312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R</a:t>
            </a:r>
            <a:endParaRPr lang="en-US" sz="1400" dirty="0"/>
          </a:p>
        </p:txBody>
      </p:sp>
      <p:sp>
        <p:nvSpPr>
          <p:cNvPr id="39" name="Shape 37"/>
          <p:cNvSpPr/>
          <p:nvPr/>
        </p:nvSpPr>
        <p:spPr>
          <a:xfrm>
            <a:off x="7040880" y="2103120"/>
            <a:ext cx="548640" cy="438912"/>
          </a:xfrm>
          <a:prstGeom prst="rect">
            <a:avLst/>
          </a:prstGeom>
          <a:solidFill>
            <a:srgbClr val="F1F6F7"/>
          </a:solidFill>
          <a:ln w="12700">
            <a:solidFill>
              <a:srgbClr val="D3E0E3"/>
            </a:solidFill>
            <a:prstDash val="solid"/>
          </a:ln>
        </p:spPr>
        <p:txBody>
          <a:bodyPr/>
          <a:lstStyle/>
          <a:p>
            <a:endParaRPr lang="en-US"/>
          </a:p>
        </p:txBody>
      </p:sp>
      <p:sp>
        <p:nvSpPr>
          <p:cNvPr id="40" name="Text 38"/>
          <p:cNvSpPr txBox="1"/>
          <p:nvPr/>
        </p:nvSpPr>
        <p:spPr>
          <a:xfrm>
            <a:off x="7040880" y="210312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I</a:t>
            </a:r>
            <a:endParaRPr lang="en-US" sz="1400" dirty="0"/>
          </a:p>
        </p:txBody>
      </p:sp>
      <p:sp>
        <p:nvSpPr>
          <p:cNvPr id="41" name="Shape 39"/>
          <p:cNvSpPr/>
          <p:nvPr/>
        </p:nvSpPr>
        <p:spPr>
          <a:xfrm>
            <a:off x="7589520" y="2103120"/>
            <a:ext cx="548640" cy="438912"/>
          </a:xfrm>
          <a:prstGeom prst="rect">
            <a:avLst/>
          </a:prstGeom>
          <a:solidFill>
            <a:srgbClr val="F1F6F7"/>
          </a:solidFill>
          <a:ln w="12700">
            <a:solidFill>
              <a:srgbClr val="D3E0E3"/>
            </a:solidFill>
            <a:prstDash val="solid"/>
          </a:ln>
        </p:spPr>
        <p:txBody>
          <a:bodyPr/>
          <a:lstStyle/>
          <a:p>
            <a:endParaRPr lang="en-US"/>
          </a:p>
        </p:txBody>
      </p:sp>
      <p:sp>
        <p:nvSpPr>
          <p:cNvPr id="42" name="Text 40"/>
          <p:cNvSpPr txBox="1"/>
          <p:nvPr/>
        </p:nvSpPr>
        <p:spPr>
          <a:xfrm>
            <a:off x="7589520" y="210312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O</a:t>
            </a:r>
            <a:endParaRPr lang="en-US" sz="1400" dirty="0"/>
          </a:p>
        </p:txBody>
      </p:sp>
      <p:sp>
        <p:nvSpPr>
          <p:cNvPr id="43" name="Shape 41"/>
          <p:cNvSpPr/>
          <p:nvPr/>
        </p:nvSpPr>
        <p:spPr>
          <a:xfrm>
            <a:off x="8138160" y="2103120"/>
            <a:ext cx="548640" cy="438912"/>
          </a:xfrm>
          <a:prstGeom prst="rect">
            <a:avLst/>
          </a:prstGeom>
          <a:solidFill>
            <a:srgbClr val="F1F6F7"/>
          </a:solidFill>
          <a:ln w="12700">
            <a:solidFill>
              <a:srgbClr val="D3E0E3"/>
            </a:solidFill>
            <a:prstDash val="solid"/>
          </a:ln>
        </p:spPr>
        <p:txBody>
          <a:bodyPr/>
          <a:lstStyle/>
          <a:p>
            <a:endParaRPr lang="en-US"/>
          </a:p>
        </p:txBody>
      </p:sp>
      <p:sp>
        <p:nvSpPr>
          <p:cNvPr id="44" name="Text 42"/>
          <p:cNvSpPr txBox="1"/>
          <p:nvPr/>
        </p:nvSpPr>
        <p:spPr>
          <a:xfrm>
            <a:off x="8138160" y="210312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L</a:t>
            </a:r>
            <a:endParaRPr lang="en-US" sz="1400" dirty="0"/>
          </a:p>
        </p:txBody>
      </p:sp>
      <p:sp>
        <p:nvSpPr>
          <p:cNvPr id="45" name="Shape 43"/>
          <p:cNvSpPr/>
          <p:nvPr/>
        </p:nvSpPr>
        <p:spPr>
          <a:xfrm>
            <a:off x="8686800" y="2103120"/>
            <a:ext cx="548640" cy="438912"/>
          </a:xfrm>
          <a:prstGeom prst="rect">
            <a:avLst/>
          </a:prstGeom>
          <a:solidFill>
            <a:srgbClr val="F1F6F7"/>
          </a:solidFill>
          <a:ln w="12700">
            <a:solidFill>
              <a:srgbClr val="D3E0E3"/>
            </a:solidFill>
            <a:prstDash val="solid"/>
          </a:ln>
        </p:spPr>
        <p:txBody>
          <a:bodyPr/>
          <a:lstStyle/>
          <a:p>
            <a:endParaRPr lang="en-US"/>
          </a:p>
        </p:txBody>
      </p:sp>
      <p:sp>
        <p:nvSpPr>
          <p:cNvPr id="46" name="Text 44"/>
          <p:cNvSpPr txBox="1"/>
          <p:nvPr/>
        </p:nvSpPr>
        <p:spPr>
          <a:xfrm>
            <a:off x="8686800" y="210312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A</a:t>
            </a:r>
            <a:endParaRPr lang="en-US" sz="1400" dirty="0"/>
          </a:p>
        </p:txBody>
      </p:sp>
      <p:sp>
        <p:nvSpPr>
          <p:cNvPr id="47" name="Shape 45"/>
          <p:cNvSpPr/>
          <p:nvPr/>
        </p:nvSpPr>
        <p:spPr>
          <a:xfrm>
            <a:off x="9235440" y="2103120"/>
            <a:ext cx="548640" cy="438912"/>
          </a:xfrm>
          <a:prstGeom prst="rect">
            <a:avLst/>
          </a:prstGeom>
          <a:solidFill>
            <a:srgbClr val="F1F6F7"/>
          </a:solidFill>
          <a:ln w="12700">
            <a:solidFill>
              <a:srgbClr val="D3E0E3"/>
            </a:solidFill>
            <a:prstDash val="solid"/>
          </a:ln>
        </p:spPr>
        <p:txBody>
          <a:bodyPr/>
          <a:lstStyle/>
          <a:p>
            <a:endParaRPr lang="en-US"/>
          </a:p>
        </p:txBody>
      </p:sp>
      <p:sp>
        <p:nvSpPr>
          <p:cNvPr id="48" name="Text 46"/>
          <p:cNvSpPr txBox="1"/>
          <p:nvPr/>
        </p:nvSpPr>
        <p:spPr>
          <a:xfrm>
            <a:off x="9235440" y="210312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G</a:t>
            </a:r>
            <a:endParaRPr lang="en-US" sz="1400" dirty="0"/>
          </a:p>
        </p:txBody>
      </p:sp>
      <p:sp>
        <p:nvSpPr>
          <p:cNvPr id="49" name="Shape 47"/>
          <p:cNvSpPr/>
          <p:nvPr/>
        </p:nvSpPr>
        <p:spPr>
          <a:xfrm>
            <a:off x="9784080" y="2103120"/>
            <a:ext cx="548640" cy="438912"/>
          </a:xfrm>
          <a:prstGeom prst="rect">
            <a:avLst/>
          </a:prstGeom>
          <a:solidFill>
            <a:srgbClr val="F1F6F7"/>
          </a:solidFill>
          <a:ln w="12700">
            <a:solidFill>
              <a:srgbClr val="D3E0E3"/>
            </a:solidFill>
            <a:prstDash val="solid"/>
          </a:ln>
        </p:spPr>
        <p:txBody>
          <a:bodyPr/>
          <a:lstStyle/>
          <a:p>
            <a:endParaRPr lang="en-US"/>
          </a:p>
        </p:txBody>
      </p:sp>
      <p:sp>
        <p:nvSpPr>
          <p:cNvPr id="50" name="Text 48"/>
          <p:cNvSpPr txBox="1"/>
          <p:nvPr/>
        </p:nvSpPr>
        <p:spPr>
          <a:xfrm>
            <a:off x="9784080" y="210312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H</a:t>
            </a:r>
            <a:endParaRPr lang="en-US" sz="1400" dirty="0"/>
          </a:p>
        </p:txBody>
      </p:sp>
      <p:sp>
        <p:nvSpPr>
          <p:cNvPr id="51" name="Shape 49"/>
          <p:cNvSpPr/>
          <p:nvPr/>
        </p:nvSpPr>
        <p:spPr>
          <a:xfrm>
            <a:off x="10332720" y="2103120"/>
            <a:ext cx="548640" cy="438912"/>
          </a:xfrm>
          <a:prstGeom prst="rect">
            <a:avLst/>
          </a:prstGeom>
          <a:solidFill>
            <a:srgbClr val="F1F6F7"/>
          </a:solidFill>
          <a:ln w="12700">
            <a:solidFill>
              <a:srgbClr val="D3E0E3"/>
            </a:solidFill>
            <a:prstDash val="solid"/>
          </a:ln>
        </p:spPr>
        <p:txBody>
          <a:bodyPr/>
          <a:lstStyle/>
          <a:p>
            <a:endParaRPr lang="en-US"/>
          </a:p>
        </p:txBody>
      </p:sp>
      <p:sp>
        <p:nvSpPr>
          <p:cNvPr id="52" name="Text 50"/>
          <p:cNvSpPr txBox="1"/>
          <p:nvPr/>
        </p:nvSpPr>
        <p:spPr>
          <a:xfrm>
            <a:off x="10332720" y="210312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M</a:t>
            </a:r>
            <a:endParaRPr lang="en-US" sz="1400" dirty="0"/>
          </a:p>
        </p:txBody>
      </p:sp>
      <p:sp>
        <p:nvSpPr>
          <p:cNvPr id="53" name="Text 51"/>
          <p:cNvSpPr txBox="1"/>
          <p:nvPr/>
        </p:nvSpPr>
        <p:spPr>
          <a:xfrm>
            <a:off x="5943600" y="2788920"/>
            <a:ext cx="5605272" cy="320040"/>
          </a:xfrm>
          <a:prstGeom prst="rect">
            <a:avLst/>
          </a:prstGeom>
          <a:noFill/>
          <a:ln/>
        </p:spPr>
        <p:txBody>
          <a:bodyPr wrap="square" lIns="0" tIns="0" rIns="0" bIns="0" rtlCol="0" anchor="t"/>
          <a:lstStyle/>
          <a:p>
            <a:pPr marL="0" indent="0" algn="l">
              <a:lnSpc>
                <a:spcPts val="1890"/>
              </a:lnSpc>
              <a:buNone/>
            </a:pPr>
            <a:r>
              <a:rPr lang="en-US" sz="1400" b="1" dirty="0">
                <a:solidFill>
                  <a:srgbClr val="0F5E6E"/>
                </a:solidFill>
                <a:latin typeface="Calibri" pitchFamily="34" charset="0"/>
                <a:ea typeface="Calibri" pitchFamily="34" charset="-122"/>
                <a:cs typeface="Calibri" pitchFamily="34" charset="-120"/>
              </a:rPr>
              <a:t>Q57 · repeated insertion</a:t>
            </a:r>
            <a:endParaRPr lang="en-US" sz="1400" dirty="0"/>
          </a:p>
        </p:txBody>
      </p:sp>
      <p:sp>
        <p:nvSpPr>
          <p:cNvPr id="54" name="Shape 52"/>
          <p:cNvSpPr/>
          <p:nvPr/>
        </p:nvSpPr>
        <p:spPr>
          <a:xfrm>
            <a:off x="5943600" y="3154680"/>
            <a:ext cx="548640" cy="438912"/>
          </a:xfrm>
          <a:prstGeom prst="rect">
            <a:avLst/>
          </a:prstGeom>
          <a:solidFill>
            <a:srgbClr val="FBEEDA"/>
          </a:solidFill>
          <a:ln w="12700">
            <a:solidFill>
              <a:srgbClr val="D3E0E3"/>
            </a:solidFill>
            <a:prstDash val="solid"/>
          </a:ln>
        </p:spPr>
        <p:txBody>
          <a:bodyPr/>
          <a:lstStyle/>
          <a:p>
            <a:endParaRPr lang="en-US"/>
          </a:p>
        </p:txBody>
      </p:sp>
      <p:sp>
        <p:nvSpPr>
          <p:cNvPr id="55" name="Text 53"/>
          <p:cNvSpPr txBox="1"/>
          <p:nvPr/>
        </p:nvSpPr>
        <p:spPr>
          <a:xfrm>
            <a:off x="5943600" y="315468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T</a:t>
            </a:r>
            <a:endParaRPr lang="en-US" sz="1400" dirty="0"/>
          </a:p>
        </p:txBody>
      </p:sp>
      <p:sp>
        <p:nvSpPr>
          <p:cNvPr id="56" name="Shape 54"/>
          <p:cNvSpPr/>
          <p:nvPr/>
        </p:nvSpPr>
        <p:spPr>
          <a:xfrm>
            <a:off x="6492240" y="3154680"/>
            <a:ext cx="548640" cy="438912"/>
          </a:xfrm>
          <a:prstGeom prst="rect">
            <a:avLst/>
          </a:prstGeom>
          <a:solidFill>
            <a:srgbClr val="FBEEDA"/>
          </a:solidFill>
          <a:ln w="12700">
            <a:solidFill>
              <a:srgbClr val="D3E0E3"/>
            </a:solidFill>
            <a:prstDash val="solid"/>
          </a:ln>
        </p:spPr>
        <p:txBody>
          <a:bodyPr/>
          <a:lstStyle/>
          <a:p>
            <a:endParaRPr lang="en-US"/>
          </a:p>
        </p:txBody>
      </p:sp>
      <p:sp>
        <p:nvSpPr>
          <p:cNvPr id="57" name="Text 55"/>
          <p:cNvSpPr txBox="1"/>
          <p:nvPr/>
        </p:nvSpPr>
        <p:spPr>
          <a:xfrm>
            <a:off x="6492240" y="315468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O</a:t>
            </a:r>
            <a:endParaRPr lang="en-US" sz="1400" dirty="0"/>
          </a:p>
        </p:txBody>
      </p:sp>
      <p:sp>
        <p:nvSpPr>
          <p:cNvPr id="58" name="Shape 56"/>
          <p:cNvSpPr/>
          <p:nvPr/>
        </p:nvSpPr>
        <p:spPr>
          <a:xfrm>
            <a:off x="7040880" y="3154680"/>
            <a:ext cx="548640" cy="438912"/>
          </a:xfrm>
          <a:prstGeom prst="rect">
            <a:avLst/>
          </a:prstGeom>
          <a:solidFill>
            <a:srgbClr val="FBEEDA"/>
          </a:solidFill>
          <a:ln w="12700">
            <a:solidFill>
              <a:srgbClr val="D3E0E3"/>
            </a:solidFill>
            <a:prstDash val="solid"/>
          </a:ln>
        </p:spPr>
        <p:txBody>
          <a:bodyPr/>
          <a:lstStyle/>
          <a:p>
            <a:endParaRPr lang="en-US"/>
          </a:p>
        </p:txBody>
      </p:sp>
      <p:sp>
        <p:nvSpPr>
          <p:cNvPr id="59" name="Text 57"/>
          <p:cNvSpPr txBox="1"/>
          <p:nvPr/>
        </p:nvSpPr>
        <p:spPr>
          <a:xfrm>
            <a:off x="7040880" y="315468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R</a:t>
            </a:r>
            <a:endParaRPr lang="en-US" sz="1400" dirty="0"/>
          </a:p>
        </p:txBody>
      </p:sp>
      <p:sp>
        <p:nvSpPr>
          <p:cNvPr id="60" name="Shape 58"/>
          <p:cNvSpPr/>
          <p:nvPr/>
        </p:nvSpPr>
        <p:spPr>
          <a:xfrm>
            <a:off x="7589520" y="3154680"/>
            <a:ext cx="548640" cy="438912"/>
          </a:xfrm>
          <a:prstGeom prst="rect">
            <a:avLst/>
          </a:prstGeom>
          <a:solidFill>
            <a:srgbClr val="FBEEDA"/>
          </a:solidFill>
          <a:ln w="12700">
            <a:solidFill>
              <a:srgbClr val="D3E0E3"/>
            </a:solidFill>
            <a:prstDash val="solid"/>
          </a:ln>
        </p:spPr>
        <p:txBody>
          <a:bodyPr/>
          <a:lstStyle/>
          <a:p>
            <a:endParaRPr lang="en-US"/>
          </a:p>
        </p:txBody>
      </p:sp>
      <p:sp>
        <p:nvSpPr>
          <p:cNvPr id="61" name="Text 59"/>
          <p:cNvSpPr txBox="1"/>
          <p:nvPr/>
        </p:nvSpPr>
        <p:spPr>
          <a:xfrm>
            <a:off x="7589520" y="315468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M</a:t>
            </a:r>
            <a:endParaRPr lang="en-US" sz="1400" dirty="0"/>
          </a:p>
        </p:txBody>
      </p:sp>
      <p:sp>
        <p:nvSpPr>
          <p:cNvPr id="62" name="Shape 60"/>
          <p:cNvSpPr/>
          <p:nvPr/>
        </p:nvSpPr>
        <p:spPr>
          <a:xfrm>
            <a:off x="8138160" y="3154680"/>
            <a:ext cx="548640" cy="438912"/>
          </a:xfrm>
          <a:prstGeom prst="rect">
            <a:avLst/>
          </a:prstGeom>
          <a:solidFill>
            <a:srgbClr val="FBEEDA"/>
          </a:solidFill>
          <a:ln w="12700">
            <a:solidFill>
              <a:srgbClr val="D3E0E3"/>
            </a:solidFill>
            <a:prstDash val="solid"/>
          </a:ln>
        </p:spPr>
        <p:txBody>
          <a:bodyPr/>
          <a:lstStyle/>
          <a:p>
            <a:endParaRPr lang="en-US"/>
          </a:p>
        </p:txBody>
      </p:sp>
      <p:sp>
        <p:nvSpPr>
          <p:cNvPr id="63" name="Text 61"/>
          <p:cNvSpPr txBox="1"/>
          <p:nvPr/>
        </p:nvSpPr>
        <p:spPr>
          <a:xfrm>
            <a:off x="8138160" y="315468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L</a:t>
            </a:r>
            <a:endParaRPr lang="en-US" sz="1400" dirty="0"/>
          </a:p>
        </p:txBody>
      </p:sp>
      <p:sp>
        <p:nvSpPr>
          <p:cNvPr id="64" name="Shape 62"/>
          <p:cNvSpPr/>
          <p:nvPr/>
        </p:nvSpPr>
        <p:spPr>
          <a:xfrm>
            <a:off x="8686800" y="3154680"/>
            <a:ext cx="548640" cy="438912"/>
          </a:xfrm>
          <a:prstGeom prst="rect">
            <a:avLst/>
          </a:prstGeom>
          <a:solidFill>
            <a:srgbClr val="FBEEDA"/>
          </a:solidFill>
          <a:ln w="12700">
            <a:solidFill>
              <a:srgbClr val="D3E0E3"/>
            </a:solidFill>
            <a:prstDash val="solid"/>
          </a:ln>
        </p:spPr>
        <p:txBody>
          <a:bodyPr/>
          <a:lstStyle/>
          <a:p>
            <a:endParaRPr lang="en-US"/>
          </a:p>
        </p:txBody>
      </p:sp>
      <p:sp>
        <p:nvSpPr>
          <p:cNvPr id="65" name="Text 63"/>
          <p:cNvSpPr txBox="1"/>
          <p:nvPr/>
        </p:nvSpPr>
        <p:spPr>
          <a:xfrm>
            <a:off x="8686800" y="315468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G</a:t>
            </a:r>
            <a:endParaRPr lang="en-US" sz="1400" dirty="0"/>
          </a:p>
        </p:txBody>
      </p:sp>
      <p:sp>
        <p:nvSpPr>
          <p:cNvPr id="66" name="Shape 64"/>
          <p:cNvSpPr/>
          <p:nvPr/>
        </p:nvSpPr>
        <p:spPr>
          <a:xfrm>
            <a:off x="9235440" y="3154680"/>
            <a:ext cx="548640" cy="438912"/>
          </a:xfrm>
          <a:prstGeom prst="rect">
            <a:avLst/>
          </a:prstGeom>
          <a:solidFill>
            <a:srgbClr val="FBEEDA"/>
          </a:solidFill>
          <a:ln w="12700">
            <a:solidFill>
              <a:srgbClr val="D3E0E3"/>
            </a:solidFill>
            <a:prstDash val="solid"/>
          </a:ln>
        </p:spPr>
        <p:txBody>
          <a:bodyPr/>
          <a:lstStyle/>
          <a:p>
            <a:endParaRPr lang="en-US"/>
          </a:p>
        </p:txBody>
      </p:sp>
      <p:sp>
        <p:nvSpPr>
          <p:cNvPr id="67" name="Text 65"/>
          <p:cNvSpPr txBox="1"/>
          <p:nvPr/>
        </p:nvSpPr>
        <p:spPr>
          <a:xfrm>
            <a:off x="9235440" y="315468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I</a:t>
            </a:r>
            <a:endParaRPr lang="en-US" sz="1400" dirty="0"/>
          </a:p>
        </p:txBody>
      </p:sp>
      <p:sp>
        <p:nvSpPr>
          <p:cNvPr id="68" name="Shape 66"/>
          <p:cNvSpPr/>
          <p:nvPr/>
        </p:nvSpPr>
        <p:spPr>
          <a:xfrm>
            <a:off x="9784080" y="3154680"/>
            <a:ext cx="548640" cy="438912"/>
          </a:xfrm>
          <a:prstGeom prst="rect">
            <a:avLst/>
          </a:prstGeom>
          <a:solidFill>
            <a:srgbClr val="FBEEDA"/>
          </a:solidFill>
          <a:ln w="12700">
            <a:solidFill>
              <a:srgbClr val="D3E0E3"/>
            </a:solidFill>
            <a:prstDash val="solid"/>
          </a:ln>
        </p:spPr>
        <p:txBody>
          <a:bodyPr/>
          <a:lstStyle/>
          <a:p>
            <a:endParaRPr lang="en-US"/>
          </a:p>
        </p:txBody>
      </p:sp>
      <p:sp>
        <p:nvSpPr>
          <p:cNvPr id="69" name="Text 67"/>
          <p:cNvSpPr txBox="1"/>
          <p:nvPr/>
        </p:nvSpPr>
        <p:spPr>
          <a:xfrm>
            <a:off x="9784080" y="315468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A</a:t>
            </a:r>
            <a:endParaRPr lang="en-US" sz="1400" dirty="0"/>
          </a:p>
        </p:txBody>
      </p:sp>
      <p:sp>
        <p:nvSpPr>
          <p:cNvPr id="70" name="Shape 68"/>
          <p:cNvSpPr/>
          <p:nvPr/>
        </p:nvSpPr>
        <p:spPr>
          <a:xfrm>
            <a:off x="10332720" y="3154680"/>
            <a:ext cx="548640" cy="438912"/>
          </a:xfrm>
          <a:prstGeom prst="rect">
            <a:avLst/>
          </a:prstGeom>
          <a:solidFill>
            <a:srgbClr val="FBEEDA"/>
          </a:solidFill>
          <a:ln w="12700">
            <a:solidFill>
              <a:srgbClr val="D3E0E3"/>
            </a:solidFill>
            <a:prstDash val="solid"/>
          </a:ln>
        </p:spPr>
        <p:txBody>
          <a:bodyPr/>
          <a:lstStyle/>
          <a:p>
            <a:endParaRPr lang="en-US"/>
          </a:p>
        </p:txBody>
      </p:sp>
      <p:sp>
        <p:nvSpPr>
          <p:cNvPr id="71" name="Text 69"/>
          <p:cNvSpPr txBox="1"/>
          <p:nvPr/>
        </p:nvSpPr>
        <p:spPr>
          <a:xfrm>
            <a:off x="10332720" y="315468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H</a:t>
            </a:r>
            <a:endParaRPr lang="en-US" sz="1400" dirty="0"/>
          </a:p>
        </p:txBody>
      </p:sp>
      <p:sp>
        <p:nvSpPr>
          <p:cNvPr id="72" name="Shape 70"/>
          <p:cNvSpPr/>
          <p:nvPr/>
        </p:nvSpPr>
        <p:spPr>
          <a:xfrm>
            <a:off x="5943600" y="3977640"/>
            <a:ext cx="5605272" cy="1920240"/>
          </a:xfrm>
          <a:prstGeom prst="roundRect">
            <a:avLst>
              <a:gd name="adj" fmla="val 2381"/>
            </a:avLst>
          </a:prstGeom>
          <a:solidFill>
            <a:srgbClr val="F1F6F7"/>
          </a:solidFill>
          <a:ln w="12700">
            <a:solidFill>
              <a:srgbClr val="D3E0E3"/>
            </a:solidFill>
            <a:prstDash val="solid"/>
          </a:ln>
        </p:spPr>
        <p:txBody>
          <a:bodyPr/>
          <a:lstStyle/>
          <a:p>
            <a:endParaRPr lang="en-US"/>
          </a:p>
        </p:txBody>
      </p:sp>
      <p:sp>
        <p:nvSpPr>
          <p:cNvPr id="73" name="Text 71"/>
          <p:cNvSpPr txBox="1"/>
          <p:nvPr/>
        </p:nvSpPr>
        <p:spPr>
          <a:xfrm>
            <a:off x="6217920" y="4160520"/>
            <a:ext cx="5056632" cy="155448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6343B"/>
                </a:solidFill>
                <a:latin typeface="Calibri" pitchFamily="34" charset="0"/>
                <a:ea typeface="Calibri" pitchFamily="34" charset="-122"/>
                <a:cs typeface="Calibri" pitchFamily="34" charset="-120"/>
              </a:rPr>
              <a:t>Both are valid max-heaps. Only the root is forced — T is the largest key.</a:t>
            </a:r>
            <a:endParaRPr lang="en-US" sz="1300" dirty="0"/>
          </a:p>
          <a:p>
            <a:pPr marL="203200" indent="-203200">
              <a:spcAft>
                <a:spcPts val="800"/>
              </a:spcAft>
              <a:buSzPct val="100000"/>
              <a:buChar char="▪"/>
            </a:pPr>
            <a:r>
              <a:rPr lang="en-US" sz="1300" dirty="0">
                <a:solidFill>
                  <a:srgbClr val="16343B"/>
                </a:solidFill>
                <a:latin typeface="Calibri" pitchFamily="34" charset="0"/>
                <a:ea typeface="Calibri" pitchFamily="34" charset="-122"/>
                <a:cs typeface="Calibri" pitchFamily="34" charset="-120"/>
              </a:rPr>
              <a:t>A set of keys has many legal heaps: the heap property constrains each parent-child pair, nothing more.</a:t>
            </a:r>
            <a:endParaRPr lang="en-US" sz="1300" dirty="0"/>
          </a:p>
          <a:p>
            <a:pPr marL="203200" indent="-203200">
              <a:spcAft>
                <a:spcPts val="800"/>
              </a:spcAft>
              <a:buSzPct val="100000"/>
              <a:buChar char="▪"/>
            </a:pPr>
            <a:r>
              <a:rPr lang="en-US" sz="1300" b="1" dirty="0">
                <a:solidFill>
                  <a:srgbClr val="9C6410"/>
                </a:solidFill>
                <a:latin typeface="Calibri" pitchFamily="34" charset="0"/>
                <a:ea typeface="Calibri" pitchFamily="34" charset="-122"/>
                <a:cs typeface="Calibri" pitchFamily="34" charset="-120"/>
              </a:rPr>
              <a:t>So “the heap” is never well defined — the algorithm that built it is what determines the layout.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Q58</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Is this array a heap?</a:t>
            </a:r>
            <a:endParaRPr lang="en-US" sz="3000" dirty="0"/>
          </a:p>
        </p:txBody>
      </p:sp>
      <p:sp>
        <p:nvSpPr>
          <p:cNvPr id="5" name="Text 3"/>
          <p:cNvSpPr txBox="1"/>
          <p:nvPr/>
        </p:nvSpPr>
        <p:spPr>
          <a:xfrm>
            <a:off x="1737360" y="969264"/>
            <a:ext cx="9811512" cy="310896"/>
          </a:xfrm>
          <a:prstGeom prst="rect">
            <a:avLst/>
          </a:prstGeom>
          <a:noFill/>
          <a:ln/>
        </p:spPr>
        <p:txBody>
          <a:bodyPr wrap="square" lIns="0" tIns="0" rIns="0" bIns="0" rtlCol="0" anchor="ctr"/>
          <a:lstStyle/>
          <a:p>
            <a:pPr marL="0" indent="0">
              <a:buNone/>
            </a:pPr>
            <a:r>
              <a:rPr lang="en-US" sz="1400" i="1" dirty="0">
                <a:solidFill>
                  <a:srgbClr val="5F7A80"/>
                </a:solidFill>
                <a:latin typeface="Calibri" pitchFamily="34" charset="0"/>
                <a:ea typeface="Calibri" pitchFamily="34" charset="-122"/>
                <a:cs typeface="Calibri" pitchFamily="34" charset="-120"/>
              </a:rPr>
              <a:t>The array representation makes the check almost trivial</a:t>
            </a:r>
            <a:endParaRPr lang="en-US" sz="1400" dirty="0"/>
          </a:p>
        </p:txBody>
      </p:sp>
      <p:sp>
        <p:nvSpPr>
          <p:cNvPr id="6" name="Text 4"/>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19</a:t>
            </a:r>
            <a:endParaRPr lang="en-US" sz="900" dirty="0"/>
          </a:p>
        </p:txBody>
      </p:sp>
      <p:sp>
        <p:nvSpPr>
          <p:cNvPr id="7" name="Shape 5"/>
          <p:cNvSpPr/>
          <p:nvPr/>
        </p:nvSpPr>
        <p:spPr>
          <a:xfrm>
            <a:off x="640080" y="1783080"/>
            <a:ext cx="5943600" cy="1692021"/>
          </a:xfrm>
          <a:prstGeom prst="roundRect">
            <a:avLst>
              <a:gd name="adj" fmla="val 2702"/>
            </a:avLst>
          </a:prstGeom>
          <a:solidFill>
            <a:srgbClr val="F1F6F7"/>
          </a:solidFill>
          <a:ln w="12700">
            <a:solidFill>
              <a:srgbClr val="D3E0E3"/>
            </a:solidFill>
            <a:prstDash val="solid"/>
          </a:ln>
        </p:spPr>
        <p:txBody>
          <a:bodyPr/>
          <a:lstStyle/>
          <a:p>
            <a:endParaRPr lang="en-US"/>
          </a:p>
        </p:txBody>
      </p:sp>
      <p:sp>
        <p:nvSpPr>
          <p:cNvPr id="8" name="Text 6"/>
          <p:cNvSpPr txBox="1"/>
          <p:nvPr/>
        </p:nvSpPr>
        <p:spPr>
          <a:xfrm>
            <a:off x="841248" y="1938528"/>
            <a:ext cx="5541264" cy="1381125"/>
          </a:xfrm>
          <a:prstGeom prst="rect">
            <a:avLst/>
          </a:prstGeom>
          <a:noFill/>
          <a:ln/>
        </p:spPr>
        <p:txBody>
          <a:bodyPr wrap="square" lIns="0" tIns="0" rIns="0" bIns="0" rtlCol="0" anchor="t"/>
          <a:lstStyle/>
          <a:p>
            <a:pPr marL="0" indent="0">
              <a:lnSpc>
                <a:spcPts val="2175"/>
              </a:lnSpc>
              <a:buNone/>
            </a:pPr>
            <a:r>
              <a:rPr lang="en-US" sz="1500" b="1" dirty="0">
                <a:solidFill>
                  <a:srgbClr val="0F5E6E"/>
                </a:solidFill>
                <a:latin typeface="Courier New" pitchFamily="34" charset="0"/>
                <a:ea typeface="Courier New" pitchFamily="34" charset="-122"/>
                <a:cs typeface="Courier New" pitchFamily="34" charset="-120"/>
              </a:rPr>
              <a:t>function IsHeap(A[·], n)</a:t>
            </a:r>
            <a:endParaRPr lang="en-US" sz="1500" dirty="0"/>
          </a:p>
          <a:p>
            <a:pPr marL="0" indent="0">
              <a:lnSpc>
                <a:spcPts val="2175"/>
              </a:lnSpc>
              <a:buNone/>
            </a:pPr>
            <a:r>
              <a:rPr lang="en-US" sz="1500" dirty="0">
                <a:solidFill>
                  <a:srgbClr val="16343B"/>
                </a:solidFill>
                <a:latin typeface="Courier New" pitchFamily="34" charset="0"/>
                <a:ea typeface="Courier New" pitchFamily="34" charset="-122"/>
                <a:cs typeface="Courier New" pitchFamily="34" charset="-120"/>
              </a:rPr>
              <a:t>  for i ← 2 to n do</a:t>
            </a:r>
            <a:endParaRPr lang="en-US" sz="1500" dirty="0"/>
          </a:p>
          <a:p>
            <a:pPr marL="0" indent="0">
              <a:lnSpc>
                <a:spcPts val="2175"/>
              </a:lnSpc>
              <a:buNone/>
            </a:pPr>
            <a:r>
              <a:rPr lang="en-US" sz="1500" b="1" dirty="0">
                <a:solidFill>
                  <a:srgbClr val="9C6410"/>
                </a:solidFill>
                <a:latin typeface="Courier New" pitchFamily="34" charset="0"/>
                <a:ea typeface="Courier New" pitchFamily="34" charset="-122"/>
                <a:cs typeface="Courier New" pitchFamily="34" charset="-120"/>
              </a:rPr>
              <a:t>    if A[i] &gt; A[⌊i / 2⌋] then</a:t>
            </a:r>
            <a:endParaRPr lang="en-US" sz="1500" dirty="0"/>
          </a:p>
          <a:p>
            <a:pPr marL="0" indent="0">
              <a:lnSpc>
                <a:spcPts val="2175"/>
              </a:lnSpc>
              <a:buNone/>
            </a:pPr>
            <a:r>
              <a:rPr lang="en-US" sz="1500" dirty="0">
                <a:solidFill>
                  <a:srgbClr val="16343B"/>
                </a:solidFill>
                <a:latin typeface="Courier New" pitchFamily="34" charset="0"/>
                <a:ea typeface="Courier New" pitchFamily="34" charset="-122"/>
                <a:cs typeface="Courier New" pitchFamily="34" charset="-120"/>
              </a:rPr>
              <a:t>      return False</a:t>
            </a:r>
            <a:endParaRPr lang="en-US" sz="1500" dirty="0"/>
          </a:p>
          <a:p>
            <a:pPr marL="0" indent="0">
              <a:lnSpc>
                <a:spcPts val="2175"/>
              </a:lnSpc>
              <a:buNone/>
            </a:pPr>
            <a:r>
              <a:rPr lang="en-US" sz="1500" dirty="0">
                <a:solidFill>
                  <a:srgbClr val="16343B"/>
                </a:solidFill>
                <a:latin typeface="Courier New" pitchFamily="34" charset="0"/>
                <a:ea typeface="Courier New" pitchFamily="34" charset="-122"/>
                <a:cs typeface="Courier New" pitchFamily="34" charset="-120"/>
              </a:rPr>
              <a:t>  return True</a:t>
            </a:r>
            <a:endParaRPr lang="en-US" sz="1500" dirty="0"/>
          </a:p>
        </p:txBody>
      </p:sp>
      <p:sp>
        <p:nvSpPr>
          <p:cNvPr id="9" name="Text 7"/>
          <p:cNvSpPr txBox="1"/>
          <p:nvPr/>
        </p:nvSpPr>
        <p:spPr>
          <a:xfrm>
            <a:off x="640080" y="3657600"/>
            <a:ext cx="5943600" cy="219456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16343B"/>
                </a:solidFill>
                <a:latin typeface="Calibri" pitchFamily="34" charset="0"/>
                <a:ea typeface="Calibri" pitchFamily="34" charset="-122"/>
                <a:cs typeface="Calibri" pitchFamily="34" charset="-120"/>
              </a:rPr>
              <a:t>Start at i = 2 — index 1 is the root and has no parent to violate.</a:t>
            </a:r>
            <a:endParaRPr lang="en-US" sz="1400" dirty="0"/>
          </a:p>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Checking “every node beats its parent's test” once per child covers every parent-child pair exactly once.</a:t>
            </a:r>
            <a:endParaRPr lang="en-US" sz="1400" dirty="0"/>
          </a:p>
          <a:p>
            <a:pPr marL="203200" indent="-203200">
              <a:spcAft>
                <a:spcPts val="800"/>
              </a:spcAft>
              <a:buSzPct val="100000"/>
              <a:buChar char="▪"/>
            </a:pPr>
            <a:r>
              <a:rPr lang="en-US" sz="1400" b="1" dirty="0">
                <a:solidFill>
                  <a:srgbClr val="9C6410"/>
                </a:solidFill>
                <a:latin typeface="Calibri" pitchFamily="34" charset="0"/>
                <a:ea typeface="Calibri" pitchFamily="34" charset="-122"/>
                <a:cs typeface="Calibri" pitchFamily="34" charset="-120"/>
              </a:rPr>
              <a:t>Θ(n) time, Θ(1) extra space, one pass.</a:t>
            </a:r>
            <a:endParaRPr lang="en-US" sz="1400" dirty="0"/>
          </a:p>
        </p:txBody>
      </p:sp>
      <p:sp>
        <p:nvSpPr>
          <p:cNvPr id="10" name="Shape 8"/>
          <p:cNvSpPr/>
          <p:nvPr/>
        </p:nvSpPr>
        <p:spPr>
          <a:xfrm>
            <a:off x="7223760" y="1783080"/>
            <a:ext cx="4325112" cy="1965960"/>
          </a:xfrm>
          <a:prstGeom prst="roundRect">
            <a:avLst>
              <a:gd name="adj" fmla="val 2326"/>
            </a:avLst>
          </a:prstGeom>
          <a:solidFill>
            <a:srgbClr val="FBEEDA"/>
          </a:solidFill>
          <a:ln w="12700">
            <a:solidFill>
              <a:srgbClr val="EAD3A6"/>
            </a:solidFill>
            <a:prstDash val="solid"/>
          </a:ln>
        </p:spPr>
        <p:txBody>
          <a:bodyPr/>
          <a:lstStyle/>
          <a:p>
            <a:endParaRPr lang="en-US"/>
          </a:p>
        </p:txBody>
      </p:sp>
      <p:sp>
        <p:nvSpPr>
          <p:cNvPr id="11" name="Text 9"/>
          <p:cNvSpPr txBox="1"/>
          <p:nvPr/>
        </p:nvSpPr>
        <p:spPr>
          <a:xfrm>
            <a:off x="7498080" y="1947672"/>
            <a:ext cx="3776472"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WHY NO SHAPE CHECK?</a:t>
            </a:r>
            <a:endParaRPr lang="en-US" sz="1100" dirty="0"/>
          </a:p>
        </p:txBody>
      </p:sp>
      <p:sp>
        <p:nvSpPr>
          <p:cNvPr id="12" name="Text 10"/>
          <p:cNvSpPr txBox="1"/>
          <p:nvPr/>
        </p:nvSpPr>
        <p:spPr>
          <a:xfrm>
            <a:off x="7498080" y="2286000"/>
            <a:ext cx="3776472" cy="1325880"/>
          </a:xfrm>
          <a:prstGeom prst="rect">
            <a:avLst/>
          </a:prstGeom>
          <a:noFill/>
          <a:ln/>
        </p:spPr>
        <p:txBody>
          <a:bodyPr wrap="square" lIns="0" tIns="0" rIns="0" bIns="0" rtlCol="0" anchor="t"/>
          <a:lstStyle/>
          <a:p>
            <a:pPr marL="0" indent="0" algn="l">
              <a:lnSpc>
                <a:spcPts val="1755"/>
              </a:lnSpc>
              <a:buNone/>
            </a:pPr>
            <a:r>
              <a:rPr lang="en-US" sz="1300" dirty="0">
                <a:solidFill>
                  <a:srgbClr val="16343B"/>
                </a:solidFill>
                <a:latin typeface="Calibri" pitchFamily="34" charset="0"/>
                <a:ea typeface="Calibri" pitchFamily="34" charset="-122"/>
                <a:cs typeface="Calibri" pitchFamily="34" charset="-120"/>
              </a:rPr>
              <a:t>Storing keys in A[1..n] with no gaps already forces an essentially complete tree. The shape requirement is satisfied by construction, so only parental dominance is left to verify.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Q59</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Heapsort in two phases</a:t>
            </a:r>
            <a:endParaRPr lang="en-US" sz="3000" dirty="0"/>
          </a:p>
        </p:txBody>
      </p:sp>
      <p:sp>
        <p:nvSpPr>
          <p:cNvPr id="5" name="Text 3"/>
          <p:cNvSpPr txBox="1"/>
          <p:nvPr/>
        </p:nvSpPr>
        <p:spPr>
          <a:xfrm>
            <a:off x="1737360" y="969264"/>
            <a:ext cx="9811512" cy="310896"/>
          </a:xfrm>
          <a:prstGeom prst="rect">
            <a:avLst/>
          </a:prstGeom>
          <a:noFill/>
          <a:ln/>
        </p:spPr>
        <p:txBody>
          <a:bodyPr wrap="square" lIns="0" tIns="0" rIns="0" bIns="0" rtlCol="0" anchor="ctr"/>
          <a:lstStyle/>
          <a:p>
            <a:pPr marL="0" indent="0">
              <a:buNone/>
            </a:pPr>
            <a:r>
              <a:rPr lang="en-US" sz="1400" i="1" dirty="0">
                <a:solidFill>
                  <a:srgbClr val="5F7A80"/>
                </a:solidFill>
                <a:latin typeface="Calibri" pitchFamily="34" charset="0"/>
                <a:ea typeface="Calibri" pitchFamily="34" charset="-122"/>
                <a:cs typeface="Calibri" pitchFamily="34" charset="-120"/>
              </a:rPr>
              <a:t>Starting from the heap we built in Q56</a:t>
            </a:r>
            <a:endParaRPr lang="en-US" sz="1400" dirty="0"/>
          </a:p>
        </p:txBody>
      </p:sp>
      <p:sp>
        <p:nvSpPr>
          <p:cNvPr id="6" name="Text 4"/>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20</a:t>
            </a:r>
            <a:endParaRPr lang="en-US" sz="900" dirty="0"/>
          </a:p>
        </p:txBody>
      </p:sp>
      <p:sp>
        <p:nvSpPr>
          <p:cNvPr id="7" name="Shape 5"/>
          <p:cNvSpPr/>
          <p:nvPr/>
        </p:nvSpPr>
        <p:spPr>
          <a:xfrm>
            <a:off x="640080" y="1691640"/>
            <a:ext cx="5225796" cy="1737360"/>
          </a:xfrm>
          <a:prstGeom prst="roundRect">
            <a:avLst>
              <a:gd name="adj" fmla="val 2632"/>
            </a:avLst>
          </a:prstGeom>
          <a:solidFill>
            <a:srgbClr val="F1F6F7"/>
          </a:solidFill>
          <a:ln w="12700">
            <a:solidFill>
              <a:srgbClr val="D3E0E3"/>
            </a:solidFill>
            <a:prstDash val="solid"/>
          </a:ln>
        </p:spPr>
        <p:txBody>
          <a:bodyPr/>
          <a:lstStyle/>
          <a:p>
            <a:endParaRPr lang="en-US"/>
          </a:p>
        </p:txBody>
      </p:sp>
      <p:sp>
        <p:nvSpPr>
          <p:cNvPr id="8" name="Shape 6"/>
          <p:cNvSpPr/>
          <p:nvPr/>
        </p:nvSpPr>
        <p:spPr>
          <a:xfrm>
            <a:off x="914400" y="1901952"/>
            <a:ext cx="420624" cy="420624"/>
          </a:xfrm>
          <a:prstGeom prst="ellipse">
            <a:avLst/>
          </a:prstGeom>
          <a:solidFill>
            <a:srgbClr val="D9932B"/>
          </a:solidFill>
          <a:ln w="12700">
            <a:solidFill>
              <a:srgbClr val="D9932B"/>
            </a:solidFill>
            <a:prstDash val="solid"/>
          </a:ln>
        </p:spPr>
        <p:txBody>
          <a:bodyPr/>
          <a:lstStyle/>
          <a:p>
            <a:endParaRPr lang="en-US"/>
          </a:p>
        </p:txBody>
      </p:sp>
      <p:sp>
        <p:nvSpPr>
          <p:cNvPr id="9" name="Text 7"/>
          <p:cNvSpPr txBox="1"/>
          <p:nvPr/>
        </p:nvSpPr>
        <p:spPr>
          <a:xfrm>
            <a:off x="914400" y="1901952"/>
            <a:ext cx="420624" cy="420624"/>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508760" y="1920240"/>
            <a:ext cx="4037076" cy="365760"/>
          </a:xfrm>
          <a:prstGeom prst="rect">
            <a:avLst/>
          </a:prstGeom>
          <a:noFill/>
          <a:ln/>
        </p:spPr>
        <p:txBody>
          <a:bodyPr wrap="square" lIns="0" tIns="0" rIns="0" bIns="0" rtlCol="0" anchor="t"/>
          <a:lstStyle/>
          <a:p>
            <a:pPr marL="0" indent="0" algn="l">
              <a:lnSpc>
                <a:spcPts val="2430"/>
              </a:lnSpc>
              <a:buNone/>
            </a:pPr>
            <a:r>
              <a:rPr lang="en-US" sz="1800" b="1" dirty="0">
                <a:solidFill>
                  <a:srgbClr val="0F5E6E"/>
                </a:solidFill>
                <a:latin typeface="Calibri" pitchFamily="34" charset="0"/>
                <a:ea typeface="Calibri" pitchFamily="34" charset="-122"/>
                <a:cs typeface="Calibri" pitchFamily="34" charset="-120"/>
              </a:rPr>
              <a:t>Heapify</a:t>
            </a:r>
            <a:endParaRPr lang="en-US" sz="1800" dirty="0"/>
          </a:p>
        </p:txBody>
      </p:sp>
      <p:sp>
        <p:nvSpPr>
          <p:cNvPr id="11" name="Text 9"/>
          <p:cNvSpPr txBox="1"/>
          <p:nvPr/>
        </p:nvSpPr>
        <p:spPr>
          <a:xfrm>
            <a:off x="914400" y="2468880"/>
            <a:ext cx="4677156" cy="822960"/>
          </a:xfrm>
          <a:prstGeom prst="rect">
            <a:avLst/>
          </a:prstGeom>
          <a:noFill/>
          <a:ln/>
        </p:spPr>
        <p:txBody>
          <a:bodyPr wrap="square" lIns="0" tIns="0" rIns="0" bIns="0" rtlCol="0" anchor="t"/>
          <a:lstStyle/>
          <a:p>
            <a:pPr marL="0" indent="0" algn="l">
              <a:lnSpc>
                <a:spcPts val="1890"/>
              </a:lnSpc>
              <a:buNone/>
            </a:pPr>
            <a:r>
              <a:rPr lang="en-US" sz="1400" dirty="0">
                <a:solidFill>
                  <a:srgbClr val="16343B"/>
                </a:solidFill>
                <a:latin typeface="Calibri" pitchFamily="34" charset="0"/>
                <a:ea typeface="Calibri" pitchFamily="34" charset="-122"/>
                <a:cs typeface="Calibri" pitchFamily="34" charset="-120"/>
              </a:rPr>
              <a:t>Turn the unsorted array into a max-heap, bottom-up. Θ(n). Done already in Q56.</a:t>
            </a:r>
            <a:endParaRPr lang="en-US" sz="1400" dirty="0"/>
          </a:p>
        </p:txBody>
      </p:sp>
      <p:sp>
        <p:nvSpPr>
          <p:cNvPr id="12" name="Shape 10"/>
          <p:cNvSpPr/>
          <p:nvPr/>
        </p:nvSpPr>
        <p:spPr>
          <a:xfrm>
            <a:off x="6323076" y="1691640"/>
            <a:ext cx="5225796" cy="1737360"/>
          </a:xfrm>
          <a:prstGeom prst="roundRect">
            <a:avLst>
              <a:gd name="adj" fmla="val 2632"/>
            </a:avLst>
          </a:prstGeom>
          <a:solidFill>
            <a:srgbClr val="F1F6F7"/>
          </a:solidFill>
          <a:ln w="12700">
            <a:solidFill>
              <a:srgbClr val="D3E0E3"/>
            </a:solidFill>
            <a:prstDash val="solid"/>
          </a:ln>
        </p:spPr>
        <p:txBody>
          <a:bodyPr/>
          <a:lstStyle/>
          <a:p>
            <a:endParaRPr lang="en-US"/>
          </a:p>
        </p:txBody>
      </p:sp>
      <p:sp>
        <p:nvSpPr>
          <p:cNvPr id="13" name="Shape 11"/>
          <p:cNvSpPr/>
          <p:nvPr/>
        </p:nvSpPr>
        <p:spPr>
          <a:xfrm>
            <a:off x="6597396" y="1901952"/>
            <a:ext cx="420624" cy="420624"/>
          </a:xfrm>
          <a:prstGeom prst="ellipse">
            <a:avLst/>
          </a:prstGeom>
          <a:solidFill>
            <a:srgbClr val="D9932B"/>
          </a:solidFill>
          <a:ln w="12700">
            <a:solidFill>
              <a:srgbClr val="D9932B"/>
            </a:solidFill>
            <a:prstDash val="solid"/>
          </a:ln>
        </p:spPr>
        <p:txBody>
          <a:bodyPr/>
          <a:lstStyle/>
          <a:p>
            <a:endParaRPr lang="en-US"/>
          </a:p>
        </p:txBody>
      </p:sp>
      <p:sp>
        <p:nvSpPr>
          <p:cNvPr id="14" name="Text 12"/>
          <p:cNvSpPr txBox="1"/>
          <p:nvPr/>
        </p:nvSpPr>
        <p:spPr>
          <a:xfrm>
            <a:off x="6597396" y="1901952"/>
            <a:ext cx="420624" cy="420624"/>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7191756" y="1920240"/>
            <a:ext cx="4037076" cy="365760"/>
          </a:xfrm>
          <a:prstGeom prst="rect">
            <a:avLst/>
          </a:prstGeom>
          <a:noFill/>
          <a:ln/>
        </p:spPr>
        <p:txBody>
          <a:bodyPr wrap="square" lIns="0" tIns="0" rIns="0" bIns="0" rtlCol="0" anchor="t"/>
          <a:lstStyle/>
          <a:p>
            <a:pPr marL="0" indent="0" algn="l">
              <a:lnSpc>
                <a:spcPts val="2430"/>
              </a:lnSpc>
              <a:buNone/>
            </a:pPr>
            <a:r>
              <a:rPr lang="en-US" sz="1800" b="1" dirty="0">
                <a:solidFill>
                  <a:srgbClr val="0F5E6E"/>
                </a:solidFill>
                <a:latin typeface="Calibri" pitchFamily="34" charset="0"/>
                <a:ea typeface="Calibri" pitchFamily="34" charset="-122"/>
                <a:cs typeface="Calibri" pitchFamily="34" charset="-120"/>
              </a:rPr>
              <a:t>Pop n − 1 times</a:t>
            </a:r>
            <a:endParaRPr lang="en-US" sz="1800" dirty="0"/>
          </a:p>
        </p:txBody>
      </p:sp>
      <p:sp>
        <p:nvSpPr>
          <p:cNvPr id="16" name="Text 14"/>
          <p:cNvSpPr txBox="1"/>
          <p:nvPr/>
        </p:nvSpPr>
        <p:spPr>
          <a:xfrm>
            <a:off x="6597396" y="2468880"/>
            <a:ext cx="4677156" cy="822960"/>
          </a:xfrm>
          <a:prstGeom prst="rect">
            <a:avLst/>
          </a:prstGeom>
          <a:noFill/>
          <a:ln/>
        </p:spPr>
        <p:txBody>
          <a:bodyPr wrap="square" lIns="0" tIns="0" rIns="0" bIns="0" rtlCol="0" anchor="t"/>
          <a:lstStyle/>
          <a:p>
            <a:pPr marL="0" indent="0" algn="l">
              <a:lnSpc>
                <a:spcPts val="1890"/>
              </a:lnSpc>
              <a:buNone/>
            </a:pPr>
            <a:r>
              <a:rPr lang="en-US" sz="1400" dirty="0">
                <a:solidFill>
                  <a:srgbClr val="16343B"/>
                </a:solidFill>
                <a:latin typeface="Calibri" pitchFamily="34" charset="0"/>
                <a:ea typeface="Calibri" pitchFamily="34" charset="-122"/>
                <a:cs typeface="Calibri" pitchFamily="34" charset="-120"/>
              </a:rPr>
              <a:t>Swap the root with the last key of the active heap, shrink the heap by one, bubble-down the new root. n − 1 × O(log n).</a:t>
            </a:r>
            <a:endParaRPr lang="en-US" sz="1400" dirty="0"/>
          </a:p>
        </p:txBody>
      </p:sp>
      <p:sp>
        <p:nvSpPr>
          <p:cNvPr id="17" name="Text 15"/>
          <p:cNvSpPr txBox="1"/>
          <p:nvPr/>
        </p:nvSpPr>
        <p:spPr>
          <a:xfrm>
            <a:off x="640080" y="3703320"/>
            <a:ext cx="10908792" cy="320040"/>
          </a:xfrm>
          <a:prstGeom prst="rect">
            <a:avLst/>
          </a:prstGeom>
          <a:noFill/>
          <a:ln/>
        </p:spPr>
        <p:txBody>
          <a:bodyPr wrap="square" lIns="0" tIns="0" rIns="0" bIns="0" rtlCol="0" anchor="t"/>
          <a:lstStyle/>
          <a:p>
            <a:pPr marL="0" indent="0" algn="l">
              <a:lnSpc>
                <a:spcPts val="1890"/>
              </a:lnSpc>
              <a:buNone/>
            </a:pPr>
            <a:r>
              <a:rPr lang="en-US" sz="1400" b="1" dirty="0">
                <a:solidFill>
                  <a:srgbClr val="16343B"/>
                </a:solidFill>
                <a:latin typeface="Calibri" pitchFamily="34" charset="0"/>
                <a:ea typeface="Calibri" pitchFamily="34" charset="-122"/>
                <a:cs typeface="Calibri" pitchFamily="34" charset="-120"/>
              </a:rPr>
              <a:t>The array does double duty — active heap on the left, finished keys accumulating on the right:</a:t>
            </a:r>
            <a:endParaRPr lang="en-US" sz="1400" dirty="0"/>
          </a:p>
        </p:txBody>
      </p:sp>
      <p:sp>
        <p:nvSpPr>
          <p:cNvPr id="18" name="Shape 16"/>
          <p:cNvSpPr/>
          <p:nvPr/>
        </p:nvSpPr>
        <p:spPr>
          <a:xfrm>
            <a:off x="1920240" y="4114800"/>
            <a:ext cx="566928" cy="457200"/>
          </a:xfrm>
          <a:prstGeom prst="rect">
            <a:avLst/>
          </a:prstGeom>
          <a:solidFill>
            <a:srgbClr val="FFFFFF"/>
          </a:solidFill>
          <a:ln w="12700">
            <a:solidFill>
              <a:srgbClr val="D3E0E3"/>
            </a:solidFill>
            <a:prstDash val="solid"/>
          </a:ln>
        </p:spPr>
        <p:txBody>
          <a:bodyPr/>
          <a:lstStyle/>
          <a:p>
            <a:endParaRPr lang="en-US"/>
          </a:p>
        </p:txBody>
      </p:sp>
      <p:sp>
        <p:nvSpPr>
          <p:cNvPr id="19" name="Text 17"/>
          <p:cNvSpPr txBox="1"/>
          <p:nvPr/>
        </p:nvSpPr>
        <p:spPr>
          <a:xfrm>
            <a:off x="1920240" y="411480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T</a:t>
            </a:r>
            <a:endParaRPr lang="en-US" sz="1500" dirty="0"/>
          </a:p>
        </p:txBody>
      </p:sp>
      <p:sp>
        <p:nvSpPr>
          <p:cNvPr id="20" name="Text 18"/>
          <p:cNvSpPr txBox="1"/>
          <p:nvPr/>
        </p:nvSpPr>
        <p:spPr>
          <a:xfrm>
            <a:off x="1920240" y="459028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1</a:t>
            </a:r>
            <a:endParaRPr lang="en-US" sz="900" dirty="0"/>
          </a:p>
        </p:txBody>
      </p:sp>
      <p:sp>
        <p:nvSpPr>
          <p:cNvPr id="21" name="Shape 19"/>
          <p:cNvSpPr/>
          <p:nvPr/>
        </p:nvSpPr>
        <p:spPr>
          <a:xfrm>
            <a:off x="2487168" y="4114800"/>
            <a:ext cx="566928" cy="457200"/>
          </a:xfrm>
          <a:prstGeom prst="rect">
            <a:avLst/>
          </a:prstGeom>
          <a:solidFill>
            <a:srgbClr val="FFFFFF"/>
          </a:solidFill>
          <a:ln w="12700">
            <a:solidFill>
              <a:srgbClr val="D3E0E3"/>
            </a:solidFill>
            <a:prstDash val="solid"/>
          </a:ln>
        </p:spPr>
        <p:txBody>
          <a:bodyPr/>
          <a:lstStyle/>
          <a:p>
            <a:endParaRPr lang="en-US"/>
          </a:p>
        </p:txBody>
      </p:sp>
      <p:sp>
        <p:nvSpPr>
          <p:cNvPr id="22" name="Text 20"/>
          <p:cNvSpPr txBox="1"/>
          <p:nvPr/>
        </p:nvSpPr>
        <p:spPr>
          <a:xfrm>
            <a:off x="2487168" y="411480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R</a:t>
            </a:r>
            <a:endParaRPr lang="en-US" sz="1500" dirty="0"/>
          </a:p>
        </p:txBody>
      </p:sp>
      <p:sp>
        <p:nvSpPr>
          <p:cNvPr id="23" name="Text 21"/>
          <p:cNvSpPr txBox="1"/>
          <p:nvPr/>
        </p:nvSpPr>
        <p:spPr>
          <a:xfrm>
            <a:off x="2487168" y="459028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2</a:t>
            </a:r>
            <a:endParaRPr lang="en-US" sz="900" dirty="0"/>
          </a:p>
        </p:txBody>
      </p:sp>
      <p:sp>
        <p:nvSpPr>
          <p:cNvPr id="24" name="Shape 22"/>
          <p:cNvSpPr/>
          <p:nvPr/>
        </p:nvSpPr>
        <p:spPr>
          <a:xfrm>
            <a:off x="3054096" y="4114800"/>
            <a:ext cx="566928" cy="457200"/>
          </a:xfrm>
          <a:prstGeom prst="rect">
            <a:avLst/>
          </a:prstGeom>
          <a:solidFill>
            <a:srgbClr val="FFFFFF"/>
          </a:solidFill>
          <a:ln w="12700">
            <a:solidFill>
              <a:srgbClr val="D3E0E3"/>
            </a:solidFill>
            <a:prstDash val="solid"/>
          </a:ln>
        </p:spPr>
        <p:txBody>
          <a:bodyPr/>
          <a:lstStyle/>
          <a:p>
            <a:endParaRPr lang="en-US"/>
          </a:p>
        </p:txBody>
      </p:sp>
      <p:sp>
        <p:nvSpPr>
          <p:cNvPr id="25" name="Text 23"/>
          <p:cNvSpPr txBox="1"/>
          <p:nvPr/>
        </p:nvSpPr>
        <p:spPr>
          <a:xfrm>
            <a:off x="3054096" y="411480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I</a:t>
            </a:r>
            <a:endParaRPr lang="en-US" sz="1500" dirty="0"/>
          </a:p>
        </p:txBody>
      </p:sp>
      <p:sp>
        <p:nvSpPr>
          <p:cNvPr id="26" name="Text 24"/>
          <p:cNvSpPr txBox="1"/>
          <p:nvPr/>
        </p:nvSpPr>
        <p:spPr>
          <a:xfrm>
            <a:off x="3054096" y="459028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3</a:t>
            </a:r>
            <a:endParaRPr lang="en-US" sz="900" dirty="0"/>
          </a:p>
        </p:txBody>
      </p:sp>
      <p:sp>
        <p:nvSpPr>
          <p:cNvPr id="27" name="Shape 25"/>
          <p:cNvSpPr/>
          <p:nvPr/>
        </p:nvSpPr>
        <p:spPr>
          <a:xfrm>
            <a:off x="3621024" y="4114800"/>
            <a:ext cx="566928" cy="457200"/>
          </a:xfrm>
          <a:prstGeom prst="rect">
            <a:avLst/>
          </a:prstGeom>
          <a:solidFill>
            <a:srgbClr val="FFFFFF"/>
          </a:solidFill>
          <a:ln w="12700">
            <a:solidFill>
              <a:srgbClr val="D3E0E3"/>
            </a:solidFill>
            <a:prstDash val="solid"/>
          </a:ln>
        </p:spPr>
        <p:txBody>
          <a:bodyPr/>
          <a:lstStyle/>
          <a:p>
            <a:endParaRPr lang="en-US"/>
          </a:p>
        </p:txBody>
      </p:sp>
      <p:sp>
        <p:nvSpPr>
          <p:cNvPr id="28" name="Text 26"/>
          <p:cNvSpPr txBox="1"/>
          <p:nvPr/>
        </p:nvSpPr>
        <p:spPr>
          <a:xfrm>
            <a:off x="3621024" y="411480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O</a:t>
            </a:r>
            <a:endParaRPr lang="en-US" sz="1500" dirty="0"/>
          </a:p>
        </p:txBody>
      </p:sp>
      <p:sp>
        <p:nvSpPr>
          <p:cNvPr id="29" name="Text 27"/>
          <p:cNvSpPr txBox="1"/>
          <p:nvPr/>
        </p:nvSpPr>
        <p:spPr>
          <a:xfrm>
            <a:off x="3621024" y="459028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4</a:t>
            </a:r>
            <a:endParaRPr lang="en-US" sz="900" dirty="0"/>
          </a:p>
        </p:txBody>
      </p:sp>
      <p:sp>
        <p:nvSpPr>
          <p:cNvPr id="30" name="Shape 28"/>
          <p:cNvSpPr/>
          <p:nvPr/>
        </p:nvSpPr>
        <p:spPr>
          <a:xfrm>
            <a:off x="4187952" y="4114800"/>
            <a:ext cx="566928" cy="457200"/>
          </a:xfrm>
          <a:prstGeom prst="rect">
            <a:avLst/>
          </a:prstGeom>
          <a:solidFill>
            <a:srgbClr val="FFFFFF"/>
          </a:solidFill>
          <a:ln w="12700">
            <a:solidFill>
              <a:srgbClr val="D3E0E3"/>
            </a:solidFill>
            <a:prstDash val="solid"/>
          </a:ln>
        </p:spPr>
        <p:txBody>
          <a:bodyPr/>
          <a:lstStyle/>
          <a:p>
            <a:endParaRPr lang="en-US"/>
          </a:p>
        </p:txBody>
      </p:sp>
      <p:sp>
        <p:nvSpPr>
          <p:cNvPr id="31" name="Text 29"/>
          <p:cNvSpPr txBox="1"/>
          <p:nvPr/>
        </p:nvSpPr>
        <p:spPr>
          <a:xfrm>
            <a:off x="4187952" y="411480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L</a:t>
            </a:r>
            <a:endParaRPr lang="en-US" sz="1500" dirty="0"/>
          </a:p>
        </p:txBody>
      </p:sp>
      <p:sp>
        <p:nvSpPr>
          <p:cNvPr id="32" name="Text 30"/>
          <p:cNvSpPr txBox="1"/>
          <p:nvPr/>
        </p:nvSpPr>
        <p:spPr>
          <a:xfrm>
            <a:off x="4187952" y="459028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5</a:t>
            </a:r>
            <a:endParaRPr lang="en-US" sz="900" dirty="0"/>
          </a:p>
        </p:txBody>
      </p:sp>
      <p:sp>
        <p:nvSpPr>
          <p:cNvPr id="33" name="Shape 31"/>
          <p:cNvSpPr/>
          <p:nvPr/>
        </p:nvSpPr>
        <p:spPr>
          <a:xfrm>
            <a:off x="4754880" y="4114800"/>
            <a:ext cx="566928" cy="457200"/>
          </a:xfrm>
          <a:prstGeom prst="rect">
            <a:avLst/>
          </a:prstGeom>
          <a:solidFill>
            <a:srgbClr val="FFFFFF"/>
          </a:solidFill>
          <a:ln w="12700">
            <a:solidFill>
              <a:srgbClr val="D3E0E3"/>
            </a:solidFill>
            <a:prstDash val="solid"/>
          </a:ln>
        </p:spPr>
        <p:txBody>
          <a:bodyPr/>
          <a:lstStyle/>
          <a:p>
            <a:endParaRPr lang="en-US"/>
          </a:p>
        </p:txBody>
      </p:sp>
      <p:sp>
        <p:nvSpPr>
          <p:cNvPr id="34" name="Text 32"/>
          <p:cNvSpPr txBox="1"/>
          <p:nvPr/>
        </p:nvSpPr>
        <p:spPr>
          <a:xfrm>
            <a:off x="4754880" y="411480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A</a:t>
            </a:r>
            <a:endParaRPr lang="en-US" sz="1500" dirty="0"/>
          </a:p>
        </p:txBody>
      </p:sp>
      <p:sp>
        <p:nvSpPr>
          <p:cNvPr id="35" name="Text 33"/>
          <p:cNvSpPr txBox="1"/>
          <p:nvPr/>
        </p:nvSpPr>
        <p:spPr>
          <a:xfrm>
            <a:off x="4754880" y="459028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6</a:t>
            </a:r>
            <a:endParaRPr lang="en-US" sz="900" dirty="0"/>
          </a:p>
        </p:txBody>
      </p:sp>
      <p:sp>
        <p:nvSpPr>
          <p:cNvPr id="36" name="Shape 34"/>
          <p:cNvSpPr/>
          <p:nvPr/>
        </p:nvSpPr>
        <p:spPr>
          <a:xfrm>
            <a:off x="5321808" y="4114800"/>
            <a:ext cx="566928" cy="457200"/>
          </a:xfrm>
          <a:prstGeom prst="rect">
            <a:avLst/>
          </a:prstGeom>
          <a:solidFill>
            <a:srgbClr val="FFFFFF"/>
          </a:solidFill>
          <a:ln w="12700">
            <a:solidFill>
              <a:srgbClr val="D3E0E3"/>
            </a:solidFill>
            <a:prstDash val="solid"/>
          </a:ln>
        </p:spPr>
        <p:txBody>
          <a:bodyPr/>
          <a:lstStyle/>
          <a:p>
            <a:endParaRPr lang="en-US"/>
          </a:p>
        </p:txBody>
      </p:sp>
      <p:sp>
        <p:nvSpPr>
          <p:cNvPr id="37" name="Text 35"/>
          <p:cNvSpPr txBox="1"/>
          <p:nvPr/>
        </p:nvSpPr>
        <p:spPr>
          <a:xfrm>
            <a:off x="5321808" y="411480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G</a:t>
            </a:r>
            <a:endParaRPr lang="en-US" sz="1500" dirty="0"/>
          </a:p>
        </p:txBody>
      </p:sp>
      <p:sp>
        <p:nvSpPr>
          <p:cNvPr id="38" name="Text 36"/>
          <p:cNvSpPr txBox="1"/>
          <p:nvPr/>
        </p:nvSpPr>
        <p:spPr>
          <a:xfrm>
            <a:off x="5321808" y="459028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7</a:t>
            </a:r>
            <a:endParaRPr lang="en-US" sz="900" dirty="0"/>
          </a:p>
        </p:txBody>
      </p:sp>
      <p:sp>
        <p:nvSpPr>
          <p:cNvPr id="39" name="Shape 37"/>
          <p:cNvSpPr/>
          <p:nvPr/>
        </p:nvSpPr>
        <p:spPr>
          <a:xfrm>
            <a:off x="5888736" y="4114800"/>
            <a:ext cx="566928" cy="457200"/>
          </a:xfrm>
          <a:prstGeom prst="rect">
            <a:avLst/>
          </a:prstGeom>
          <a:solidFill>
            <a:srgbClr val="FFFFFF"/>
          </a:solidFill>
          <a:ln w="12700">
            <a:solidFill>
              <a:srgbClr val="D3E0E3"/>
            </a:solidFill>
            <a:prstDash val="solid"/>
          </a:ln>
        </p:spPr>
        <p:txBody>
          <a:bodyPr/>
          <a:lstStyle/>
          <a:p>
            <a:endParaRPr lang="en-US"/>
          </a:p>
        </p:txBody>
      </p:sp>
      <p:sp>
        <p:nvSpPr>
          <p:cNvPr id="40" name="Text 38"/>
          <p:cNvSpPr txBox="1"/>
          <p:nvPr/>
        </p:nvSpPr>
        <p:spPr>
          <a:xfrm>
            <a:off x="5888736" y="411480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H</a:t>
            </a:r>
            <a:endParaRPr lang="en-US" sz="1500" dirty="0"/>
          </a:p>
        </p:txBody>
      </p:sp>
      <p:sp>
        <p:nvSpPr>
          <p:cNvPr id="41" name="Text 39"/>
          <p:cNvSpPr txBox="1"/>
          <p:nvPr/>
        </p:nvSpPr>
        <p:spPr>
          <a:xfrm>
            <a:off x="5888736" y="459028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8</a:t>
            </a:r>
            <a:endParaRPr lang="en-US" sz="900" dirty="0"/>
          </a:p>
        </p:txBody>
      </p:sp>
      <p:sp>
        <p:nvSpPr>
          <p:cNvPr id="42" name="Shape 40"/>
          <p:cNvSpPr/>
          <p:nvPr/>
        </p:nvSpPr>
        <p:spPr>
          <a:xfrm>
            <a:off x="6455664" y="4114800"/>
            <a:ext cx="566928" cy="457200"/>
          </a:xfrm>
          <a:prstGeom prst="rect">
            <a:avLst/>
          </a:prstGeom>
          <a:solidFill>
            <a:srgbClr val="FFFFFF"/>
          </a:solidFill>
          <a:ln w="12700">
            <a:solidFill>
              <a:srgbClr val="D3E0E3"/>
            </a:solidFill>
            <a:prstDash val="solid"/>
          </a:ln>
        </p:spPr>
        <p:txBody>
          <a:bodyPr/>
          <a:lstStyle/>
          <a:p>
            <a:endParaRPr lang="en-US"/>
          </a:p>
        </p:txBody>
      </p:sp>
      <p:sp>
        <p:nvSpPr>
          <p:cNvPr id="43" name="Text 41"/>
          <p:cNvSpPr txBox="1"/>
          <p:nvPr/>
        </p:nvSpPr>
        <p:spPr>
          <a:xfrm>
            <a:off x="6455664" y="4114800"/>
            <a:ext cx="566928" cy="457200"/>
          </a:xfrm>
          <a:prstGeom prst="rect">
            <a:avLst/>
          </a:prstGeom>
          <a:noFill/>
          <a:ln/>
        </p:spPr>
        <p:txBody>
          <a:bodyPr wrap="square" lIns="0" tIns="0" rIns="0" bIns="0" rtlCol="0" anchor="ctr"/>
          <a:lstStyle/>
          <a:p>
            <a:pPr marL="0" indent="0" algn="ctr">
              <a:buNone/>
            </a:pPr>
            <a:r>
              <a:rPr lang="en-US" sz="1500" b="1" dirty="0">
                <a:solidFill>
                  <a:srgbClr val="16343B"/>
                </a:solidFill>
                <a:latin typeface="Calibri" pitchFamily="34" charset="0"/>
                <a:ea typeface="Calibri" pitchFamily="34" charset="-122"/>
                <a:cs typeface="Calibri" pitchFamily="34" charset="-120"/>
              </a:rPr>
              <a:t>M</a:t>
            </a:r>
            <a:endParaRPr lang="en-US" sz="1500" dirty="0"/>
          </a:p>
        </p:txBody>
      </p:sp>
      <p:sp>
        <p:nvSpPr>
          <p:cNvPr id="44" name="Text 42"/>
          <p:cNvSpPr txBox="1"/>
          <p:nvPr/>
        </p:nvSpPr>
        <p:spPr>
          <a:xfrm>
            <a:off x="6455664" y="4590288"/>
            <a:ext cx="566928"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9</a:t>
            </a:r>
            <a:endParaRPr lang="en-US" sz="900" dirty="0"/>
          </a:p>
        </p:txBody>
      </p:sp>
      <p:sp>
        <p:nvSpPr>
          <p:cNvPr id="45" name="Shape 43"/>
          <p:cNvSpPr/>
          <p:nvPr/>
        </p:nvSpPr>
        <p:spPr>
          <a:xfrm>
            <a:off x="1920240" y="4114800"/>
            <a:ext cx="5102352" cy="457200"/>
          </a:xfrm>
          <a:prstGeom prst="rect">
            <a:avLst/>
          </a:prstGeom>
          <a:solidFill>
            <a:srgbClr val="FFFFFF">
              <a:alpha val="0"/>
            </a:srgbClr>
          </a:solidFill>
          <a:ln w="28575">
            <a:solidFill>
              <a:srgbClr val="D9932B"/>
            </a:solidFill>
            <a:prstDash val="solid"/>
          </a:ln>
        </p:spPr>
        <p:txBody>
          <a:bodyPr/>
          <a:lstStyle/>
          <a:p>
            <a:endParaRPr lang="en-US"/>
          </a:p>
        </p:txBody>
      </p:sp>
      <p:sp>
        <p:nvSpPr>
          <p:cNvPr id="46" name="Text 44"/>
          <p:cNvSpPr txBox="1"/>
          <p:nvPr/>
        </p:nvSpPr>
        <p:spPr>
          <a:xfrm>
            <a:off x="1920240" y="4846320"/>
            <a:ext cx="5102352" cy="274320"/>
          </a:xfrm>
          <a:prstGeom prst="rect">
            <a:avLst/>
          </a:prstGeom>
          <a:noFill/>
          <a:ln/>
        </p:spPr>
        <p:txBody>
          <a:bodyPr wrap="square" lIns="0" tIns="0" rIns="0" bIns="0" rtlCol="0" anchor="ctr"/>
          <a:lstStyle/>
          <a:p>
            <a:pPr marL="0" indent="0" algn="ctr">
              <a:buNone/>
            </a:pPr>
            <a:r>
              <a:rPr lang="en-US" sz="1200" b="1" dirty="0">
                <a:solidFill>
                  <a:srgbClr val="9C6410"/>
                </a:solidFill>
                <a:latin typeface="Calibri" pitchFamily="34" charset="0"/>
                <a:ea typeface="Calibri" pitchFamily="34" charset="-122"/>
                <a:cs typeface="Calibri" pitchFamily="34" charset="-120"/>
              </a:rPr>
              <a:t>active heap</a:t>
            </a:r>
            <a:endParaRPr lang="en-US" sz="1200" dirty="0"/>
          </a:p>
        </p:txBody>
      </p:sp>
      <p:sp>
        <p:nvSpPr>
          <p:cNvPr id="47" name="Text 45"/>
          <p:cNvSpPr txBox="1"/>
          <p:nvPr/>
        </p:nvSpPr>
        <p:spPr>
          <a:xfrm>
            <a:off x="640080" y="5303520"/>
            <a:ext cx="10908792" cy="91440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16343B"/>
                </a:solidFill>
                <a:latin typeface="Calibri" pitchFamily="34" charset="0"/>
                <a:ea typeface="Calibri" pitchFamily="34" charset="-122"/>
                <a:cs typeface="Calibri" pitchFamily="34" charset="-120"/>
              </a:rPr>
              <a:t>Nothing is copied out — heapsort sorts in place, using Θ(1) extra space. The sorted tail grows from the right because each pop yields the current maximum.</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Q59</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Heapsort trace: pops 1–4</a:t>
            </a:r>
            <a:endParaRPr lang="en-US" sz="3000" dirty="0"/>
          </a:p>
        </p:txBody>
      </p:sp>
      <p:sp>
        <p:nvSpPr>
          <p:cNvPr id="5" name="Text 3"/>
          <p:cNvSpPr txBox="1"/>
          <p:nvPr/>
        </p:nvSpPr>
        <p:spPr>
          <a:xfrm>
            <a:off x="1737360" y="969264"/>
            <a:ext cx="9811512" cy="310896"/>
          </a:xfrm>
          <a:prstGeom prst="rect">
            <a:avLst/>
          </a:prstGeom>
          <a:noFill/>
          <a:ln/>
        </p:spPr>
        <p:txBody>
          <a:bodyPr wrap="square" lIns="0" tIns="0" rIns="0" bIns="0" rtlCol="0" anchor="ctr"/>
          <a:lstStyle/>
          <a:p>
            <a:pPr marL="0" indent="0">
              <a:buNone/>
            </a:pPr>
            <a:r>
              <a:rPr lang="en-US" sz="1400" i="1" dirty="0">
                <a:solidFill>
                  <a:srgbClr val="5F7A80"/>
                </a:solidFill>
                <a:latin typeface="Calibri" pitchFamily="34" charset="0"/>
                <a:ea typeface="Calibri" pitchFamily="34" charset="-122"/>
                <a:cs typeface="Calibri" pitchFamily="34" charset="-120"/>
              </a:rPr>
              <a:t>Sorted keys shown after the bar; they are no longer part of the heap</a:t>
            </a:r>
            <a:endParaRPr lang="en-US" sz="1400" dirty="0"/>
          </a:p>
        </p:txBody>
      </p:sp>
      <p:sp>
        <p:nvSpPr>
          <p:cNvPr id="6" name="Text 4"/>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2194560"/>
        </p:xfrm>
        <a:graphic>
          <a:graphicData uri="http://schemas.openxmlformats.org/drawingml/2006/table">
            <a:tbl>
              <a:tblPr/>
              <a:tblGrid>
                <a:gridCol w="5486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776472">
                  <a:extLst>
                    <a:ext uri="{9D8B030D-6E8A-4147-A177-3AD203B41FA5}">
                      <a16:colId xmlns:a16="http://schemas.microsoft.com/office/drawing/2014/main" val="20003"/>
                    </a:ext>
                  </a:extLst>
                </a:gridCol>
                <a:gridCol w="4389120">
                  <a:extLst>
                    <a:ext uri="{9D8B030D-6E8A-4147-A177-3AD203B41FA5}">
                      <a16:colId xmlns:a16="http://schemas.microsoft.com/office/drawing/2014/main" val="20004"/>
                    </a:ext>
                  </a:extLst>
                </a:gridCol>
              </a:tblGrid>
              <a:tr h="438912">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Pop</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Swap</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Bubble-down</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Array after the pop</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extLst>
                  <a:ext uri="{0D108BD9-81ED-4DB2-BD59-A6C34878D82A}">
                    <a16:rowId xmlns:a16="http://schemas.microsoft.com/office/drawing/2014/main" val="10000"/>
                  </a:ext>
                </a:extLst>
              </a:tr>
              <a:tr h="438912">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16343B"/>
                          </a:solidFill>
                          <a:latin typeface="Calibri" pitchFamily="34" charset="0"/>
                          <a:ea typeface="Calibri" pitchFamily="34" charset="-122"/>
                          <a:cs typeface="Calibri" pitchFamily="34" charset="-120"/>
                        </a:rPr>
                        <a:t>T</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T ↔ M</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M below R, then below O</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ourier New" pitchFamily="34" charset="0"/>
                          <a:ea typeface="Courier New" pitchFamily="34" charset="-122"/>
                          <a:cs typeface="Courier New" pitchFamily="34" charset="-120"/>
                        </a:rPr>
                        <a:t>R O I M L A G H | T</a:t>
                      </a:r>
                      <a:endParaRPr lang="en-US" sz="13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b="1" dirty="0">
                          <a:solidFill>
                            <a:srgbClr val="16343B"/>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R ↔ H</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H below O, then below M</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ourier New" pitchFamily="34" charset="0"/>
                          <a:ea typeface="Courier New" pitchFamily="34" charset="-122"/>
                          <a:cs typeface="Courier New" pitchFamily="34" charset="-120"/>
                        </a:rPr>
                        <a:t>O M I H L A G | R T</a:t>
                      </a:r>
                      <a:endParaRPr lang="en-US" sz="13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2"/>
                  </a:ext>
                </a:extLst>
              </a:tr>
              <a:tr h="438912">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16343B"/>
                          </a:solidFill>
                          <a:latin typeface="Calibri" pitchFamily="34" charset="0"/>
                          <a:ea typeface="Calibri" pitchFamily="34" charset="-122"/>
                          <a:cs typeface="Calibri" pitchFamily="34" charset="-120"/>
                        </a:rPr>
                        <a:t>O</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O ↔ G</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G below M, then below L</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ourier New" pitchFamily="34" charset="0"/>
                          <a:ea typeface="Courier New" pitchFamily="34" charset="-122"/>
                          <a:cs typeface="Courier New" pitchFamily="34" charset="-120"/>
                        </a:rPr>
                        <a:t>M L I H G A | O R T</a:t>
                      </a:r>
                      <a:endParaRPr lang="en-US" sz="13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b="1" dirty="0">
                          <a:solidFill>
                            <a:srgbClr val="16343B"/>
                          </a:solidFill>
                          <a:latin typeface="Calibri" pitchFamily="34" charset="0"/>
                          <a:ea typeface="Calibri" pitchFamily="34" charset="-122"/>
                          <a:cs typeface="Calibri" pitchFamily="34" charset="-120"/>
                        </a:rPr>
                        <a:t>M</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M ↔ A</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A below L, then below H</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ourier New" pitchFamily="34" charset="0"/>
                          <a:ea typeface="Courier New" pitchFamily="34" charset="-122"/>
                          <a:cs typeface="Courier New" pitchFamily="34" charset="-120"/>
                        </a:rPr>
                        <a:t>L H I A G | M O R T</a:t>
                      </a:r>
                      <a:endParaRPr lang="en-US" sz="13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4"/>
                  </a:ext>
                </a:extLst>
              </a:tr>
            </a:tbl>
          </a:graphicData>
        </a:graphic>
      </p:graphicFrame>
      <p:sp>
        <p:nvSpPr>
          <p:cNvPr id="8" name="Shape 5"/>
          <p:cNvSpPr/>
          <p:nvPr/>
        </p:nvSpPr>
        <p:spPr>
          <a:xfrm>
            <a:off x="640080" y="4114800"/>
            <a:ext cx="10908792" cy="960120"/>
          </a:xfrm>
          <a:prstGeom prst="roundRect">
            <a:avLst>
              <a:gd name="adj" fmla="val 4762"/>
            </a:avLst>
          </a:prstGeom>
          <a:solidFill>
            <a:srgbClr val="FBEEDA"/>
          </a:solidFill>
          <a:ln w="12700">
            <a:solidFill>
              <a:srgbClr val="EAD3A6"/>
            </a:solidFill>
            <a:prstDash val="solid"/>
          </a:ln>
        </p:spPr>
        <p:txBody>
          <a:bodyPr/>
          <a:lstStyle/>
          <a:p>
            <a:endParaRPr lang="en-US"/>
          </a:p>
        </p:txBody>
      </p:sp>
      <p:sp>
        <p:nvSpPr>
          <p:cNvPr id="9" name="Text 6"/>
          <p:cNvSpPr txBox="1"/>
          <p:nvPr/>
        </p:nvSpPr>
        <p:spPr>
          <a:xfrm>
            <a:off x="914400" y="4279392"/>
            <a:ext cx="5486400"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EACH POP IS THREE MOVES</a:t>
            </a:r>
            <a:endParaRPr lang="en-US" sz="1100" dirty="0"/>
          </a:p>
        </p:txBody>
      </p:sp>
      <p:sp>
        <p:nvSpPr>
          <p:cNvPr id="10" name="Text 7"/>
          <p:cNvSpPr txBox="1"/>
          <p:nvPr/>
        </p:nvSpPr>
        <p:spPr>
          <a:xfrm>
            <a:off x="914400" y="4572000"/>
            <a:ext cx="10360152" cy="411480"/>
          </a:xfrm>
          <a:prstGeom prst="rect">
            <a:avLst/>
          </a:prstGeom>
          <a:noFill/>
          <a:ln/>
        </p:spPr>
        <p:txBody>
          <a:bodyPr wrap="square" lIns="0" tIns="0" rIns="0" bIns="0" rtlCol="0" anchor="t"/>
          <a:lstStyle/>
          <a:p>
            <a:pPr marL="0" indent="0" algn="l">
              <a:lnSpc>
                <a:spcPts val="1755"/>
              </a:lnSpc>
              <a:buNone/>
            </a:pPr>
            <a:r>
              <a:rPr lang="en-US" sz="1300" dirty="0">
                <a:solidFill>
                  <a:srgbClr val="16343B"/>
                </a:solidFill>
                <a:latin typeface="Calibri" pitchFamily="34" charset="0"/>
                <a:ea typeface="Calibri" pitchFamily="34" charset="-122"/>
                <a:cs typeface="Calibri" pitchFamily="34" charset="-120"/>
              </a:rPr>
              <a:t>swap A[1] with A[last]  →  shrink the heap by one  →  bubble-down the new root until both its children are smaller or it reaches a leaf.</a:t>
            </a:r>
            <a:endParaRPr lang="en-US" sz="1300" dirty="0"/>
          </a:p>
        </p:txBody>
      </p:sp>
      <p:sp>
        <p:nvSpPr>
          <p:cNvPr id="11" name="Text 8"/>
          <p:cNvSpPr txBox="1"/>
          <p:nvPr/>
        </p:nvSpPr>
        <p:spPr>
          <a:xfrm>
            <a:off x="640080" y="5285232"/>
            <a:ext cx="10908792" cy="320040"/>
          </a:xfrm>
          <a:prstGeom prst="rect">
            <a:avLst/>
          </a:prstGeom>
          <a:noFill/>
          <a:ln/>
        </p:spPr>
        <p:txBody>
          <a:bodyPr wrap="square" lIns="0" tIns="0" rIns="0" bIns="0" rtlCol="0" anchor="t"/>
          <a:lstStyle/>
          <a:p>
            <a:pPr marL="0" indent="0" algn="l">
              <a:lnSpc>
                <a:spcPts val="1890"/>
              </a:lnSpc>
              <a:buNone/>
            </a:pPr>
            <a:r>
              <a:rPr lang="en-US" sz="1400" dirty="0">
                <a:solidFill>
                  <a:srgbClr val="16343B"/>
                </a:solidFill>
                <a:latin typeface="Calibri" pitchFamily="34" charset="0"/>
                <a:ea typeface="Calibri" pitchFamily="34" charset="-122"/>
                <a:cs typeface="Calibri" pitchFamily="34" charset="-120"/>
              </a:rPr>
              <a:t>After four pops the four largest keys are in place:</a:t>
            </a:r>
            <a:endParaRPr lang="en-US" sz="1400" dirty="0"/>
          </a:p>
        </p:txBody>
      </p:sp>
      <p:sp>
        <p:nvSpPr>
          <p:cNvPr id="12" name="Shape 9"/>
          <p:cNvSpPr/>
          <p:nvPr/>
        </p:nvSpPr>
        <p:spPr>
          <a:xfrm>
            <a:off x="640080" y="5623560"/>
            <a:ext cx="548640" cy="438912"/>
          </a:xfrm>
          <a:prstGeom prst="rect">
            <a:avLst/>
          </a:prstGeom>
          <a:solidFill>
            <a:srgbClr val="FFFFFF"/>
          </a:solidFill>
          <a:ln w="12700">
            <a:solidFill>
              <a:srgbClr val="D3E0E3"/>
            </a:solidFill>
            <a:prstDash val="solid"/>
          </a:ln>
        </p:spPr>
        <p:txBody>
          <a:bodyPr/>
          <a:lstStyle/>
          <a:p>
            <a:endParaRPr lang="en-US"/>
          </a:p>
        </p:txBody>
      </p:sp>
      <p:sp>
        <p:nvSpPr>
          <p:cNvPr id="13" name="Text 10"/>
          <p:cNvSpPr txBox="1"/>
          <p:nvPr/>
        </p:nvSpPr>
        <p:spPr>
          <a:xfrm>
            <a:off x="640080" y="56235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L</a:t>
            </a:r>
            <a:endParaRPr lang="en-US" sz="1400" dirty="0"/>
          </a:p>
        </p:txBody>
      </p:sp>
      <p:sp>
        <p:nvSpPr>
          <p:cNvPr id="14" name="Shape 11"/>
          <p:cNvSpPr/>
          <p:nvPr/>
        </p:nvSpPr>
        <p:spPr>
          <a:xfrm>
            <a:off x="1188720" y="5623560"/>
            <a:ext cx="548640" cy="438912"/>
          </a:xfrm>
          <a:prstGeom prst="rect">
            <a:avLst/>
          </a:prstGeom>
          <a:solidFill>
            <a:srgbClr val="FFFFFF"/>
          </a:solidFill>
          <a:ln w="12700">
            <a:solidFill>
              <a:srgbClr val="D3E0E3"/>
            </a:solidFill>
            <a:prstDash val="solid"/>
          </a:ln>
        </p:spPr>
        <p:txBody>
          <a:bodyPr/>
          <a:lstStyle/>
          <a:p>
            <a:endParaRPr lang="en-US"/>
          </a:p>
        </p:txBody>
      </p:sp>
      <p:sp>
        <p:nvSpPr>
          <p:cNvPr id="15" name="Text 12"/>
          <p:cNvSpPr txBox="1"/>
          <p:nvPr/>
        </p:nvSpPr>
        <p:spPr>
          <a:xfrm>
            <a:off x="1188720" y="56235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H</a:t>
            </a:r>
            <a:endParaRPr lang="en-US" sz="1400" dirty="0"/>
          </a:p>
        </p:txBody>
      </p:sp>
      <p:sp>
        <p:nvSpPr>
          <p:cNvPr id="16" name="Shape 13"/>
          <p:cNvSpPr/>
          <p:nvPr/>
        </p:nvSpPr>
        <p:spPr>
          <a:xfrm>
            <a:off x="1737360" y="5623560"/>
            <a:ext cx="548640" cy="438912"/>
          </a:xfrm>
          <a:prstGeom prst="rect">
            <a:avLst/>
          </a:prstGeom>
          <a:solidFill>
            <a:srgbClr val="FFFFFF"/>
          </a:solidFill>
          <a:ln w="12700">
            <a:solidFill>
              <a:srgbClr val="D3E0E3"/>
            </a:solidFill>
            <a:prstDash val="solid"/>
          </a:ln>
        </p:spPr>
        <p:txBody>
          <a:bodyPr/>
          <a:lstStyle/>
          <a:p>
            <a:endParaRPr lang="en-US"/>
          </a:p>
        </p:txBody>
      </p:sp>
      <p:sp>
        <p:nvSpPr>
          <p:cNvPr id="17" name="Text 14"/>
          <p:cNvSpPr txBox="1"/>
          <p:nvPr/>
        </p:nvSpPr>
        <p:spPr>
          <a:xfrm>
            <a:off x="1737360" y="56235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I</a:t>
            </a:r>
            <a:endParaRPr lang="en-US" sz="1400" dirty="0"/>
          </a:p>
        </p:txBody>
      </p:sp>
      <p:sp>
        <p:nvSpPr>
          <p:cNvPr id="18" name="Shape 15"/>
          <p:cNvSpPr/>
          <p:nvPr/>
        </p:nvSpPr>
        <p:spPr>
          <a:xfrm>
            <a:off x="2286000" y="5623560"/>
            <a:ext cx="548640" cy="438912"/>
          </a:xfrm>
          <a:prstGeom prst="rect">
            <a:avLst/>
          </a:prstGeom>
          <a:solidFill>
            <a:srgbClr val="FFFFFF"/>
          </a:solidFill>
          <a:ln w="12700">
            <a:solidFill>
              <a:srgbClr val="D3E0E3"/>
            </a:solidFill>
            <a:prstDash val="solid"/>
          </a:ln>
        </p:spPr>
        <p:txBody>
          <a:bodyPr/>
          <a:lstStyle/>
          <a:p>
            <a:endParaRPr lang="en-US"/>
          </a:p>
        </p:txBody>
      </p:sp>
      <p:sp>
        <p:nvSpPr>
          <p:cNvPr id="19" name="Text 16"/>
          <p:cNvSpPr txBox="1"/>
          <p:nvPr/>
        </p:nvSpPr>
        <p:spPr>
          <a:xfrm>
            <a:off x="2286000" y="56235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A</a:t>
            </a:r>
            <a:endParaRPr lang="en-US" sz="1400" dirty="0"/>
          </a:p>
        </p:txBody>
      </p:sp>
      <p:sp>
        <p:nvSpPr>
          <p:cNvPr id="20" name="Shape 17"/>
          <p:cNvSpPr/>
          <p:nvPr/>
        </p:nvSpPr>
        <p:spPr>
          <a:xfrm>
            <a:off x="2834640" y="5623560"/>
            <a:ext cx="548640" cy="438912"/>
          </a:xfrm>
          <a:prstGeom prst="rect">
            <a:avLst/>
          </a:prstGeom>
          <a:solidFill>
            <a:srgbClr val="FFFFFF"/>
          </a:solidFill>
          <a:ln w="12700">
            <a:solidFill>
              <a:srgbClr val="D3E0E3"/>
            </a:solidFill>
            <a:prstDash val="solid"/>
          </a:ln>
        </p:spPr>
        <p:txBody>
          <a:bodyPr/>
          <a:lstStyle/>
          <a:p>
            <a:endParaRPr lang="en-US"/>
          </a:p>
        </p:txBody>
      </p:sp>
      <p:sp>
        <p:nvSpPr>
          <p:cNvPr id="21" name="Text 18"/>
          <p:cNvSpPr txBox="1"/>
          <p:nvPr/>
        </p:nvSpPr>
        <p:spPr>
          <a:xfrm>
            <a:off x="2834640" y="5623560"/>
            <a:ext cx="548640" cy="438912"/>
          </a:xfrm>
          <a:prstGeom prst="rect">
            <a:avLst/>
          </a:prstGeom>
          <a:noFill/>
          <a:ln/>
        </p:spPr>
        <p:txBody>
          <a:bodyPr wrap="square" lIns="0" tIns="0" rIns="0" bIns="0" rtlCol="0" anchor="ctr"/>
          <a:lstStyle/>
          <a:p>
            <a:pPr marL="0" indent="0" algn="ctr">
              <a:buNone/>
            </a:pPr>
            <a:r>
              <a:rPr lang="en-US" sz="1400" b="1" dirty="0">
                <a:solidFill>
                  <a:srgbClr val="16343B"/>
                </a:solidFill>
                <a:latin typeface="Calibri" pitchFamily="34" charset="0"/>
                <a:ea typeface="Calibri" pitchFamily="34" charset="-122"/>
                <a:cs typeface="Calibri" pitchFamily="34" charset="-120"/>
              </a:rPr>
              <a:t>G</a:t>
            </a:r>
            <a:endParaRPr lang="en-US" sz="1400" dirty="0"/>
          </a:p>
        </p:txBody>
      </p:sp>
      <p:sp>
        <p:nvSpPr>
          <p:cNvPr id="7" name="Shape 19"/>
          <p:cNvSpPr/>
          <p:nvPr/>
        </p:nvSpPr>
        <p:spPr>
          <a:xfrm>
            <a:off x="3383280" y="5623560"/>
            <a:ext cx="548640" cy="438912"/>
          </a:xfrm>
          <a:prstGeom prst="rect">
            <a:avLst/>
          </a:prstGeom>
          <a:solidFill>
            <a:srgbClr val="FBEEDA"/>
          </a:solidFill>
          <a:ln w="12700">
            <a:solidFill>
              <a:srgbClr val="D3E0E3"/>
            </a:solidFill>
            <a:prstDash val="solid"/>
          </a:ln>
        </p:spPr>
        <p:txBody>
          <a:bodyPr/>
          <a:lstStyle/>
          <a:p>
            <a:endParaRPr lang="en-US"/>
          </a:p>
        </p:txBody>
      </p:sp>
      <p:sp>
        <p:nvSpPr>
          <p:cNvPr id="23" name="Text 20"/>
          <p:cNvSpPr txBox="1"/>
          <p:nvPr/>
        </p:nvSpPr>
        <p:spPr>
          <a:xfrm>
            <a:off x="3383280" y="5623560"/>
            <a:ext cx="548640" cy="438912"/>
          </a:xfrm>
          <a:prstGeom prst="rect">
            <a:avLst/>
          </a:prstGeom>
          <a:noFill/>
          <a:ln/>
        </p:spPr>
        <p:txBody>
          <a:bodyPr wrap="square" lIns="0" tIns="0" rIns="0" bIns="0" rtlCol="0" anchor="ctr"/>
          <a:lstStyle/>
          <a:p>
            <a:pPr marL="0" indent="0" algn="ctr">
              <a:buNone/>
            </a:pPr>
            <a:r>
              <a:rPr lang="en-US" sz="1400" b="1" dirty="0">
                <a:solidFill>
                  <a:srgbClr val="9C6410"/>
                </a:solidFill>
                <a:latin typeface="Calibri" pitchFamily="34" charset="0"/>
                <a:ea typeface="Calibri" pitchFamily="34" charset="-122"/>
                <a:cs typeface="Calibri" pitchFamily="34" charset="-120"/>
              </a:rPr>
              <a:t>M</a:t>
            </a:r>
            <a:endParaRPr lang="en-US" sz="1400" dirty="0"/>
          </a:p>
        </p:txBody>
      </p:sp>
      <p:sp>
        <p:nvSpPr>
          <p:cNvPr id="24" name="Shape 21"/>
          <p:cNvSpPr/>
          <p:nvPr/>
        </p:nvSpPr>
        <p:spPr>
          <a:xfrm>
            <a:off x="3931920" y="5623560"/>
            <a:ext cx="548640" cy="438912"/>
          </a:xfrm>
          <a:prstGeom prst="rect">
            <a:avLst/>
          </a:prstGeom>
          <a:solidFill>
            <a:srgbClr val="FBEEDA"/>
          </a:solidFill>
          <a:ln w="12700">
            <a:solidFill>
              <a:srgbClr val="D3E0E3"/>
            </a:solidFill>
            <a:prstDash val="solid"/>
          </a:ln>
        </p:spPr>
        <p:txBody>
          <a:bodyPr/>
          <a:lstStyle/>
          <a:p>
            <a:endParaRPr lang="en-US"/>
          </a:p>
        </p:txBody>
      </p:sp>
      <p:sp>
        <p:nvSpPr>
          <p:cNvPr id="25" name="Text 22"/>
          <p:cNvSpPr txBox="1"/>
          <p:nvPr/>
        </p:nvSpPr>
        <p:spPr>
          <a:xfrm>
            <a:off x="3931920" y="5623560"/>
            <a:ext cx="548640" cy="438912"/>
          </a:xfrm>
          <a:prstGeom prst="rect">
            <a:avLst/>
          </a:prstGeom>
          <a:noFill/>
          <a:ln/>
        </p:spPr>
        <p:txBody>
          <a:bodyPr wrap="square" lIns="0" tIns="0" rIns="0" bIns="0" rtlCol="0" anchor="ctr"/>
          <a:lstStyle/>
          <a:p>
            <a:pPr marL="0" indent="0" algn="ctr">
              <a:buNone/>
            </a:pPr>
            <a:r>
              <a:rPr lang="en-US" sz="1400" b="1" dirty="0">
                <a:solidFill>
                  <a:srgbClr val="9C6410"/>
                </a:solidFill>
                <a:latin typeface="Calibri" pitchFamily="34" charset="0"/>
                <a:ea typeface="Calibri" pitchFamily="34" charset="-122"/>
                <a:cs typeface="Calibri" pitchFamily="34" charset="-120"/>
              </a:rPr>
              <a:t>O</a:t>
            </a:r>
            <a:endParaRPr lang="en-US" sz="1400" dirty="0"/>
          </a:p>
        </p:txBody>
      </p:sp>
      <p:sp>
        <p:nvSpPr>
          <p:cNvPr id="26" name="Shape 23"/>
          <p:cNvSpPr/>
          <p:nvPr/>
        </p:nvSpPr>
        <p:spPr>
          <a:xfrm>
            <a:off x="4480560" y="5623560"/>
            <a:ext cx="548640" cy="438912"/>
          </a:xfrm>
          <a:prstGeom prst="rect">
            <a:avLst/>
          </a:prstGeom>
          <a:solidFill>
            <a:srgbClr val="FBEEDA"/>
          </a:solidFill>
          <a:ln w="12700">
            <a:solidFill>
              <a:srgbClr val="D3E0E3"/>
            </a:solidFill>
            <a:prstDash val="solid"/>
          </a:ln>
        </p:spPr>
        <p:txBody>
          <a:bodyPr/>
          <a:lstStyle/>
          <a:p>
            <a:endParaRPr lang="en-US"/>
          </a:p>
        </p:txBody>
      </p:sp>
      <p:sp>
        <p:nvSpPr>
          <p:cNvPr id="27" name="Text 24"/>
          <p:cNvSpPr txBox="1"/>
          <p:nvPr/>
        </p:nvSpPr>
        <p:spPr>
          <a:xfrm>
            <a:off x="4480560" y="5623560"/>
            <a:ext cx="548640" cy="438912"/>
          </a:xfrm>
          <a:prstGeom prst="rect">
            <a:avLst/>
          </a:prstGeom>
          <a:noFill/>
          <a:ln/>
        </p:spPr>
        <p:txBody>
          <a:bodyPr wrap="square" lIns="0" tIns="0" rIns="0" bIns="0" rtlCol="0" anchor="ctr"/>
          <a:lstStyle/>
          <a:p>
            <a:pPr marL="0" indent="0" algn="ctr">
              <a:buNone/>
            </a:pPr>
            <a:r>
              <a:rPr lang="en-US" sz="1400" b="1" dirty="0">
                <a:solidFill>
                  <a:srgbClr val="9C6410"/>
                </a:solidFill>
                <a:latin typeface="Calibri" pitchFamily="34" charset="0"/>
                <a:ea typeface="Calibri" pitchFamily="34" charset="-122"/>
                <a:cs typeface="Calibri" pitchFamily="34" charset="-120"/>
              </a:rPr>
              <a:t>R</a:t>
            </a:r>
            <a:endParaRPr lang="en-US" sz="1400" dirty="0"/>
          </a:p>
        </p:txBody>
      </p:sp>
      <p:sp>
        <p:nvSpPr>
          <p:cNvPr id="28" name="Shape 25"/>
          <p:cNvSpPr/>
          <p:nvPr/>
        </p:nvSpPr>
        <p:spPr>
          <a:xfrm>
            <a:off x="5029200" y="5623560"/>
            <a:ext cx="548640" cy="438912"/>
          </a:xfrm>
          <a:prstGeom prst="rect">
            <a:avLst/>
          </a:prstGeom>
          <a:solidFill>
            <a:srgbClr val="FBEEDA"/>
          </a:solidFill>
          <a:ln w="12700">
            <a:solidFill>
              <a:srgbClr val="D3E0E3"/>
            </a:solidFill>
            <a:prstDash val="solid"/>
          </a:ln>
        </p:spPr>
        <p:txBody>
          <a:bodyPr/>
          <a:lstStyle/>
          <a:p>
            <a:endParaRPr lang="en-US"/>
          </a:p>
        </p:txBody>
      </p:sp>
      <p:sp>
        <p:nvSpPr>
          <p:cNvPr id="29" name="Text 26"/>
          <p:cNvSpPr txBox="1"/>
          <p:nvPr/>
        </p:nvSpPr>
        <p:spPr>
          <a:xfrm>
            <a:off x="5029200" y="5623560"/>
            <a:ext cx="548640" cy="438912"/>
          </a:xfrm>
          <a:prstGeom prst="rect">
            <a:avLst/>
          </a:prstGeom>
          <a:noFill/>
          <a:ln/>
        </p:spPr>
        <p:txBody>
          <a:bodyPr wrap="square" lIns="0" tIns="0" rIns="0" bIns="0" rtlCol="0" anchor="ctr"/>
          <a:lstStyle/>
          <a:p>
            <a:pPr marL="0" indent="0" algn="ctr">
              <a:buNone/>
            </a:pPr>
            <a:r>
              <a:rPr lang="en-US" sz="1400" b="1" dirty="0">
                <a:solidFill>
                  <a:srgbClr val="9C6410"/>
                </a:solidFill>
                <a:latin typeface="Calibri" pitchFamily="34" charset="0"/>
                <a:ea typeface="Calibri" pitchFamily="34" charset="-122"/>
                <a:cs typeface="Calibri" pitchFamily="34" charset="-120"/>
              </a:rPr>
              <a:t>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Q59</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Heapsort trace: pops 5–8</a:t>
            </a:r>
            <a:endParaRPr lang="en-US" sz="3000" dirty="0"/>
          </a:p>
        </p:txBody>
      </p:sp>
      <p:sp>
        <p:nvSpPr>
          <p:cNvPr id="5" name="Text 3"/>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2194560"/>
        </p:xfrm>
        <a:graphic>
          <a:graphicData uri="http://schemas.openxmlformats.org/drawingml/2006/table">
            <a:tbl>
              <a:tblPr/>
              <a:tblGrid>
                <a:gridCol w="5486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776472">
                  <a:extLst>
                    <a:ext uri="{9D8B030D-6E8A-4147-A177-3AD203B41FA5}">
                      <a16:colId xmlns:a16="http://schemas.microsoft.com/office/drawing/2014/main" val="20003"/>
                    </a:ext>
                  </a:extLst>
                </a:gridCol>
                <a:gridCol w="4389120">
                  <a:extLst>
                    <a:ext uri="{9D8B030D-6E8A-4147-A177-3AD203B41FA5}">
                      <a16:colId xmlns:a16="http://schemas.microsoft.com/office/drawing/2014/main" val="20004"/>
                    </a:ext>
                  </a:extLst>
                </a:gridCol>
              </a:tblGrid>
              <a:tr h="438912">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Pop</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Swap</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Bubble-down</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Array after the pop</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0F5E6E"/>
                    </a:solidFill>
                  </a:tcPr>
                </a:tc>
                <a:extLst>
                  <a:ext uri="{0D108BD9-81ED-4DB2-BD59-A6C34878D82A}">
                    <a16:rowId xmlns:a16="http://schemas.microsoft.com/office/drawing/2014/main" val="10000"/>
                  </a:ext>
                </a:extLst>
              </a:tr>
              <a:tr h="438912">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16343B"/>
                          </a:solidFill>
                          <a:latin typeface="Calibri" pitchFamily="34" charset="0"/>
                          <a:ea typeface="Calibri" pitchFamily="34" charset="-122"/>
                          <a:cs typeface="Calibri" pitchFamily="34" charset="-120"/>
                        </a:rPr>
                        <a:t>L</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L ↔ G</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G below I</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ourier New" pitchFamily="34" charset="0"/>
                          <a:ea typeface="Courier New" pitchFamily="34" charset="-122"/>
                          <a:cs typeface="Courier New" pitchFamily="34" charset="-120"/>
                        </a:rPr>
                        <a:t>I H G A | L M O R T</a:t>
                      </a:r>
                      <a:endParaRPr lang="en-US" sz="13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b="1" dirty="0">
                          <a:solidFill>
                            <a:srgbClr val="16343B"/>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I ↔ A</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A below H</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ourier New" pitchFamily="34" charset="0"/>
                          <a:ea typeface="Courier New" pitchFamily="34" charset="-122"/>
                          <a:cs typeface="Courier New" pitchFamily="34" charset="-120"/>
                        </a:rPr>
                        <a:t>H A G | I L M O R T</a:t>
                      </a:r>
                      <a:endParaRPr lang="en-US" sz="13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2"/>
                  </a:ext>
                </a:extLst>
              </a:tr>
              <a:tr h="438912">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16343B"/>
                          </a:solidFill>
                          <a:latin typeface="Calibri" pitchFamily="34" charset="0"/>
                          <a:ea typeface="Calibri" pitchFamily="34" charset="-122"/>
                          <a:cs typeface="Calibri" pitchFamily="34" charset="-120"/>
                        </a:rPr>
                        <a:t>H</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H ↔ G</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G already dominates A</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6343B"/>
                          </a:solidFill>
                          <a:latin typeface="Courier New" pitchFamily="34" charset="0"/>
                          <a:ea typeface="Courier New" pitchFamily="34" charset="-122"/>
                          <a:cs typeface="Courier New" pitchFamily="34" charset="-120"/>
                        </a:rPr>
                        <a:t>G A | H I L M O R T</a:t>
                      </a:r>
                      <a:endParaRPr lang="en-US" sz="13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b="1" dirty="0">
                          <a:solidFill>
                            <a:srgbClr val="16343B"/>
                          </a:solidFill>
                          <a:latin typeface="Calibri" pitchFamily="34" charset="0"/>
                          <a:ea typeface="Calibri" pitchFamily="34" charset="-122"/>
                          <a:cs typeface="Calibri" pitchFamily="34" charset="-120"/>
                        </a:rPr>
                        <a:t>G</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G ↔ A</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alibri" pitchFamily="34" charset="0"/>
                          <a:ea typeface="Calibri" pitchFamily="34" charset="-122"/>
                          <a:cs typeface="Calibri" pitchFamily="34" charset="-120"/>
                        </a:rPr>
                        <a:t>heap of size 1 — done</a:t>
                      </a:r>
                      <a:endParaRPr lang="en-US" sz="1300" dirty="0">
                        <a:latin typeface="Calibri" charset="0"/>
                        <a:ea typeface="Calibri" charset="0"/>
                        <a:cs typeface="Calibri"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tc>
                  <a:txBody>
                    <a:bodyPr/>
                    <a:lstStyle/>
                    <a:p>
                      <a:pPr marL="0" indent="0" algn="l">
                        <a:buNone/>
                      </a:pPr>
                      <a:r>
                        <a:rPr lang="en-US" sz="1300" dirty="0">
                          <a:solidFill>
                            <a:srgbClr val="16343B"/>
                          </a:solidFill>
                          <a:latin typeface="Courier New" pitchFamily="34" charset="0"/>
                          <a:ea typeface="Courier New" pitchFamily="34" charset="-122"/>
                          <a:cs typeface="Courier New" pitchFamily="34" charset="-120"/>
                        </a:rPr>
                        <a:t>A | G H I L M O R T</a:t>
                      </a:r>
                      <a:endParaRPr lang="en-US" sz="1300" dirty="0">
                        <a:latin typeface="Courier New" charset="0"/>
                        <a:ea typeface="Courier New" charset="0"/>
                        <a:cs typeface="Courier New" charset="0"/>
                      </a:endParaRPr>
                    </a:p>
                  </a:txBody>
                  <a:tcPr marL="76200" marR="76200" marT="25400" marB="25400" anchor="ctr">
                    <a:lnL w="6350" cap="flat" cmpd="sng" algn="ctr">
                      <a:solidFill>
                        <a:srgbClr val="D3E0E3"/>
                      </a:solidFill>
                      <a:prstDash val="solid"/>
                      <a:round/>
                      <a:headEnd type="none" w="med" len="med"/>
                      <a:tailEnd type="none" w="med" len="med"/>
                    </a:lnL>
                    <a:lnR w="6350" cap="flat" cmpd="sng" algn="ctr">
                      <a:solidFill>
                        <a:srgbClr val="D3E0E3"/>
                      </a:solidFill>
                      <a:prstDash val="solid"/>
                      <a:round/>
                      <a:headEnd type="none" w="med" len="med"/>
                      <a:tailEnd type="none" w="med" len="med"/>
                    </a:lnR>
                    <a:lnT w="6350" cap="flat" cmpd="sng" algn="ctr">
                      <a:solidFill>
                        <a:srgbClr val="D3E0E3"/>
                      </a:solidFill>
                      <a:prstDash val="solid"/>
                      <a:round/>
                      <a:headEnd type="none" w="med" len="med"/>
                      <a:tailEnd type="none" w="med" len="med"/>
                    </a:lnT>
                    <a:lnB w="6350" cap="flat" cmpd="sng" algn="ctr">
                      <a:solidFill>
                        <a:srgbClr val="D3E0E3"/>
                      </a:solidFill>
                      <a:prstDash val="solid"/>
                      <a:round/>
                      <a:headEnd type="none" w="med" len="med"/>
                      <a:tailEnd type="none" w="med" len="med"/>
                    </a:lnB>
                    <a:solidFill>
                      <a:srgbClr val="F1F6F7"/>
                    </a:solidFill>
                  </a:tcPr>
                </a:tc>
                <a:extLst>
                  <a:ext uri="{0D108BD9-81ED-4DB2-BD59-A6C34878D82A}">
                    <a16:rowId xmlns:a16="http://schemas.microsoft.com/office/drawing/2014/main" val="10004"/>
                  </a:ext>
                </a:extLst>
              </a:tr>
            </a:tbl>
          </a:graphicData>
        </a:graphic>
      </p:graphicFrame>
      <p:sp>
        <p:nvSpPr>
          <p:cNvPr id="7" name="Text 4"/>
          <p:cNvSpPr txBox="1"/>
          <p:nvPr/>
        </p:nvSpPr>
        <p:spPr>
          <a:xfrm>
            <a:off x="640080" y="4160520"/>
            <a:ext cx="10908792" cy="320040"/>
          </a:xfrm>
          <a:prstGeom prst="rect">
            <a:avLst/>
          </a:prstGeom>
          <a:noFill/>
          <a:ln/>
        </p:spPr>
        <p:txBody>
          <a:bodyPr wrap="square" lIns="0" tIns="0" rIns="0" bIns="0" rtlCol="0" anchor="t"/>
          <a:lstStyle/>
          <a:p>
            <a:pPr marL="0" indent="0" algn="l">
              <a:lnSpc>
                <a:spcPts val="2025"/>
              </a:lnSpc>
              <a:buNone/>
            </a:pPr>
            <a:r>
              <a:rPr lang="en-US" sz="1500" b="1" dirty="0">
                <a:solidFill>
                  <a:srgbClr val="0F5E6E"/>
                </a:solidFill>
                <a:latin typeface="Calibri" pitchFamily="34" charset="0"/>
                <a:ea typeface="Calibri" pitchFamily="34" charset="-122"/>
                <a:cs typeface="Calibri" pitchFamily="34" charset="-120"/>
              </a:rPr>
              <a:t>Sorted, in place, ascending:</a:t>
            </a:r>
            <a:endParaRPr lang="en-US" sz="1500" dirty="0"/>
          </a:p>
        </p:txBody>
      </p:sp>
      <p:sp>
        <p:nvSpPr>
          <p:cNvPr id="8" name="Shape 5"/>
          <p:cNvSpPr/>
          <p:nvPr/>
        </p:nvSpPr>
        <p:spPr>
          <a:xfrm>
            <a:off x="640080" y="4526280"/>
            <a:ext cx="603504" cy="493776"/>
          </a:xfrm>
          <a:prstGeom prst="rect">
            <a:avLst/>
          </a:prstGeom>
          <a:solidFill>
            <a:srgbClr val="FBEEDA"/>
          </a:solidFill>
          <a:ln w="12700">
            <a:solidFill>
              <a:srgbClr val="D3E0E3"/>
            </a:solidFill>
            <a:prstDash val="solid"/>
          </a:ln>
        </p:spPr>
        <p:txBody>
          <a:bodyPr/>
          <a:lstStyle/>
          <a:p>
            <a:endParaRPr lang="en-US"/>
          </a:p>
        </p:txBody>
      </p:sp>
      <p:sp>
        <p:nvSpPr>
          <p:cNvPr id="9" name="Text 6"/>
          <p:cNvSpPr txBox="1"/>
          <p:nvPr/>
        </p:nvSpPr>
        <p:spPr>
          <a:xfrm>
            <a:off x="640080" y="4526280"/>
            <a:ext cx="603504" cy="493776"/>
          </a:xfrm>
          <a:prstGeom prst="rect">
            <a:avLst/>
          </a:prstGeom>
          <a:noFill/>
          <a:ln/>
        </p:spPr>
        <p:txBody>
          <a:bodyPr wrap="square" lIns="0" tIns="0" rIns="0" bIns="0" rtlCol="0" anchor="ctr"/>
          <a:lstStyle/>
          <a:p>
            <a:pPr marL="0" indent="0" algn="ctr">
              <a:buNone/>
            </a:pPr>
            <a:r>
              <a:rPr lang="en-US" sz="1600" b="1" dirty="0">
                <a:solidFill>
                  <a:srgbClr val="9C6410"/>
                </a:solidFill>
                <a:latin typeface="Calibri" pitchFamily="34" charset="0"/>
                <a:ea typeface="Calibri" pitchFamily="34" charset="-122"/>
                <a:cs typeface="Calibri" pitchFamily="34" charset="-120"/>
              </a:rPr>
              <a:t>A</a:t>
            </a:r>
            <a:endParaRPr lang="en-US" sz="1600" dirty="0"/>
          </a:p>
        </p:txBody>
      </p:sp>
      <p:sp>
        <p:nvSpPr>
          <p:cNvPr id="10" name="Text 7"/>
          <p:cNvSpPr txBox="1"/>
          <p:nvPr/>
        </p:nvSpPr>
        <p:spPr>
          <a:xfrm>
            <a:off x="640080" y="5038344"/>
            <a:ext cx="603504"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1</a:t>
            </a:r>
            <a:endParaRPr lang="en-US" sz="900" dirty="0"/>
          </a:p>
        </p:txBody>
      </p:sp>
      <p:sp>
        <p:nvSpPr>
          <p:cNvPr id="11" name="Shape 8"/>
          <p:cNvSpPr/>
          <p:nvPr/>
        </p:nvSpPr>
        <p:spPr>
          <a:xfrm>
            <a:off x="1243584" y="4526280"/>
            <a:ext cx="603504" cy="493776"/>
          </a:xfrm>
          <a:prstGeom prst="rect">
            <a:avLst/>
          </a:prstGeom>
          <a:solidFill>
            <a:srgbClr val="FBEEDA"/>
          </a:solidFill>
          <a:ln w="12700">
            <a:solidFill>
              <a:srgbClr val="D3E0E3"/>
            </a:solidFill>
            <a:prstDash val="solid"/>
          </a:ln>
        </p:spPr>
        <p:txBody>
          <a:bodyPr/>
          <a:lstStyle/>
          <a:p>
            <a:endParaRPr lang="en-US"/>
          </a:p>
        </p:txBody>
      </p:sp>
      <p:sp>
        <p:nvSpPr>
          <p:cNvPr id="12" name="Text 9"/>
          <p:cNvSpPr txBox="1"/>
          <p:nvPr/>
        </p:nvSpPr>
        <p:spPr>
          <a:xfrm>
            <a:off x="1243584" y="4526280"/>
            <a:ext cx="603504" cy="493776"/>
          </a:xfrm>
          <a:prstGeom prst="rect">
            <a:avLst/>
          </a:prstGeom>
          <a:noFill/>
          <a:ln/>
        </p:spPr>
        <p:txBody>
          <a:bodyPr wrap="square" lIns="0" tIns="0" rIns="0" bIns="0" rtlCol="0" anchor="ctr"/>
          <a:lstStyle/>
          <a:p>
            <a:pPr marL="0" indent="0" algn="ctr">
              <a:buNone/>
            </a:pPr>
            <a:r>
              <a:rPr lang="en-US" sz="1600" b="1" dirty="0">
                <a:solidFill>
                  <a:srgbClr val="9C6410"/>
                </a:solidFill>
                <a:latin typeface="Calibri" pitchFamily="34" charset="0"/>
                <a:ea typeface="Calibri" pitchFamily="34" charset="-122"/>
                <a:cs typeface="Calibri" pitchFamily="34" charset="-120"/>
              </a:rPr>
              <a:t>G</a:t>
            </a:r>
            <a:endParaRPr lang="en-US" sz="1600" dirty="0"/>
          </a:p>
        </p:txBody>
      </p:sp>
      <p:sp>
        <p:nvSpPr>
          <p:cNvPr id="13" name="Text 10"/>
          <p:cNvSpPr txBox="1"/>
          <p:nvPr/>
        </p:nvSpPr>
        <p:spPr>
          <a:xfrm>
            <a:off x="1243584" y="5038344"/>
            <a:ext cx="603504"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2</a:t>
            </a:r>
            <a:endParaRPr lang="en-US" sz="900" dirty="0"/>
          </a:p>
        </p:txBody>
      </p:sp>
      <p:sp>
        <p:nvSpPr>
          <p:cNvPr id="14" name="Shape 11"/>
          <p:cNvSpPr/>
          <p:nvPr/>
        </p:nvSpPr>
        <p:spPr>
          <a:xfrm>
            <a:off x="1847088" y="4526280"/>
            <a:ext cx="603504" cy="493776"/>
          </a:xfrm>
          <a:prstGeom prst="rect">
            <a:avLst/>
          </a:prstGeom>
          <a:solidFill>
            <a:srgbClr val="FBEEDA"/>
          </a:solidFill>
          <a:ln w="12700">
            <a:solidFill>
              <a:srgbClr val="D3E0E3"/>
            </a:solidFill>
            <a:prstDash val="solid"/>
          </a:ln>
        </p:spPr>
        <p:txBody>
          <a:bodyPr/>
          <a:lstStyle/>
          <a:p>
            <a:endParaRPr lang="en-US"/>
          </a:p>
        </p:txBody>
      </p:sp>
      <p:sp>
        <p:nvSpPr>
          <p:cNvPr id="15" name="Text 12"/>
          <p:cNvSpPr txBox="1"/>
          <p:nvPr/>
        </p:nvSpPr>
        <p:spPr>
          <a:xfrm>
            <a:off x="1847088" y="4526280"/>
            <a:ext cx="603504" cy="493776"/>
          </a:xfrm>
          <a:prstGeom prst="rect">
            <a:avLst/>
          </a:prstGeom>
          <a:noFill/>
          <a:ln/>
        </p:spPr>
        <p:txBody>
          <a:bodyPr wrap="square" lIns="0" tIns="0" rIns="0" bIns="0" rtlCol="0" anchor="ctr"/>
          <a:lstStyle/>
          <a:p>
            <a:pPr marL="0" indent="0" algn="ctr">
              <a:buNone/>
            </a:pPr>
            <a:r>
              <a:rPr lang="en-US" sz="1600" b="1" dirty="0">
                <a:solidFill>
                  <a:srgbClr val="9C6410"/>
                </a:solidFill>
                <a:latin typeface="Calibri" pitchFamily="34" charset="0"/>
                <a:ea typeface="Calibri" pitchFamily="34" charset="-122"/>
                <a:cs typeface="Calibri" pitchFamily="34" charset="-120"/>
              </a:rPr>
              <a:t>H</a:t>
            </a:r>
            <a:endParaRPr lang="en-US" sz="1600" dirty="0"/>
          </a:p>
        </p:txBody>
      </p:sp>
      <p:sp>
        <p:nvSpPr>
          <p:cNvPr id="16" name="Text 13"/>
          <p:cNvSpPr txBox="1"/>
          <p:nvPr/>
        </p:nvSpPr>
        <p:spPr>
          <a:xfrm>
            <a:off x="1847088" y="5038344"/>
            <a:ext cx="603504"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3</a:t>
            </a:r>
            <a:endParaRPr lang="en-US" sz="900" dirty="0"/>
          </a:p>
        </p:txBody>
      </p:sp>
      <p:sp>
        <p:nvSpPr>
          <p:cNvPr id="17" name="Shape 14"/>
          <p:cNvSpPr/>
          <p:nvPr/>
        </p:nvSpPr>
        <p:spPr>
          <a:xfrm>
            <a:off x="2450592" y="4526280"/>
            <a:ext cx="603504" cy="493776"/>
          </a:xfrm>
          <a:prstGeom prst="rect">
            <a:avLst/>
          </a:prstGeom>
          <a:solidFill>
            <a:srgbClr val="FBEEDA"/>
          </a:solidFill>
          <a:ln w="12700">
            <a:solidFill>
              <a:srgbClr val="D3E0E3"/>
            </a:solidFill>
            <a:prstDash val="solid"/>
          </a:ln>
        </p:spPr>
        <p:txBody>
          <a:bodyPr/>
          <a:lstStyle/>
          <a:p>
            <a:endParaRPr lang="en-US"/>
          </a:p>
        </p:txBody>
      </p:sp>
      <p:sp>
        <p:nvSpPr>
          <p:cNvPr id="18" name="Text 15"/>
          <p:cNvSpPr txBox="1"/>
          <p:nvPr/>
        </p:nvSpPr>
        <p:spPr>
          <a:xfrm>
            <a:off x="2450592" y="4526280"/>
            <a:ext cx="603504" cy="493776"/>
          </a:xfrm>
          <a:prstGeom prst="rect">
            <a:avLst/>
          </a:prstGeom>
          <a:noFill/>
          <a:ln/>
        </p:spPr>
        <p:txBody>
          <a:bodyPr wrap="square" lIns="0" tIns="0" rIns="0" bIns="0" rtlCol="0" anchor="ctr"/>
          <a:lstStyle/>
          <a:p>
            <a:pPr marL="0" indent="0" algn="ctr">
              <a:buNone/>
            </a:pPr>
            <a:r>
              <a:rPr lang="en-US" sz="1600" b="1" dirty="0">
                <a:solidFill>
                  <a:srgbClr val="9C6410"/>
                </a:solidFill>
                <a:latin typeface="Calibri" pitchFamily="34" charset="0"/>
                <a:ea typeface="Calibri" pitchFamily="34" charset="-122"/>
                <a:cs typeface="Calibri" pitchFamily="34" charset="-120"/>
              </a:rPr>
              <a:t>I</a:t>
            </a:r>
            <a:endParaRPr lang="en-US" sz="1600" dirty="0"/>
          </a:p>
        </p:txBody>
      </p:sp>
      <p:sp>
        <p:nvSpPr>
          <p:cNvPr id="19" name="Text 16"/>
          <p:cNvSpPr txBox="1"/>
          <p:nvPr/>
        </p:nvSpPr>
        <p:spPr>
          <a:xfrm>
            <a:off x="2450592" y="5038344"/>
            <a:ext cx="603504"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4</a:t>
            </a:r>
            <a:endParaRPr lang="en-US" sz="900" dirty="0"/>
          </a:p>
        </p:txBody>
      </p:sp>
      <p:sp>
        <p:nvSpPr>
          <p:cNvPr id="20" name="Shape 17"/>
          <p:cNvSpPr/>
          <p:nvPr/>
        </p:nvSpPr>
        <p:spPr>
          <a:xfrm>
            <a:off x="3054096" y="4526280"/>
            <a:ext cx="603504" cy="493776"/>
          </a:xfrm>
          <a:prstGeom prst="rect">
            <a:avLst/>
          </a:prstGeom>
          <a:solidFill>
            <a:srgbClr val="FBEEDA"/>
          </a:solidFill>
          <a:ln w="12700">
            <a:solidFill>
              <a:srgbClr val="D3E0E3"/>
            </a:solidFill>
            <a:prstDash val="solid"/>
          </a:ln>
        </p:spPr>
        <p:txBody>
          <a:bodyPr/>
          <a:lstStyle/>
          <a:p>
            <a:endParaRPr lang="en-US"/>
          </a:p>
        </p:txBody>
      </p:sp>
      <p:sp>
        <p:nvSpPr>
          <p:cNvPr id="21" name="Text 18"/>
          <p:cNvSpPr txBox="1"/>
          <p:nvPr/>
        </p:nvSpPr>
        <p:spPr>
          <a:xfrm>
            <a:off x="3054096" y="4526280"/>
            <a:ext cx="603504" cy="493776"/>
          </a:xfrm>
          <a:prstGeom prst="rect">
            <a:avLst/>
          </a:prstGeom>
          <a:noFill/>
          <a:ln/>
        </p:spPr>
        <p:txBody>
          <a:bodyPr wrap="square" lIns="0" tIns="0" rIns="0" bIns="0" rtlCol="0" anchor="ctr"/>
          <a:lstStyle/>
          <a:p>
            <a:pPr marL="0" indent="0" algn="ctr">
              <a:buNone/>
            </a:pPr>
            <a:r>
              <a:rPr lang="en-US" sz="1600" b="1" dirty="0">
                <a:solidFill>
                  <a:srgbClr val="9C6410"/>
                </a:solidFill>
                <a:latin typeface="Calibri" pitchFamily="34" charset="0"/>
                <a:ea typeface="Calibri" pitchFamily="34" charset="-122"/>
                <a:cs typeface="Calibri" pitchFamily="34" charset="-120"/>
              </a:rPr>
              <a:t>L</a:t>
            </a:r>
            <a:endParaRPr lang="en-US" sz="1600" dirty="0"/>
          </a:p>
        </p:txBody>
      </p:sp>
      <p:sp>
        <p:nvSpPr>
          <p:cNvPr id="22" name="Text 19"/>
          <p:cNvSpPr txBox="1"/>
          <p:nvPr/>
        </p:nvSpPr>
        <p:spPr>
          <a:xfrm>
            <a:off x="3054096" y="5038344"/>
            <a:ext cx="603504"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5</a:t>
            </a:r>
            <a:endParaRPr lang="en-US" sz="900" dirty="0"/>
          </a:p>
        </p:txBody>
      </p:sp>
      <p:sp>
        <p:nvSpPr>
          <p:cNvPr id="6" name="Shape 20"/>
          <p:cNvSpPr/>
          <p:nvPr/>
        </p:nvSpPr>
        <p:spPr>
          <a:xfrm>
            <a:off x="3657600" y="4526280"/>
            <a:ext cx="603504" cy="493776"/>
          </a:xfrm>
          <a:prstGeom prst="rect">
            <a:avLst/>
          </a:prstGeom>
          <a:solidFill>
            <a:srgbClr val="FBEEDA"/>
          </a:solidFill>
          <a:ln w="12700">
            <a:solidFill>
              <a:srgbClr val="D3E0E3"/>
            </a:solidFill>
            <a:prstDash val="solid"/>
          </a:ln>
        </p:spPr>
        <p:txBody>
          <a:bodyPr/>
          <a:lstStyle/>
          <a:p>
            <a:endParaRPr lang="en-US"/>
          </a:p>
        </p:txBody>
      </p:sp>
      <p:sp>
        <p:nvSpPr>
          <p:cNvPr id="24" name="Text 21"/>
          <p:cNvSpPr txBox="1"/>
          <p:nvPr/>
        </p:nvSpPr>
        <p:spPr>
          <a:xfrm>
            <a:off x="3657600" y="4526280"/>
            <a:ext cx="603504" cy="493776"/>
          </a:xfrm>
          <a:prstGeom prst="rect">
            <a:avLst/>
          </a:prstGeom>
          <a:noFill/>
          <a:ln/>
        </p:spPr>
        <p:txBody>
          <a:bodyPr wrap="square" lIns="0" tIns="0" rIns="0" bIns="0" rtlCol="0" anchor="ctr"/>
          <a:lstStyle/>
          <a:p>
            <a:pPr marL="0" indent="0" algn="ctr">
              <a:buNone/>
            </a:pPr>
            <a:r>
              <a:rPr lang="en-US" sz="1600" b="1" dirty="0">
                <a:solidFill>
                  <a:srgbClr val="9C6410"/>
                </a:solidFill>
                <a:latin typeface="Calibri" pitchFamily="34" charset="0"/>
                <a:ea typeface="Calibri" pitchFamily="34" charset="-122"/>
                <a:cs typeface="Calibri" pitchFamily="34" charset="-120"/>
              </a:rPr>
              <a:t>M</a:t>
            </a:r>
            <a:endParaRPr lang="en-US" sz="1600" dirty="0"/>
          </a:p>
        </p:txBody>
      </p:sp>
      <p:sp>
        <p:nvSpPr>
          <p:cNvPr id="25" name="Text 22"/>
          <p:cNvSpPr txBox="1"/>
          <p:nvPr/>
        </p:nvSpPr>
        <p:spPr>
          <a:xfrm>
            <a:off x="3657600" y="5038344"/>
            <a:ext cx="603504"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6</a:t>
            </a:r>
            <a:endParaRPr lang="en-US" sz="900" dirty="0"/>
          </a:p>
        </p:txBody>
      </p:sp>
      <p:sp>
        <p:nvSpPr>
          <p:cNvPr id="26" name="Shape 23"/>
          <p:cNvSpPr/>
          <p:nvPr/>
        </p:nvSpPr>
        <p:spPr>
          <a:xfrm>
            <a:off x="4261104" y="4526280"/>
            <a:ext cx="603504" cy="493776"/>
          </a:xfrm>
          <a:prstGeom prst="rect">
            <a:avLst/>
          </a:prstGeom>
          <a:solidFill>
            <a:srgbClr val="FBEEDA"/>
          </a:solidFill>
          <a:ln w="12700">
            <a:solidFill>
              <a:srgbClr val="D3E0E3"/>
            </a:solidFill>
            <a:prstDash val="solid"/>
          </a:ln>
        </p:spPr>
        <p:txBody>
          <a:bodyPr/>
          <a:lstStyle/>
          <a:p>
            <a:endParaRPr lang="en-US"/>
          </a:p>
        </p:txBody>
      </p:sp>
      <p:sp>
        <p:nvSpPr>
          <p:cNvPr id="27" name="Text 24"/>
          <p:cNvSpPr txBox="1"/>
          <p:nvPr/>
        </p:nvSpPr>
        <p:spPr>
          <a:xfrm>
            <a:off x="4261104" y="4526280"/>
            <a:ext cx="603504" cy="493776"/>
          </a:xfrm>
          <a:prstGeom prst="rect">
            <a:avLst/>
          </a:prstGeom>
          <a:noFill/>
          <a:ln/>
        </p:spPr>
        <p:txBody>
          <a:bodyPr wrap="square" lIns="0" tIns="0" rIns="0" bIns="0" rtlCol="0" anchor="ctr"/>
          <a:lstStyle/>
          <a:p>
            <a:pPr marL="0" indent="0" algn="ctr">
              <a:buNone/>
            </a:pPr>
            <a:r>
              <a:rPr lang="en-US" sz="1600" b="1" dirty="0">
                <a:solidFill>
                  <a:srgbClr val="9C6410"/>
                </a:solidFill>
                <a:latin typeface="Calibri" pitchFamily="34" charset="0"/>
                <a:ea typeface="Calibri" pitchFamily="34" charset="-122"/>
                <a:cs typeface="Calibri" pitchFamily="34" charset="-120"/>
              </a:rPr>
              <a:t>O</a:t>
            </a:r>
            <a:endParaRPr lang="en-US" sz="1600" dirty="0"/>
          </a:p>
        </p:txBody>
      </p:sp>
      <p:sp>
        <p:nvSpPr>
          <p:cNvPr id="28" name="Text 25"/>
          <p:cNvSpPr txBox="1"/>
          <p:nvPr/>
        </p:nvSpPr>
        <p:spPr>
          <a:xfrm>
            <a:off x="4261104" y="5038344"/>
            <a:ext cx="603504"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7</a:t>
            </a:r>
            <a:endParaRPr lang="en-US" sz="900" dirty="0"/>
          </a:p>
        </p:txBody>
      </p:sp>
      <p:sp>
        <p:nvSpPr>
          <p:cNvPr id="29" name="Shape 26"/>
          <p:cNvSpPr/>
          <p:nvPr/>
        </p:nvSpPr>
        <p:spPr>
          <a:xfrm>
            <a:off x="4864608" y="4526280"/>
            <a:ext cx="603504" cy="493776"/>
          </a:xfrm>
          <a:prstGeom prst="rect">
            <a:avLst/>
          </a:prstGeom>
          <a:solidFill>
            <a:srgbClr val="FBEEDA"/>
          </a:solidFill>
          <a:ln w="12700">
            <a:solidFill>
              <a:srgbClr val="D3E0E3"/>
            </a:solidFill>
            <a:prstDash val="solid"/>
          </a:ln>
        </p:spPr>
        <p:txBody>
          <a:bodyPr/>
          <a:lstStyle/>
          <a:p>
            <a:endParaRPr lang="en-US"/>
          </a:p>
        </p:txBody>
      </p:sp>
      <p:sp>
        <p:nvSpPr>
          <p:cNvPr id="30" name="Text 27"/>
          <p:cNvSpPr txBox="1"/>
          <p:nvPr/>
        </p:nvSpPr>
        <p:spPr>
          <a:xfrm>
            <a:off x="4864608" y="4526280"/>
            <a:ext cx="603504" cy="493776"/>
          </a:xfrm>
          <a:prstGeom prst="rect">
            <a:avLst/>
          </a:prstGeom>
          <a:noFill/>
          <a:ln/>
        </p:spPr>
        <p:txBody>
          <a:bodyPr wrap="square" lIns="0" tIns="0" rIns="0" bIns="0" rtlCol="0" anchor="ctr"/>
          <a:lstStyle/>
          <a:p>
            <a:pPr marL="0" indent="0" algn="ctr">
              <a:buNone/>
            </a:pPr>
            <a:r>
              <a:rPr lang="en-US" sz="1600" b="1" dirty="0">
                <a:solidFill>
                  <a:srgbClr val="9C6410"/>
                </a:solidFill>
                <a:latin typeface="Calibri" pitchFamily="34" charset="0"/>
                <a:ea typeface="Calibri" pitchFamily="34" charset="-122"/>
                <a:cs typeface="Calibri" pitchFamily="34" charset="-120"/>
              </a:rPr>
              <a:t>R</a:t>
            </a:r>
            <a:endParaRPr lang="en-US" sz="1600" dirty="0"/>
          </a:p>
        </p:txBody>
      </p:sp>
      <p:sp>
        <p:nvSpPr>
          <p:cNvPr id="31" name="Text 28"/>
          <p:cNvSpPr txBox="1"/>
          <p:nvPr/>
        </p:nvSpPr>
        <p:spPr>
          <a:xfrm>
            <a:off x="4864608" y="5038344"/>
            <a:ext cx="603504"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8</a:t>
            </a:r>
            <a:endParaRPr lang="en-US" sz="900" dirty="0"/>
          </a:p>
        </p:txBody>
      </p:sp>
      <p:sp>
        <p:nvSpPr>
          <p:cNvPr id="32" name="Shape 29"/>
          <p:cNvSpPr/>
          <p:nvPr/>
        </p:nvSpPr>
        <p:spPr>
          <a:xfrm>
            <a:off x="5468112" y="4526280"/>
            <a:ext cx="603504" cy="493776"/>
          </a:xfrm>
          <a:prstGeom prst="rect">
            <a:avLst/>
          </a:prstGeom>
          <a:solidFill>
            <a:srgbClr val="FBEEDA"/>
          </a:solidFill>
          <a:ln w="12700">
            <a:solidFill>
              <a:srgbClr val="D3E0E3"/>
            </a:solidFill>
            <a:prstDash val="solid"/>
          </a:ln>
        </p:spPr>
        <p:txBody>
          <a:bodyPr/>
          <a:lstStyle/>
          <a:p>
            <a:endParaRPr lang="en-US"/>
          </a:p>
        </p:txBody>
      </p:sp>
      <p:sp>
        <p:nvSpPr>
          <p:cNvPr id="33" name="Text 30"/>
          <p:cNvSpPr txBox="1"/>
          <p:nvPr/>
        </p:nvSpPr>
        <p:spPr>
          <a:xfrm>
            <a:off x="5468112" y="4526280"/>
            <a:ext cx="603504" cy="493776"/>
          </a:xfrm>
          <a:prstGeom prst="rect">
            <a:avLst/>
          </a:prstGeom>
          <a:noFill/>
          <a:ln/>
        </p:spPr>
        <p:txBody>
          <a:bodyPr wrap="square" lIns="0" tIns="0" rIns="0" bIns="0" rtlCol="0" anchor="ctr"/>
          <a:lstStyle/>
          <a:p>
            <a:pPr marL="0" indent="0" algn="ctr">
              <a:buNone/>
            </a:pPr>
            <a:r>
              <a:rPr lang="en-US" sz="1600" b="1" dirty="0">
                <a:solidFill>
                  <a:srgbClr val="9C6410"/>
                </a:solidFill>
                <a:latin typeface="Calibri" pitchFamily="34" charset="0"/>
                <a:ea typeface="Calibri" pitchFamily="34" charset="-122"/>
                <a:cs typeface="Calibri" pitchFamily="34" charset="-120"/>
              </a:rPr>
              <a:t>T</a:t>
            </a:r>
            <a:endParaRPr lang="en-US" sz="1600" dirty="0"/>
          </a:p>
        </p:txBody>
      </p:sp>
      <p:sp>
        <p:nvSpPr>
          <p:cNvPr id="34" name="Text 31"/>
          <p:cNvSpPr txBox="1"/>
          <p:nvPr/>
        </p:nvSpPr>
        <p:spPr>
          <a:xfrm>
            <a:off x="5468112" y="5038344"/>
            <a:ext cx="603504" cy="219456"/>
          </a:xfrm>
          <a:prstGeom prst="rect">
            <a:avLst/>
          </a:prstGeom>
          <a:noFill/>
          <a:ln/>
        </p:spPr>
        <p:txBody>
          <a:bodyPr wrap="square" lIns="0" tIns="0" rIns="0" bIns="0" rtlCol="0" anchor="ctr"/>
          <a:lstStyle/>
          <a:p>
            <a:pPr marL="0" indent="0" algn="ctr">
              <a:buNone/>
            </a:pPr>
            <a:r>
              <a:rPr lang="en-US" sz="900" dirty="0">
                <a:solidFill>
                  <a:srgbClr val="5F7A80"/>
                </a:solidFill>
                <a:latin typeface="Calibri" pitchFamily="34" charset="0"/>
                <a:ea typeface="Calibri" pitchFamily="34" charset="-122"/>
                <a:cs typeface="Calibri" pitchFamily="34" charset="-120"/>
              </a:rPr>
              <a:t>9</a:t>
            </a:r>
            <a:endParaRPr lang="en-US" sz="900" dirty="0"/>
          </a:p>
        </p:txBody>
      </p:sp>
      <p:sp>
        <p:nvSpPr>
          <p:cNvPr id="35" name="Shape 32"/>
          <p:cNvSpPr/>
          <p:nvPr/>
        </p:nvSpPr>
        <p:spPr>
          <a:xfrm>
            <a:off x="6675120" y="4480560"/>
            <a:ext cx="4873752" cy="1463040"/>
          </a:xfrm>
          <a:prstGeom prst="roundRect">
            <a:avLst>
              <a:gd name="adj" fmla="val 3125"/>
            </a:avLst>
          </a:prstGeom>
          <a:solidFill>
            <a:srgbClr val="F1F6F7"/>
          </a:solidFill>
          <a:ln w="12700">
            <a:solidFill>
              <a:srgbClr val="D3E0E3"/>
            </a:solidFill>
            <a:prstDash val="solid"/>
          </a:ln>
        </p:spPr>
        <p:txBody>
          <a:bodyPr/>
          <a:lstStyle/>
          <a:p>
            <a:endParaRPr lang="en-US"/>
          </a:p>
        </p:txBody>
      </p:sp>
      <p:sp>
        <p:nvSpPr>
          <p:cNvPr id="36" name="Text 33"/>
          <p:cNvSpPr txBox="1"/>
          <p:nvPr/>
        </p:nvSpPr>
        <p:spPr>
          <a:xfrm>
            <a:off x="6949440" y="4690872"/>
            <a:ext cx="4325112" cy="109728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6343B"/>
                </a:solidFill>
                <a:latin typeface="Calibri" pitchFamily="34" charset="0"/>
                <a:ea typeface="Calibri" pitchFamily="34" charset="-122"/>
                <a:cs typeface="Calibri" pitchFamily="34" charset="-120"/>
              </a:rPr>
              <a:t>A max-heap sorts ascending — each extracted maximum is placed from the back forwards.</a:t>
            </a:r>
            <a:endParaRPr lang="en-US" sz="1300" dirty="0"/>
          </a:p>
          <a:p>
            <a:pPr marL="203200" indent="-203200">
              <a:spcAft>
                <a:spcPts val="800"/>
              </a:spcAft>
              <a:buSzPct val="100000"/>
              <a:buChar char="▪"/>
            </a:pPr>
            <a:r>
              <a:rPr lang="en-US" sz="1300" dirty="0">
                <a:solidFill>
                  <a:srgbClr val="16343B"/>
                </a:solidFill>
                <a:latin typeface="Calibri" pitchFamily="34" charset="0"/>
                <a:ea typeface="Calibri" pitchFamily="34" charset="-122"/>
                <a:cs typeface="Calibri" pitchFamily="34" charset="-120"/>
              </a:rPr>
              <a:t>Want descending order? Use a min-heap, not a reversed loop.</a:t>
            </a:r>
            <a:endParaRPr lang="en-US" sz="1300" dirty="0"/>
          </a:p>
        </p:txBody>
      </p:sp>
      <p:sp>
        <p:nvSpPr>
          <p:cNvPr id="37" name="Text 34"/>
          <p:cNvSpPr txBox="1"/>
          <p:nvPr/>
        </p:nvSpPr>
        <p:spPr>
          <a:xfrm>
            <a:off x="640080" y="5577840"/>
            <a:ext cx="5852160" cy="822960"/>
          </a:xfrm>
          <a:prstGeom prst="rect">
            <a:avLst/>
          </a:prstGeom>
          <a:noFill/>
          <a:ln/>
        </p:spPr>
        <p:txBody>
          <a:bodyPr wrap="square" lIns="0" tIns="0" rIns="0" bIns="0" rtlCol="0" anchor="t"/>
          <a:lstStyle/>
          <a:p>
            <a:pPr marL="0" indent="0" algn="l">
              <a:lnSpc>
                <a:spcPts val="1755"/>
              </a:lnSpc>
              <a:buNone/>
            </a:pPr>
            <a:r>
              <a:rPr lang="en-US" sz="1300" dirty="0">
                <a:solidFill>
                  <a:srgbClr val="5F7A80"/>
                </a:solidFill>
                <a:latin typeface="Calibri" pitchFamily="34" charset="0"/>
                <a:ea typeface="Calibri" pitchFamily="34" charset="-122"/>
                <a:cs typeface="Calibri" pitchFamily="34" charset="-120"/>
              </a:rPr>
              <a:t>Only 8 pops for 9 keys: after the last swap one key remains, and a heap of size 1 is already sorted.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Q50</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Tiling a board with trominoes</a:t>
            </a:r>
            <a:endParaRPr lang="en-US" sz="3000" dirty="0"/>
          </a:p>
        </p:txBody>
      </p:sp>
      <p:sp>
        <p:nvSpPr>
          <p:cNvPr id="5" name="Text 3"/>
          <p:cNvSpPr txBox="1"/>
          <p:nvPr/>
        </p:nvSpPr>
        <p:spPr>
          <a:xfrm>
            <a:off x="1737360" y="969264"/>
            <a:ext cx="9811512" cy="310896"/>
          </a:xfrm>
          <a:prstGeom prst="rect">
            <a:avLst/>
          </a:prstGeom>
          <a:noFill/>
          <a:ln/>
        </p:spPr>
        <p:txBody>
          <a:bodyPr wrap="square" lIns="0" tIns="0" rIns="0" bIns="0" rtlCol="0" anchor="ctr"/>
          <a:lstStyle/>
          <a:p>
            <a:pPr marL="0" indent="0">
              <a:buNone/>
            </a:pPr>
            <a:r>
              <a:rPr lang="en-US" sz="1400" i="1" dirty="0">
                <a:solidFill>
                  <a:srgbClr val="5F7A80"/>
                </a:solidFill>
                <a:latin typeface="Calibri" pitchFamily="34" charset="0"/>
                <a:ea typeface="Calibri" pitchFamily="34" charset="-122"/>
                <a:cs typeface="Calibri" pitchFamily="34" charset="-120"/>
              </a:rPr>
              <a:t>If time permits — a divide-and-conquer problem worth seeing</a:t>
            </a:r>
            <a:endParaRPr lang="en-US" sz="1400" dirty="0"/>
          </a:p>
        </p:txBody>
      </p:sp>
      <p:sp>
        <p:nvSpPr>
          <p:cNvPr id="6" name="Text 4"/>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24</a:t>
            </a:r>
            <a:endParaRPr lang="en-US" sz="900" dirty="0"/>
          </a:p>
        </p:txBody>
      </p:sp>
      <p:sp>
        <p:nvSpPr>
          <p:cNvPr id="7" name="Text 5"/>
          <p:cNvSpPr txBox="1"/>
          <p:nvPr/>
        </p:nvSpPr>
        <p:spPr>
          <a:xfrm>
            <a:off x="640080" y="1737360"/>
            <a:ext cx="6583680" cy="210312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A 2^n × 2^n board has exactly one missing square. Cover everything else with L-shaped trominoes, no overlaps.</a:t>
            </a:r>
            <a:endParaRPr lang="en-US" sz="1400" dirty="0"/>
          </a:p>
          <a:p>
            <a:pPr marL="203200" indent="-203200">
              <a:spcAft>
                <a:spcPts val="800"/>
              </a:spcAft>
              <a:buSzPct val="100000"/>
              <a:buChar char="▪"/>
            </a:pPr>
            <a:r>
              <a:rPr lang="en-US" sz="1400" b="1" dirty="0">
                <a:solidFill>
                  <a:srgbClr val="16343B"/>
                </a:solidFill>
                <a:latin typeface="Calibri" pitchFamily="34" charset="0"/>
                <a:ea typeface="Calibri" pitchFamily="34" charset="-122"/>
                <a:cs typeface="Calibri" pitchFamily="34" charset="-120"/>
              </a:rPr>
              <a:t>Base case </a:t>
            </a:r>
            <a:r>
              <a:rPr lang="en-US" sz="1400" dirty="0">
                <a:solidFill>
                  <a:srgbClr val="16343B"/>
                </a:solidFill>
                <a:latin typeface="Calibri" pitchFamily="34" charset="0"/>
                <a:ea typeface="Calibri" pitchFamily="34" charset="-122"/>
                <a:cs typeface="Calibri" pitchFamily="34" charset="-120"/>
              </a:rPr>
              <a:t>n = 0: a 1 × 1 board whose only square is missing. Nothing to do.</a:t>
            </a:r>
            <a:endParaRPr lang="en-US" sz="1400" dirty="0"/>
          </a:p>
          <a:p>
            <a:pPr marL="203200" indent="-203200">
              <a:spcAft>
                <a:spcPts val="800"/>
              </a:spcAft>
              <a:buSzPct val="100000"/>
              <a:buChar char="▪"/>
            </a:pPr>
            <a:r>
              <a:rPr lang="en-US" sz="1400" b="1" dirty="0">
                <a:solidFill>
                  <a:srgbClr val="16343B"/>
                </a:solidFill>
                <a:latin typeface="Calibri" pitchFamily="34" charset="0"/>
                <a:ea typeface="Calibri" pitchFamily="34" charset="-122"/>
                <a:cs typeface="Calibri" pitchFamily="34" charset="-120"/>
              </a:rPr>
              <a:t>Otherwise</a:t>
            </a:r>
            <a:r>
              <a:rPr lang="en-US" sz="1400" dirty="0">
                <a:solidFill>
                  <a:srgbClr val="16343B"/>
                </a:solidFill>
                <a:latin typeface="Calibri" pitchFamily="34" charset="0"/>
                <a:ea typeface="Calibri" pitchFamily="34" charset="-122"/>
                <a:cs typeface="Calibri" pitchFamily="34" charset="-120"/>
              </a:rPr>
              <a:t> </a:t>
            </a:r>
            <a:r>
              <a:rPr lang="en-US" sz="1400" b="1" dirty="0">
                <a:solidFill>
                  <a:srgbClr val="16343B"/>
                </a:solidFill>
                <a:latin typeface="Calibri" pitchFamily="34" charset="0"/>
                <a:ea typeface="Calibri" pitchFamily="34" charset="-122"/>
                <a:cs typeface="Calibri" pitchFamily="34" charset="-120"/>
              </a:rPr>
              <a:t>cut the board into four quadrants</a:t>
            </a:r>
            <a:r>
              <a:rPr lang="en-US" sz="1400" dirty="0">
                <a:solidFill>
                  <a:srgbClr val="16343B"/>
                </a:solidFill>
                <a:latin typeface="Calibri" pitchFamily="34" charset="0"/>
                <a:ea typeface="Calibri" pitchFamily="34" charset="-122"/>
                <a:cs typeface="Calibri" pitchFamily="34" charset="-120"/>
              </a:rPr>
              <a:t> of size 2^(n−1) × 2^(n−1). Exactly one of them holds the missing square.</a:t>
            </a:r>
            <a:endParaRPr lang="en-US" sz="1400" dirty="0"/>
          </a:p>
        </p:txBody>
      </p:sp>
      <p:sp>
        <p:nvSpPr>
          <p:cNvPr id="8" name="Shape 6"/>
          <p:cNvSpPr/>
          <p:nvPr/>
        </p:nvSpPr>
        <p:spPr>
          <a:xfrm>
            <a:off x="640080" y="3977640"/>
            <a:ext cx="6583680" cy="1874520"/>
          </a:xfrm>
          <a:prstGeom prst="roundRect">
            <a:avLst>
              <a:gd name="adj" fmla="val 2439"/>
            </a:avLst>
          </a:prstGeom>
          <a:solidFill>
            <a:srgbClr val="FBEEDA"/>
          </a:solidFill>
          <a:ln w="12700">
            <a:solidFill>
              <a:srgbClr val="EAD3A6"/>
            </a:solidFill>
            <a:prstDash val="solid"/>
          </a:ln>
        </p:spPr>
        <p:txBody>
          <a:bodyPr/>
          <a:lstStyle/>
          <a:p>
            <a:endParaRPr lang="en-US"/>
          </a:p>
        </p:txBody>
      </p:sp>
      <p:sp>
        <p:nvSpPr>
          <p:cNvPr id="9" name="Text 7"/>
          <p:cNvSpPr txBox="1"/>
          <p:nvPr/>
        </p:nvSpPr>
        <p:spPr>
          <a:xfrm>
            <a:off x="914400" y="4142232"/>
            <a:ext cx="6035040"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THE TRICK</a:t>
            </a:r>
            <a:endParaRPr lang="en-US" sz="1100" dirty="0"/>
          </a:p>
        </p:txBody>
      </p:sp>
      <p:sp>
        <p:nvSpPr>
          <p:cNvPr id="10" name="Text 8"/>
          <p:cNvSpPr txBox="1"/>
          <p:nvPr/>
        </p:nvSpPr>
        <p:spPr>
          <a:xfrm>
            <a:off x="914400" y="4480560"/>
            <a:ext cx="6035040" cy="1234440"/>
          </a:xfrm>
          <a:prstGeom prst="rect">
            <a:avLst/>
          </a:prstGeom>
          <a:noFill/>
          <a:ln/>
        </p:spPr>
        <p:txBody>
          <a:bodyPr wrap="square" lIns="0" tIns="0" rIns="0" bIns="0" rtlCol="0" anchor="t"/>
          <a:lstStyle/>
          <a:p>
            <a:pPr marL="0" indent="0" algn="l">
              <a:lnSpc>
                <a:spcPts val="1890"/>
              </a:lnSpc>
              <a:buNone/>
            </a:pPr>
            <a:r>
              <a:rPr lang="en-US" sz="1400" dirty="0">
                <a:solidFill>
                  <a:srgbClr val="16343B"/>
                </a:solidFill>
                <a:latin typeface="Calibri" pitchFamily="34" charset="0"/>
                <a:ea typeface="Calibri" pitchFamily="34" charset="-122"/>
                <a:cs typeface="Calibri" pitchFamily="34" charset="-120"/>
              </a:rPr>
              <a:t>Place one tromino in the centre so that it covers the corner square of each of the three quadrants that are still complete. Each of those quadrants now has exactly one square spoken for </a:t>
            </a:r>
            <a:r>
              <a:rPr lang="en-US" sz="1400" b="1" dirty="0">
                <a:solidFill>
                  <a:srgbClr val="16343B"/>
                </a:solidFill>
                <a:latin typeface="Calibri" pitchFamily="34" charset="0"/>
                <a:ea typeface="Calibri" pitchFamily="34" charset="-122"/>
                <a:cs typeface="Calibri" pitchFamily="34" charset="-120"/>
              </a:rPr>
              <a:t>— so all four quadrants are the same problem</a:t>
            </a:r>
            <a:r>
              <a:rPr lang="en-US" sz="1400" dirty="0">
                <a:solidFill>
                  <a:srgbClr val="16343B"/>
                </a:solidFill>
                <a:latin typeface="Calibri" pitchFamily="34" charset="0"/>
                <a:ea typeface="Calibri" pitchFamily="34" charset="-122"/>
                <a:cs typeface="Calibri" pitchFamily="34" charset="-120"/>
              </a:rPr>
              <a:t>, one size smaller. Recurse on all four.</a:t>
            </a:r>
            <a:endParaRPr lang="en-US" sz="1400" dirty="0"/>
          </a:p>
        </p:txBody>
      </p:sp>
      <p:sp>
        <p:nvSpPr>
          <p:cNvPr id="11" name="Shape 9"/>
          <p:cNvSpPr/>
          <p:nvPr/>
        </p:nvSpPr>
        <p:spPr>
          <a:xfrm>
            <a:off x="8138160" y="1874520"/>
            <a:ext cx="384048" cy="384048"/>
          </a:xfrm>
          <a:prstGeom prst="rect">
            <a:avLst/>
          </a:prstGeom>
          <a:solidFill>
            <a:srgbClr val="FFFFFF"/>
          </a:solidFill>
          <a:ln w="9525">
            <a:solidFill>
              <a:srgbClr val="D3E0E3"/>
            </a:solidFill>
            <a:prstDash val="solid"/>
          </a:ln>
        </p:spPr>
        <p:txBody>
          <a:bodyPr/>
          <a:lstStyle/>
          <a:p>
            <a:endParaRPr lang="en-US"/>
          </a:p>
        </p:txBody>
      </p:sp>
      <p:sp>
        <p:nvSpPr>
          <p:cNvPr id="12" name="Shape 10"/>
          <p:cNvSpPr/>
          <p:nvPr/>
        </p:nvSpPr>
        <p:spPr>
          <a:xfrm>
            <a:off x="8522208" y="1874520"/>
            <a:ext cx="384048" cy="384048"/>
          </a:xfrm>
          <a:prstGeom prst="rect">
            <a:avLst/>
          </a:prstGeom>
          <a:solidFill>
            <a:srgbClr val="FFFFFF"/>
          </a:solidFill>
          <a:ln w="9525">
            <a:solidFill>
              <a:srgbClr val="D3E0E3"/>
            </a:solidFill>
            <a:prstDash val="solid"/>
          </a:ln>
        </p:spPr>
        <p:txBody>
          <a:bodyPr/>
          <a:lstStyle/>
          <a:p>
            <a:endParaRPr lang="en-US"/>
          </a:p>
        </p:txBody>
      </p:sp>
      <p:sp>
        <p:nvSpPr>
          <p:cNvPr id="13" name="Shape 11"/>
          <p:cNvSpPr/>
          <p:nvPr/>
        </p:nvSpPr>
        <p:spPr>
          <a:xfrm>
            <a:off x="8906256" y="1874520"/>
            <a:ext cx="384048" cy="384048"/>
          </a:xfrm>
          <a:prstGeom prst="rect">
            <a:avLst/>
          </a:prstGeom>
          <a:solidFill>
            <a:srgbClr val="FFFFFF"/>
          </a:solidFill>
          <a:ln w="9525">
            <a:solidFill>
              <a:srgbClr val="D3E0E3"/>
            </a:solidFill>
            <a:prstDash val="solid"/>
          </a:ln>
        </p:spPr>
        <p:txBody>
          <a:bodyPr/>
          <a:lstStyle/>
          <a:p>
            <a:endParaRPr lang="en-US"/>
          </a:p>
        </p:txBody>
      </p:sp>
      <p:sp>
        <p:nvSpPr>
          <p:cNvPr id="14" name="Shape 12"/>
          <p:cNvSpPr/>
          <p:nvPr/>
        </p:nvSpPr>
        <p:spPr>
          <a:xfrm>
            <a:off x="9290304" y="1874520"/>
            <a:ext cx="384048" cy="384048"/>
          </a:xfrm>
          <a:prstGeom prst="rect">
            <a:avLst/>
          </a:prstGeom>
          <a:solidFill>
            <a:srgbClr val="FFFFFF"/>
          </a:solidFill>
          <a:ln w="9525">
            <a:solidFill>
              <a:srgbClr val="D3E0E3"/>
            </a:solidFill>
            <a:prstDash val="solid"/>
          </a:ln>
        </p:spPr>
        <p:txBody>
          <a:bodyPr/>
          <a:lstStyle/>
          <a:p>
            <a:endParaRPr lang="en-US"/>
          </a:p>
        </p:txBody>
      </p:sp>
      <p:sp>
        <p:nvSpPr>
          <p:cNvPr id="15" name="Shape 13"/>
          <p:cNvSpPr/>
          <p:nvPr/>
        </p:nvSpPr>
        <p:spPr>
          <a:xfrm>
            <a:off x="9674352" y="1874520"/>
            <a:ext cx="384048" cy="384048"/>
          </a:xfrm>
          <a:prstGeom prst="rect">
            <a:avLst/>
          </a:prstGeom>
          <a:solidFill>
            <a:srgbClr val="FFFFFF"/>
          </a:solidFill>
          <a:ln w="9525">
            <a:solidFill>
              <a:srgbClr val="D3E0E3"/>
            </a:solidFill>
            <a:prstDash val="solid"/>
          </a:ln>
        </p:spPr>
        <p:txBody>
          <a:bodyPr/>
          <a:lstStyle/>
          <a:p>
            <a:endParaRPr lang="en-US"/>
          </a:p>
        </p:txBody>
      </p:sp>
      <p:sp>
        <p:nvSpPr>
          <p:cNvPr id="16" name="Shape 14"/>
          <p:cNvSpPr/>
          <p:nvPr/>
        </p:nvSpPr>
        <p:spPr>
          <a:xfrm>
            <a:off x="10058400" y="1874520"/>
            <a:ext cx="384048" cy="384048"/>
          </a:xfrm>
          <a:prstGeom prst="rect">
            <a:avLst/>
          </a:prstGeom>
          <a:solidFill>
            <a:srgbClr val="FFFFFF"/>
          </a:solidFill>
          <a:ln w="9525">
            <a:solidFill>
              <a:srgbClr val="D3E0E3"/>
            </a:solidFill>
            <a:prstDash val="solid"/>
          </a:ln>
        </p:spPr>
        <p:txBody>
          <a:bodyPr/>
          <a:lstStyle/>
          <a:p>
            <a:endParaRPr lang="en-US"/>
          </a:p>
        </p:txBody>
      </p:sp>
      <p:sp>
        <p:nvSpPr>
          <p:cNvPr id="17" name="Shape 15"/>
          <p:cNvSpPr/>
          <p:nvPr/>
        </p:nvSpPr>
        <p:spPr>
          <a:xfrm>
            <a:off x="10442448" y="1874520"/>
            <a:ext cx="384048" cy="384048"/>
          </a:xfrm>
          <a:prstGeom prst="rect">
            <a:avLst/>
          </a:prstGeom>
          <a:solidFill>
            <a:srgbClr val="FFFFFF"/>
          </a:solidFill>
          <a:ln w="9525">
            <a:solidFill>
              <a:srgbClr val="D3E0E3"/>
            </a:solidFill>
            <a:prstDash val="solid"/>
          </a:ln>
        </p:spPr>
        <p:txBody>
          <a:bodyPr/>
          <a:lstStyle/>
          <a:p>
            <a:endParaRPr lang="en-US"/>
          </a:p>
        </p:txBody>
      </p:sp>
      <p:sp>
        <p:nvSpPr>
          <p:cNvPr id="18" name="Shape 16"/>
          <p:cNvSpPr/>
          <p:nvPr/>
        </p:nvSpPr>
        <p:spPr>
          <a:xfrm>
            <a:off x="10826496" y="1874520"/>
            <a:ext cx="384048" cy="384048"/>
          </a:xfrm>
          <a:prstGeom prst="rect">
            <a:avLst/>
          </a:prstGeom>
          <a:solidFill>
            <a:srgbClr val="FFFFFF"/>
          </a:solidFill>
          <a:ln w="9525">
            <a:solidFill>
              <a:srgbClr val="D3E0E3"/>
            </a:solidFill>
            <a:prstDash val="solid"/>
          </a:ln>
        </p:spPr>
        <p:txBody>
          <a:bodyPr/>
          <a:lstStyle/>
          <a:p>
            <a:endParaRPr lang="en-US"/>
          </a:p>
        </p:txBody>
      </p:sp>
      <p:sp>
        <p:nvSpPr>
          <p:cNvPr id="19" name="Shape 17"/>
          <p:cNvSpPr/>
          <p:nvPr/>
        </p:nvSpPr>
        <p:spPr>
          <a:xfrm>
            <a:off x="8138160" y="2258568"/>
            <a:ext cx="384048" cy="384048"/>
          </a:xfrm>
          <a:prstGeom prst="rect">
            <a:avLst/>
          </a:prstGeom>
          <a:solidFill>
            <a:srgbClr val="FFFFFF"/>
          </a:solidFill>
          <a:ln w="9525">
            <a:solidFill>
              <a:srgbClr val="D3E0E3"/>
            </a:solidFill>
            <a:prstDash val="solid"/>
          </a:ln>
        </p:spPr>
        <p:txBody>
          <a:bodyPr/>
          <a:lstStyle/>
          <a:p>
            <a:endParaRPr lang="en-US"/>
          </a:p>
        </p:txBody>
      </p:sp>
      <p:sp>
        <p:nvSpPr>
          <p:cNvPr id="20" name="Shape 18"/>
          <p:cNvSpPr/>
          <p:nvPr/>
        </p:nvSpPr>
        <p:spPr>
          <a:xfrm>
            <a:off x="8522208" y="2258568"/>
            <a:ext cx="384048" cy="384048"/>
          </a:xfrm>
          <a:prstGeom prst="rect">
            <a:avLst/>
          </a:prstGeom>
          <a:solidFill>
            <a:srgbClr val="FFFFFF"/>
          </a:solidFill>
          <a:ln w="9525">
            <a:solidFill>
              <a:srgbClr val="D3E0E3"/>
            </a:solidFill>
            <a:prstDash val="solid"/>
          </a:ln>
        </p:spPr>
        <p:txBody>
          <a:bodyPr/>
          <a:lstStyle/>
          <a:p>
            <a:endParaRPr lang="en-US"/>
          </a:p>
        </p:txBody>
      </p:sp>
      <p:sp>
        <p:nvSpPr>
          <p:cNvPr id="21" name="Shape 19"/>
          <p:cNvSpPr/>
          <p:nvPr/>
        </p:nvSpPr>
        <p:spPr>
          <a:xfrm>
            <a:off x="8906256" y="2258568"/>
            <a:ext cx="384048" cy="384048"/>
          </a:xfrm>
          <a:prstGeom prst="rect">
            <a:avLst/>
          </a:prstGeom>
          <a:solidFill>
            <a:srgbClr val="FFFFFF"/>
          </a:solidFill>
          <a:ln w="9525">
            <a:solidFill>
              <a:srgbClr val="D3E0E3"/>
            </a:solidFill>
            <a:prstDash val="solid"/>
          </a:ln>
        </p:spPr>
        <p:txBody>
          <a:bodyPr/>
          <a:lstStyle/>
          <a:p>
            <a:endParaRPr lang="en-US"/>
          </a:p>
        </p:txBody>
      </p:sp>
      <p:sp>
        <p:nvSpPr>
          <p:cNvPr id="22" name="Shape 20"/>
          <p:cNvSpPr/>
          <p:nvPr/>
        </p:nvSpPr>
        <p:spPr>
          <a:xfrm>
            <a:off x="9290304" y="2258568"/>
            <a:ext cx="384048" cy="384048"/>
          </a:xfrm>
          <a:prstGeom prst="rect">
            <a:avLst/>
          </a:prstGeom>
          <a:solidFill>
            <a:srgbClr val="FFFFFF"/>
          </a:solidFill>
          <a:ln w="9525">
            <a:solidFill>
              <a:srgbClr val="D3E0E3"/>
            </a:solidFill>
            <a:prstDash val="solid"/>
          </a:ln>
        </p:spPr>
        <p:txBody>
          <a:bodyPr/>
          <a:lstStyle/>
          <a:p>
            <a:endParaRPr lang="en-US"/>
          </a:p>
        </p:txBody>
      </p:sp>
      <p:sp>
        <p:nvSpPr>
          <p:cNvPr id="23" name="Shape 21"/>
          <p:cNvSpPr/>
          <p:nvPr/>
        </p:nvSpPr>
        <p:spPr>
          <a:xfrm>
            <a:off x="9674352" y="2258568"/>
            <a:ext cx="384048" cy="384048"/>
          </a:xfrm>
          <a:prstGeom prst="rect">
            <a:avLst/>
          </a:prstGeom>
          <a:solidFill>
            <a:srgbClr val="FFFFFF"/>
          </a:solidFill>
          <a:ln w="9525">
            <a:solidFill>
              <a:srgbClr val="D3E0E3"/>
            </a:solidFill>
            <a:prstDash val="solid"/>
          </a:ln>
        </p:spPr>
        <p:txBody>
          <a:bodyPr/>
          <a:lstStyle/>
          <a:p>
            <a:endParaRPr lang="en-US"/>
          </a:p>
        </p:txBody>
      </p:sp>
      <p:sp>
        <p:nvSpPr>
          <p:cNvPr id="24" name="Shape 22"/>
          <p:cNvSpPr/>
          <p:nvPr/>
        </p:nvSpPr>
        <p:spPr>
          <a:xfrm>
            <a:off x="10058400" y="2258568"/>
            <a:ext cx="384048" cy="384048"/>
          </a:xfrm>
          <a:prstGeom prst="rect">
            <a:avLst/>
          </a:prstGeom>
          <a:solidFill>
            <a:srgbClr val="FFFFFF"/>
          </a:solidFill>
          <a:ln w="9525">
            <a:solidFill>
              <a:srgbClr val="D3E0E3"/>
            </a:solidFill>
            <a:prstDash val="solid"/>
          </a:ln>
        </p:spPr>
        <p:txBody>
          <a:bodyPr/>
          <a:lstStyle/>
          <a:p>
            <a:endParaRPr lang="en-US"/>
          </a:p>
        </p:txBody>
      </p:sp>
      <p:sp>
        <p:nvSpPr>
          <p:cNvPr id="25" name="Shape 23"/>
          <p:cNvSpPr/>
          <p:nvPr/>
        </p:nvSpPr>
        <p:spPr>
          <a:xfrm>
            <a:off x="10442448" y="2258568"/>
            <a:ext cx="384048" cy="384048"/>
          </a:xfrm>
          <a:prstGeom prst="rect">
            <a:avLst/>
          </a:prstGeom>
          <a:solidFill>
            <a:srgbClr val="FFFFFF"/>
          </a:solidFill>
          <a:ln w="9525">
            <a:solidFill>
              <a:srgbClr val="D3E0E3"/>
            </a:solidFill>
            <a:prstDash val="solid"/>
          </a:ln>
        </p:spPr>
        <p:txBody>
          <a:bodyPr/>
          <a:lstStyle/>
          <a:p>
            <a:endParaRPr lang="en-US"/>
          </a:p>
        </p:txBody>
      </p:sp>
      <p:sp>
        <p:nvSpPr>
          <p:cNvPr id="26" name="Shape 24"/>
          <p:cNvSpPr/>
          <p:nvPr/>
        </p:nvSpPr>
        <p:spPr>
          <a:xfrm>
            <a:off x="10826496" y="2258568"/>
            <a:ext cx="384048" cy="384048"/>
          </a:xfrm>
          <a:prstGeom prst="rect">
            <a:avLst/>
          </a:prstGeom>
          <a:solidFill>
            <a:srgbClr val="FFFFFF"/>
          </a:solidFill>
          <a:ln w="9525">
            <a:solidFill>
              <a:srgbClr val="D3E0E3"/>
            </a:solidFill>
            <a:prstDash val="solid"/>
          </a:ln>
        </p:spPr>
        <p:txBody>
          <a:bodyPr/>
          <a:lstStyle/>
          <a:p>
            <a:endParaRPr lang="en-US"/>
          </a:p>
        </p:txBody>
      </p:sp>
      <p:sp>
        <p:nvSpPr>
          <p:cNvPr id="27" name="Shape 25"/>
          <p:cNvSpPr/>
          <p:nvPr/>
        </p:nvSpPr>
        <p:spPr>
          <a:xfrm>
            <a:off x="8138160" y="2642616"/>
            <a:ext cx="384048" cy="384048"/>
          </a:xfrm>
          <a:prstGeom prst="rect">
            <a:avLst/>
          </a:prstGeom>
          <a:solidFill>
            <a:srgbClr val="FFFFFF"/>
          </a:solidFill>
          <a:ln w="9525">
            <a:solidFill>
              <a:srgbClr val="D3E0E3"/>
            </a:solidFill>
            <a:prstDash val="solid"/>
          </a:ln>
        </p:spPr>
        <p:txBody>
          <a:bodyPr/>
          <a:lstStyle/>
          <a:p>
            <a:endParaRPr lang="en-US"/>
          </a:p>
        </p:txBody>
      </p:sp>
      <p:sp>
        <p:nvSpPr>
          <p:cNvPr id="28" name="Shape 26"/>
          <p:cNvSpPr/>
          <p:nvPr/>
        </p:nvSpPr>
        <p:spPr>
          <a:xfrm>
            <a:off x="8522208" y="2642616"/>
            <a:ext cx="384048" cy="384048"/>
          </a:xfrm>
          <a:prstGeom prst="rect">
            <a:avLst/>
          </a:prstGeom>
          <a:solidFill>
            <a:srgbClr val="FFFFFF"/>
          </a:solidFill>
          <a:ln w="9525">
            <a:solidFill>
              <a:srgbClr val="D3E0E3"/>
            </a:solidFill>
            <a:prstDash val="solid"/>
          </a:ln>
        </p:spPr>
        <p:txBody>
          <a:bodyPr/>
          <a:lstStyle/>
          <a:p>
            <a:endParaRPr lang="en-US"/>
          </a:p>
        </p:txBody>
      </p:sp>
      <p:sp>
        <p:nvSpPr>
          <p:cNvPr id="29" name="Shape 27"/>
          <p:cNvSpPr/>
          <p:nvPr/>
        </p:nvSpPr>
        <p:spPr>
          <a:xfrm>
            <a:off x="8906256" y="2642616"/>
            <a:ext cx="384048" cy="384048"/>
          </a:xfrm>
          <a:prstGeom prst="rect">
            <a:avLst/>
          </a:prstGeom>
          <a:solidFill>
            <a:srgbClr val="FFFFFF"/>
          </a:solidFill>
          <a:ln w="9525">
            <a:solidFill>
              <a:srgbClr val="D3E0E3"/>
            </a:solidFill>
            <a:prstDash val="solid"/>
          </a:ln>
        </p:spPr>
        <p:txBody>
          <a:bodyPr/>
          <a:lstStyle/>
          <a:p>
            <a:endParaRPr lang="en-US"/>
          </a:p>
        </p:txBody>
      </p:sp>
      <p:sp>
        <p:nvSpPr>
          <p:cNvPr id="30" name="Shape 28"/>
          <p:cNvSpPr/>
          <p:nvPr/>
        </p:nvSpPr>
        <p:spPr>
          <a:xfrm>
            <a:off x="9290304" y="2642616"/>
            <a:ext cx="384048" cy="384048"/>
          </a:xfrm>
          <a:prstGeom prst="rect">
            <a:avLst/>
          </a:prstGeom>
          <a:solidFill>
            <a:srgbClr val="FFFFFF"/>
          </a:solidFill>
          <a:ln w="9525">
            <a:solidFill>
              <a:srgbClr val="D3E0E3"/>
            </a:solidFill>
            <a:prstDash val="solid"/>
          </a:ln>
        </p:spPr>
        <p:txBody>
          <a:bodyPr/>
          <a:lstStyle/>
          <a:p>
            <a:endParaRPr lang="en-US"/>
          </a:p>
        </p:txBody>
      </p:sp>
      <p:sp>
        <p:nvSpPr>
          <p:cNvPr id="31" name="Shape 29"/>
          <p:cNvSpPr/>
          <p:nvPr/>
        </p:nvSpPr>
        <p:spPr>
          <a:xfrm>
            <a:off x="9674352" y="2642616"/>
            <a:ext cx="384048" cy="384048"/>
          </a:xfrm>
          <a:prstGeom prst="rect">
            <a:avLst/>
          </a:prstGeom>
          <a:solidFill>
            <a:srgbClr val="FFFFFF"/>
          </a:solidFill>
          <a:ln w="9525">
            <a:solidFill>
              <a:srgbClr val="D3E0E3"/>
            </a:solidFill>
            <a:prstDash val="solid"/>
          </a:ln>
        </p:spPr>
        <p:txBody>
          <a:bodyPr/>
          <a:lstStyle/>
          <a:p>
            <a:endParaRPr lang="en-US"/>
          </a:p>
        </p:txBody>
      </p:sp>
      <p:sp>
        <p:nvSpPr>
          <p:cNvPr id="32" name="Shape 30"/>
          <p:cNvSpPr/>
          <p:nvPr/>
        </p:nvSpPr>
        <p:spPr>
          <a:xfrm>
            <a:off x="10058400" y="2642616"/>
            <a:ext cx="384048" cy="384048"/>
          </a:xfrm>
          <a:prstGeom prst="rect">
            <a:avLst/>
          </a:prstGeom>
          <a:solidFill>
            <a:srgbClr val="C0392B"/>
          </a:solidFill>
          <a:ln w="9525">
            <a:solidFill>
              <a:srgbClr val="D3E0E3"/>
            </a:solidFill>
            <a:prstDash val="solid"/>
          </a:ln>
        </p:spPr>
        <p:txBody>
          <a:bodyPr/>
          <a:lstStyle/>
          <a:p>
            <a:endParaRPr lang="en-US"/>
          </a:p>
        </p:txBody>
      </p:sp>
      <p:sp>
        <p:nvSpPr>
          <p:cNvPr id="33" name="Shape 31"/>
          <p:cNvSpPr/>
          <p:nvPr/>
        </p:nvSpPr>
        <p:spPr>
          <a:xfrm>
            <a:off x="10442448" y="2642616"/>
            <a:ext cx="384048" cy="384048"/>
          </a:xfrm>
          <a:prstGeom prst="rect">
            <a:avLst/>
          </a:prstGeom>
          <a:solidFill>
            <a:srgbClr val="FFFFFF"/>
          </a:solidFill>
          <a:ln w="9525">
            <a:solidFill>
              <a:srgbClr val="D3E0E3"/>
            </a:solidFill>
            <a:prstDash val="solid"/>
          </a:ln>
        </p:spPr>
        <p:txBody>
          <a:bodyPr/>
          <a:lstStyle/>
          <a:p>
            <a:endParaRPr lang="en-US"/>
          </a:p>
        </p:txBody>
      </p:sp>
      <p:sp>
        <p:nvSpPr>
          <p:cNvPr id="34" name="Shape 32"/>
          <p:cNvSpPr/>
          <p:nvPr/>
        </p:nvSpPr>
        <p:spPr>
          <a:xfrm>
            <a:off x="10826496" y="2642616"/>
            <a:ext cx="384048" cy="384048"/>
          </a:xfrm>
          <a:prstGeom prst="rect">
            <a:avLst/>
          </a:prstGeom>
          <a:solidFill>
            <a:srgbClr val="FFFFFF"/>
          </a:solidFill>
          <a:ln w="9525">
            <a:solidFill>
              <a:srgbClr val="D3E0E3"/>
            </a:solidFill>
            <a:prstDash val="solid"/>
          </a:ln>
        </p:spPr>
        <p:txBody>
          <a:bodyPr/>
          <a:lstStyle/>
          <a:p>
            <a:endParaRPr lang="en-US"/>
          </a:p>
        </p:txBody>
      </p:sp>
      <p:sp>
        <p:nvSpPr>
          <p:cNvPr id="35" name="Shape 33"/>
          <p:cNvSpPr/>
          <p:nvPr/>
        </p:nvSpPr>
        <p:spPr>
          <a:xfrm>
            <a:off x="8138160" y="3026664"/>
            <a:ext cx="384048" cy="384048"/>
          </a:xfrm>
          <a:prstGeom prst="rect">
            <a:avLst/>
          </a:prstGeom>
          <a:solidFill>
            <a:srgbClr val="FFFFFF"/>
          </a:solidFill>
          <a:ln w="9525">
            <a:solidFill>
              <a:srgbClr val="D3E0E3"/>
            </a:solidFill>
            <a:prstDash val="solid"/>
          </a:ln>
        </p:spPr>
        <p:txBody>
          <a:bodyPr/>
          <a:lstStyle/>
          <a:p>
            <a:endParaRPr lang="en-US"/>
          </a:p>
        </p:txBody>
      </p:sp>
      <p:sp>
        <p:nvSpPr>
          <p:cNvPr id="36" name="Shape 34"/>
          <p:cNvSpPr/>
          <p:nvPr/>
        </p:nvSpPr>
        <p:spPr>
          <a:xfrm>
            <a:off x="8522208" y="3026664"/>
            <a:ext cx="384048" cy="384048"/>
          </a:xfrm>
          <a:prstGeom prst="rect">
            <a:avLst/>
          </a:prstGeom>
          <a:solidFill>
            <a:srgbClr val="FFFFFF"/>
          </a:solidFill>
          <a:ln w="9525">
            <a:solidFill>
              <a:srgbClr val="D3E0E3"/>
            </a:solidFill>
            <a:prstDash val="solid"/>
          </a:ln>
        </p:spPr>
        <p:txBody>
          <a:bodyPr/>
          <a:lstStyle/>
          <a:p>
            <a:endParaRPr lang="en-US"/>
          </a:p>
        </p:txBody>
      </p:sp>
      <p:sp>
        <p:nvSpPr>
          <p:cNvPr id="37" name="Shape 35"/>
          <p:cNvSpPr/>
          <p:nvPr/>
        </p:nvSpPr>
        <p:spPr>
          <a:xfrm>
            <a:off x="8906256" y="3026664"/>
            <a:ext cx="384048" cy="384048"/>
          </a:xfrm>
          <a:prstGeom prst="rect">
            <a:avLst/>
          </a:prstGeom>
          <a:solidFill>
            <a:srgbClr val="FFFFFF"/>
          </a:solidFill>
          <a:ln w="9525">
            <a:solidFill>
              <a:srgbClr val="D3E0E3"/>
            </a:solidFill>
            <a:prstDash val="solid"/>
          </a:ln>
        </p:spPr>
        <p:txBody>
          <a:bodyPr/>
          <a:lstStyle/>
          <a:p>
            <a:endParaRPr lang="en-US"/>
          </a:p>
        </p:txBody>
      </p:sp>
      <p:sp>
        <p:nvSpPr>
          <p:cNvPr id="38" name="Shape 36"/>
          <p:cNvSpPr/>
          <p:nvPr/>
        </p:nvSpPr>
        <p:spPr>
          <a:xfrm>
            <a:off x="9290304" y="3026664"/>
            <a:ext cx="384048" cy="384048"/>
          </a:xfrm>
          <a:prstGeom prst="rect">
            <a:avLst/>
          </a:prstGeom>
          <a:solidFill>
            <a:srgbClr val="3D8C9C"/>
          </a:solidFill>
          <a:ln w="9525">
            <a:solidFill>
              <a:srgbClr val="D3E0E3"/>
            </a:solidFill>
            <a:prstDash val="solid"/>
          </a:ln>
        </p:spPr>
        <p:txBody>
          <a:bodyPr/>
          <a:lstStyle/>
          <a:p>
            <a:endParaRPr lang="en-US"/>
          </a:p>
        </p:txBody>
      </p:sp>
      <p:sp>
        <p:nvSpPr>
          <p:cNvPr id="39" name="Shape 37"/>
          <p:cNvSpPr/>
          <p:nvPr/>
        </p:nvSpPr>
        <p:spPr>
          <a:xfrm>
            <a:off x="9674352" y="3026664"/>
            <a:ext cx="384048" cy="384048"/>
          </a:xfrm>
          <a:prstGeom prst="rect">
            <a:avLst/>
          </a:prstGeom>
          <a:solidFill>
            <a:srgbClr val="FFFFFF"/>
          </a:solidFill>
          <a:ln w="9525">
            <a:solidFill>
              <a:srgbClr val="D3E0E3"/>
            </a:solidFill>
            <a:prstDash val="solid"/>
          </a:ln>
        </p:spPr>
        <p:txBody>
          <a:bodyPr/>
          <a:lstStyle/>
          <a:p>
            <a:endParaRPr lang="en-US"/>
          </a:p>
        </p:txBody>
      </p:sp>
      <p:sp>
        <p:nvSpPr>
          <p:cNvPr id="40" name="Shape 38"/>
          <p:cNvSpPr/>
          <p:nvPr/>
        </p:nvSpPr>
        <p:spPr>
          <a:xfrm>
            <a:off x="10058400" y="3026664"/>
            <a:ext cx="384048" cy="384048"/>
          </a:xfrm>
          <a:prstGeom prst="rect">
            <a:avLst/>
          </a:prstGeom>
          <a:solidFill>
            <a:srgbClr val="FFFFFF"/>
          </a:solidFill>
          <a:ln w="9525">
            <a:solidFill>
              <a:srgbClr val="D3E0E3"/>
            </a:solidFill>
            <a:prstDash val="solid"/>
          </a:ln>
        </p:spPr>
        <p:txBody>
          <a:bodyPr/>
          <a:lstStyle/>
          <a:p>
            <a:endParaRPr lang="en-US"/>
          </a:p>
        </p:txBody>
      </p:sp>
      <p:sp>
        <p:nvSpPr>
          <p:cNvPr id="41" name="Shape 39"/>
          <p:cNvSpPr/>
          <p:nvPr/>
        </p:nvSpPr>
        <p:spPr>
          <a:xfrm>
            <a:off x="10442448" y="3026664"/>
            <a:ext cx="384048" cy="384048"/>
          </a:xfrm>
          <a:prstGeom prst="rect">
            <a:avLst/>
          </a:prstGeom>
          <a:solidFill>
            <a:srgbClr val="FFFFFF"/>
          </a:solidFill>
          <a:ln w="9525">
            <a:solidFill>
              <a:srgbClr val="D3E0E3"/>
            </a:solidFill>
            <a:prstDash val="solid"/>
          </a:ln>
        </p:spPr>
        <p:txBody>
          <a:bodyPr/>
          <a:lstStyle/>
          <a:p>
            <a:endParaRPr lang="en-US"/>
          </a:p>
        </p:txBody>
      </p:sp>
      <p:sp>
        <p:nvSpPr>
          <p:cNvPr id="42" name="Shape 40"/>
          <p:cNvSpPr/>
          <p:nvPr/>
        </p:nvSpPr>
        <p:spPr>
          <a:xfrm>
            <a:off x="10826496" y="3026664"/>
            <a:ext cx="384048" cy="384048"/>
          </a:xfrm>
          <a:prstGeom prst="rect">
            <a:avLst/>
          </a:prstGeom>
          <a:solidFill>
            <a:srgbClr val="FFFFFF"/>
          </a:solidFill>
          <a:ln w="9525">
            <a:solidFill>
              <a:srgbClr val="D3E0E3"/>
            </a:solidFill>
            <a:prstDash val="solid"/>
          </a:ln>
        </p:spPr>
        <p:txBody>
          <a:bodyPr/>
          <a:lstStyle/>
          <a:p>
            <a:endParaRPr lang="en-US"/>
          </a:p>
        </p:txBody>
      </p:sp>
      <p:sp>
        <p:nvSpPr>
          <p:cNvPr id="43" name="Shape 41"/>
          <p:cNvSpPr/>
          <p:nvPr/>
        </p:nvSpPr>
        <p:spPr>
          <a:xfrm>
            <a:off x="8138160" y="3410712"/>
            <a:ext cx="384048" cy="384048"/>
          </a:xfrm>
          <a:prstGeom prst="rect">
            <a:avLst/>
          </a:prstGeom>
          <a:solidFill>
            <a:srgbClr val="FFFFFF"/>
          </a:solidFill>
          <a:ln w="9525">
            <a:solidFill>
              <a:srgbClr val="D3E0E3"/>
            </a:solidFill>
            <a:prstDash val="solid"/>
          </a:ln>
        </p:spPr>
        <p:txBody>
          <a:bodyPr/>
          <a:lstStyle/>
          <a:p>
            <a:endParaRPr lang="en-US"/>
          </a:p>
        </p:txBody>
      </p:sp>
      <p:sp>
        <p:nvSpPr>
          <p:cNvPr id="44" name="Shape 42"/>
          <p:cNvSpPr/>
          <p:nvPr/>
        </p:nvSpPr>
        <p:spPr>
          <a:xfrm>
            <a:off x="8522208" y="3410712"/>
            <a:ext cx="384048" cy="384048"/>
          </a:xfrm>
          <a:prstGeom prst="rect">
            <a:avLst/>
          </a:prstGeom>
          <a:solidFill>
            <a:srgbClr val="FFFFFF"/>
          </a:solidFill>
          <a:ln w="9525">
            <a:solidFill>
              <a:srgbClr val="D3E0E3"/>
            </a:solidFill>
            <a:prstDash val="solid"/>
          </a:ln>
        </p:spPr>
        <p:txBody>
          <a:bodyPr/>
          <a:lstStyle/>
          <a:p>
            <a:endParaRPr lang="en-US"/>
          </a:p>
        </p:txBody>
      </p:sp>
      <p:sp>
        <p:nvSpPr>
          <p:cNvPr id="45" name="Shape 43"/>
          <p:cNvSpPr/>
          <p:nvPr/>
        </p:nvSpPr>
        <p:spPr>
          <a:xfrm>
            <a:off x="8906256" y="3410712"/>
            <a:ext cx="384048" cy="384048"/>
          </a:xfrm>
          <a:prstGeom prst="rect">
            <a:avLst/>
          </a:prstGeom>
          <a:solidFill>
            <a:srgbClr val="FFFFFF"/>
          </a:solidFill>
          <a:ln w="9525">
            <a:solidFill>
              <a:srgbClr val="D3E0E3"/>
            </a:solidFill>
            <a:prstDash val="solid"/>
          </a:ln>
        </p:spPr>
        <p:txBody>
          <a:bodyPr/>
          <a:lstStyle/>
          <a:p>
            <a:endParaRPr lang="en-US"/>
          </a:p>
        </p:txBody>
      </p:sp>
      <p:sp>
        <p:nvSpPr>
          <p:cNvPr id="46" name="Shape 44"/>
          <p:cNvSpPr/>
          <p:nvPr/>
        </p:nvSpPr>
        <p:spPr>
          <a:xfrm>
            <a:off x="9290304" y="3410712"/>
            <a:ext cx="384048" cy="384048"/>
          </a:xfrm>
          <a:prstGeom prst="rect">
            <a:avLst/>
          </a:prstGeom>
          <a:solidFill>
            <a:srgbClr val="3D8C9C"/>
          </a:solidFill>
          <a:ln w="9525">
            <a:solidFill>
              <a:srgbClr val="D3E0E3"/>
            </a:solidFill>
            <a:prstDash val="solid"/>
          </a:ln>
        </p:spPr>
        <p:txBody>
          <a:bodyPr/>
          <a:lstStyle/>
          <a:p>
            <a:endParaRPr lang="en-US"/>
          </a:p>
        </p:txBody>
      </p:sp>
      <p:sp>
        <p:nvSpPr>
          <p:cNvPr id="47" name="Shape 45"/>
          <p:cNvSpPr/>
          <p:nvPr/>
        </p:nvSpPr>
        <p:spPr>
          <a:xfrm>
            <a:off x="9674352" y="3410712"/>
            <a:ext cx="384048" cy="384048"/>
          </a:xfrm>
          <a:prstGeom prst="rect">
            <a:avLst/>
          </a:prstGeom>
          <a:solidFill>
            <a:srgbClr val="3D8C9C"/>
          </a:solidFill>
          <a:ln w="9525">
            <a:solidFill>
              <a:srgbClr val="D3E0E3"/>
            </a:solidFill>
            <a:prstDash val="solid"/>
          </a:ln>
        </p:spPr>
        <p:txBody>
          <a:bodyPr/>
          <a:lstStyle/>
          <a:p>
            <a:endParaRPr lang="en-US"/>
          </a:p>
        </p:txBody>
      </p:sp>
      <p:sp>
        <p:nvSpPr>
          <p:cNvPr id="48" name="Shape 46"/>
          <p:cNvSpPr/>
          <p:nvPr/>
        </p:nvSpPr>
        <p:spPr>
          <a:xfrm>
            <a:off x="10058400" y="3410712"/>
            <a:ext cx="384048" cy="384048"/>
          </a:xfrm>
          <a:prstGeom prst="rect">
            <a:avLst/>
          </a:prstGeom>
          <a:solidFill>
            <a:srgbClr val="FFFFFF"/>
          </a:solidFill>
          <a:ln w="9525">
            <a:solidFill>
              <a:srgbClr val="D3E0E3"/>
            </a:solidFill>
            <a:prstDash val="solid"/>
          </a:ln>
        </p:spPr>
        <p:txBody>
          <a:bodyPr/>
          <a:lstStyle/>
          <a:p>
            <a:endParaRPr lang="en-US"/>
          </a:p>
        </p:txBody>
      </p:sp>
      <p:sp>
        <p:nvSpPr>
          <p:cNvPr id="49" name="Shape 47"/>
          <p:cNvSpPr/>
          <p:nvPr/>
        </p:nvSpPr>
        <p:spPr>
          <a:xfrm>
            <a:off x="10442448" y="3410712"/>
            <a:ext cx="384048" cy="384048"/>
          </a:xfrm>
          <a:prstGeom prst="rect">
            <a:avLst/>
          </a:prstGeom>
          <a:solidFill>
            <a:srgbClr val="FFFFFF"/>
          </a:solidFill>
          <a:ln w="9525">
            <a:solidFill>
              <a:srgbClr val="D3E0E3"/>
            </a:solidFill>
            <a:prstDash val="solid"/>
          </a:ln>
        </p:spPr>
        <p:txBody>
          <a:bodyPr/>
          <a:lstStyle/>
          <a:p>
            <a:endParaRPr lang="en-US"/>
          </a:p>
        </p:txBody>
      </p:sp>
      <p:sp>
        <p:nvSpPr>
          <p:cNvPr id="50" name="Shape 48"/>
          <p:cNvSpPr/>
          <p:nvPr/>
        </p:nvSpPr>
        <p:spPr>
          <a:xfrm>
            <a:off x="10826496" y="3410712"/>
            <a:ext cx="384048" cy="384048"/>
          </a:xfrm>
          <a:prstGeom prst="rect">
            <a:avLst/>
          </a:prstGeom>
          <a:solidFill>
            <a:srgbClr val="FFFFFF"/>
          </a:solidFill>
          <a:ln w="9525">
            <a:solidFill>
              <a:srgbClr val="D3E0E3"/>
            </a:solidFill>
            <a:prstDash val="solid"/>
          </a:ln>
        </p:spPr>
        <p:txBody>
          <a:bodyPr/>
          <a:lstStyle/>
          <a:p>
            <a:endParaRPr lang="en-US"/>
          </a:p>
        </p:txBody>
      </p:sp>
      <p:sp>
        <p:nvSpPr>
          <p:cNvPr id="51" name="Shape 49"/>
          <p:cNvSpPr/>
          <p:nvPr/>
        </p:nvSpPr>
        <p:spPr>
          <a:xfrm>
            <a:off x="8138160" y="3794760"/>
            <a:ext cx="384048" cy="384048"/>
          </a:xfrm>
          <a:prstGeom prst="rect">
            <a:avLst/>
          </a:prstGeom>
          <a:solidFill>
            <a:srgbClr val="FFFFFF"/>
          </a:solidFill>
          <a:ln w="9525">
            <a:solidFill>
              <a:srgbClr val="D3E0E3"/>
            </a:solidFill>
            <a:prstDash val="solid"/>
          </a:ln>
        </p:spPr>
        <p:txBody>
          <a:bodyPr/>
          <a:lstStyle/>
          <a:p>
            <a:endParaRPr lang="en-US"/>
          </a:p>
        </p:txBody>
      </p:sp>
      <p:sp>
        <p:nvSpPr>
          <p:cNvPr id="52" name="Shape 50"/>
          <p:cNvSpPr/>
          <p:nvPr/>
        </p:nvSpPr>
        <p:spPr>
          <a:xfrm>
            <a:off x="8522208" y="3794760"/>
            <a:ext cx="384048" cy="384048"/>
          </a:xfrm>
          <a:prstGeom prst="rect">
            <a:avLst/>
          </a:prstGeom>
          <a:solidFill>
            <a:srgbClr val="FFFFFF"/>
          </a:solidFill>
          <a:ln w="9525">
            <a:solidFill>
              <a:srgbClr val="D3E0E3"/>
            </a:solidFill>
            <a:prstDash val="solid"/>
          </a:ln>
        </p:spPr>
        <p:txBody>
          <a:bodyPr/>
          <a:lstStyle/>
          <a:p>
            <a:endParaRPr lang="en-US"/>
          </a:p>
        </p:txBody>
      </p:sp>
      <p:sp>
        <p:nvSpPr>
          <p:cNvPr id="53" name="Shape 51"/>
          <p:cNvSpPr/>
          <p:nvPr/>
        </p:nvSpPr>
        <p:spPr>
          <a:xfrm>
            <a:off x="8906256" y="3794760"/>
            <a:ext cx="384048" cy="384048"/>
          </a:xfrm>
          <a:prstGeom prst="rect">
            <a:avLst/>
          </a:prstGeom>
          <a:solidFill>
            <a:srgbClr val="FFFFFF"/>
          </a:solidFill>
          <a:ln w="9525">
            <a:solidFill>
              <a:srgbClr val="D3E0E3"/>
            </a:solidFill>
            <a:prstDash val="solid"/>
          </a:ln>
        </p:spPr>
        <p:txBody>
          <a:bodyPr/>
          <a:lstStyle/>
          <a:p>
            <a:endParaRPr lang="en-US"/>
          </a:p>
        </p:txBody>
      </p:sp>
      <p:sp>
        <p:nvSpPr>
          <p:cNvPr id="54" name="Shape 52"/>
          <p:cNvSpPr/>
          <p:nvPr/>
        </p:nvSpPr>
        <p:spPr>
          <a:xfrm>
            <a:off x="9290304" y="3794760"/>
            <a:ext cx="384048" cy="384048"/>
          </a:xfrm>
          <a:prstGeom prst="rect">
            <a:avLst/>
          </a:prstGeom>
          <a:solidFill>
            <a:srgbClr val="FFFFFF"/>
          </a:solidFill>
          <a:ln w="9525">
            <a:solidFill>
              <a:srgbClr val="D3E0E3"/>
            </a:solidFill>
            <a:prstDash val="solid"/>
          </a:ln>
        </p:spPr>
        <p:txBody>
          <a:bodyPr/>
          <a:lstStyle/>
          <a:p>
            <a:endParaRPr lang="en-US"/>
          </a:p>
        </p:txBody>
      </p:sp>
      <p:sp>
        <p:nvSpPr>
          <p:cNvPr id="55" name="Shape 53"/>
          <p:cNvSpPr/>
          <p:nvPr/>
        </p:nvSpPr>
        <p:spPr>
          <a:xfrm>
            <a:off x="9674352" y="3794760"/>
            <a:ext cx="384048" cy="384048"/>
          </a:xfrm>
          <a:prstGeom prst="rect">
            <a:avLst/>
          </a:prstGeom>
          <a:solidFill>
            <a:srgbClr val="FFFFFF"/>
          </a:solidFill>
          <a:ln w="9525">
            <a:solidFill>
              <a:srgbClr val="D3E0E3"/>
            </a:solidFill>
            <a:prstDash val="solid"/>
          </a:ln>
        </p:spPr>
        <p:txBody>
          <a:bodyPr/>
          <a:lstStyle/>
          <a:p>
            <a:endParaRPr lang="en-US"/>
          </a:p>
        </p:txBody>
      </p:sp>
      <p:sp>
        <p:nvSpPr>
          <p:cNvPr id="56" name="Shape 54"/>
          <p:cNvSpPr/>
          <p:nvPr/>
        </p:nvSpPr>
        <p:spPr>
          <a:xfrm>
            <a:off x="10058400" y="3794760"/>
            <a:ext cx="384048" cy="384048"/>
          </a:xfrm>
          <a:prstGeom prst="rect">
            <a:avLst/>
          </a:prstGeom>
          <a:solidFill>
            <a:srgbClr val="FFFFFF"/>
          </a:solidFill>
          <a:ln w="9525">
            <a:solidFill>
              <a:srgbClr val="D3E0E3"/>
            </a:solidFill>
            <a:prstDash val="solid"/>
          </a:ln>
        </p:spPr>
        <p:txBody>
          <a:bodyPr/>
          <a:lstStyle/>
          <a:p>
            <a:endParaRPr lang="en-US"/>
          </a:p>
        </p:txBody>
      </p:sp>
      <p:sp>
        <p:nvSpPr>
          <p:cNvPr id="57" name="Shape 55"/>
          <p:cNvSpPr/>
          <p:nvPr/>
        </p:nvSpPr>
        <p:spPr>
          <a:xfrm>
            <a:off x="10442448" y="3794760"/>
            <a:ext cx="384048" cy="384048"/>
          </a:xfrm>
          <a:prstGeom prst="rect">
            <a:avLst/>
          </a:prstGeom>
          <a:solidFill>
            <a:srgbClr val="FFFFFF"/>
          </a:solidFill>
          <a:ln w="9525">
            <a:solidFill>
              <a:srgbClr val="D3E0E3"/>
            </a:solidFill>
            <a:prstDash val="solid"/>
          </a:ln>
        </p:spPr>
        <p:txBody>
          <a:bodyPr/>
          <a:lstStyle/>
          <a:p>
            <a:endParaRPr lang="en-US"/>
          </a:p>
        </p:txBody>
      </p:sp>
      <p:sp>
        <p:nvSpPr>
          <p:cNvPr id="58" name="Shape 56"/>
          <p:cNvSpPr/>
          <p:nvPr/>
        </p:nvSpPr>
        <p:spPr>
          <a:xfrm>
            <a:off x="10826496" y="3794760"/>
            <a:ext cx="384048" cy="384048"/>
          </a:xfrm>
          <a:prstGeom prst="rect">
            <a:avLst/>
          </a:prstGeom>
          <a:solidFill>
            <a:srgbClr val="FFFFFF"/>
          </a:solidFill>
          <a:ln w="9525">
            <a:solidFill>
              <a:srgbClr val="D3E0E3"/>
            </a:solidFill>
            <a:prstDash val="solid"/>
          </a:ln>
        </p:spPr>
        <p:txBody>
          <a:bodyPr/>
          <a:lstStyle/>
          <a:p>
            <a:endParaRPr lang="en-US"/>
          </a:p>
        </p:txBody>
      </p:sp>
      <p:sp>
        <p:nvSpPr>
          <p:cNvPr id="59" name="Shape 57"/>
          <p:cNvSpPr/>
          <p:nvPr/>
        </p:nvSpPr>
        <p:spPr>
          <a:xfrm>
            <a:off x="8138160" y="4178808"/>
            <a:ext cx="384048" cy="384048"/>
          </a:xfrm>
          <a:prstGeom prst="rect">
            <a:avLst/>
          </a:prstGeom>
          <a:solidFill>
            <a:srgbClr val="FFFFFF"/>
          </a:solidFill>
          <a:ln w="9525">
            <a:solidFill>
              <a:srgbClr val="D3E0E3"/>
            </a:solidFill>
            <a:prstDash val="solid"/>
          </a:ln>
        </p:spPr>
        <p:txBody>
          <a:bodyPr/>
          <a:lstStyle/>
          <a:p>
            <a:endParaRPr lang="en-US"/>
          </a:p>
        </p:txBody>
      </p:sp>
      <p:sp>
        <p:nvSpPr>
          <p:cNvPr id="60" name="Shape 58"/>
          <p:cNvSpPr/>
          <p:nvPr/>
        </p:nvSpPr>
        <p:spPr>
          <a:xfrm>
            <a:off x="8522208" y="4178808"/>
            <a:ext cx="384048" cy="384048"/>
          </a:xfrm>
          <a:prstGeom prst="rect">
            <a:avLst/>
          </a:prstGeom>
          <a:solidFill>
            <a:srgbClr val="FFFFFF"/>
          </a:solidFill>
          <a:ln w="9525">
            <a:solidFill>
              <a:srgbClr val="D3E0E3"/>
            </a:solidFill>
            <a:prstDash val="solid"/>
          </a:ln>
        </p:spPr>
        <p:txBody>
          <a:bodyPr/>
          <a:lstStyle/>
          <a:p>
            <a:endParaRPr lang="en-US"/>
          </a:p>
        </p:txBody>
      </p:sp>
      <p:sp>
        <p:nvSpPr>
          <p:cNvPr id="61" name="Shape 59"/>
          <p:cNvSpPr/>
          <p:nvPr/>
        </p:nvSpPr>
        <p:spPr>
          <a:xfrm>
            <a:off x="8906256" y="4178808"/>
            <a:ext cx="384048" cy="384048"/>
          </a:xfrm>
          <a:prstGeom prst="rect">
            <a:avLst/>
          </a:prstGeom>
          <a:solidFill>
            <a:srgbClr val="FFFFFF"/>
          </a:solidFill>
          <a:ln w="9525">
            <a:solidFill>
              <a:srgbClr val="D3E0E3"/>
            </a:solidFill>
            <a:prstDash val="solid"/>
          </a:ln>
        </p:spPr>
        <p:txBody>
          <a:bodyPr/>
          <a:lstStyle/>
          <a:p>
            <a:endParaRPr lang="en-US"/>
          </a:p>
        </p:txBody>
      </p:sp>
      <p:sp>
        <p:nvSpPr>
          <p:cNvPr id="62" name="Shape 60"/>
          <p:cNvSpPr/>
          <p:nvPr/>
        </p:nvSpPr>
        <p:spPr>
          <a:xfrm>
            <a:off x="9290304" y="4178808"/>
            <a:ext cx="384048" cy="384048"/>
          </a:xfrm>
          <a:prstGeom prst="rect">
            <a:avLst/>
          </a:prstGeom>
          <a:solidFill>
            <a:srgbClr val="FFFFFF"/>
          </a:solidFill>
          <a:ln w="9525">
            <a:solidFill>
              <a:srgbClr val="D3E0E3"/>
            </a:solidFill>
            <a:prstDash val="solid"/>
          </a:ln>
        </p:spPr>
        <p:txBody>
          <a:bodyPr/>
          <a:lstStyle/>
          <a:p>
            <a:endParaRPr lang="en-US"/>
          </a:p>
        </p:txBody>
      </p:sp>
      <p:sp>
        <p:nvSpPr>
          <p:cNvPr id="63" name="Shape 61"/>
          <p:cNvSpPr/>
          <p:nvPr/>
        </p:nvSpPr>
        <p:spPr>
          <a:xfrm>
            <a:off x="9674352" y="4178808"/>
            <a:ext cx="384048" cy="384048"/>
          </a:xfrm>
          <a:prstGeom prst="rect">
            <a:avLst/>
          </a:prstGeom>
          <a:solidFill>
            <a:srgbClr val="FFFFFF"/>
          </a:solidFill>
          <a:ln w="9525">
            <a:solidFill>
              <a:srgbClr val="D3E0E3"/>
            </a:solidFill>
            <a:prstDash val="solid"/>
          </a:ln>
        </p:spPr>
        <p:txBody>
          <a:bodyPr/>
          <a:lstStyle/>
          <a:p>
            <a:endParaRPr lang="en-US"/>
          </a:p>
        </p:txBody>
      </p:sp>
      <p:sp>
        <p:nvSpPr>
          <p:cNvPr id="64" name="Shape 62"/>
          <p:cNvSpPr/>
          <p:nvPr/>
        </p:nvSpPr>
        <p:spPr>
          <a:xfrm>
            <a:off x="10058400" y="4178808"/>
            <a:ext cx="384048" cy="384048"/>
          </a:xfrm>
          <a:prstGeom prst="rect">
            <a:avLst/>
          </a:prstGeom>
          <a:solidFill>
            <a:srgbClr val="FFFFFF"/>
          </a:solidFill>
          <a:ln w="9525">
            <a:solidFill>
              <a:srgbClr val="D3E0E3"/>
            </a:solidFill>
            <a:prstDash val="solid"/>
          </a:ln>
        </p:spPr>
        <p:txBody>
          <a:bodyPr/>
          <a:lstStyle/>
          <a:p>
            <a:endParaRPr lang="en-US"/>
          </a:p>
        </p:txBody>
      </p:sp>
      <p:sp>
        <p:nvSpPr>
          <p:cNvPr id="65" name="Shape 63"/>
          <p:cNvSpPr/>
          <p:nvPr/>
        </p:nvSpPr>
        <p:spPr>
          <a:xfrm>
            <a:off x="10442448" y="4178808"/>
            <a:ext cx="384048" cy="384048"/>
          </a:xfrm>
          <a:prstGeom prst="rect">
            <a:avLst/>
          </a:prstGeom>
          <a:solidFill>
            <a:srgbClr val="FFFFFF"/>
          </a:solidFill>
          <a:ln w="9525">
            <a:solidFill>
              <a:srgbClr val="D3E0E3"/>
            </a:solidFill>
            <a:prstDash val="solid"/>
          </a:ln>
        </p:spPr>
        <p:txBody>
          <a:bodyPr/>
          <a:lstStyle/>
          <a:p>
            <a:endParaRPr lang="en-US"/>
          </a:p>
        </p:txBody>
      </p:sp>
      <p:sp>
        <p:nvSpPr>
          <p:cNvPr id="66" name="Shape 64"/>
          <p:cNvSpPr/>
          <p:nvPr/>
        </p:nvSpPr>
        <p:spPr>
          <a:xfrm>
            <a:off x="10826496" y="4178808"/>
            <a:ext cx="384048" cy="384048"/>
          </a:xfrm>
          <a:prstGeom prst="rect">
            <a:avLst/>
          </a:prstGeom>
          <a:solidFill>
            <a:srgbClr val="FFFFFF"/>
          </a:solidFill>
          <a:ln w="9525">
            <a:solidFill>
              <a:srgbClr val="D3E0E3"/>
            </a:solidFill>
            <a:prstDash val="solid"/>
          </a:ln>
        </p:spPr>
        <p:txBody>
          <a:bodyPr/>
          <a:lstStyle/>
          <a:p>
            <a:endParaRPr lang="en-US"/>
          </a:p>
        </p:txBody>
      </p:sp>
      <p:sp>
        <p:nvSpPr>
          <p:cNvPr id="67" name="Shape 65"/>
          <p:cNvSpPr/>
          <p:nvPr/>
        </p:nvSpPr>
        <p:spPr>
          <a:xfrm>
            <a:off x="8138160" y="4562856"/>
            <a:ext cx="384048" cy="384048"/>
          </a:xfrm>
          <a:prstGeom prst="rect">
            <a:avLst/>
          </a:prstGeom>
          <a:solidFill>
            <a:srgbClr val="FFFFFF"/>
          </a:solidFill>
          <a:ln w="9525">
            <a:solidFill>
              <a:srgbClr val="D3E0E3"/>
            </a:solidFill>
            <a:prstDash val="solid"/>
          </a:ln>
        </p:spPr>
        <p:txBody>
          <a:bodyPr/>
          <a:lstStyle/>
          <a:p>
            <a:endParaRPr lang="en-US"/>
          </a:p>
        </p:txBody>
      </p:sp>
      <p:sp>
        <p:nvSpPr>
          <p:cNvPr id="68" name="Shape 66"/>
          <p:cNvSpPr/>
          <p:nvPr/>
        </p:nvSpPr>
        <p:spPr>
          <a:xfrm>
            <a:off x="8522208" y="4562856"/>
            <a:ext cx="384048" cy="384048"/>
          </a:xfrm>
          <a:prstGeom prst="rect">
            <a:avLst/>
          </a:prstGeom>
          <a:solidFill>
            <a:srgbClr val="FFFFFF"/>
          </a:solidFill>
          <a:ln w="9525">
            <a:solidFill>
              <a:srgbClr val="D3E0E3"/>
            </a:solidFill>
            <a:prstDash val="solid"/>
          </a:ln>
        </p:spPr>
        <p:txBody>
          <a:bodyPr/>
          <a:lstStyle/>
          <a:p>
            <a:endParaRPr lang="en-US"/>
          </a:p>
        </p:txBody>
      </p:sp>
      <p:sp>
        <p:nvSpPr>
          <p:cNvPr id="69" name="Shape 67"/>
          <p:cNvSpPr/>
          <p:nvPr/>
        </p:nvSpPr>
        <p:spPr>
          <a:xfrm>
            <a:off x="8906256" y="4562856"/>
            <a:ext cx="384048" cy="384048"/>
          </a:xfrm>
          <a:prstGeom prst="rect">
            <a:avLst/>
          </a:prstGeom>
          <a:solidFill>
            <a:srgbClr val="FFFFFF"/>
          </a:solidFill>
          <a:ln w="9525">
            <a:solidFill>
              <a:srgbClr val="D3E0E3"/>
            </a:solidFill>
            <a:prstDash val="solid"/>
          </a:ln>
        </p:spPr>
        <p:txBody>
          <a:bodyPr/>
          <a:lstStyle/>
          <a:p>
            <a:endParaRPr lang="en-US"/>
          </a:p>
        </p:txBody>
      </p:sp>
      <p:sp>
        <p:nvSpPr>
          <p:cNvPr id="70" name="Shape 68"/>
          <p:cNvSpPr/>
          <p:nvPr/>
        </p:nvSpPr>
        <p:spPr>
          <a:xfrm>
            <a:off x="9290304" y="4562856"/>
            <a:ext cx="384048" cy="384048"/>
          </a:xfrm>
          <a:prstGeom prst="rect">
            <a:avLst/>
          </a:prstGeom>
          <a:solidFill>
            <a:srgbClr val="FFFFFF"/>
          </a:solidFill>
          <a:ln w="9525">
            <a:solidFill>
              <a:srgbClr val="D3E0E3"/>
            </a:solidFill>
            <a:prstDash val="solid"/>
          </a:ln>
        </p:spPr>
        <p:txBody>
          <a:bodyPr/>
          <a:lstStyle/>
          <a:p>
            <a:endParaRPr lang="en-US"/>
          </a:p>
        </p:txBody>
      </p:sp>
      <p:sp>
        <p:nvSpPr>
          <p:cNvPr id="71" name="Shape 69"/>
          <p:cNvSpPr/>
          <p:nvPr/>
        </p:nvSpPr>
        <p:spPr>
          <a:xfrm>
            <a:off x="9674352" y="4562856"/>
            <a:ext cx="384048" cy="384048"/>
          </a:xfrm>
          <a:prstGeom prst="rect">
            <a:avLst/>
          </a:prstGeom>
          <a:solidFill>
            <a:srgbClr val="FFFFFF"/>
          </a:solidFill>
          <a:ln w="9525">
            <a:solidFill>
              <a:srgbClr val="D3E0E3"/>
            </a:solidFill>
            <a:prstDash val="solid"/>
          </a:ln>
        </p:spPr>
        <p:txBody>
          <a:bodyPr/>
          <a:lstStyle/>
          <a:p>
            <a:endParaRPr lang="en-US"/>
          </a:p>
        </p:txBody>
      </p:sp>
      <p:sp>
        <p:nvSpPr>
          <p:cNvPr id="72" name="Shape 70"/>
          <p:cNvSpPr/>
          <p:nvPr/>
        </p:nvSpPr>
        <p:spPr>
          <a:xfrm>
            <a:off x="10058400" y="4562856"/>
            <a:ext cx="384048" cy="384048"/>
          </a:xfrm>
          <a:prstGeom prst="rect">
            <a:avLst/>
          </a:prstGeom>
          <a:solidFill>
            <a:srgbClr val="FFFFFF"/>
          </a:solidFill>
          <a:ln w="9525">
            <a:solidFill>
              <a:srgbClr val="D3E0E3"/>
            </a:solidFill>
            <a:prstDash val="solid"/>
          </a:ln>
        </p:spPr>
        <p:txBody>
          <a:bodyPr/>
          <a:lstStyle/>
          <a:p>
            <a:endParaRPr lang="en-US"/>
          </a:p>
        </p:txBody>
      </p:sp>
      <p:sp>
        <p:nvSpPr>
          <p:cNvPr id="73" name="Shape 71"/>
          <p:cNvSpPr/>
          <p:nvPr/>
        </p:nvSpPr>
        <p:spPr>
          <a:xfrm>
            <a:off x="10442448" y="4562856"/>
            <a:ext cx="384048" cy="384048"/>
          </a:xfrm>
          <a:prstGeom prst="rect">
            <a:avLst/>
          </a:prstGeom>
          <a:solidFill>
            <a:srgbClr val="FFFFFF"/>
          </a:solidFill>
          <a:ln w="9525">
            <a:solidFill>
              <a:srgbClr val="D3E0E3"/>
            </a:solidFill>
            <a:prstDash val="solid"/>
          </a:ln>
        </p:spPr>
        <p:txBody>
          <a:bodyPr/>
          <a:lstStyle/>
          <a:p>
            <a:endParaRPr lang="en-US"/>
          </a:p>
        </p:txBody>
      </p:sp>
      <p:sp>
        <p:nvSpPr>
          <p:cNvPr id="74" name="Shape 72"/>
          <p:cNvSpPr/>
          <p:nvPr/>
        </p:nvSpPr>
        <p:spPr>
          <a:xfrm>
            <a:off x="10826496" y="4562856"/>
            <a:ext cx="384048" cy="384048"/>
          </a:xfrm>
          <a:prstGeom prst="rect">
            <a:avLst/>
          </a:prstGeom>
          <a:solidFill>
            <a:srgbClr val="FFFFFF"/>
          </a:solidFill>
          <a:ln w="9525">
            <a:solidFill>
              <a:srgbClr val="D3E0E3"/>
            </a:solidFill>
            <a:prstDash val="solid"/>
          </a:ln>
        </p:spPr>
        <p:txBody>
          <a:bodyPr/>
          <a:lstStyle/>
          <a:p>
            <a:endParaRPr lang="en-US"/>
          </a:p>
        </p:txBody>
      </p:sp>
      <p:sp>
        <p:nvSpPr>
          <p:cNvPr id="75" name="Shape 73"/>
          <p:cNvSpPr/>
          <p:nvPr/>
        </p:nvSpPr>
        <p:spPr>
          <a:xfrm>
            <a:off x="9674352" y="1874520"/>
            <a:ext cx="0" cy="3072384"/>
          </a:xfrm>
          <a:prstGeom prst="line">
            <a:avLst/>
          </a:prstGeom>
          <a:noFill/>
          <a:ln w="28575">
            <a:solidFill>
              <a:srgbClr val="D9932B"/>
            </a:solidFill>
            <a:prstDash val="solid"/>
          </a:ln>
        </p:spPr>
        <p:txBody>
          <a:bodyPr/>
          <a:lstStyle/>
          <a:p>
            <a:endParaRPr lang="en-US"/>
          </a:p>
        </p:txBody>
      </p:sp>
      <p:sp>
        <p:nvSpPr>
          <p:cNvPr id="76" name="Shape 74"/>
          <p:cNvSpPr/>
          <p:nvPr/>
        </p:nvSpPr>
        <p:spPr>
          <a:xfrm>
            <a:off x="8138160" y="3410712"/>
            <a:ext cx="3072384" cy="0"/>
          </a:xfrm>
          <a:prstGeom prst="line">
            <a:avLst/>
          </a:prstGeom>
          <a:noFill/>
          <a:ln w="28575">
            <a:solidFill>
              <a:srgbClr val="D9932B"/>
            </a:solidFill>
            <a:prstDash val="solid"/>
          </a:ln>
        </p:spPr>
        <p:txBody>
          <a:bodyPr/>
          <a:lstStyle/>
          <a:p>
            <a:endParaRPr lang="en-US"/>
          </a:p>
        </p:txBody>
      </p:sp>
      <p:sp>
        <p:nvSpPr>
          <p:cNvPr id="77" name="Text 75"/>
          <p:cNvSpPr txBox="1"/>
          <p:nvPr/>
        </p:nvSpPr>
        <p:spPr>
          <a:xfrm>
            <a:off x="7772400" y="5129784"/>
            <a:ext cx="3803904" cy="548640"/>
          </a:xfrm>
          <a:prstGeom prst="rect">
            <a:avLst/>
          </a:prstGeom>
          <a:noFill/>
          <a:ln/>
        </p:spPr>
        <p:txBody>
          <a:bodyPr wrap="square" lIns="0" tIns="0" rIns="0" bIns="0" rtlCol="0" anchor="t"/>
          <a:lstStyle/>
          <a:p>
            <a:pPr marL="0" indent="0" algn="ctr">
              <a:lnSpc>
                <a:spcPts val="1620"/>
              </a:lnSpc>
              <a:buNone/>
            </a:pPr>
            <a:r>
              <a:rPr lang="en-US" sz="1200" dirty="0">
                <a:solidFill>
                  <a:srgbClr val="5F7A80"/>
                </a:solidFill>
                <a:latin typeface="Calibri" pitchFamily="34" charset="0"/>
                <a:ea typeface="Calibri" pitchFamily="34" charset="-122"/>
                <a:cs typeface="Calibri" pitchFamily="34" charset="-120"/>
              </a:rPr>
              <a:t>Red = the missing square. Teal = one tromino straddling the other three quadrants.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75488"/>
            <a:ext cx="914400" cy="457200"/>
          </a:xfrm>
          <a:prstGeom prst="roundRect">
            <a:avLst>
              <a:gd name="adj" fmla="val 20000"/>
            </a:avLst>
          </a:prstGeom>
          <a:solidFill>
            <a:srgbClr val="D9932B"/>
          </a:solidFill>
          <a:ln w="12700">
            <a:solidFill>
              <a:srgbClr val="D9932B"/>
            </a:solidFill>
            <a:prstDash val="solid"/>
          </a:ln>
        </p:spPr>
        <p:txBody>
          <a:bodyPr/>
          <a:lstStyle/>
          <a:p>
            <a:endParaRPr lang="en-US"/>
          </a:p>
        </p:txBody>
      </p:sp>
      <p:sp>
        <p:nvSpPr>
          <p:cNvPr id="3" name="Text 1"/>
          <p:cNvSpPr txBox="1"/>
          <p:nvPr/>
        </p:nvSpPr>
        <p:spPr>
          <a:xfrm>
            <a:off x="640080" y="475488"/>
            <a:ext cx="914400" cy="457200"/>
          </a:xfrm>
          <a:prstGeom prst="rect">
            <a:avLst/>
          </a:prstGeom>
          <a:noFill/>
          <a:ln/>
        </p:spPr>
        <p:txBody>
          <a:bodyPr wrap="square" lIns="0" tIns="0" rIns="0" bIns="0" rtlCol="0" anchor="ctr"/>
          <a:lstStyle/>
          <a:p>
            <a:pPr marL="0" indent="0" algn="ctr">
              <a:buNone/>
            </a:pPr>
            <a:r>
              <a:rPr lang="en-US" sz="1500" b="1" dirty="0">
                <a:solidFill>
                  <a:srgbClr val="0B2E36"/>
                </a:solidFill>
                <a:latin typeface="Calibri" pitchFamily="34" charset="0"/>
                <a:ea typeface="Calibri" pitchFamily="34" charset="-122"/>
                <a:cs typeface="Calibri" pitchFamily="34" charset="-120"/>
              </a:rPr>
              <a:t>Q50</a:t>
            </a:r>
            <a:endParaRPr lang="en-US" sz="1500" dirty="0"/>
          </a:p>
        </p:txBody>
      </p:sp>
      <p:sp>
        <p:nvSpPr>
          <p:cNvPr id="4" name="Text 2"/>
          <p:cNvSpPr txBox="1"/>
          <p:nvPr/>
        </p:nvSpPr>
        <p:spPr>
          <a:xfrm>
            <a:off x="1737360" y="438912"/>
            <a:ext cx="9811512" cy="530352"/>
          </a:xfrm>
          <a:prstGeom prst="rect">
            <a:avLst/>
          </a:prstGeom>
          <a:noFill/>
          <a:ln/>
        </p:spPr>
        <p:txBody>
          <a:bodyPr wrap="square" lIns="0" tIns="0" rIns="0" bIns="0" rtlCol="0" anchor="ctr"/>
          <a:lstStyle/>
          <a:p>
            <a:pPr marL="0" indent="0">
              <a:buNone/>
            </a:pPr>
            <a:r>
              <a:rPr lang="en-US" sz="3000" b="1" dirty="0">
                <a:solidFill>
                  <a:srgbClr val="0F5E6E"/>
                </a:solidFill>
                <a:latin typeface="Cambria" pitchFamily="34" charset="0"/>
                <a:ea typeface="Cambria" pitchFamily="34" charset="-122"/>
                <a:cs typeface="Cambria" pitchFamily="34" charset="-120"/>
              </a:rPr>
              <a:t>The cost, via the Master Theorem</a:t>
            </a:r>
            <a:endParaRPr lang="en-US" sz="3000" dirty="0"/>
          </a:p>
        </p:txBody>
      </p:sp>
      <p:sp>
        <p:nvSpPr>
          <p:cNvPr id="5" name="Text 3"/>
          <p:cNvSpPr txBox="1"/>
          <p:nvPr/>
        </p:nvSpPr>
        <p:spPr>
          <a:xfrm>
            <a:off x="8622792" y="6382512"/>
            <a:ext cx="2926080" cy="274320"/>
          </a:xfrm>
          <a:prstGeom prst="rect">
            <a:avLst/>
          </a:prstGeom>
          <a:noFill/>
          <a:ln/>
        </p:spPr>
        <p:txBody>
          <a:bodyPr wrap="square" lIns="0" tIns="0" rIns="0" bIns="0" rtlCol="0" anchor="ctr"/>
          <a:lstStyle/>
          <a:p>
            <a:pPr marL="0" indent="0" algn="r">
              <a:buNone/>
            </a:pPr>
            <a:r>
              <a:rPr lang="en-US" sz="900" dirty="0">
                <a:solidFill>
                  <a:srgbClr val="5F7A80"/>
                </a:solidFill>
                <a:latin typeface="Calibri" pitchFamily="34" charset="0"/>
                <a:ea typeface="Calibri" pitchFamily="34" charset="-122"/>
                <a:cs typeface="Calibri" pitchFamily="34" charset="-120"/>
              </a:rPr>
              <a:t>COMP90038 · Tutorial 8  |  25</a:t>
            </a:r>
            <a:endParaRPr lang="en-US" sz="900" dirty="0"/>
          </a:p>
        </p:txBody>
      </p:sp>
      <p:sp>
        <p:nvSpPr>
          <p:cNvPr id="6" name="Shape 4"/>
          <p:cNvSpPr/>
          <p:nvPr/>
        </p:nvSpPr>
        <p:spPr>
          <a:xfrm>
            <a:off x="640080" y="1691640"/>
            <a:ext cx="6035040" cy="2286000"/>
          </a:xfrm>
          <a:prstGeom prst="roundRect">
            <a:avLst>
              <a:gd name="adj" fmla="val 2000"/>
            </a:avLst>
          </a:prstGeom>
          <a:solidFill>
            <a:srgbClr val="F1F6F7"/>
          </a:solidFill>
          <a:ln w="12700">
            <a:solidFill>
              <a:srgbClr val="D3E0E3"/>
            </a:solidFill>
            <a:prstDash val="solid"/>
          </a:ln>
        </p:spPr>
        <p:txBody>
          <a:bodyPr/>
          <a:lstStyle/>
          <a:p>
            <a:endParaRPr lang="en-US"/>
          </a:p>
        </p:txBody>
      </p:sp>
      <p:sp>
        <p:nvSpPr>
          <p:cNvPr id="7" name="Text 5"/>
          <p:cNvSpPr txBox="1"/>
          <p:nvPr/>
        </p:nvSpPr>
        <p:spPr>
          <a:xfrm>
            <a:off x="914400" y="1874520"/>
            <a:ext cx="5486400" cy="320040"/>
          </a:xfrm>
          <a:prstGeom prst="rect">
            <a:avLst/>
          </a:prstGeom>
          <a:noFill/>
          <a:ln/>
        </p:spPr>
        <p:txBody>
          <a:bodyPr wrap="square" lIns="0" tIns="0" rIns="0" bIns="0" rtlCol="0" anchor="t"/>
          <a:lstStyle/>
          <a:p>
            <a:pPr marL="0" indent="0" algn="l">
              <a:lnSpc>
                <a:spcPts val="1890"/>
              </a:lnSpc>
              <a:buNone/>
            </a:pPr>
            <a:r>
              <a:rPr lang="en-US" sz="1400" dirty="0">
                <a:solidFill>
                  <a:srgbClr val="16343B"/>
                </a:solidFill>
                <a:latin typeface="Calibri" pitchFamily="34" charset="0"/>
                <a:ea typeface="Calibri" pitchFamily="34" charset="-122"/>
                <a:cs typeface="Calibri" pitchFamily="34" charset="-120"/>
              </a:rPr>
              <a:t>Let m = 2^(2n) be the number of squares on the board.</a:t>
            </a:r>
            <a:endParaRPr lang="en-US" sz="1400" dirty="0"/>
          </a:p>
        </p:txBody>
      </p:sp>
      <p:sp>
        <p:nvSpPr>
          <p:cNvPr id="8" name="Text 6"/>
          <p:cNvSpPr txBox="1"/>
          <p:nvPr/>
        </p:nvSpPr>
        <p:spPr>
          <a:xfrm>
            <a:off x="914400" y="2286000"/>
            <a:ext cx="5486400" cy="548640"/>
          </a:xfrm>
          <a:prstGeom prst="rect">
            <a:avLst/>
          </a:prstGeom>
          <a:noFill/>
          <a:ln/>
        </p:spPr>
        <p:txBody>
          <a:bodyPr wrap="square" lIns="0" tIns="0" rIns="0" bIns="0" rtlCol="0" anchor="ctr"/>
          <a:lstStyle/>
          <a:p>
            <a:pPr marL="0" indent="0">
              <a:buNone/>
            </a:pPr>
            <a:r>
              <a:rPr lang="en-US" sz="2600" b="1" dirty="0">
                <a:solidFill>
                  <a:srgbClr val="0F5E6E"/>
                </a:solidFill>
                <a:latin typeface="Cambria" pitchFamily="34" charset="0"/>
                <a:ea typeface="Cambria" pitchFamily="34" charset="-122"/>
                <a:cs typeface="Cambria" pitchFamily="34" charset="-120"/>
              </a:rPr>
              <a:t>T(m) = 4 T(m/4) + 1</a:t>
            </a:r>
            <a:endParaRPr lang="en-US" sz="2600" dirty="0"/>
          </a:p>
        </p:txBody>
      </p:sp>
      <p:sp>
        <p:nvSpPr>
          <p:cNvPr id="9" name="Text 7"/>
          <p:cNvSpPr txBox="1"/>
          <p:nvPr/>
        </p:nvSpPr>
        <p:spPr>
          <a:xfrm>
            <a:off x="914400" y="2926080"/>
            <a:ext cx="5486400" cy="914400"/>
          </a:xfrm>
          <a:prstGeom prst="rect">
            <a:avLst/>
          </a:prstGeom>
          <a:noFill/>
          <a:ln/>
        </p:spPr>
        <p:txBody>
          <a:bodyPr wrap="square" lIns="0" tIns="0" rIns="0" bIns="0" rtlCol="0" anchor="t"/>
          <a:lstStyle/>
          <a:p>
            <a:pPr marL="0" indent="0" algn="l">
              <a:lnSpc>
                <a:spcPts val="1890"/>
              </a:lnSpc>
              <a:buNone/>
            </a:pPr>
            <a:r>
              <a:rPr lang="en-US" sz="1400" dirty="0">
                <a:solidFill>
                  <a:srgbClr val="16343B"/>
                </a:solidFill>
                <a:latin typeface="Calibri" pitchFamily="34" charset="0"/>
                <a:ea typeface="Calibri" pitchFamily="34" charset="-122"/>
                <a:cs typeface="Calibri" pitchFamily="34" charset="-120"/>
              </a:rPr>
              <a:t>Four subproblems, each a quarter of the board, plus constant work to place one tromino.  T(1) = 1.</a:t>
            </a:r>
            <a:endParaRPr lang="en-US" sz="1400" dirty="0"/>
          </a:p>
        </p:txBody>
      </p:sp>
      <p:sp>
        <p:nvSpPr>
          <p:cNvPr id="10" name="Shape 8"/>
          <p:cNvSpPr/>
          <p:nvPr/>
        </p:nvSpPr>
        <p:spPr>
          <a:xfrm>
            <a:off x="7132320" y="1691640"/>
            <a:ext cx="4416552" cy="2286000"/>
          </a:xfrm>
          <a:prstGeom prst="roundRect">
            <a:avLst>
              <a:gd name="adj" fmla="val 2000"/>
            </a:avLst>
          </a:prstGeom>
          <a:solidFill>
            <a:srgbClr val="FBEEDA"/>
          </a:solidFill>
          <a:ln w="12700">
            <a:solidFill>
              <a:srgbClr val="EAD3A6"/>
            </a:solidFill>
            <a:prstDash val="solid"/>
          </a:ln>
        </p:spPr>
        <p:txBody>
          <a:bodyPr/>
          <a:lstStyle/>
          <a:p>
            <a:endParaRPr lang="en-US"/>
          </a:p>
        </p:txBody>
      </p:sp>
      <p:sp>
        <p:nvSpPr>
          <p:cNvPr id="11" name="Text 9"/>
          <p:cNvSpPr txBox="1"/>
          <p:nvPr/>
        </p:nvSpPr>
        <p:spPr>
          <a:xfrm>
            <a:off x="7406640" y="1874520"/>
            <a:ext cx="3867912" cy="237744"/>
          </a:xfrm>
          <a:prstGeom prst="rect">
            <a:avLst/>
          </a:prstGeom>
          <a:noFill/>
          <a:ln/>
        </p:spPr>
        <p:txBody>
          <a:bodyPr wrap="square" lIns="0" tIns="0" rIns="0" bIns="0" rtlCol="0" anchor="ctr"/>
          <a:lstStyle/>
          <a:p>
            <a:pPr marL="0" indent="0">
              <a:buNone/>
            </a:pPr>
            <a:r>
              <a:rPr lang="en-US" sz="1100" b="1" kern="0" spc="120" dirty="0">
                <a:solidFill>
                  <a:srgbClr val="9C6410"/>
                </a:solidFill>
                <a:latin typeface="Calibri" pitchFamily="34" charset="0"/>
                <a:ea typeface="Calibri" pitchFamily="34" charset="-122"/>
                <a:cs typeface="Calibri" pitchFamily="34" charset="-120"/>
              </a:rPr>
              <a:t>MASTER THEOREM</a:t>
            </a:r>
            <a:endParaRPr lang="en-US" sz="1100" dirty="0"/>
          </a:p>
        </p:txBody>
      </p:sp>
      <p:sp>
        <p:nvSpPr>
          <p:cNvPr id="12" name="Text 10"/>
          <p:cNvSpPr txBox="1"/>
          <p:nvPr/>
        </p:nvSpPr>
        <p:spPr>
          <a:xfrm>
            <a:off x="7406640" y="2212848"/>
            <a:ext cx="3867912" cy="1600200"/>
          </a:xfrm>
          <a:prstGeom prst="rect">
            <a:avLst/>
          </a:prstGeom>
          <a:noFill/>
          <a:ln/>
        </p:spPr>
        <p:txBody>
          <a:bodyPr wrap="square" lIns="0" tIns="0" rIns="0" bIns="0" rtlCol="0" anchor="t"/>
          <a:lstStyle/>
          <a:p>
            <a:pPr marL="203200" indent="-203200">
              <a:spcAft>
                <a:spcPts val="500"/>
              </a:spcAft>
              <a:buSzPct val="100000"/>
              <a:buChar char="▪"/>
            </a:pPr>
            <a:r>
              <a:rPr lang="en-US" sz="1400" b="1" dirty="0">
                <a:solidFill>
                  <a:srgbClr val="16343B"/>
                </a:solidFill>
                <a:latin typeface="Courier New" pitchFamily="34" charset="0"/>
                <a:ea typeface="Courier New" pitchFamily="34" charset="-122"/>
                <a:cs typeface="Courier New" pitchFamily="34" charset="-120"/>
              </a:rPr>
              <a:t>a = 4,  b = 4,  d = 0</a:t>
            </a:r>
            <a:endParaRPr lang="en-US" sz="1400" dirty="0"/>
          </a:p>
          <a:p>
            <a:pPr marL="203200" indent="-203200">
              <a:spcAft>
                <a:spcPts val="500"/>
              </a:spcAft>
              <a:buSzPct val="100000"/>
              <a:buChar char="▪"/>
            </a:pPr>
            <a:r>
              <a:rPr lang="en-US" sz="1400" b="1" dirty="0">
                <a:solidFill>
                  <a:srgbClr val="16343B"/>
                </a:solidFill>
                <a:latin typeface="Courier New" pitchFamily="34" charset="0"/>
                <a:ea typeface="Courier New" pitchFamily="34" charset="-122"/>
                <a:cs typeface="Courier New" pitchFamily="34" charset="-120"/>
              </a:rPr>
              <a:t>a &gt; bᵈ  (4 &gt; 1)</a:t>
            </a:r>
            <a:endParaRPr lang="en-US" sz="1400" dirty="0"/>
          </a:p>
          <a:p>
            <a:pPr marL="203200" indent="-203200">
              <a:spcAft>
                <a:spcPts val="500"/>
              </a:spcAft>
              <a:buSzPct val="100000"/>
              <a:buChar char="▪"/>
            </a:pPr>
            <a:r>
              <a:rPr lang="en-US" sz="1400" b="1" dirty="0">
                <a:solidFill>
                  <a:srgbClr val="9C6410"/>
                </a:solidFill>
                <a:latin typeface="Courier New" pitchFamily="34" charset="0"/>
                <a:ea typeface="Courier New" pitchFamily="34" charset="-122"/>
                <a:cs typeface="Courier New" pitchFamily="34" charset="-120"/>
              </a:rPr>
              <a:t>T(m) = Θ(m^(log₄ 4)) = Θ(m)</a:t>
            </a:r>
            <a:endParaRPr lang="en-US" sz="1400" dirty="0"/>
          </a:p>
        </p:txBody>
      </p:sp>
      <p:sp>
        <p:nvSpPr>
          <p:cNvPr id="13" name="Text 11"/>
          <p:cNvSpPr txBox="1"/>
          <p:nvPr/>
        </p:nvSpPr>
        <p:spPr>
          <a:xfrm>
            <a:off x="640080" y="4206240"/>
            <a:ext cx="10908792" cy="137160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16343B"/>
                </a:solidFill>
                <a:latin typeface="Calibri" pitchFamily="34" charset="0"/>
                <a:ea typeface="Calibri" pitchFamily="34" charset="-122"/>
                <a:cs typeface="Calibri" pitchFamily="34" charset="-120"/>
              </a:rPr>
              <a:t>Linear in the number of squares — which is the best possible, since every square must be covered.</a:t>
            </a:r>
            <a:endParaRPr lang="en-US" sz="1400" dirty="0"/>
          </a:p>
          <a:p>
            <a:pPr marL="203200" indent="-203200">
              <a:spcAft>
                <a:spcPts val="800"/>
              </a:spcAft>
              <a:buSzPct val="100000"/>
              <a:buChar char="▪"/>
            </a:pPr>
            <a:r>
              <a:rPr lang="en-US" sz="1400" dirty="0">
                <a:solidFill>
                  <a:srgbClr val="16343B"/>
                </a:solidFill>
                <a:latin typeface="Calibri" pitchFamily="34" charset="0"/>
                <a:ea typeface="Calibri" pitchFamily="34" charset="-122"/>
                <a:cs typeface="Calibri" pitchFamily="34" charset="-120"/>
              </a:rPr>
              <a:t>Sanity check: a tromino covers 3 squares and exactly m − 1 squares need covering, so the tiling uses (m − 1)/3 trominoes. Linear.</a:t>
            </a:r>
            <a:endParaRPr lang="en-US" sz="1400" dirty="0"/>
          </a:p>
        </p:txBody>
      </p:sp>
      <p:sp>
        <p:nvSpPr>
          <p:cNvPr id="14" name="Shape 12"/>
          <p:cNvSpPr/>
          <p:nvPr/>
        </p:nvSpPr>
        <p:spPr>
          <a:xfrm>
            <a:off x="640080" y="5532120"/>
            <a:ext cx="10908792" cy="777240"/>
          </a:xfrm>
          <a:prstGeom prst="roundRect">
            <a:avLst>
              <a:gd name="adj" fmla="val 5882"/>
            </a:avLst>
          </a:prstGeom>
          <a:solidFill>
            <a:srgbClr val="F1F6F7"/>
          </a:solidFill>
          <a:ln w="12700">
            <a:solidFill>
              <a:srgbClr val="D3E0E3"/>
            </a:solidFill>
            <a:prstDash val="solid"/>
          </a:ln>
        </p:spPr>
        <p:txBody>
          <a:bodyPr/>
          <a:lstStyle/>
          <a:p>
            <a:endParaRPr lang="en-US"/>
          </a:p>
        </p:txBody>
      </p:sp>
      <p:sp>
        <p:nvSpPr>
          <p:cNvPr id="15" name="Text 13"/>
          <p:cNvSpPr txBox="1"/>
          <p:nvPr/>
        </p:nvSpPr>
        <p:spPr>
          <a:xfrm>
            <a:off x="914400" y="5696712"/>
            <a:ext cx="10360152" cy="502920"/>
          </a:xfrm>
          <a:prstGeom prst="rect">
            <a:avLst/>
          </a:prstGeom>
          <a:noFill/>
          <a:ln/>
        </p:spPr>
        <p:txBody>
          <a:bodyPr wrap="square" lIns="0" tIns="0" rIns="0" bIns="0" rtlCol="0" anchor="t"/>
          <a:lstStyle/>
          <a:p>
            <a:pPr marL="0" indent="0" algn="l">
              <a:lnSpc>
                <a:spcPts val="1755"/>
              </a:lnSpc>
              <a:buNone/>
            </a:pPr>
            <a:r>
              <a:rPr lang="en-US" sz="1300" b="1" dirty="0">
                <a:solidFill>
                  <a:srgbClr val="16343B"/>
                </a:solidFill>
                <a:latin typeface="Calibri" pitchFamily="34" charset="0"/>
                <a:ea typeface="Calibri" pitchFamily="34" charset="-122"/>
                <a:cs typeface="Calibri" pitchFamily="34" charset="-120"/>
              </a:rPr>
              <a:t>Heads-up: the sample answer writes Θ(n) in the final line. That is a typo for Θ(m) — the cost is linear in the board size m = 2^(2n), which is exponential in 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770</TotalTime>
  <Words>7390</Words>
  <Application>Microsoft Macintosh PowerPoint</Application>
  <PresentationFormat>Widescreen</PresentationFormat>
  <Paragraphs>668</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COMP90038 Tutorial Week 8 — Binary Trees &amp; Heaps</dc:title>
  <dc:subject>PptxGenJS Presentation</dc:subject>
  <dc:creator>Kenji</dc:creator>
  <cp:lastModifiedBy>Kejian Cui</cp:lastModifiedBy>
  <cp:revision>17</cp:revision>
  <dcterms:created xsi:type="dcterms:W3CDTF">2026-09-14T13:39:40Z</dcterms:created>
  <dcterms:modified xsi:type="dcterms:W3CDTF">2026-10-07T02:52:32Z</dcterms:modified>
</cp:coreProperties>
</file>