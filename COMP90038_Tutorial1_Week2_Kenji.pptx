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76" r:id="rId4"/>
    <p:sldId id="259" r:id="rId5"/>
    <p:sldId id="260" r:id="rId6"/>
    <p:sldId id="261" r:id="rId7"/>
    <p:sldId id="262" r:id="rId8"/>
    <p:sldId id="263" r:id="rId9"/>
    <p:sldId id="277" r:id="rId10"/>
    <p:sldId id="264" r:id="rId11"/>
    <p:sldId id="265" r:id="rId12"/>
    <p:sldId id="278" r:id="rId13"/>
    <p:sldId id="271" r:id="rId14"/>
    <p:sldId id="272" r:id="rId15"/>
    <p:sldId id="266" r:id="rId16"/>
    <p:sldId id="267" r:id="rId17"/>
    <p:sldId id="268" r:id="rId18"/>
    <p:sldId id="269" r:id="rId19"/>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683"/>
    <p:restoredTop sz="94610"/>
  </p:normalViewPr>
  <p:slideViewPr>
    <p:cSldViewPr snapToGrid="0" snapToObjects="1">
      <p:cViewPr varScale="1">
        <p:scale>
          <a:sx n="121" d="100"/>
          <a:sy n="121" d="100"/>
        </p:scale>
        <p:origin x="192"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8598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Say who you are, what you're studying/researching, and how to reach you.
Set the tone: this is a working tutorial, not a second lecture. Students talk, I write on the board.
The graph on the right is the answer to Q4 — leave it unexplained for 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a real 4-5 minutes, then ask 3-4 people to introduce their NEIGHBOUR rather than themselves — it forces listening and it's less intimidating than self-introduction.
Collect a show of hands: who has seen big-O before? who has written pseudocode by hand? This calibrates the rest of the semester.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797CE-A24A-9829-F9EF-7494BD361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36F69-7475-4889-B354-AE3DA7814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E9A412-0430-D715-54C5-163541D5AF05}"/>
              </a:ext>
            </a:extLst>
          </p:cNvPr>
          <p:cNvSpPr>
            <a:spLocks noGrp="1"/>
          </p:cNvSpPr>
          <p:nvPr>
            <p:ph type="body" idx="1"/>
          </p:nvPr>
        </p:nvSpPr>
        <p:spPr/>
        <p:txBody>
          <a:bodyPr/>
          <a:lstStyle/>
          <a:p>
            <a:r>
              <a:rPr lang="en-US" dirty="0"/>
              <a:t>Give this a real 4-5 minutes, then ask 3-4 people to introduce their NEIGHBOUR rather than themselves — it forces listening and it's less intimidating than self-introduction.
Collect a show of hands: who has seen big-O before? who has written pseudocode by hand? This calibrates the rest of the semester.</a:t>
            </a:r>
          </a:p>
        </p:txBody>
      </p:sp>
      <p:sp>
        <p:nvSpPr>
          <p:cNvPr id="4" name="Slide Number Placeholder 3">
            <a:extLst>
              <a:ext uri="{FF2B5EF4-FFF2-40B4-BE49-F238E27FC236}">
                <a16:creationId xmlns:a16="http://schemas.microsoft.com/office/drawing/2014/main" id="{A4BAFA18-D400-CB9A-C69D-274304631A89}"/>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86882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 the specifics (submission dates, consultation hours, LMS layout) to the current subject guide before class.
Worth saying out loud: the exam asks for pseudocode written by hand, so practise writing it without an 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just read the definition — attack it. Ask: is a recipe an algorithm? ("season to taste" fails definiteness). Is a program an algorithm? (a server loop never terminates). Is "find the largest prime" a problem with an algorithm? (no — no output exists).
Also plant the seed: the same problem admits many algorithms with wildly different costs. That gap is the whole subject.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the value before showing the sum. Someone will say 178 fast — ask them HOW they did it: almost everyone adds up the weights of the 1-bits, which is not the algorithm we write in (b).
Good aside: this is why the answer to (a) is a formula, and (b) asks for something different.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write the English version before any code. Students who skip straight to code usually produce something with an unexplained pow() call.
Pseudocode conventions to establish now: ← for assignment, indentation for blocks, no semicolons, arrays indexed explicitly. Say that Levitin and the lecture slides use this style and the exam expects it.
Nice provocation: on a machine that only knows binary, what does 'convert to decimal' even mean? The output is a string of decimal digits — so the real work is repeated division by 10.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count is ⌊log₂ m⌋ + 1 — connect this to (b): both directions are linear in the LENGTH of the number, not in the number itself. That distinction (input size vs input value) bites people in week 3.
If someone proposes the subtract-largest-power-of-2 method, it's also correct — ask them how they find the largest power of 2 ≤ m, and whether that step is 'effective'.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584D3-6D59-6DCB-1C46-1828DB8C4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6A7AA-43A5-AB53-AF9A-5CC3DCC27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794417-DC43-7F3E-A1EA-129B3F75B403}"/>
              </a:ext>
            </a:extLst>
          </p:cNvPr>
          <p:cNvSpPr>
            <a:spLocks noGrp="1"/>
          </p:cNvSpPr>
          <p:nvPr>
            <p:ph type="body" idx="1"/>
          </p:nvPr>
        </p:nvSpPr>
        <p:spPr/>
        <p:txBody>
          <a:bodyPr/>
          <a:lstStyle/>
          <a:p>
            <a:r>
              <a:rPr lang="en-US" dirty="0"/>
              <a:t>Loop count is ⌊log₂ m⌋ + 1 — connect this to (b): both directions are linear in the LENGTH of the number, not in the number itself. That distinction (input size vs input value) bites people in week 3.
If someone proposes the subtract-largest-power-of-2 method, it's also correct — ask them how they find the largest power of 2 ≤ m, and whether that step is 'effective'.</a:t>
            </a:r>
          </a:p>
        </p:txBody>
      </p:sp>
      <p:sp>
        <p:nvSpPr>
          <p:cNvPr id="4" name="Slide Number Placeholder 3">
            <a:extLst>
              <a:ext uri="{FF2B5EF4-FFF2-40B4-BE49-F238E27FC236}">
                <a16:creationId xmlns:a16="http://schemas.microsoft.com/office/drawing/2014/main" id="{DC1DC65B-72ED-1C18-4375-5B638AAA968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80240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argue for 3 minutes before revealing anything. The productive disagreement is usually between "they're all fine, they're all correct formulas" and "none of them are algorithms, they're formulas".
Both camps are missing the same thing: an algorithm is defined relative to a stated INPUT. Push them to state what the input 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caveat on (a) is worth dwelling on for one minute: real-number arithmetic is not finite. We wave this through by declaring √ a primitive operation — exactly as we later declare comparison a primitive when counting sort operations. Choosing what counts as one 'step' is a modelling decision, and we'll make it again in week 3 with the basic operation count.
Optional extra for a strong group: Heron's formula is numerically unstable for thin triangles; Kahan's rearrangement fixes it. Correct-on-paper ≠ correct-in-floating-point.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objection students raise on the previous one: 'you said √ isn't finitely computable, so how is (a) an algorithm?' The honest answer is that √ is either a primitive on the device, or we write it — and for integers we can write it exactly, as here.
Ask them to justify ∑(2i−1) = k² BEFORE showing the picture; the gnomon picture is the reward, not the argument.
The scepticism point is the one to labour: testing shows the presence of bugs, never their absence. It comes back in every correctness argument this semester.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exchange worth having: someone will propose 'binary search on the linked list'. Don't say no — ask them to count the operations needed to reach the middle element. They'll find it themselves.
This is the first appearance of a theme that runs all semester: the data structure determines which algorithms are even available to you.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say out loud:
1) 'Sorted' is a property of the data; 'array' is a property of the representation. You need BOTH for binary search. This is the cleanest early example of the two being different things.
2) mid ← ⌊(lo+hi)/2⌋ overflows for large lo and hi in fixed-width integers — the famous bug that sat in the JDK for years. lo + ⌊(hi−lo)/2⌋ fixes it. Students enjoy this one.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Melbourne is a good local hook: ask how they'd choose between a 40-minute direct trip and a 32-minute trip with two changes. Everyone has a different answer — that IS the point of part (a).
Land this: a vague problem statement is not a small problem. Most of the failures you'll see in industry are precise algorithms answering the wrong question.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extensions if the group is quick:
1) Timetables. If the 8:03 is the only train for 20 minutes, edge weights depend on arrival time. The standard fix is a time-expanded graph: one vertex per (station, departure time). It gets big fast — good motivation for caring about complexity.
2) Fewest transfers = give every transfer edge weight 1 and every hop weight 0.
The takeaway to state explicitly: modelling choices, not cleverness, are what make this problem solvable.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3 minutes with pen and paper before moving on. Most groups will find a 4-colouring quickly and then struggle to argue that 3 is impossible — that gap between 'I found one' and 'I can prove no better exists' is the lesson of this question, and it comes back every time we prove a lower bound.
Common trap: forgetting g, or treating the outer frame as a country. The frame is just the edge of the map.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board WITH them rather than showing it finished. Ask which countries border which, one at a time, and let them catch each other's mistakes (c–g is the one people wrongly add; a–d and b–f are the ones people wrongly add too).
Say the word 'reduction' explicitly and flag it: turning problem P into problem Q that we already know how to solve is one of the half-dozen moves this whole subject is built on.
Note the drawing has no crossings — every map graph is planar. That's not an accident and it matters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two-part structure — an upper bound by construction, a lower bound by argument — is exactly how we'll handle algorithm efficiency later. Say that out loud.
If someone asks whether there's a fast algorithm to find the minimum colouring in general: no, and the NP-completeness line is the honest answer. But for PLANAR graphs, 4-colourability is guaranteed and a 4-colouring can be found in quadratic time — the theorem's proof is constructive. 3-colourability of planar graphs is still NP-complete.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A"/>
        </a:solidFill>
        <a:effectLst/>
      </p:bgPr>
    </p:bg>
    <p:spTree>
      <p:nvGrpSpPr>
        <p:cNvPr id="1" name=""/>
        <p:cNvGrpSpPr/>
        <p:nvPr/>
      </p:nvGrpSpPr>
      <p:grpSpPr>
        <a:xfrm>
          <a:off x="0" y="0"/>
          <a:ext cx="0" cy="0"/>
          <a:chOff x="0" y="0"/>
          <a:chExt cx="0" cy="0"/>
        </a:xfrm>
      </p:grpSpPr>
      <p:sp>
        <p:nvSpPr>
          <p:cNvPr id="2" name="Text 0"/>
          <p:cNvSpPr/>
          <p:nvPr/>
        </p:nvSpPr>
        <p:spPr>
          <a:xfrm>
            <a:off x="822960" y="1691640"/>
            <a:ext cx="6766560" cy="86868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Algorithms &amp; Complexity</a:t>
            </a:r>
            <a:endParaRPr lang="en-US" sz="4400" dirty="0"/>
          </a:p>
        </p:txBody>
      </p:sp>
      <p:sp>
        <p:nvSpPr>
          <p:cNvPr id="3" name="Text 1"/>
          <p:cNvSpPr/>
          <p:nvPr/>
        </p:nvSpPr>
        <p:spPr>
          <a:xfrm>
            <a:off x="822960" y="2606040"/>
            <a:ext cx="676656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COMP90038  ·  Tutorial 1</a:t>
            </a:r>
            <a:endParaRPr lang="en-US" sz="2200" dirty="0"/>
          </a:p>
        </p:txBody>
      </p:sp>
      <p:sp>
        <p:nvSpPr>
          <p:cNvPr id="4" name="Shape 2"/>
          <p:cNvSpPr/>
          <p:nvPr/>
        </p:nvSpPr>
        <p:spPr>
          <a:xfrm>
            <a:off x="822960" y="3291840"/>
            <a:ext cx="5120640" cy="475488"/>
          </a:xfrm>
          <a:prstGeom prst="roundRect">
            <a:avLst>
              <a:gd name="adj" fmla="val 19231"/>
            </a:avLst>
          </a:prstGeom>
          <a:solidFill>
            <a:srgbClr val="E8A33D"/>
          </a:solidFill>
          <a:ln/>
        </p:spPr>
        <p:txBody>
          <a:bodyPr/>
          <a:lstStyle/>
          <a:p>
            <a:endParaRPr lang="en-US"/>
          </a:p>
        </p:txBody>
      </p:sp>
      <p:sp>
        <p:nvSpPr>
          <p:cNvPr id="5" name="Text 3"/>
          <p:cNvSpPr/>
          <p:nvPr/>
        </p:nvSpPr>
        <p:spPr>
          <a:xfrm>
            <a:off x="822960" y="3291840"/>
            <a:ext cx="5120640" cy="475488"/>
          </a:xfrm>
          <a:prstGeom prst="rect">
            <a:avLst/>
          </a:prstGeom>
          <a:noFill/>
          <a:ln/>
        </p:spPr>
        <p:txBody>
          <a:bodyPr wrap="square" lIns="0" tIns="0" rIns="0" bIns="0" rtlCol="0" anchor="ctr"/>
          <a:lstStyle/>
          <a:p>
            <a:pPr marL="0" indent="0" algn="ctr">
              <a:buNone/>
            </a:pPr>
            <a:r>
              <a:rPr lang="en-US" sz="1500" b="1" dirty="0">
                <a:solidFill>
                  <a:srgbClr val="141C3A"/>
                </a:solidFill>
                <a:latin typeface="Calibri" pitchFamily="34" charset="0"/>
                <a:ea typeface="Calibri" pitchFamily="34" charset="-122"/>
                <a:cs typeface="Calibri" pitchFamily="34" charset="-120"/>
              </a:rPr>
              <a:t>Week 2  ·  3 – 7 August 2026</a:t>
            </a:r>
            <a:endParaRPr lang="en-US" sz="1500" dirty="0"/>
          </a:p>
        </p:txBody>
      </p:sp>
      <p:sp>
        <p:nvSpPr>
          <p:cNvPr id="7" name="Text 5"/>
          <p:cNvSpPr/>
          <p:nvPr/>
        </p:nvSpPr>
        <p:spPr>
          <a:xfrm>
            <a:off x="822960" y="5852160"/>
            <a:ext cx="7315200" cy="320040"/>
          </a:xfrm>
          <a:prstGeom prst="rect">
            <a:avLst/>
          </a:prstGeom>
          <a:noFill/>
          <a:ln/>
        </p:spPr>
        <p:txBody>
          <a:bodyPr wrap="square" lIns="0" tIns="0" rIns="0" bIns="0" rtlCol="0" anchor="ctr"/>
          <a:lstStyle/>
          <a:p>
            <a:pPr marL="0" indent="0">
              <a:buNone/>
            </a:pPr>
            <a:r>
              <a:rPr lang="en-US" sz="1100" dirty="0">
                <a:solidFill>
                  <a:srgbClr val="8FA3C9"/>
                </a:solidFill>
                <a:latin typeface="Calibri" pitchFamily="34" charset="0"/>
                <a:ea typeface="Calibri" pitchFamily="34" charset="-122"/>
                <a:cs typeface="Calibri" pitchFamily="34" charset="-120"/>
              </a:rPr>
              <a:t>School of Computing and Information Systems  ·  University of Melbourne</a:t>
            </a:r>
            <a:endParaRPr lang="en-US" sz="1100" dirty="0"/>
          </a:p>
        </p:txBody>
      </p:sp>
      <p:sp>
        <p:nvSpPr>
          <p:cNvPr id="8" name="Shape 6"/>
          <p:cNvSpPr/>
          <p:nvPr/>
        </p:nvSpPr>
        <p:spPr>
          <a:xfrm>
            <a:off x="8732520" y="1874520"/>
            <a:ext cx="2560320" cy="0"/>
          </a:xfrm>
          <a:prstGeom prst="line">
            <a:avLst/>
          </a:prstGeom>
          <a:noFill/>
          <a:ln w="15875">
            <a:solidFill>
              <a:srgbClr val="3D5490"/>
            </a:solidFill>
            <a:prstDash val="solid"/>
          </a:ln>
        </p:spPr>
        <p:txBody>
          <a:bodyPr/>
          <a:lstStyle/>
          <a:p>
            <a:endParaRPr lang="en-US"/>
          </a:p>
        </p:txBody>
      </p:sp>
      <p:sp>
        <p:nvSpPr>
          <p:cNvPr id="9" name="Shape 7"/>
          <p:cNvSpPr/>
          <p:nvPr/>
        </p:nvSpPr>
        <p:spPr>
          <a:xfrm flipV="1">
            <a:off x="10881360" y="1874520"/>
            <a:ext cx="411480" cy="1828800"/>
          </a:xfrm>
          <a:prstGeom prst="line">
            <a:avLst/>
          </a:prstGeom>
          <a:noFill/>
          <a:ln w="15875">
            <a:solidFill>
              <a:srgbClr val="3D5490"/>
            </a:solidFill>
            <a:prstDash val="solid"/>
          </a:ln>
        </p:spPr>
        <p:txBody>
          <a:bodyPr/>
          <a:lstStyle/>
          <a:p>
            <a:endParaRPr lang="en-US"/>
          </a:p>
        </p:txBody>
      </p:sp>
      <p:sp>
        <p:nvSpPr>
          <p:cNvPr id="10" name="Shape 8"/>
          <p:cNvSpPr/>
          <p:nvPr/>
        </p:nvSpPr>
        <p:spPr>
          <a:xfrm flipV="1">
            <a:off x="10012680" y="3703320"/>
            <a:ext cx="868680" cy="502920"/>
          </a:xfrm>
          <a:prstGeom prst="line">
            <a:avLst/>
          </a:prstGeom>
          <a:noFill/>
          <a:ln w="15875">
            <a:solidFill>
              <a:srgbClr val="3D5490"/>
            </a:solidFill>
            <a:prstDash val="solid"/>
          </a:ln>
        </p:spPr>
        <p:txBody>
          <a:bodyPr/>
          <a:lstStyle/>
          <a:p>
            <a:endParaRPr lang="en-US"/>
          </a:p>
        </p:txBody>
      </p:sp>
      <p:sp>
        <p:nvSpPr>
          <p:cNvPr id="11" name="Shape 9"/>
          <p:cNvSpPr/>
          <p:nvPr/>
        </p:nvSpPr>
        <p:spPr>
          <a:xfrm>
            <a:off x="9144000" y="3703320"/>
            <a:ext cx="868680" cy="502920"/>
          </a:xfrm>
          <a:prstGeom prst="line">
            <a:avLst/>
          </a:prstGeom>
          <a:noFill/>
          <a:ln w="15875">
            <a:solidFill>
              <a:srgbClr val="3D5490"/>
            </a:solidFill>
            <a:prstDash val="solid"/>
          </a:ln>
        </p:spPr>
        <p:txBody>
          <a:bodyPr/>
          <a:lstStyle/>
          <a:p>
            <a:endParaRPr lang="en-US"/>
          </a:p>
        </p:txBody>
      </p:sp>
      <p:sp>
        <p:nvSpPr>
          <p:cNvPr id="12" name="Shape 10"/>
          <p:cNvSpPr/>
          <p:nvPr/>
        </p:nvSpPr>
        <p:spPr>
          <a:xfrm>
            <a:off x="8732520" y="1874520"/>
            <a:ext cx="411480" cy="1828800"/>
          </a:xfrm>
          <a:prstGeom prst="line">
            <a:avLst/>
          </a:prstGeom>
          <a:noFill/>
          <a:ln w="15875">
            <a:solidFill>
              <a:srgbClr val="3D5490"/>
            </a:solidFill>
            <a:prstDash val="solid"/>
          </a:ln>
        </p:spPr>
        <p:txBody>
          <a:bodyPr/>
          <a:lstStyle/>
          <a:p>
            <a:endParaRPr lang="en-US"/>
          </a:p>
        </p:txBody>
      </p:sp>
      <p:sp>
        <p:nvSpPr>
          <p:cNvPr id="13" name="Shape 11"/>
          <p:cNvSpPr/>
          <p:nvPr/>
        </p:nvSpPr>
        <p:spPr>
          <a:xfrm>
            <a:off x="8732520" y="1874520"/>
            <a:ext cx="1280160" cy="1188720"/>
          </a:xfrm>
          <a:prstGeom prst="line">
            <a:avLst/>
          </a:prstGeom>
          <a:noFill/>
          <a:ln w="15875">
            <a:solidFill>
              <a:srgbClr val="3D5490"/>
            </a:solidFill>
            <a:prstDash val="solid"/>
          </a:ln>
        </p:spPr>
        <p:txBody>
          <a:bodyPr/>
          <a:lstStyle/>
          <a:p>
            <a:endParaRPr lang="en-US"/>
          </a:p>
        </p:txBody>
      </p:sp>
      <p:sp>
        <p:nvSpPr>
          <p:cNvPr id="14" name="Shape 12"/>
          <p:cNvSpPr/>
          <p:nvPr/>
        </p:nvSpPr>
        <p:spPr>
          <a:xfrm flipV="1">
            <a:off x="10012680" y="1874520"/>
            <a:ext cx="1280160" cy="1188720"/>
          </a:xfrm>
          <a:prstGeom prst="line">
            <a:avLst/>
          </a:prstGeom>
          <a:noFill/>
          <a:ln w="15875">
            <a:solidFill>
              <a:srgbClr val="3D5490"/>
            </a:solidFill>
            <a:prstDash val="solid"/>
          </a:ln>
        </p:spPr>
        <p:txBody>
          <a:bodyPr/>
          <a:lstStyle/>
          <a:p>
            <a:endParaRPr lang="en-US"/>
          </a:p>
        </p:txBody>
      </p:sp>
      <p:sp>
        <p:nvSpPr>
          <p:cNvPr id="15" name="Shape 13"/>
          <p:cNvSpPr/>
          <p:nvPr/>
        </p:nvSpPr>
        <p:spPr>
          <a:xfrm>
            <a:off x="10012680" y="3063240"/>
            <a:ext cx="868680" cy="640080"/>
          </a:xfrm>
          <a:prstGeom prst="line">
            <a:avLst/>
          </a:prstGeom>
          <a:noFill/>
          <a:ln w="15875">
            <a:solidFill>
              <a:srgbClr val="3D5490"/>
            </a:solidFill>
            <a:prstDash val="solid"/>
          </a:ln>
        </p:spPr>
        <p:txBody>
          <a:bodyPr/>
          <a:lstStyle/>
          <a:p>
            <a:endParaRPr lang="en-US"/>
          </a:p>
        </p:txBody>
      </p:sp>
      <p:sp>
        <p:nvSpPr>
          <p:cNvPr id="16" name="Shape 14"/>
          <p:cNvSpPr/>
          <p:nvPr/>
        </p:nvSpPr>
        <p:spPr>
          <a:xfrm>
            <a:off x="10012680" y="3063240"/>
            <a:ext cx="0" cy="1143000"/>
          </a:xfrm>
          <a:prstGeom prst="line">
            <a:avLst/>
          </a:prstGeom>
          <a:noFill/>
          <a:ln w="15875">
            <a:solidFill>
              <a:srgbClr val="3D5490"/>
            </a:solidFill>
            <a:prstDash val="solid"/>
          </a:ln>
        </p:spPr>
        <p:txBody>
          <a:bodyPr/>
          <a:lstStyle/>
          <a:p>
            <a:endParaRPr lang="en-US"/>
          </a:p>
        </p:txBody>
      </p:sp>
      <p:sp>
        <p:nvSpPr>
          <p:cNvPr id="17" name="Shape 15"/>
          <p:cNvSpPr/>
          <p:nvPr/>
        </p:nvSpPr>
        <p:spPr>
          <a:xfrm flipV="1">
            <a:off x="9144000" y="3063240"/>
            <a:ext cx="868680" cy="640080"/>
          </a:xfrm>
          <a:prstGeom prst="line">
            <a:avLst/>
          </a:prstGeom>
          <a:noFill/>
          <a:ln w="15875">
            <a:solidFill>
              <a:srgbClr val="3D5490"/>
            </a:solidFill>
            <a:prstDash val="solid"/>
          </a:ln>
        </p:spPr>
        <p:txBody>
          <a:bodyPr/>
          <a:lstStyle/>
          <a:p>
            <a:endParaRPr lang="en-US"/>
          </a:p>
        </p:txBody>
      </p:sp>
      <p:sp>
        <p:nvSpPr>
          <p:cNvPr id="18" name="Shape 16"/>
          <p:cNvSpPr/>
          <p:nvPr/>
        </p:nvSpPr>
        <p:spPr>
          <a:xfrm>
            <a:off x="8732520" y="1874520"/>
            <a:ext cx="1280160" cy="3474720"/>
          </a:xfrm>
          <a:prstGeom prst="line">
            <a:avLst/>
          </a:prstGeom>
          <a:noFill/>
          <a:ln w="15875">
            <a:solidFill>
              <a:srgbClr val="3D5490"/>
            </a:solidFill>
            <a:prstDash val="solid"/>
          </a:ln>
        </p:spPr>
        <p:txBody>
          <a:bodyPr/>
          <a:lstStyle/>
          <a:p>
            <a:endParaRPr lang="en-US"/>
          </a:p>
        </p:txBody>
      </p:sp>
      <p:sp>
        <p:nvSpPr>
          <p:cNvPr id="19" name="Shape 17"/>
          <p:cNvSpPr/>
          <p:nvPr/>
        </p:nvSpPr>
        <p:spPr>
          <a:xfrm flipV="1">
            <a:off x="10012680" y="1874520"/>
            <a:ext cx="1280160" cy="3474720"/>
          </a:xfrm>
          <a:prstGeom prst="line">
            <a:avLst/>
          </a:prstGeom>
          <a:noFill/>
          <a:ln w="15875">
            <a:solidFill>
              <a:srgbClr val="3D5490"/>
            </a:solidFill>
            <a:prstDash val="solid"/>
          </a:ln>
        </p:spPr>
        <p:txBody>
          <a:bodyPr/>
          <a:lstStyle/>
          <a:p>
            <a:endParaRPr lang="en-US"/>
          </a:p>
        </p:txBody>
      </p:sp>
      <p:sp>
        <p:nvSpPr>
          <p:cNvPr id="20" name="Shape 18"/>
          <p:cNvSpPr/>
          <p:nvPr/>
        </p:nvSpPr>
        <p:spPr>
          <a:xfrm flipV="1">
            <a:off x="10012680" y="3703320"/>
            <a:ext cx="868680" cy="1645920"/>
          </a:xfrm>
          <a:prstGeom prst="line">
            <a:avLst/>
          </a:prstGeom>
          <a:noFill/>
          <a:ln w="15875">
            <a:solidFill>
              <a:srgbClr val="3D5490"/>
            </a:solidFill>
            <a:prstDash val="solid"/>
          </a:ln>
        </p:spPr>
        <p:txBody>
          <a:bodyPr/>
          <a:lstStyle/>
          <a:p>
            <a:endParaRPr lang="en-US"/>
          </a:p>
        </p:txBody>
      </p:sp>
      <p:sp>
        <p:nvSpPr>
          <p:cNvPr id="21" name="Shape 19"/>
          <p:cNvSpPr/>
          <p:nvPr/>
        </p:nvSpPr>
        <p:spPr>
          <a:xfrm>
            <a:off x="10012680" y="4206240"/>
            <a:ext cx="0" cy="1143000"/>
          </a:xfrm>
          <a:prstGeom prst="line">
            <a:avLst/>
          </a:prstGeom>
          <a:noFill/>
          <a:ln w="15875">
            <a:solidFill>
              <a:srgbClr val="3D5490"/>
            </a:solidFill>
            <a:prstDash val="solid"/>
          </a:ln>
        </p:spPr>
        <p:txBody>
          <a:bodyPr/>
          <a:lstStyle/>
          <a:p>
            <a:endParaRPr lang="en-US"/>
          </a:p>
        </p:txBody>
      </p:sp>
      <p:sp>
        <p:nvSpPr>
          <p:cNvPr id="22" name="Shape 20"/>
          <p:cNvSpPr/>
          <p:nvPr/>
        </p:nvSpPr>
        <p:spPr>
          <a:xfrm>
            <a:off x="9144000" y="3703320"/>
            <a:ext cx="868680" cy="1645920"/>
          </a:xfrm>
          <a:prstGeom prst="line">
            <a:avLst/>
          </a:prstGeom>
          <a:noFill/>
          <a:ln w="15875">
            <a:solidFill>
              <a:srgbClr val="3D5490"/>
            </a:solidFill>
            <a:prstDash val="solid"/>
          </a:ln>
        </p:spPr>
        <p:txBody>
          <a:bodyPr/>
          <a:lstStyle/>
          <a:p>
            <a:endParaRPr lang="en-US"/>
          </a:p>
        </p:txBody>
      </p:sp>
      <p:sp>
        <p:nvSpPr>
          <p:cNvPr id="23" name="Shape 21"/>
          <p:cNvSpPr/>
          <p:nvPr/>
        </p:nvSpPr>
        <p:spPr>
          <a:xfrm>
            <a:off x="8613648" y="1755648"/>
            <a:ext cx="237744" cy="237744"/>
          </a:xfrm>
          <a:prstGeom prst="ellipse">
            <a:avLst/>
          </a:prstGeom>
          <a:solidFill>
            <a:srgbClr val="CADCFC"/>
          </a:solidFill>
          <a:ln w="22225">
            <a:solidFill>
              <a:srgbClr val="CADCFC"/>
            </a:solidFill>
            <a:prstDash val="solid"/>
          </a:ln>
        </p:spPr>
        <p:txBody>
          <a:bodyPr/>
          <a:lstStyle/>
          <a:p>
            <a:endParaRPr lang="en-US"/>
          </a:p>
        </p:txBody>
      </p:sp>
      <p:sp>
        <p:nvSpPr>
          <p:cNvPr id="24" name="Text 22"/>
          <p:cNvSpPr/>
          <p:nvPr/>
        </p:nvSpPr>
        <p:spPr>
          <a:xfrm>
            <a:off x="8613648" y="1755648"/>
            <a:ext cx="237744" cy="237744"/>
          </a:xfrm>
          <a:prstGeom prst="rect">
            <a:avLst/>
          </a:prstGeom>
          <a:noFill/>
          <a:ln/>
        </p:spPr>
        <p:txBody>
          <a:bodyPr wrap="square" lIns="0" tIns="0" rIns="0" bIns="0" rtlCol="0" anchor="ctr"/>
          <a:lstStyle/>
          <a:p>
            <a:pPr marL="0" indent="0" algn="ctr">
              <a:buNone/>
            </a:pPr>
            <a:endParaRPr lang="en-US" sz="1300" dirty="0"/>
          </a:p>
        </p:txBody>
      </p:sp>
      <p:sp>
        <p:nvSpPr>
          <p:cNvPr id="25" name="Shape 23"/>
          <p:cNvSpPr/>
          <p:nvPr/>
        </p:nvSpPr>
        <p:spPr>
          <a:xfrm>
            <a:off x="11173968" y="1755648"/>
            <a:ext cx="237744" cy="237744"/>
          </a:xfrm>
          <a:prstGeom prst="ellipse">
            <a:avLst/>
          </a:prstGeom>
          <a:solidFill>
            <a:srgbClr val="CADCFC"/>
          </a:solidFill>
          <a:ln w="22225">
            <a:solidFill>
              <a:srgbClr val="CADCFC"/>
            </a:solidFill>
            <a:prstDash val="solid"/>
          </a:ln>
        </p:spPr>
        <p:txBody>
          <a:bodyPr/>
          <a:lstStyle/>
          <a:p>
            <a:endParaRPr lang="en-US"/>
          </a:p>
        </p:txBody>
      </p:sp>
      <p:sp>
        <p:nvSpPr>
          <p:cNvPr id="26" name="Text 24"/>
          <p:cNvSpPr/>
          <p:nvPr/>
        </p:nvSpPr>
        <p:spPr>
          <a:xfrm>
            <a:off x="11173968" y="1755648"/>
            <a:ext cx="237744" cy="237744"/>
          </a:xfrm>
          <a:prstGeom prst="rect">
            <a:avLst/>
          </a:prstGeom>
          <a:noFill/>
          <a:ln/>
        </p:spPr>
        <p:txBody>
          <a:bodyPr wrap="square" lIns="0" tIns="0" rIns="0" bIns="0" rtlCol="0" anchor="ctr"/>
          <a:lstStyle/>
          <a:p>
            <a:pPr marL="0" indent="0" algn="ctr">
              <a:buNone/>
            </a:pPr>
            <a:endParaRPr lang="en-US" sz="1300" dirty="0"/>
          </a:p>
        </p:txBody>
      </p:sp>
      <p:sp>
        <p:nvSpPr>
          <p:cNvPr id="27" name="Shape 25"/>
          <p:cNvSpPr/>
          <p:nvPr/>
        </p:nvSpPr>
        <p:spPr>
          <a:xfrm>
            <a:off x="9893808" y="2944368"/>
            <a:ext cx="237744" cy="237744"/>
          </a:xfrm>
          <a:prstGeom prst="ellipse">
            <a:avLst/>
          </a:prstGeom>
          <a:solidFill>
            <a:srgbClr val="CADCFC"/>
          </a:solidFill>
          <a:ln w="22225">
            <a:solidFill>
              <a:srgbClr val="CADCFC"/>
            </a:solidFill>
            <a:prstDash val="solid"/>
          </a:ln>
        </p:spPr>
        <p:txBody>
          <a:bodyPr/>
          <a:lstStyle/>
          <a:p>
            <a:endParaRPr lang="en-US"/>
          </a:p>
        </p:txBody>
      </p:sp>
      <p:sp>
        <p:nvSpPr>
          <p:cNvPr id="28" name="Text 26"/>
          <p:cNvSpPr/>
          <p:nvPr/>
        </p:nvSpPr>
        <p:spPr>
          <a:xfrm>
            <a:off x="9893808" y="2944368"/>
            <a:ext cx="237744" cy="237744"/>
          </a:xfrm>
          <a:prstGeom prst="rect">
            <a:avLst/>
          </a:prstGeom>
          <a:noFill/>
          <a:ln/>
        </p:spPr>
        <p:txBody>
          <a:bodyPr wrap="square" lIns="0" tIns="0" rIns="0" bIns="0" rtlCol="0" anchor="ctr"/>
          <a:lstStyle/>
          <a:p>
            <a:pPr marL="0" indent="0" algn="ctr">
              <a:buNone/>
            </a:pPr>
            <a:endParaRPr lang="en-US" sz="1300" dirty="0"/>
          </a:p>
        </p:txBody>
      </p:sp>
      <p:sp>
        <p:nvSpPr>
          <p:cNvPr id="29" name="Shape 27"/>
          <p:cNvSpPr/>
          <p:nvPr/>
        </p:nvSpPr>
        <p:spPr>
          <a:xfrm>
            <a:off x="9025128" y="3584448"/>
            <a:ext cx="237744" cy="237744"/>
          </a:xfrm>
          <a:prstGeom prst="ellipse">
            <a:avLst/>
          </a:prstGeom>
          <a:solidFill>
            <a:srgbClr val="CADCFC"/>
          </a:solidFill>
          <a:ln w="22225">
            <a:solidFill>
              <a:srgbClr val="CADCFC"/>
            </a:solidFill>
            <a:prstDash val="solid"/>
          </a:ln>
        </p:spPr>
        <p:txBody>
          <a:bodyPr/>
          <a:lstStyle/>
          <a:p>
            <a:endParaRPr lang="en-US"/>
          </a:p>
        </p:txBody>
      </p:sp>
      <p:sp>
        <p:nvSpPr>
          <p:cNvPr id="30" name="Text 28"/>
          <p:cNvSpPr/>
          <p:nvPr/>
        </p:nvSpPr>
        <p:spPr>
          <a:xfrm>
            <a:off x="9025128" y="3584448"/>
            <a:ext cx="237744" cy="237744"/>
          </a:xfrm>
          <a:prstGeom prst="rect">
            <a:avLst/>
          </a:prstGeom>
          <a:noFill/>
          <a:ln/>
        </p:spPr>
        <p:txBody>
          <a:bodyPr wrap="square" lIns="0" tIns="0" rIns="0" bIns="0" rtlCol="0" anchor="ctr"/>
          <a:lstStyle/>
          <a:p>
            <a:pPr marL="0" indent="0" algn="ctr">
              <a:buNone/>
            </a:pPr>
            <a:endParaRPr lang="en-US" sz="1300" dirty="0"/>
          </a:p>
        </p:txBody>
      </p:sp>
      <p:sp>
        <p:nvSpPr>
          <p:cNvPr id="31" name="Shape 29"/>
          <p:cNvSpPr/>
          <p:nvPr/>
        </p:nvSpPr>
        <p:spPr>
          <a:xfrm>
            <a:off x="10762488" y="3584448"/>
            <a:ext cx="237744" cy="237744"/>
          </a:xfrm>
          <a:prstGeom prst="ellipse">
            <a:avLst/>
          </a:prstGeom>
          <a:solidFill>
            <a:srgbClr val="CADCFC"/>
          </a:solidFill>
          <a:ln w="22225">
            <a:solidFill>
              <a:srgbClr val="CADCFC"/>
            </a:solidFill>
            <a:prstDash val="solid"/>
          </a:ln>
        </p:spPr>
        <p:txBody>
          <a:bodyPr/>
          <a:lstStyle/>
          <a:p>
            <a:endParaRPr lang="en-US"/>
          </a:p>
        </p:txBody>
      </p:sp>
      <p:sp>
        <p:nvSpPr>
          <p:cNvPr id="32" name="Text 30"/>
          <p:cNvSpPr/>
          <p:nvPr/>
        </p:nvSpPr>
        <p:spPr>
          <a:xfrm>
            <a:off x="10762488" y="3584448"/>
            <a:ext cx="237744" cy="237744"/>
          </a:xfrm>
          <a:prstGeom prst="rect">
            <a:avLst/>
          </a:prstGeom>
          <a:noFill/>
          <a:ln/>
        </p:spPr>
        <p:txBody>
          <a:bodyPr wrap="square" lIns="0" tIns="0" rIns="0" bIns="0" rtlCol="0" anchor="ctr"/>
          <a:lstStyle/>
          <a:p>
            <a:pPr marL="0" indent="0" algn="ctr">
              <a:buNone/>
            </a:pPr>
            <a:endParaRPr lang="en-US" sz="1300" dirty="0"/>
          </a:p>
        </p:txBody>
      </p:sp>
      <p:sp>
        <p:nvSpPr>
          <p:cNvPr id="33" name="Shape 31"/>
          <p:cNvSpPr/>
          <p:nvPr/>
        </p:nvSpPr>
        <p:spPr>
          <a:xfrm>
            <a:off x="9893808" y="4087368"/>
            <a:ext cx="237744" cy="237744"/>
          </a:xfrm>
          <a:prstGeom prst="ellipse">
            <a:avLst/>
          </a:prstGeom>
          <a:solidFill>
            <a:srgbClr val="CADCFC"/>
          </a:solidFill>
          <a:ln w="22225">
            <a:solidFill>
              <a:srgbClr val="CADCFC"/>
            </a:solidFill>
            <a:prstDash val="solid"/>
          </a:ln>
        </p:spPr>
        <p:txBody>
          <a:bodyPr/>
          <a:lstStyle/>
          <a:p>
            <a:endParaRPr lang="en-US"/>
          </a:p>
        </p:txBody>
      </p:sp>
      <p:sp>
        <p:nvSpPr>
          <p:cNvPr id="34" name="Text 32"/>
          <p:cNvSpPr/>
          <p:nvPr/>
        </p:nvSpPr>
        <p:spPr>
          <a:xfrm>
            <a:off x="9893808" y="4087368"/>
            <a:ext cx="237744" cy="237744"/>
          </a:xfrm>
          <a:prstGeom prst="rect">
            <a:avLst/>
          </a:prstGeom>
          <a:noFill/>
          <a:ln/>
        </p:spPr>
        <p:txBody>
          <a:bodyPr wrap="square" lIns="0" tIns="0" rIns="0" bIns="0" rtlCol="0" anchor="ctr"/>
          <a:lstStyle/>
          <a:p>
            <a:pPr marL="0" indent="0" algn="ctr">
              <a:buNone/>
            </a:pPr>
            <a:endParaRPr lang="en-US" sz="1300" dirty="0"/>
          </a:p>
        </p:txBody>
      </p:sp>
      <p:sp>
        <p:nvSpPr>
          <p:cNvPr id="35" name="Shape 33"/>
          <p:cNvSpPr/>
          <p:nvPr/>
        </p:nvSpPr>
        <p:spPr>
          <a:xfrm>
            <a:off x="9893808" y="5230368"/>
            <a:ext cx="237744" cy="237744"/>
          </a:xfrm>
          <a:prstGeom prst="ellipse">
            <a:avLst/>
          </a:prstGeom>
          <a:solidFill>
            <a:srgbClr val="CADCFC"/>
          </a:solidFill>
          <a:ln w="22225">
            <a:solidFill>
              <a:srgbClr val="CADCFC"/>
            </a:solidFill>
            <a:prstDash val="solid"/>
          </a:ln>
        </p:spPr>
        <p:txBody>
          <a:bodyPr/>
          <a:lstStyle/>
          <a:p>
            <a:endParaRPr lang="en-US"/>
          </a:p>
        </p:txBody>
      </p:sp>
      <p:sp>
        <p:nvSpPr>
          <p:cNvPr id="36" name="Text 34"/>
          <p:cNvSpPr/>
          <p:nvPr/>
        </p:nvSpPr>
        <p:spPr>
          <a:xfrm>
            <a:off x="9893808" y="5230368"/>
            <a:ext cx="237744" cy="237744"/>
          </a:xfrm>
          <a:prstGeom prst="rect">
            <a:avLst/>
          </a:prstGeom>
          <a:noFill/>
          <a:ln/>
        </p:spPr>
        <p:txBody>
          <a:bodyPr wrap="square" lIns="0" tIns="0" rIns="0" bIns="0" rtlCol="0" anchor="ctr"/>
          <a:lstStyle/>
          <a:p>
            <a:pPr marL="0" indent="0" algn="ctr">
              <a:buNone/>
            </a:pPr>
            <a:endParaRPr lang="en-US" sz="1300" dirty="0"/>
          </a:p>
        </p:txBody>
      </p:sp>
      <p:sp>
        <p:nvSpPr>
          <p:cNvPr id="37" name="Text 35"/>
          <p:cNvSpPr/>
          <p:nvPr/>
        </p:nvSpPr>
        <p:spPr>
          <a:xfrm>
            <a:off x="8412480" y="5623560"/>
            <a:ext cx="3291840" cy="274320"/>
          </a:xfrm>
          <a:prstGeom prst="rect">
            <a:avLst/>
          </a:prstGeom>
          <a:noFill/>
          <a:ln/>
        </p:spPr>
        <p:txBody>
          <a:bodyPr wrap="square" lIns="0" tIns="0" rIns="0" bIns="0" rtlCol="0" anchor="ctr"/>
          <a:lstStyle/>
          <a:p>
            <a:pPr marL="0" indent="0" algn="ctr">
              <a:buNone/>
            </a:pPr>
            <a:r>
              <a:rPr lang="en-US" sz="1000" i="1" dirty="0">
                <a:solidFill>
                  <a:srgbClr val="8FA3C9"/>
                </a:solidFill>
                <a:latin typeface="Calibri" pitchFamily="34" charset="0"/>
                <a:ea typeface="Calibri" pitchFamily="34" charset="-122"/>
                <a:cs typeface="Calibri" pitchFamily="34" charset="-120"/>
              </a:rPr>
              <a:t>Q4 — hold that thought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2527069"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About Me</a:t>
            </a:r>
            <a:endParaRPr lang="en-US" sz="2900" dirty="0"/>
          </a:p>
        </p:txBody>
      </p:sp>
      <p:sp>
        <p:nvSpPr>
          <p:cNvPr id="4" name="Shape 2"/>
          <p:cNvSpPr/>
          <p:nvPr/>
        </p:nvSpPr>
        <p:spPr>
          <a:xfrm>
            <a:off x="54864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5" name="Shape 3"/>
          <p:cNvSpPr/>
          <p:nvPr/>
        </p:nvSpPr>
        <p:spPr>
          <a:xfrm>
            <a:off x="1581912" y="1874520"/>
            <a:ext cx="548640" cy="548640"/>
          </a:xfrm>
          <a:prstGeom prst="ellipse">
            <a:avLst/>
          </a:prstGeom>
          <a:solidFill>
            <a:srgbClr val="E8A33D"/>
          </a:solidFill>
          <a:ln/>
        </p:spPr>
        <p:txBody>
          <a:bodyPr/>
          <a:lstStyle/>
          <a:p>
            <a:endParaRPr lang="en-US"/>
          </a:p>
        </p:txBody>
      </p:sp>
      <p:sp>
        <p:nvSpPr>
          <p:cNvPr id="6" name="Text 4"/>
          <p:cNvSpPr/>
          <p:nvPr/>
        </p:nvSpPr>
        <p:spPr>
          <a:xfrm>
            <a:off x="158191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31520" y="2606040"/>
            <a:ext cx="2249424" cy="82296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My name:</a:t>
            </a:r>
          </a:p>
          <a:p>
            <a:pPr marL="0" indent="0" algn="ctr">
              <a:buNone/>
            </a:pPr>
            <a:endParaRPr lang="en-US" sz="1500" b="1" dirty="0">
              <a:solidFill>
                <a:srgbClr val="1E2761"/>
              </a:solidFill>
              <a:latin typeface="Calibri" pitchFamily="34" charset="0"/>
              <a:ea typeface="Calibri" pitchFamily="34" charset="-122"/>
              <a:cs typeface="Calibri" pitchFamily="34" charset="-120"/>
            </a:endParaRPr>
          </a:p>
          <a:p>
            <a:pPr marL="0" indent="0" algn="ctr">
              <a:buNone/>
            </a:pPr>
            <a:r>
              <a:rPr lang="en-US" sz="1500" b="1" dirty="0">
                <a:solidFill>
                  <a:srgbClr val="1E2761"/>
                </a:solidFill>
                <a:latin typeface="Calibri" pitchFamily="34" charset="0"/>
                <a:ea typeface="Calibri" pitchFamily="34" charset="-122"/>
                <a:cs typeface="Calibri" pitchFamily="34" charset="-120"/>
              </a:rPr>
              <a:t>Kejian Cui (Kenji)</a:t>
            </a:r>
            <a:endParaRPr lang="en-US" sz="1500" dirty="0"/>
          </a:p>
        </p:txBody>
      </p:sp>
      <p:sp>
        <p:nvSpPr>
          <p:cNvPr id="9" name="Shape 7"/>
          <p:cNvSpPr/>
          <p:nvPr/>
        </p:nvSpPr>
        <p:spPr>
          <a:xfrm>
            <a:off x="338328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10" name="Shape 8"/>
          <p:cNvSpPr/>
          <p:nvPr/>
        </p:nvSpPr>
        <p:spPr>
          <a:xfrm>
            <a:off x="4416552" y="1874520"/>
            <a:ext cx="548640" cy="548640"/>
          </a:xfrm>
          <a:prstGeom prst="ellipse">
            <a:avLst/>
          </a:prstGeom>
          <a:solidFill>
            <a:srgbClr val="E8A33D"/>
          </a:solidFill>
          <a:ln/>
        </p:spPr>
        <p:txBody>
          <a:bodyPr/>
          <a:lstStyle/>
          <a:p>
            <a:endParaRPr lang="en-US"/>
          </a:p>
        </p:txBody>
      </p:sp>
      <p:sp>
        <p:nvSpPr>
          <p:cNvPr id="11" name="Text 9"/>
          <p:cNvSpPr/>
          <p:nvPr/>
        </p:nvSpPr>
        <p:spPr>
          <a:xfrm>
            <a:off x="441655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56616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My background</a:t>
            </a:r>
            <a:endParaRPr lang="en-US" sz="1500" dirty="0"/>
          </a:p>
        </p:txBody>
      </p:sp>
      <p:sp>
        <p:nvSpPr>
          <p:cNvPr id="13" name="Text 11"/>
          <p:cNvSpPr/>
          <p:nvPr/>
        </p:nvSpPr>
        <p:spPr>
          <a:xfrm>
            <a:off x="356616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Master of IT in </a:t>
            </a:r>
            <a:r>
              <a:rPr lang="en-US" sz="1200" dirty="0" err="1">
                <a:solidFill>
                  <a:srgbClr val="6E7891"/>
                </a:solidFill>
                <a:latin typeface="Calibri" pitchFamily="34" charset="0"/>
                <a:ea typeface="Calibri" pitchFamily="34" charset="-122"/>
                <a:cs typeface="Calibri" pitchFamily="34" charset="-120"/>
              </a:rPr>
              <a:t>Unimelb</a:t>
            </a:r>
            <a:endParaRPr lang="en-US" sz="1200" dirty="0">
              <a:solidFill>
                <a:srgbClr val="6E7891"/>
              </a:solidFill>
              <a:latin typeface="Calibri" pitchFamily="34" charset="0"/>
              <a:ea typeface="Calibri" pitchFamily="34" charset="-122"/>
              <a:cs typeface="Calibri" pitchFamily="34" charset="-120"/>
            </a:endParaRPr>
          </a:p>
          <a:p>
            <a:pPr marL="0" indent="0" algn="ctr">
              <a:buNone/>
            </a:pPr>
            <a:r>
              <a:rPr lang="en-US" sz="1200" dirty="0">
                <a:solidFill>
                  <a:srgbClr val="6E7891"/>
                </a:solidFill>
                <a:latin typeface="Calibri" pitchFamily="34" charset="0"/>
                <a:cs typeface="Calibri" pitchFamily="34" charset="-120"/>
              </a:rPr>
              <a:t>2</a:t>
            </a:r>
            <a:r>
              <a:rPr lang="en-US" sz="1200" baseline="30000" dirty="0">
                <a:solidFill>
                  <a:srgbClr val="6E7891"/>
                </a:solidFill>
                <a:latin typeface="Calibri" pitchFamily="34" charset="0"/>
                <a:cs typeface="Calibri" pitchFamily="34" charset="-120"/>
              </a:rPr>
              <a:t>nd</a:t>
            </a:r>
            <a:r>
              <a:rPr lang="en-US" sz="1200" dirty="0">
                <a:solidFill>
                  <a:srgbClr val="6E7891"/>
                </a:solidFill>
                <a:latin typeface="Calibri" pitchFamily="34" charset="0"/>
                <a:cs typeface="Calibri" pitchFamily="34" charset="-120"/>
              </a:rPr>
              <a:t> year PhD at </a:t>
            </a:r>
            <a:r>
              <a:rPr lang="en-US" sz="1200" dirty="0" err="1">
                <a:solidFill>
                  <a:srgbClr val="6E7891"/>
                </a:solidFill>
                <a:latin typeface="Calibri" pitchFamily="34" charset="0"/>
                <a:cs typeface="Calibri" pitchFamily="34" charset="-120"/>
              </a:rPr>
              <a:t>Unimelb</a:t>
            </a:r>
            <a:endParaRPr lang="en-US" sz="1200" dirty="0">
              <a:solidFill>
                <a:srgbClr val="6E7891"/>
              </a:solidFill>
              <a:latin typeface="Calibri" pitchFamily="34" charset="0"/>
              <a:cs typeface="Calibri" pitchFamily="34" charset="-120"/>
            </a:endParaRPr>
          </a:p>
          <a:p>
            <a:pPr marL="0" indent="0" algn="ctr">
              <a:buNone/>
            </a:pPr>
            <a:r>
              <a:rPr lang="en-US" sz="1200" dirty="0"/>
              <a:t>AI &amp; Clinical Psychology</a:t>
            </a:r>
          </a:p>
        </p:txBody>
      </p:sp>
      <p:sp>
        <p:nvSpPr>
          <p:cNvPr id="14" name="Shape 12"/>
          <p:cNvSpPr/>
          <p:nvPr/>
        </p:nvSpPr>
        <p:spPr>
          <a:xfrm>
            <a:off x="621792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dirty="0"/>
          </a:p>
        </p:txBody>
      </p:sp>
      <p:sp>
        <p:nvSpPr>
          <p:cNvPr id="15" name="Shape 13"/>
          <p:cNvSpPr/>
          <p:nvPr/>
        </p:nvSpPr>
        <p:spPr>
          <a:xfrm>
            <a:off x="7251192" y="1874520"/>
            <a:ext cx="548640" cy="548640"/>
          </a:xfrm>
          <a:prstGeom prst="ellipse">
            <a:avLst/>
          </a:prstGeom>
          <a:solidFill>
            <a:srgbClr val="E8A33D"/>
          </a:solidFill>
          <a:ln/>
        </p:spPr>
        <p:txBody>
          <a:bodyPr/>
          <a:lstStyle/>
          <a:p>
            <a:endParaRPr lang="en-US"/>
          </a:p>
        </p:txBody>
      </p:sp>
      <p:sp>
        <p:nvSpPr>
          <p:cNvPr id="16" name="Text 14"/>
          <p:cNvSpPr/>
          <p:nvPr/>
        </p:nvSpPr>
        <p:spPr>
          <a:xfrm>
            <a:off x="725119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40080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My</a:t>
            </a:r>
            <a:r>
              <a:rPr lang="zh-CN" altLang="en-US" sz="1500" b="1" dirty="0">
                <a:solidFill>
                  <a:srgbClr val="1E2761"/>
                </a:solidFill>
                <a:latin typeface="Calibri" pitchFamily="34" charset="0"/>
                <a:ea typeface="Calibri" pitchFamily="34" charset="-122"/>
                <a:cs typeface="Calibri" pitchFamily="34" charset="-120"/>
              </a:rPr>
              <a:t> </a:t>
            </a:r>
            <a:r>
              <a:rPr lang="en-AU" altLang="zh-CN" sz="1500" b="1" dirty="0">
                <a:solidFill>
                  <a:srgbClr val="1E2761"/>
                </a:solidFill>
                <a:latin typeface="Calibri" pitchFamily="34" charset="0"/>
                <a:ea typeface="Calibri" pitchFamily="34" charset="-122"/>
                <a:cs typeface="Calibri" pitchFamily="34" charset="-120"/>
              </a:rPr>
              <a:t>home</a:t>
            </a:r>
            <a:endParaRPr lang="en-US" sz="1500" dirty="0"/>
          </a:p>
        </p:txBody>
      </p:sp>
      <p:sp>
        <p:nvSpPr>
          <p:cNvPr id="18" name="Text 16"/>
          <p:cNvSpPr/>
          <p:nvPr/>
        </p:nvSpPr>
        <p:spPr>
          <a:xfrm>
            <a:off x="640080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Hubei,</a:t>
            </a:r>
          </a:p>
          <a:p>
            <a:pPr marL="0" indent="0" algn="ctr">
              <a:buNone/>
            </a:pPr>
            <a:r>
              <a:rPr lang="en-US" sz="1200" dirty="0">
                <a:solidFill>
                  <a:srgbClr val="6E7891"/>
                </a:solidFill>
                <a:latin typeface="Calibri" pitchFamily="34" charset="0"/>
                <a:ea typeface="Calibri" pitchFamily="34" charset="-122"/>
                <a:cs typeface="Calibri" pitchFamily="34" charset="-120"/>
              </a:rPr>
              <a:t>China</a:t>
            </a:r>
          </a:p>
          <a:p>
            <a:pPr marL="0" indent="0" algn="ctr">
              <a:buNone/>
            </a:pPr>
            <a:endParaRPr lang="en-US" sz="1200" dirty="0"/>
          </a:p>
        </p:txBody>
      </p:sp>
      <p:sp>
        <p:nvSpPr>
          <p:cNvPr id="19" name="Shape 17"/>
          <p:cNvSpPr/>
          <p:nvPr/>
        </p:nvSpPr>
        <p:spPr>
          <a:xfrm>
            <a:off x="905256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20" name="Shape 18"/>
          <p:cNvSpPr/>
          <p:nvPr/>
        </p:nvSpPr>
        <p:spPr>
          <a:xfrm>
            <a:off x="10085832" y="1874520"/>
            <a:ext cx="548640" cy="548640"/>
          </a:xfrm>
          <a:prstGeom prst="ellipse">
            <a:avLst/>
          </a:prstGeom>
          <a:solidFill>
            <a:srgbClr val="E8A33D"/>
          </a:solidFill>
          <a:ln/>
        </p:spPr>
        <p:txBody>
          <a:bodyPr/>
          <a:lstStyle/>
          <a:p>
            <a:endParaRPr lang="en-US"/>
          </a:p>
        </p:txBody>
      </p:sp>
      <p:sp>
        <p:nvSpPr>
          <p:cNvPr id="21" name="Text 19"/>
          <p:cNvSpPr/>
          <p:nvPr/>
        </p:nvSpPr>
        <p:spPr>
          <a:xfrm>
            <a:off x="1008583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23544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My interests</a:t>
            </a:r>
            <a:endParaRPr lang="en-US" sz="1500" dirty="0"/>
          </a:p>
        </p:txBody>
      </p:sp>
      <p:sp>
        <p:nvSpPr>
          <p:cNvPr id="23" name="Text 21"/>
          <p:cNvSpPr/>
          <p:nvPr/>
        </p:nvSpPr>
        <p:spPr>
          <a:xfrm>
            <a:off x="9235440" y="3017520"/>
            <a:ext cx="2249424" cy="640080"/>
          </a:xfrm>
          <a:prstGeom prst="rect">
            <a:avLst/>
          </a:prstGeom>
          <a:noFill/>
          <a:ln/>
        </p:spPr>
        <p:txBody>
          <a:bodyPr wrap="square" lIns="0" tIns="0" rIns="0" bIns="0" rtlCol="0" anchor="t"/>
          <a:lstStyle/>
          <a:p>
            <a:pPr marL="0" indent="0" algn="ctr">
              <a:buNone/>
            </a:pPr>
            <a:r>
              <a:rPr lang="en-US" sz="1200" dirty="0"/>
              <a:t>Gym, Art film &amp; Music</a:t>
            </a:r>
          </a:p>
        </p:txBody>
      </p:sp>
      <p:sp>
        <p:nvSpPr>
          <p:cNvPr id="24" name="Shape 22"/>
          <p:cNvSpPr/>
          <p:nvPr/>
        </p:nvSpPr>
        <p:spPr>
          <a:xfrm>
            <a:off x="548640" y="4206240"/>
            <a:ext cx="11091672" cy="1600200"/>
          </a:xfrm>
          <a:prstGeom prst="roundRect">
            <a:avLst>
              <a:gd name="adj" fmla="val 2857"/>
            </a:avLst>
          </a:prstGeom>
          <a:solidFill>
            <a:srgbClr val="1E2761"/>
          </a:solidFill>
          <a:ln w="12700">
            <a:solidFill>
              <a:srgbClr val="1E2761"/>
            </a:solidFill>
            <a:prstDash val="solid"/>
          </a:ln>
        </p:spPr>
        <p:txBody>
          <a:bodyPr/>
          <a:lstStyle/>
          <a:p>
            <a:endParaRPr lang="en-US"/>
          </a:p>
        </p:txBody>
      </p:sp>
      <p:sp>
        <p:nvSpPr>
          <p:cNvPr id="25" name="Text 23"/>
          <p:cNvSpPr/>
          <p:nvPr/>
        </p:nvSpPr>
        <p:spPr>
          <a:xfrm>
            <a:off x="731520" y="4663440"/>
            <a:ext cx="10149840" cy="721426"/>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We are guaranteed to be a room of very different backgrounds, languages, hometowns and career plans.</a:t>
            </a:r>
            <a:endParaRPr lang="en-US" sz="2000" dirty="0"/>
          </a:p>
        </p:txBody>
      </p:sp>
      <p:sp>
        <p:nvSpPr>
          <p:cNvPr id="27" name="Text 25"/>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28" name="Text 26"/>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3CD319F-1F13-5B43-33F1-C4C78D55526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A1C56A-18B4-ABC8-1585-7620782DD0E1}"/>
              </a:ext>
            </a:extLst>
          </p:cNvPr>
          <p:cNvSpPr/>
          <p:nvPr/>
        </p:nvSpPr>
        <p:spPr>
          <a:xfrm>
            <a:off x="548640" y="365760"/>
            <a:ext cx="1109441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Say hello</a:t>
            </a:r>
            <a:endParaRPr lang="en-US" sz="2900" dirty="0"/>
          </a:p>
        </p:txBody>
      </p:sp>
      <p:sp>
        <p:nvSpPr>
          <p:cNvPr id="4" name="Shape 2">
            <a:extLst>
              <a:ext uri="{FF2B5EF4-FFF2-40B4-BE49-F238E27FC236}">
                <a16:creationId xmlns:a16="http://schemas.microsoft.com/office/drawing/2014/main" id="{E073B560-49EA-FF6C-E427-29B8C9C27FB3}"/>
              </a:ext>
            </a:extLst>
          </p:cNvPr>
          <p:cNvSpPr/>
          <p:nvPr/>
        </p:nvSpPr>
        <p:spPr>
          <a:xfrm>
            <a:off x="54864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5" name="Shape 3">
            <a:extLst>
              <a:ext uri="{FF2B5EF4-FFF2-40B4-BE49-F238E27FC236}">
                <a16:creationId xmlns:a16="http://schemas.microsoft.com/office/drawing/2014/main" id="{1A5E1B1A-984D-339D-903C-1095E63AB2D9}"/>
              </a:ext>
            </a:extLst>
          </p:cNvPr>
          <p:cNvSpPr/>
          <p:nvPr/>
        </p:nvSpPr>
        <p:spPr>
          <a:xfrm>
            <a:off x="1581912" y="1874520"/>
            <a:ext cx="548640" cy="548640"/>
          </a:xfrm>
          <a:prstGeom prst="ellipse">
            <a:avLst/>
          </a:prstGeom>
          <a:solidFill>
            <a:srgbClr val="E8A33D"/>
          </a:solidFill>
          <a:ln/>
        </p:spPr>
        <p:txBody>
          <a:bodyPr/>
          <a:lstStyle/>
          <a:p>
            <a:endParaRPr lang="en-US"/>
          </a:p>
        </p:txBody>
      </p:sp>
      <p:sp>
        <p:nvSpPr>
          <p:cNvPr id="6" name="Text 4">
            <a:extLst>
              <a:ext uri="{FF2B5EF4-FFF2-40B4-BE49-F238E27FC236}">
                <a16:creationId xmlns:a16="http://schemas.microsoft.com/office/drawing/2014/main" id="{A3437766-36C6-4ECB-8212-B7B2132DC6A0}"/>
              </a:ext>
            </a:extLst>
          </p:cNvPr>
          <p:cNvSpPr/>
          <p:nvPr/>
        </p:nvSpPr>
        <p:spPr>
          <a:xfrm>
            <a:off x="158191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1</a:t>
            </a:r>
            <a:endParaRPr lang="en-US" sz="1800" dirty="0"/>
          </a:p>
        </p:txBody>
      </p:sp>
      <p:sp>
        <p:nvSpPr>
          <p:cNvPr id="7" name="Text 5">
            <a:extLst>
              <a:ext uri="{FF2B5EF4-FFF2-40B4-BE49-F238E27FC236}">
                <a16:creationId xmlns:a16="http://schemas.microsoft.com/office/drawing/2014/main" id="{6A60F175-41A1-5C78-3758-7DD5559D0CB9}"/>
              </a:ext>
            </a:extLst>
          </p:cNvPr>
          <p:cNvSpPr/>
          <p:nvPr/>
        </p:nvSpPr>
        <p:spPr>
          <a:xfrm>
            <a:off x="73152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Your name</a:t>
            </a:r>
            <a:endParaRPr lang="en-US" sz="1500" dirty="0"/>
          </a:p>
        </p:txBody>
      </p:sp>
      <p:sp>
        <p:nvSpPr>
          <p:cNvPr id="8" name="Text 6">
            <a:extLst>
              <a:ext uri="{FF2B5EF4-FFF2-40B4-BE49-F238E27FC236}">
                <a16:creationId xmlns:a16="http://schemas.microsoft.com/office/drawing/2014/main" id="{914C0CFA-94D2-5DA7-4418-6EBC47025915}"/>
              </a:ext>
            </a:extLst>
          </p:cNvPr>
          <p:cNvSpPr/>
          <p:nvPr/>
        </p:nvSpPr>
        <p:spPr>
          <a:xfrm>
            <a:off x="73152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and where you call home</a:t>
            </a:r>
            <a:endParaRPr lang="en-US" sz="1200" dirty="0"/>
          </a:p>
        </p:txBody>
      </p:sp>
      <p:sp>
        <p:nvSpPr>
          <p:cNvPr id="9" name="Shape 7">
            <a:extLst>
              <a:ext uri="{FF2B5EF4-FFF2-40B4-BE49-F238E27FC236}">
                <a16:creationId xmlns:a16="http://schemas.microsoft.com/office/drawing/2014/main" id="{0A16F0C5-34D8-21FA-E648-61514BADDCBC}"/>
              </a:ext>
            </a:extLst>
          </p:cNvPr>
          <p:cNvSpPr/>
          <p:nvPr/>
        </p:nvSpPr>
        <p:spPr>
          <a:xfrm>
            <a:off x="338328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10" name="Shape 8">
            <a:extLst>
              <a:ext uri="{FF2B5EF4-FFF2-40B4-BE49-F238E27FC236}">
                <a16:creationId xmlns:a16="http://schemas.microsoft.com/office/drawing/2014/main" id="{126CABFD-B212-931E-F906-3030685D5DBC}"/>
              </a:ext>
            </a:extLst>
          </p:cNvPr>
          <p:cNvSpPr/>
          <p:nvPr/>
        </p:nvSpPr>
        <p:spPr>
          <a:xfrm>
            <a:off x="4416552" y="1874520"/>
            <a:ext cx="548640" cy="548640"/>
          </a:xfrm>
          <a:prstGeom prst="ellipse">
            <a:avLst/>
          </a:prstGeom>
          <a:solidFill>
            <a:srgbClr val="E8A33D"/>
          </a:solidFill>
          <a:ln/>
        </p:spPr>
        <p:txBody>
          <a:bodyPr/>
          <a:lstStyle/>
          <a:p>
            <a:endParaRPr lang="en-US"/>
          </a:p>
        </p:txBody>
      </p:sp>
      <p:sp>
        <p:nvSpPr>
          <p:cNvPr id="11" name="Text 9">
            <a:extLst>
              <a:ext uri="{FF2B5EF4-FFF2-40B4-BE49-F238E27FC236}">
                <a16:creationId xmlns:a16="http://schemas.microsoft.com/office/drawing/2014/main" id="{E27ACC4B-C28C-CF28-4737-3571F4506343}"/>
              </a:ext>
            </a:extLst>
          </p:cNvPr>
          <p:cNvSpPr/>
          <p:nvPr/>
        </p:nvSpPr>
        <p:spPr>
          <a:xfrm>
            <a:off x="441655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2</a:t>
            </a:r>
            <a:endParaRPr lang="en-US" sz="1800" dirty="0"/>
          </a:p>
        </p:txBody>
      </p:sp>
      <p:sp>
        <p:nvSpPr>
          <p:cNvPr id="12" name="Text 10">
            <a:extLst>
              <a:ext uri="{FF2B5EF4-FFF2-40B4-BE49-F238E27FC236}">
                <a16:creationId xmlns:a16="http://schemas.microsoft.com/office/drawing/2014/main" id="{DCFD92CA-6E66-254F-7C68-865F9D4FE938}"/>
              </a:ext>
            </a:extLst>
          </p:cNvPr>
          <p:cNvSpPr/>
          <p:nvPr/>
        </p:nvSpPr>
        <p:spPr>
          <a:xfrm>
            <a:off x="356616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Your background</a:t>
            </a:r>
            <a:endParaRPr lang="en-US" sz="1500" dirty="0"/>
          </a:p>
        </p:txBody>
      </p:sp>
      <p:sp>
        <p:nvSpPr>
          <p:cNvPr id="13" name="Text 11">
            <a:extLst>
              <a:ext uri="{FF2B5EF4-FFF2-40B4-BE49-F238E27FC236}">
                <a16:creationId xmlns:a16="http://schemas.microsoft.com/office/drawing/2014/main" id="{67E43F62-5F75-34D8-9278-E66983A4257F}"/>
              </a:ext>
            </a:extLst>
          </p:cNvPr>
          <p:cNvSpPr/>
          <p:nvPr/>
        </p:nvSpPr>
        <p:spPr>
          <a:xfrm>
            <a:off x="356616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CS, maths, engineering, industry?</a:t>
            </a:r>
            <a:endParaRPr lang="en-US" sz="1200" dirty="0"/>
          </a:p>
        </p:txBody>
      </p:sp>
      <p:sp>
        <p:nvSpPr>
          <p:cNvPr id="14" name="Shape 12">
            <a:extLst>
              <a:ext uri="{FF2B5EF4-FFF2-40B4-BE49-F238E27FC236}">
                <a16:creationId xmlns:a16="http://schemas.microsoft.com/office/drawing/2014/main" id="{CD8A4CE1-291F-EB51-897C-4D313FA6D1E6}"/>
              </a:ext>
            </a:extLst>
          </p:cNvPr>
          <p:cNvSpPr/>
          <p:nvPr/>
        </p:nvSpPr>
        <p:spPr>
          <a:xfrm>
            <a:off x="621792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15" name="Shape 13">
            <a:extLst>
              <a:ext uri="{FF2B5EF4-FFF2-40B4-BE49-F238E27FC236}">
                <a16:creationId xmlns:a16="http://schemas.microsoft.com/office/drawing/2014/main" id="{207DE625-50AB-AB1A-2B51-7D6E063E940F}"/>
              </a:ext>
            </a:extLst>
          </p:cNvPr>
          <p:cNvSpPr/>
          <p:nvPr/>
        </p:nvSpPr>
        <p:spPr>
          <a:xfrm>
            <a:off x="7251192" y="1874520"/>
            <a:ext cx="548640" cy="548640"/>
          </a:xfrm>
          <a:prstGeom prst="ellipse">
            <a:avLst/>
          </a:prstGeom>
          <a:solidFill>
            <a:srgbClr val="E8A33D"/>
          </a:solidFill>
          <a:ln/>
        </p:spPr>
        <p:txBody>
          <a:bodyPr/>
          <a:lstStyle/>
          <a:p>
            <a:endParaRPr lang="en-US"/>
          </a:p>
        </p:txBody>
      </p:sp>
      <p:sp>
        <p:nvSpPr>
          <p:cNvPr id="16" name="Text 14">
            <a:extLst>
              <a:ext uri="{FF2B5EF4-FFF2-40B4-BE49-F238E27FC236}">
                <a16:creationId xmlns:a16="http://schemas.microsoft.com/office/drawing/2014/main" id="{18A124F5-13D0-D251-663F-EC4E9693EE04}"/>
              </a:ext>
            </a:extLst>
          </p:cNvPr>
          <p:cNvSpPr/>
          <p:nvPr/>
        </p:nvSpPr>
        <p:spPr>
          <a:xfrm>
            <a:off x="725119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3</a:t>
            </a:r>
            <a:endParaRPr lang="en-US" sz="1800" dirty="0"/>
          </a:p>
        </p:txBody>
      </p:sp>
      <p:sp>
        <p:nvSpPr>
          <p:cNvPr id="17" name="Text 15">
            <a:extLst>
              <a:ext uri="{FF2B5EF4-FFF2-40B4-BE49-F238E27FC236}">
                <a16:creationId xmlns:a16="http://schemas.microsoft.com/office/drawing/2014/main" id="{A8E594A2-90A7-36D4-0A18-BA6EA72B580E}"/>
              </a:ext>
            </a:extLst>
          </p:cNvPr>
          <p:cNvSpPr/>
          <p:nvPr/>
        </p:nvSpPr>
        <p:spPr>
          <a:xfrm>
            <a:off x="640080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What language you code in</a:t>
            </a:r>
            <a:endParaRPr lang="en-US" sz="1500" dirty="0"/>
          </a:p>
        </p:txBody>
      </p:sp>
      <p:sp>
        <p:nvSpPr>
          <p:cNvPr id="18" name="Text 16">
            <a:extLst>
              <a:ext uri="{FF2B5EF4-FFF2-40B4-BE49-F238E27FC236}">
                <a16:creationId xmlns:a16="http://schemas.microsoft.com/office/drawing/2014/main" id="{DF6B749F-D659-4F5B-DD68-6387A1C9CAF5}"/>
              </a:ext>
            </a:extLst>
          </p:cNvPr>
          <p:cNvSpPr/>
          <p:nvPr/>
        </p:nvSpPr>
        <p:spPr>
          <a:xfrm>
            <a:off x="640080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and one you'd like to learn</a:t>
            </a:r>
            <a:endParaRPr lang="en-US" sz="1200" dirty="0"/>
          </a:p>
        </p:txBody>
      </p:sp>
      <p:sp>
        <p:nvSpPr>
          <p:cNvPr id="19" name="Shape 17">
            <a:extLst>
              <a:ext uri="{FF2B5EF4-FFF2-40B4-BE49-F238E27FC236}">
                <a16:creationId xmlns:a16="http://schemas.microsoft.com/office/drawing/2014/main" id="{81C4D7D4-BD32-FE70-3AA1-2636A556979F}"/>
              </a:ext>
            </a:extLst>
          </p:cNvPr>
          <p:cNvSpPr/>
          <p:nvPr/>
        </p:nvSpPr>
        <p:spPr>
          <a:xfrm>
            <a:off x="9052560" y="1600200"/>
            <a:ext cx="2615184" cy="2286000"/>
          </a:xfrm>
          <a:prstGeom prst="roundRect">
            <a:avLst>
              <a:gd name="adj" fmla="val 2000"/>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20" name="Shape 18">
            <a:extLst>
              <a:ext uri="{FF2B5EF4-FFF2-40B4-BE49-F238E27FC236}">
                <a16:creationId xmlns:a16="http://schemas.microsoft.com/office/drawing/2014/main" id="{4F11B395-83C8-7738-90B0-63E77D0DB6F3}"/>
              </a:ext>
            </a:extLst>
          </p:cNvPr>
          <p:cNvSpPr/>
          <p:nvPr/>
        </p:nvSpPr>
        <p:spPr>
          <a:xfrm>
            <a:off x="10085832" y="1874520"/>
            <a:ext cx="548640" cy="548640"/>
          </a:xfrm>
          <a:prstGeom prst="ellipse">
            <a:avLst/>
          </a:prstGeom>
          <a:solidFill>
            <a:srgbClr val="E8A33D"/>
          </a:solidFill>
          <a:ln/>
        </p:spPr>
        <p:txBody>
          <a:bodyPr/>
          <a:lstStyle/>
          <a:p>
            <a:endParaRPr lang="en-US"/>
          </a:p>
        </p:txBody>
      </p:sp>
      <p:sp>
        <p:nvSpPr>
          <p:cNvPr id="21" name="Text 19">
            <a:extLst>
              <a:ext uri="{FF2B5EF4-FFF2-40B4-BE49-F238E27FC236}">
                <a16:creationId xmlns:a16="http://schemas.microsoft.com/office/drawing/2014/main" id="{DE7D2FE3-FEBB-ED46-A655-9511C841593B}"/>
              </a:ext>
            </a:extLst>
          </p:cNvPr>
          <p:cNvSpPr/>
          <p:nvPr/>
        </p:nvSpPr>
        <p:spPr>
          <a:xfrm>
            <a:off x="10085832" y="1874520"/>
            <a:ext cx="548640" cy="548640"/>
          </a:xfrm>
          <a:prstGeom prst="rect">
            <a:avLst/>
          </a:prstGeom>
          <a:noFill/>
          <a:ln/>
        </p:spPr>
        <p:txBody>
          <a:bodyPr wrap="square" lIns="0" tIns="0" rIns="0" bIns="0" rtlCol="0" anchor="ctr"/>
          <a:lstStyle/>
          <a:p>
            <a:pPr marL="0" indent="0" algn="ctr">
              <a:buNone/>
            </a:pPr>
            <a:r>
              <a:rPr lang="en-US" sz="1800" b="1" dirty="0">
                <a:solidFill>
                  <a:srgbClr val="141C3A"/>
                </a:solidFill>
                <a:latin typeface="Cambria" pitchFamily="34" charset="0"/>
                <a:ea typeface="Cambria" pitchFamily="34" charset="-122"/>
                <a:cs typeface="Cambria" pitchFamily="34" charset="-120"/>
              </a:rPr>
              <a:t>4</a:t>
            </a:r>
            <a:endParaRPr lang="en-US" sz="1800" dirty="0"/>
          </a:p>
        </p:txBody>
      </p:sp>
      <p:sp>
        <p:nvSpPr>
          <p:cNvPr id="22" name="Text 20">
            <a:extLst>
              <a:ext uri="{FF2B5EF4-FFF2-40B4-BE49-F238E27FC236}">
                <a16:creationId xmlns:a16="http://schemas.microsoft.com/office/drawing/2014/main" id="{8C53A3D7-6663-1A95-6150-16BD59227A97}"/>
              </a:ext>
            </a:extLst>
          </p:cNvPr>
          <p:cNvSpPr/>
          <p:nvPr/>
        </p:nvSpPr>
        <p:spPr>
          <a:xfrm>
            <a:off x="9235440" y="2606040"/>
            <a:ext cx="2249424" cy="41148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Why Master of IT</a:t>
            </a:r>
            <a:endParaRPr lang="en-US" sz="1500" dirty="0"/>
          </a:p>
        </p:txBody>
      </p:sp>
      <p:sp>
        <p:nvSpPr>
          <p:cNvPr id="23" name="Text 21">
            <a:extLst>
              <a:ext uri="{FF2B5EF4-FFF2-40B4-BE49-F238E27FC236}">
                <a16:creationId xmlns:a16="http://schemas.microsoft.com/office/drawing/2014/main" id="{0799A319-DD1B-D89A-A0B5-3F8181AEEFE2}"/>
              </a:ext>
            </a:extLst>
          </p:cNvPr>
          <p:cNvSpPr/>
          <p:nvPr/>
        </p:nvSpPr>
        <p:spPr>
          <a:xfrm>
            <a:off x="9235440" y="3017520"/>
            <a:ext cx="2249424" cy="640080"/>
          </a:xfrm>
          <a:prstGeom prst="rect">
            <a:avLst/>
          </a:prstGeom>
          <a:noFill/>
          <a:ln/>
        </p:spPr>
        <p:txBody>
          <a:bodyPr wrap="square" lIns="0" tIns="0" rIns="0" bIns="0" rtlCol="0" anchor="t"/>
          <a:lstStyle/>
          <a:p>
            <a:pPr marL="0" indent="0" algn="ctr">
              <a:buNone/>
            </a:pPr>
            <a:r>
              <a:rPr lang="en-US" sz="1200" dirty="0">
                <a:solidFill>
                  <a:srgbClr val="6E7891"/>
                </a:solidFill>
                <a:latin typeface="Calibri" pitchFamily="34" charset="0"/>
                <a:ea typeface="Calibri" pitchFamily="34" charset="-122"/>
                <a:cs typeface="Calibri" pitchFamily="34" charset="-120"/>
              </a:rPr>
              <a:t>elective, core, or career plan?</a:t>
            </a:r>
            <a:endParaRPr lang="en-US" sz="1200" dirty="0"/>
          </a:p>
        </p:txBody>
      </p:sp>
      <p:sp>
        <p:nvSpPr>
          <p:cNvPr id="24" name="Shape 22">
            <a:extLst>
              <a:ext uri="{FF2B5EF4-FFF2-40B4-BE49-F238E27FC236}">
                <a16:creationId xmlns:a16="http://schemas.microsoft.com/office/drawing/2014/main" id="{880671EC-A55A-E59E-0BFA-132F1DBBCD0A}"/>
              </a:ext>
            </a:extLst>
          </p:cNvPr>
          <p:cNvSpPr/>
          <p:nvPr/>
        </p:nvSpPr>
        <p:spPr>
          <a:xfrm>
            <a:off x="548640" y="4206240"/>
            <a:ext cx="11091672" cy="1600200"/>
          </a:xfrm>
          <a:prstGeom prst="roundRect">
            <a:avLst>
              <a:gd name="adj" fmla="val 2857"/>
            </a:avLst>
          </a:prstGeom>
          <a:solidFill>
            <a:srgbClr val="1E2761"/>
          </a:solidFill>
          <a:ln w="12700">
            <a:solidFill>
              <a:srgbClr val="1E2761"/>
            </a:solidFill>
            <a:prstDash val="solid"/>
          </a:ln>
        </p:spPr>
        <p:txBody>
          <a:bodyPr/>
          <a:lstStyle/>
          <a:p>
            <a:endParaRPr lang="en-US"/>
          </a:p>
        </p:txBody>
      </p:sp>
      <p:sp>
        <p:nvSpPr>
          <p:cNvPr id="27" name="Text 25">
            <a:extLst>
              <a:ext uri="{FF2B5EF4-FFF2-40B4-BE49-F238E27FC236}">
                <a16:creationId xmlns:a16="http://schemas.microsoft.com/office/drawing/2014/main" id="{3FD034C9-6382-B0E5-363B-D462BA6DD635}"/>
              </a:ext>
            </a:extLst>
          </p:cNvPr>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28" name="Text 26">
            <a:extLst>
              <a:ext uri="{FF2B5EF4-FFF2-40B4-BE49-F238E27FC236}">
                <a16:creationId xmlns:a16="http://schemas.microsoft.com/office/drawing/2014/main" id="{B4B626EA-F834-5237-2556-0C62F6330933}"/>
              </a:ext>
            </a:extLst>
          </p:cNvPr>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2</a:t>
            </a:r>
            <a:endParaRPr lang="en-US" sz="900" dirty="0"/>
          </a:p>
        </p:txBody>
      </p:sp>
      <p:sp>
        <p:nvSpPr>
          <p:cNvPr id="29" name="Text 23">
            <a:extLst>
              <a:ext uri="{FF2B5EF4-FFF2-40B4-BE49-F238E27FC236}">
                <a16:creationId xmlns:a16="http://schemas.microsoft.com/office/drawing/2014/main" id="{C8561F0F-E5BE-CCC4-C663-E5DCA2871C2A}"/>
              </a:ext>
            </a:extLst>
          </p:cNvPr>
          <p:cNvSpPr/>
          <p:nvPr/>
        </p:nvSpPr>
        <p:spPr>
          <a:xfrm>
            <a:off x="731520" y="4663440"/>
            <a:ext cx="10149840" cy="721426"/>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We are guaranteed to be a room of very different backgrounds, languages, hometowns and career plans.</a:t>
            </a:r>
            <a:endParaRPr lang="en-US" sz="2000" dirty="0"/>
          </a:p>
        </p:txBody>
      </p:sp>
    </p:spTree>
    <p:extLst>
      <p:ext uri="{BB962C8B-B14F-4D97-AF65-F5344CB8AC3E}">
        <p14:creationId xmlns:p14="http://schemas.microsoft.com/office/powerpoint/2010/main" val="1843599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How these tutorials work</a:t>
            </a:r>
            <a:endParaRPr lang="en-US" sz="2900" dirty="0"/>
          </a:p>
        </p:txBody>
      </p:sp>
      <p:sp>
        <p:nvSpPr>
          <p:cNvPr id="4" name="Shape 2"/>
          <p:cNvSpPr/>
          <p:nvPr/>
        </p:nvSpPr>
        <p:spPr>
          <a:xfrm>
            <a:off x="548640" y="1554480"/>
            <a:ext cx="3566160" cy="2880360"/>
          </a:xfrm>
          <a:prstGeom prst="roundRect">
            <a:avLst>
              <a:gd name="adj" fmla="val 1587"/>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5" name="Shape 3"/>
          <p:cNvSpPr/>
          <p:nvPr/>
        </p:nvSpPr>
        <p:spPr>
          <a:xfrm>
            <a:off x="822960" y="1783080"/>
            <a:ext cx="1097280" cy="347472"/>
          </a:xfrm>
          <a:prstGeom prst="roundRect">
            <a:avLst>
              <a:gd name="adj" fmla="val 21053"/>
            </a:avLst>
          </a:prstGeom>
          <a:solidFill>
            <a:srgbClr val="1E2761"/>
          </a:solidFill>
          <a:ln/>
        </p:spPr>
        <p:txBody>
          <a:bodyPr/>
          <a:lstStyle/>
          <a:p>
            <a:endParaRPr lang="en-US"/>
          </a:p>
        </p:txBody>
      </p:sp>
      <p:sp>
        <p:nvSpPr>
          <p:cNvPr id="6" name="Text 4"/>
          <p:cNvSpPr/>
          <p:nvPr/>
        </p:nvSpPr>
        <p:spPr>
          <a:xfrm>
            <a:off x="822960" y="178308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Before</a:t>
            </a:r>
            <a:endParaRPr lang="en-US" sz="1200" dirty="0"/>
          </a:p>
        </p:txBody>
      </p:sp>
      <p:sp>
        <p:nvSpPr>
          <p:cNvPr id="7" name="Text 5"/>
          <p:cNvSpPr/>
          <p:nvPr/>
        </p:nvSpPr>
        <p:spPr>
          <a:xfrm>
            <a:off x="822960" y="2286000"/>
            <a:ext cx="3017520" cy="685800"/>
          </a:xfrm>
          <a:prstGeom prst="rect">
            <a:avLst/>
          </a:prstGeom>
          <a:noFill/>
          <a:ln/>
        </p:spPr>
        <p:txBody>
          <a:bodyPr wrap="square" lIns="0" tIns="0" rIns="0" bIns="0" rtlCol="0" anchor="t"/>
          <a:lstStyle/>
          <a:p>
            <a:pPr marL="0" indent="0">
              <a:buNone/>
            </a:pPr>
            <a:r>
              <a:rPr lang="en-US" sz="1550" b="1" dirty="0">
                <a:solidFill>
                  <a:srgbClr val="1E2761"/>
                </a:solidFill>
                <a:latin typeface="Calibri" pitchFamily="34" charset="0"/>
                <a:ea typeface="Calibri" pitchFamily="34" charset="-122"/>
                <a:cs typeface="Calibri" pitchFamily="34" charset="-120"/>
              </a:rPr>
              <a:t>Attempt every question before you come to tutorials.</a:t>
            </a:r>
            <a:endParaRPr lang="en-US" sz="1550" dirty="0"/>
          </a:p>
        </p:txBody>
      </p:sp>
      <p:sp>
        <p:nvSpPr>
          <p:cNvPr id="8" name="Text 6"/>
          <p:cNvSpPr/>
          <p:nvPr/>
        </p:nvSpPr>
        <p:spPr>
          <a:xfrm>
            <a:off x="822960" y="3017520"/>
            <a:ext cx="3017520" cy="123444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It’s ok if you can’t answer some of them.</a:t>
            </a:r>
          </a:p>
          <a:p>
            <a:pPr marL="0" indent="0">
              <a:lnSpc>
                <a:spcPct val="115000"/>
              </a:lnSpc>
              <a:buNone/>
            </a:pPr>
            <a:endParaRPr lang="en-US" sz="1250" dirty="0">
              <a:solidFill>
                <a:srgbClr val="23293F"/>
              </a:solidFill>
              <a:latin typeface="Calibri" pitchFamily="34" charset="0"/>
              <a:ea typeface="Calibri" pitchFamily="34" charset="-122"/>
              <a:cs typeface="Calibri" pitchFamily="34" charset="-120"/>
            </a:endParaRPr>
          </a:p>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Coming in cold means watching me solve problems, which teaches you very little.</a:t>
            </a:r>
            <a:endParaRPr lang="en-US" sz="1250" dirty="0"/>
          </a:p>
        </p:txBody>
      </p:sp>
      <p:sp>
        <p:nvSpPr>
          <p:cNvPr id="9" name="Shape 7"/>
          <p:cNvSpPr/>
          <p:nvPr/>
        </p:nvSpPr>
        <p:spPr>
          <a:xfrm>
            <a:off x="4352544" y="1554480"/>
            <a:ext cx="3566160" cy="2880360"/>
          </a:xfrm>
          <a:prstGeom prst="roundRect">
            <a:avLst>
              <a:gd name="adj" fmla="val 1587"/>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10" name="Shape 8"/>
          <p:cNvSpPr/>
          <p:nvPr/>
        </p:nvSpPr>
        <p:spPr>
          <a:xfrm>
            <a:off x="4626864" y="1783080"/>
            <a:ext cx="1097280" cy="347472"/>
          </a:xfrm>
          <a:prstGeom prst="roundRect">
            <a:avLst>
              <a:gd name="adj" fmla="val 21053"/>
            </a:avLst>
          </a:prstGeom>
          <a:solidFill>
            <a:srgbClr val="1E2761"/>
          </a:solidFill>
          <a:ln/>
        </p:spPr>
        <p:txBody>
          <a:bodyPr/>
          <a:lstStyle/>
          <a:p>
            <a:endParaRPr lang="en-US"/>
          </a:p>
        </p:txBody>
      </p:sp>
      <p:sp>
        <p:nvSpPr>
          <p:cNvPr id="11" name="Text 9"/>
          <p:cNvSpPr/>
          <p:nvPr/>
        </p:nvSpPr>
        <p:spPr>
          <a:xfrm>
            <a:off x="4626864" y="178308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During</a:t>
            </a:r>
            <a:endParaRPr lang="en-US" sz="1200" dirty="0"/>
          </a:p>
        </p:txBody>
      </p:sp>
      <p:sp>
        <p:nvSpPr>
          <p:cNvPr id="12" name="Text 10"/>
          <p:cNvSpPr/>
          <p:nvPr/>
        </p:nvSpPr>
        <p:spPr>
          <a:xfrm>
            <a:off x="4626864" y="2286000"/>
            <a:ext cx="3017520" cy="685800"/>
          </a:xfrm>
          <a:prstGeom prst="rect">
            <a:avLst/>
          </a:prstGeom>
          <a:noFill/>
          <a:ln/>
        </p:spPr>
        <p:txBody>
          <a:bodyPr wrap="square" lIns="0" tIns="0" rIns="0" bIns="0" rtlCol="0" anchor="t"/>
          <a:lstStyle/>
          <a:p>
            <a:pPr marL="0" indent="0">
              <a:buNone/>
            </a:pPr>
            <a:r>
              <a:rPr lang="en-US" sz="1550" b="1" dirty="0">
                <a:solidFill>
                  <a:srgbClr val="1E2761"/>
                </a:solidFill>
                <a:latin typeface="Calibri" pitchFamily="34" charset="0"/>
                <a:ea typeface="Calibri" pitchFamily="34" charset="-122"/>
                <a:cs typeface="Calibri" pitchFamily="34" charset="-120"/>
              </a:rPr>
              <a:t>Talk to your </a:t>
            </a:r>
            <a:r>
              <a:rPr lang="en-US" sz="1550" b="1" dirty="0" err="1">
                <a:solidFill>
                  <a:srgbClr val="1E2761"/>
                </a:solidFill>
                <a:latin typeface="Calibri" pitchFamily="34" charset="0"/>
                <a:ea typeface="Calibri" pitchFamily="34" charset="-122"/>
                <a:cs typeface="Calibri" pitchFamily="34" charset="-120"/>
              </a:rPr>
              <a:t>neighbours</a:t>
            </a:r>
            <a:r>
              <a:rPr lang="en-US" sz="1550" b="1" dirty="0">
                <a:solidFill>
                  <a:srgbClr val="1E2761"/>
                </a:solidFill>
                <a:latin typeface="Calibri" pitchFamily="34" charset="0"/>
                <a:ea typeface="Calibri" pitchFamily="34" charset="-122"/>
                <a:cs typeface="Calibri" pitchFamily="34" charset="-120"/>
              </a:rPr>
              <a:t> about your thought.</a:t>
            </a:r>
            <a:endParaRPr lang="en-US" sz="1550" dirty="0"/>
          </a:p>
        </p:txBody>
      </p:sp>
      <p:sp>
        <p:nvSpPr>
          <p:cNvPr id="13" name="Text 11"/>
          <p:cNvSpPr/>
          <p:nvPr/>
        </p:nvSpPr>
        <p:spPr>
          <a:xfrm>
            <a:off x="4626864" y="3017520"/>
            <a:ext cx="3017520" cy="123444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I'll ask for answers, not volunteers. </a:t>
            </a:r>
          </a:p>
          <a:p>
            <a:pPr marL="0" indent="0">
              <a:lnSpc>
                <a:spcPct val="115000"/>
              </a:lnSpc>
              <a:buNone/>
            </a:pPr>
            <a:endParaRPr lang="en-US" sz="1250" dirty="0">
              <a:solidFill>
                <a:srgbClr val="23293F"/>
              </a:solidFill>
              <a:latin typeface="Calibri" pitchFamily="34" charset="0"/>
              <a:ea typeface="Calibri" pitchFamily="34" charset="-122"/>
              <a:cs typeface="Calibri" pitchFamily="34" charset="-120"/>
            </a:endParaRPr>
          </a:p>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A wrong answer that shows your reasoning is more useful to the room than a right one that doesn't.</a:t>
            </a:r>
            <a:endParaRPr lang="en-US" sz="1250" dirty="0"/>
          </a:p>
        </p:txBody>
      </p:sp>
      <p:sp>
        <p:nvSpPr>
          <p:cNvPr id="14" name="Shape 12"/>
          <p:cNvSpPr/>
          <p:nvPr/>
        </p:nvSpPr>
        <p:spPr>
          <a:xfrm>
            <a:off x="8156448" y="1554480"/>
            <a:ext cx="3566160" cy="2880360"/>
          </a:xfrm>
          <a:prstGeom prst="roundRect">
            <a:avLst>
              <a:gd name="adj" fmla="val 1587"/>
            </a:avLst>
          </a:prstGeom>
          <a:solidFill>
            <a:srgbClr val="EDF2FC"/>
          </a:solidFill>
          <a:ln w="12700">
            <a:solidFill>
              <a:srgbClr val="D6E1F5"/>
            </a:solidFill>
            <a:prstDash val="solid"/>
          </a:ln>
          <a:effectLst>
            <a:outerShdw blurRad="127000" dist="25400" dir="5400000" algn="bl" rotWithShape="0">
              <a:srgbClr val="9FB0CC">
                <a:alpha val="35000"/>
              </a:srgbClr>
            </a:outerShdw>
          </a:effectLst>
        </p:spPr>
        <p:txBody>
          <a:bodyPr/>
          <a:lstStyle/>
          <a:p>
            <a:endParaRPr lang="en-US"/>
          </a:p>
        </p:txBody>
      </p:sp>
      <p:sp>
        <p:nvSpPr>
          <p:cNvPr id="15" name="Shape 13"/>
          <p:cNvSpPr/>
          <p:nvPr/>
        </p:nvSpPr>
        <p:spPr>
          <a:xfrm>
            <a:off x="8430768" y="1783080"/>
            <a:ext cx="1097280" cy="347472"/>
          </a:xfrm>
          <a:prstGeom prst="roundRect">
            <a:avLst>
              <a:gd name="adj" fmla="val 21053"/>
            </a:avLst>
          </a:prstGeom>
          <a:solidFill>
            <a:srgbClr val="1E2761"/>
          </a:solidFill>
          <a:ln/>
        </p:spPr>
        <p:txBody>
          <a:bodyPr/>
          <a:lstStyle/>
          <a:p>
            <a:endParaRPr lang="en-US"/>
          </a:p>
        </p:txBody>
      </p:sp>
      <p:sp>
        <p:nvSpPr>
          <p:cNvPr id="16" name="Text 14"/>
          <p:cNvSpPr/>
          <p:nvPr/>
        </p:nvSpPr>
        <p:spPr>
          <a:xfrm>
            <a:off x="8430768" y="1783080"/>
            <a:ext cx="109728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After</a:t>
            </a:r>
            <a:endParaRPr lang="en-US" sz="1200" dirty="0"/>
          </a:p>
        </p:txBody>
      </p:sp>
      <p:sp>
        <p:nvSpPr>
          <p:cNvPr id="17" name="Text 15"/>
          <p:cNvSpPr/>
          <p:nvPr/>
        </p:nvSpPr>
        <p:spPr>
          <a:xfrm>
            <a:off x="8430768" y="2286000"/>
            <a:ext cx="3017520" cy="685800"/>
          </a:xfrm>
          <a:prstGeom prst="rect">
            <a:avLst/>
          </a:prstGeom>
          <a:noFill/>
          <a:ln/>
        </p:spPr>
        <p:txBody>
          <a:bodyPr wrap="square" lIns="0" tIns="0" rIns="0" bIns="0" rtlCol="0" anchor="t"/>
          <a:lstStyle/>
          <a:p>
            <a:pPr marL="0" indent="0">
              <a:buNone/>
            </a:pPr>
            <a:r>
              <a:rPr lang="en-US" sz="1550" b="1" dirty="0">
                <a:solidFill>
                  <a:srgbClr val="1E2761"/>
                </a:solidFill>
                <a:latin typeface="Calibri" pitchFamily="34" charset="0"/>
                <a:ea typeface="Calibri" pitchFamily="34" charset="-122"/>
                <a:cs typeface="Calibri" pitchFamily="34" charset="-120"/>
              </a:rPr>
              <a:t>Finish what we skipped.</a:t>
            </a:r>
            <a:endParaRPr lang="en-US" sz="1550" dirty="0"/>
          </a:p>
        </p:txBody>
      </p:sp>
      <p:sp>
        <p:nvSpPr>
          <p:cNvPr id="18" name="Text 16"/>
          <p:cNvSpPr/>
          <p:nvPr/>
        </p:nvSpPr>
        <p:spPr>
          <a:xfrm>
            <a:off x="8430768" y="2948940"/>
            <a:ext cx="3017520" cy="1234440"/>
          </a:xfrm>
          <a:prstGeom prst="rect">
            <a:avLst/>
          </a:prstGeom>
          <a:noFill/>
          <a:ln/>
        </p:spPr>
        <p:txBody>
          <a:bodyPr wrap="square" lIns="0" tIns="0" rIns="0" bIns="0" rtlCol="0" anchor="t"/>
          <a:lstStyle/>
          <a:p>
            <a:pPr marL="0" indent="0">
              <a:lnSpc>
                <a:spcPct val="115000"/>
              </a:lnSpc>
              <a:buNone/>
            </a:pPr>
            <a:r>
              <a:rPr lang="en-US" sz="1250" b="1" dirty="0">
                <a:solidFill>
                  <a:srgbClr val="23293F"/>
                </a:solidFill>
                <a:latin typeface="Calibri" pitchFamily="34" charset="0"/>
                <a:ea typeface="Calibri" pitchFamily="34" charset="-122"/>
                <a:cs typeface="Calibri" pitchFamily="34" charset="-120"/>
              </a:rPr>
              <a:t>We won't cover all questions. </a:t>
            </a:r>
          </a:p>
          <a:p>
            <a:pPr marL="0" indent="0">
              <a:lnSpc>
                <a:spcPct val="115000"/>
              </a:lnSpc>
              <a:buNone/>
            </a:pPr>
            <a:endParaRPr lang="en-US" sz="1250" b="1" dirty="0">
              <a:solidFill>
                <a:srgbClr val="23293F"/>
              </a:solidFill>
              <a:latin typeface="Calibri" pitchFamily="34" charset="0"/>
              <a:ea typeface="Calibri" pitchFamily="34" charset="-122"/>
              <a:cs typeface="Calibri" pitchFamily="34" charset="-120"/>
            </a:endParaRPr>
          </a:p>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The ones we skip are not optional — they're the ones you do slowly, in your own time.</a:t>
            </a:r>
          </a:p>
          <a:p>
            <a:pPr marL="0" indent="0">
              <a:lnSpc>
                <a:spcPct val="115000"/>
              </a:lnSpc>
              <a:buNone/>
            </a:pPr>
            <a:endParaRPr lang="en-US" sz="1250" dirty="0">
              <a:solidFill>
                <a:srgbClr val="23293F"/>
              </a:solidFill>
              <a:latin typeface="Calibri" pitchFamily="34" charset="0"/>
              <a:ea typeface="Calibri" pitchFamily="34" charset="-122"/>
              <a:cs typeface="Calibri" pitchFamily="34" charset="-120"/>
            </a:endParaRPr>
          </a:p>
          <a:p>
            <a:pPr marL="0" indent="0">
              <a:lnSpc>
                <a:spcPct val="115000"/>
              </a:lnSpc>
              <a:buNone/>
            </a:pPr>
            <a:r>
              <a:rPr lang="en-US" sz="1250" dirty="0">
                <a:solidFill>
                  <a:srgbClr val="23293F"/>
                </a:solidFill>
                <a:latin typeface="Calibri" pitchFamily="34" charset="0"/>
                <a:cs typeface="Calibri" pitchFamily="34" charset="-120"/>
              </a:rPr>
              <a:t>Have a detailed look at the solutions.</a:t>
            </a:r>
            <a:endParaRPr lang="en-US" sz="1250" dirty="0"/>
          </a:p>
        </p:txBody>
      </p:sp>
      <p:sp>
        <p:nvSpPr>
          <p:cNvPr id="19" name="Shape 17"/>
          <p:cNvSpPr/>
          <p:nvPr/>
        </p:nvSpPr>
        <p:spPr>
          <a:xfrm>
            <a:off x="548640" y="4709160"/>
            <a:ext cx="11091672" cy="1234440"/>
          </a:xfrm>
          <a:prstGeom prst="roundRect">
            <a:avLst>
              <a:gd name="adj" fmla="val 3704"/>
            </a:avLst>
          </a:prstGeom>
          <a:solidFill>
            <a:srgbClr val="FCF3E3"/>
          </a:solidFill>
          <a:ln w="12700">
            <a:solidFill>
              <a:srgbClr val="E8A33D"/>
            </a:solidFill>
            <a:prstDash val="solid"/>
          </a:ln>
        </p:spPr>
        <p:txBody>
          <a:bodyPr/>
          <a:lstStyle/>
          <a:p>
            <a:endParaRPr lang="en-US"/>
          </a:p>
        </p:txBody>
      </p:sp>
      <p:sp>
        <p:nvSpPr>
          <p:cNvPr id="20" name="Text 18"/>
          <p:cNvSpPr/>
          <p:nvPr/>
        </p:nvSpPr>
        <p:spPr>
          <a:xfrm>
            <a:off x="914400" y="4892040"/>
            <a:ext cx="10378440" cy="868680"/>
          </a:xfrm>
          <a:prstGeom prst="rect">
            <a:avLst/>
          </a:prstGeom>
          <a:noFill/>
          <a:ln/>
        </p:spPr>
        <p:txBody>
          <a:bodyPr wrap="square" lIns="0" tIns="0" rIns="0" bIns="0" rtlCol="0" anchor="ctr"/>
          <a:lstStyle/>
          <a:p>
            <a:pPr marL="0" indent="0">
              <a:lnSpc>
                <a:spcPct val="115000"/>
              </a:lnSpc>
              <a:buNone/>
            </a:pPr>
            <a:r>
              <a:rPr lang="en-US" sz="1350" b="1" dirty="0">
                <a:solidFill>
                  <a:srgbClr val="23293F"/>
                </a:solidFill>
                <a:latin typeface="Calibri" pitchFamily="34" charset="0"/>
                <a:ea typeface="Calibri" pitchFamily="34" charset="-122"/>
                <a:cs typeface="Calibri" pitchFamily="34" charset="-120"/>
              </a:rPr>
              <a:t>Expect to meet terms/concepts before they're taught. </a:t>
            </a:r>
            <a:r>
              <a:rPr lang="en-US" sz="1350" dirty="0">
                <a:solidFill>
                  <a:srgbClr val="23293F"/>
                </a:solidFill>
                <a:latin typeface="Calibri" pitchFamily="34" charset="0"/>
                <a:ea typeface="Calibri" pitchFamily="34" charset="-122"/>
                <a:cs typeface="Calibri" pitchFamily="34" charset="-120"/>
              </a:rPr>
              <a:t>Over the next few weeks you'll run into “sorting”, “undirected graph”, “adjacency matrix” and others that we haven't covered systematically yet. Don't let that unsettle you — this week we're deliberately dipping our toes into a variety of problems. The detail arrives later.</a:t>
            </a:r>
            <a:endParaRPr lang="en-US" sz="1350" dirty="0"/>
          </a:p>
        </p:txBody>
      </p:sp>
      <p:sp>
        <p:nvSpPr>
          <p:cNvPr id="21" name="Text 19"/>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22" name="Text 20"/>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441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So — what is an algorithm?</a:t>
            </a:r>
            <a:endParaRPr lang="en-US" sz="2900" dirty="0"/>
          </a:p>
        </p:txBody>
      </p:sp>
      <p:sp>
        <p:nvSpPr>
          <p:cNvPr id="3" name="Text 1"/>
          <p:cNvSpPr/>
          <p:nvPr/>
        </p:nvSpPr>
        <p:spPr>
          <a:xfrm>
            <a:off x="548640" y="868680"/>
            <a:ext cx="1109441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The definition everything else this hour hangs on</a:t>
            </a:r>
            <a:endParaRPr lang="en-US" sz="1350" dirty="0"/>
          </a:p>
        </p:txBody>
      </p:sp>
      <p:sp>
        <p:nvSpPr>
          <p:cNvPr id="4" name="Shape 2"/>
          <p:cNvSpPr/>
          <p:nvPr/>
        </p:nvSpPr>
        <p:spPr>
          <a:xfrm>
            <a:off x="548640" y="1417320"/>
            <a:ext cx="11091672" cy="868680"/>
          </a:xfrm>
          <a:prstGeom prst="roundRect">
            <a:avLst>
              <a:gd name="adj" fmla="val 5263"/>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914400" y="1417320"/>
            <a:ext cx="10378440" cy="868680"/>
          </a:xfrm>
          <a:prstGeom prst="rect">
            <a:avLst/>
          </a:prstGeom>
          <a:noFill/>
          <a:ln/>
        </p:spPr>
        <p:txBody>
          <a:bodyPr wrap="square" lIns="0" tIns="0" rIns="0" bIns="0" rtlCol="0" anchor="ctr"/>
          <a:lstStyle/>
          <a:p>
            <a:pPr marL="0" indent="0">
              <a:buNone/>
            </a:pPr>
            <a:r>
              <a:rPr lang="en-US" sz="1650" b="1" dirty="0">
                <a:solidFill>
                  <a:srgbClr val="FFFFFF"/>
                </a:solidFill>
                <a:latin typeface="Cambria" pitchFamily="34" charset="0"/>
                <a:ea typeface="Cambria" pitchFamily="34" charset="-122"/>
                <a:cs typeface="Cambria" pitchFamily="34" charset="-120"/>
              </a:rPr>
              <a:t>A finite sequence of unambiguous instructions that, for every legitimate input, produces the required output in a finite amount of time.</a:t>
            </a:r>
            <a:endParaRPr lang="en-US" sz="1650" dirty="0"/>
          </a:p>
        </p:txBody>
      </p:sp>
      <p:sp>
        <p:nvSpPr>
          <p:cNvPr id="6" name="Shape 4"/>
          <p:cNvSpPr/>
          <p:nvPr/>
        </p:nvSpPr>
        <p:spPr>
          <a:xfrm>
            <a:off x="2788920" y="2606040"/>
            <a:ext cx="1920240" cy="868680"/>
          </a:xfrm>
          <a:prstGeom prst="roundRect">
            <a:avLst>
              <a:gd name="adj" fmla="val 6316"/>
            </a:avLst>
          </a:prstGeom>
          <a:solidFill>
            <a:srgbClr val="EDF2FC"/>
          </a:solidFill>
          <a:ln w="15875">
            <a:solidFill>
              <a:srgbClr val="1E2761"/>
            </a:solidFill>
            <a:prstDash val="solid"/>
          </a:ln>
        </p:spPr>
        <p:txBody>
          <a:bodyPr/>
          <a:lstStyle/>
          <a:p>
            <a:endParaRPr lang="en-US"/>
          </a:p>
        </p:txBody>
      </p:sp>
      <p:sp>
        <p:nvSpPr>
          <p:cNvPr id="7" name="Text 5"/>
          <p:cNvSpPr/>
          <p:nvPr/>
        </p:nvSpPr>
        <p:spPr>
          <a:xfrm>
            <a:off x="2788920" y="2606040"/>
            <a:ext cx="1920240" cy="86868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Legitimate</a:t>
            </a:r>
            <a:endParaRPr lang="en-US" sz="1400" dirty="0"/>
          </a:p>
          <a:p>
            <a:pPr marL="0" indent="0" algn="ctr">
              <a:buNone/>
            </a:pPr>
            <a:r>
              <a:rPr lang="en-US" sz="1400" b="1" dirty="0">
                <a:solidFill>
                  <a:srgbClr val="1E2761"/>
                </a:solidFill>
                <a:latin typeface="Calibri" pitchFamily="34" charset="0"/>
                <a:ea typeface="Calibri" pitchFamily="34" charset="-122"/>
                <a:cs typeface="Calibri" pitchFamily="34" charset="-120"/>
              </a:rPr>
              <a:t>input</a:t>
            </a:r>
            <a:endParaRPr lang="en-US" sz="1400" dirty="0"/>
          </a:p>
        </p:txBody>
      </p:sp>
      <p:sp>
        <p:nvSpPr>
          <p:cNvPr id="8" name="Shape 6"/>
          <p:cNvSpPr/>
          <p:nvPr/>
        </p:nvSpPr>
        <p:spPr>
          <a:xfrm>
            <a:off x="4818888" y="2907792"/>
            <a:ext cx="502920" cy="274320"/>
          </a:xfrm>
          <a:prstGeom prst="rightArrow">
            <a:avLst/>
          </a:prstGeom>
          <a:solidFill>
            <a:srgbClr val="E8A33D"/>
          </a:solidFill>
          <a:ln/>
        </p:spPr>
        <p:txBody>
          <a:bodyPr/>
          <a:lstStyle/>
          <a:p>
            <a:endParaRPr lang="en-US"/>
          </a:p>
        </p:txBody>
      </p:sp>
      <p:sp>
        <p:nvSpPr>
          <p:cNvPr id="9" name="Shape 7"/>
          <p:cNvSpPr/>
          <p:nvPr/>
        </p:nvSpPr>
        <p:spPr>
          <a:xfrm>
            <a:off x="5440680" y="2606040"/>
            <a:ext cx="1920240" cy="868680"/>
          </a:xfrm>
          <a:prstGeom prst="roundRect">
            <a:avLst>
              <a:gd name="adj" fmla="val 6316"/>
            </a:avLst>
          </a:prstGeom>
          <a:solidFill>
            <a:srgbClr val="1E2761"/>
          </a:solidFill>
          <a:ln w="15875">
            <a:solidFill>
              <a:srgbClr val="1E2761"/>
            </a:solidFill>
            <a:prstDash val="solid"/>
          </a:ln>
        </p:spPr>
        <p:txBody>
          <a:bodyPr/>
          <a:lstStyle/>
          <a:p>
            <a:endParaRPr lang="en-US"/>
          </a:p>
        </p:txBody>
      </p:sp>
      <p:sp>
        <p:nvSpPr>
          <p:cNvPr id="10" name="Text 8"/>
          <p:cNvSpPr/>
          <p:nvPr/>
        </p:nvSpPr>
        <p:spPr>
          <a:xfrm>
            <a:off x="5440680" y="2606040"/>
            <a:ext cx="192024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Algorithm</a:t>
            </a:r>
            <a:endParaRPr lang="en-US" sz="1400" dirty="0"/>
          </a:p>
        </p:txBody>
      </p:sp>
      <p:sp>
        <p:nvSpPr>
          <p:cNvPr id="11" name="Shape 9"/>
          <p:cNvSpPr/>
          <p:nvPr/>
        </p:nvSpPr>
        <p:spPr>
          <a:xfrm>
            <a:off x="7470648" y="2907792"/>
            <a:ext cx="502920" cy="274320"/>
          </a:xfrm>
          <a:prstGeom prst="rightArrow">
            <a:avLst/>
          </a:prstGeom>
          <a:solidFill>
            <a:srgbClr val="E8A33D"/>
          </a:solidFill>
          <a:ln/>
        </p:spPr>
        <p:txBody>
          <a:bodyPr/>
          <a:lstStyle/>
          <a:p>
            <a:endParaRPr lang="en-US"/>
          </a:p>
        </p:txBody>
      </p:sp>
      <p:sp>
        <p:nvSpPr>
          <p:cNvPr id="12" name="Shape 10"/>
          <p:cNvSpPr/>
          <p:nvPr/>
        </p:nvSpPr>
        <p:spPr>
          <a:xfrm>
            <a:off x="8092440" y="2606040"/>
            <a:ext cx="1920240" cy="868680"/>
          </a:xfrm>
          <a:prstGeom prst="roundRect">
            <a:avLst>
              <a:gd name="adj" fmla="val 6316"/>
            </a:avLst>
          </a:prstGeom>
          <a:solidFill>
            <a:srgbClr val="EDF2FC"/>
          </a:solidFill>
          <a:ln w="15875">
            <a:solidFill>
              <a:srgbClr val="1E2761"/>
            </a:solidFill>
            <a:prstDash val="solid"/>
          </a:ln>
        </p:spPr>
        <p:txBody>
          <a:bodyPr/>
          <a:lstStyle/>
          <a:p>
            <a:endParaRPr lang="en-US"/>
          </a:p>
        </p:txBody>
      </p:sp>
      <p:sp>
        <p:nvSpPr>
          <p:cNvPr id="13" name="Text 11"/>
          <p:cNvSpPr/>
          <p:nvPr/>
        </p:nvSpPr>
        <p:spPr>
          <a:xfrm>
            <a:off x="8092440" y="2606040"/>
            <a:ext cx="1920240" cy="86868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Required</a:t>
            </a:r>
            <a:endParaRPr lang="en-US" sz="1400" dirty="0"/>
          </a:p>
          <a:p>
            <a:pPr marL="0" indent="0" algn="ctr">
              <a:buNone/>
            </a:pPr>
            <a:r>
              <a:rPr lang="en-US" sz="1400" b="1" dirty="0">
                <a:solidFill>
                  <a:srgbClr val="1E2761"/>
                </a:solidFill>
                <a:latin typeface="Calibri" pitchFamily="34" charset="0"/>
                <a:ea typeface="Calibri" pitchFamily="34" charset="-122"/>
                <a:cs typeface="Calibri" pitchFamily="34" charset="-120"/>
              </a:rPr>
              <a:t>output</a:t>
            </a:r>
            <a:endParaRPr lang="en-US" sz="1400" dirty="0"/>
          </a:p>
        </p:txBody>
      </p:sp>
      <p:sp>
        <p:nvSpPr>
          <p:cNvPr id="14" name="Text 12"/>
          <p:cNvSpPr/>
          <p:nvPr/>
        </p:nvSpPr>
        <p:spPr>
          <a:xfrm>
            <a:off x="2788920" y="3520440"/>
            <a:ext cx="7223760" cy="274320"/>
          </a:xfrm>
          <a:prstGeom prst="rect">
            <a:avLst/>
          </a:prstGeom>
          <a:noFill/>
          <a:ln/>
        </p:spPr>
        <p:txBody>
          <a:bodyPr wrap="square" lIns="0" tIns="0" rIns="0" bIns="0" rtlCol="0" anchor="ctr"/>
          <a:lstStyle/>
          <a:p>
            <a:pPr marL="0" indent="0" algn="ctr">
              <a:buNone/>
            </a:pPr>
            <a:r>
              <a:rPr lang="en-US" sz="1150" i="1" dirty="0">
                <a:solidFill>
                  <a:srgbClr val="6E7891"/>
                </a:solidFill>
                <a:latin typeface="Calibri" pitchFamily="34" charset="0"/>
                <a:ea typeface="Calibri" pitchFamily="34" charset="-122"/>
                <a:cs typeface="Calibri" pitchFamily="34" charset="-120"/>
              </a:rPr>
              <a:t>both ends must be specified, not just the middle</a:t>
            </a:r>
            <a:endParaRPr lang="en-US" sz="1150" dirty="0"/>
          </a:p>
        </p:txBody>
      </p:sp>
      <p:sp>
        <p:nvSpPr>
          <p:cNvPr id="15" name="Shape 13"/>
          <p:cNvSpPr/>
          <p:nvPr/>
        </p:nvSpPr>
        <p:spPr>
          <a:xfrm>
            <a:off x="548640" y="3977640"/>
            <a:ext cx="2615184" cy="1783080"/>
          </a:xfrm>
          <a:prstGeom prst="roundRect">
            <a:avLst>
              <a:gd name="adj" fmla="val 2564"/>
            </a:avLst>
          </a:prstGeom>
          <a:solidFill>
            <a:srgbClr val="EDF2FC"/>
          </a:solidFill>
          <a:ln w="12700">
            <a:solidFill>
              <a:srgbClr val="D6E1F5"/>
            </a:solidFill>
            <a:prstDash val="solid"/>
          </a:ln>
        </p:spPr>
        <p:txBody>
          <a:bodyPr/>
          <a:lstStyle/>
          <a:p>
            <a:endParaRPr lang="en-US"/>
          </a:p>
        </p:txBody>
      </p:sp>
      <p:sp>
        <p:nvSpPr>
          <p:cNvPr id="16" name="Text 14"/>
          <p:cNvSpPr/>
          <p:nvPr/>
        </p:nvSpPr>
        <p:spPr>
          <a:xfrm>
            <a:off x="777240" y="411480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Finiteness</a:t>
            </a:r>
            <a:endParaRPr lang="en-US" sz="1500" dirty="0"/>
          </a:p>
        </p:txBody>
      </p:sp>
      <p:sp>
        <p:nvSpPr>
          <p:cNvPr id="17" name="Text 15"/>
          <p:cNvSpPr/>
          <p:nvPr/>
        </p:nvSpPr>
        <p:spPr>
          <a:xfrm>
            <a:off x="777240" y="4462272"/>
            <a:ext cx="2194560" cy="1143000"/>
          </a:xfrm>
          <a:prstGeom prst="rect">
            <a:avLst/>
          </a:prstGeom>
          <a:noFill/>
          <a:ln/>
        </p:spPr>
        <p:txBody>
          <a:bodyPr wrap="square" lIns="0" tIns="0" rIns="0" bIns="0" rtlCol="0" anchor="t"/>
          <a:lstStyle/>
          <a:p>
            <a:pPr marL="0" indent="0">
              <a:lnSpc>
                <a:spcPct val="112000"/>
              </a:lnSpc>
              <a:buNone/>
            </a:pPr>
            <a:r>
              <a:rPr lang="en-US" sz="1200" dirty="0">
                <a:solidFill>
                  <a:srgbClr val="23293F"/>
                </a:solidFill>
                <a:latin typeface="Calibri" pitchFamily="34" charset="0"/>
                <a:ea typeface="Calibri" pitchFamily="34" charset="-122"/>
                <a:cs typeface="Calibri" pitchFamily="34" charset="-120"/>
              </a:rPr>
              <a:t>It stops. After finitely many steps, for every legitimate input.</a:t>
            </a:r>
            <a:endParaRPr lang="en-US" sz="1200" dirty="0"/>
          </a:p>
        </p:txBody>
      </p:sp>
      <p:sp>
        <p:nvSpPr>
          <p:cNvPr id="18" name="Shape 16"/>
          <p:cNvSpPr/>
          <p:nvPr/>
        </p:nvSpPr>
        <p:spPr>
          <a:xfrm>
            <a:off x="3383280" y="3977640"/>
            <a:ext cx="2615184" cy="1783080"/>
          </a:xfrm>
          <a:prstGeom prst="roundRect">
            <a:avLst>
              <a:gd name="adj" fmla="val 2564"/>
            </a:avLst>
          </a:prstGeom>
          <a:solidFill>
            <a:srgbClr val="EDF2FC"/>
          </a:solidFill>
          <a:ln w="12700">
            <a:solidFill>
              <a:srgbClr val="D6E1F5"/>
            </a:solidFill>
            <a:prstDash val="solid"/>
          </a:ln>
        </p:spPr>
        <p:txBody>
          <a:bodyPr/>
          <a:lstStyle/>
          <a:p>
            <a:endParaRPr lang="en-US"/>
          </a:p>
        </p:txBody>
      </p:sp>
      <p:sp>
        <p:nvSpPr>
          <p:cNvPr id="19" name="Text 17"/>
          <p:cNvSpPr/>
          <p:nvPr/>
        </p:nvSpPr>
        <p:spPr>
          <a:xfrm>
            <a:off x="3611880" y="411480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Definiteness</a:t>
            </a:r>
            <a:endParaRPr lang="en-US" sz="1500" dirty="0"/>
          </a:p>
        </p:txBody>
      </p:sp>
      <p:sp>
        <p:nvSpPr>
          <p:cNvPr id="20" name="Text 18"/>
          <p:cNvSpPr/>
          <p:nvPr/>
        </p:nvSpPr>
        <p:spPr>
          <a:xfrm>
            <a:off x="3611880" y="4462272"/>
            <a:ext cx="2194560" cy="1143000"/>
          </a:xfrm>
          <a:prstGeom prst="rect">
            <a:avLst/>
          </a:prstGeom>
          <a:noFill/>
          <a:ln/>
        </p:spPr>
        <p:txBody>
          <a:bodyPr wrap="square" lIns="0" tIns="0" rIns="0" bIns="0" rtlCol="0" anchor="t"/>
          <a:lstStyle/>
          <a:p>
            <a:pPr marL="0" indent="0">
              <a:lnSpc>
                <a:spcPct val="112000"/>
              </a:lnSpc>
              <a:buNone/>
            </a:pPr>
            <a:r>
              <a:rPr lang="en-US" sz="1200" dirty="0">
                <a:solidFill>
                  <a:srgbClr val="23293F"/>
                </a:solidFill>
                <a:latin typeface="Calibri" pitchFamily="34" charset="0"/>
                <a:ea typeface="Calibri" pitchFamily="34" charset="-122"/>
                <a:cs typeface="Calibri" pitchFamily="34" charset="-120"/>
              </a:rPr>
              <a:t>Every step is unambiguous. No “sort of”, no “obviously”, no reader's judgement.</a:t>
            </a:r>
            <a:endParaRPr lang="en-US" sz="1200" dirty="0"/>
          </a:p>
        </p:txBody>
      </p:sp>
      <p:sp>
        <p:nvSpPr>
          <p:cNvPr id="21" name="Shape 19"/>
          <p:cNvSpPr/>
          <p:nvPr/>
        </p:nvSpPr>
        <p:spPr>
          <a:xfrm>
            <a:off x="6217920" y="3977640"/>
            <a:ext cx="2615184" cy="1783080"/>
          </a:xfrm>
          <a:prstGeom prst="roundRect">
            <a:avLst>
              <a:gd name="adj" fmla="val 2564"/>
            </a:avLst>
          </a:prstGeom>
          <a:solidFill>
            <a:srgbClr val="EDF2FC"/>
          </a:solidFill>
          <a:ln w="12700">
            <a:solidFill>
              <a:srgbClr val="D6E1F5"/>
            </a:solidFill>
            <a:prstDash val="solid"/>
          </a:ln>
        </p:spPr>
        <p:txBody>
          <a:bodyPr/>
          <a:lstStyle/>
          <a:p>
            <a:endParaRPr lang="en-US"/>
          </a:p>
        </p:txBody>
      </p:sp>
      <p:sp>
        <p:nvSpPr>
          <p:cNvPr id="22" name="Text 20"/>
          <p:cNvSpPr/>
          <p:nvPr/>
        </p:nvSpPr>
        <p:spPr>
          <a:xfrm>
            <a:off x="6446520" y="411480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Input &amp; output</a:t>
            </a:r>
            <a:endParaRPr lang="en-US" sz="1500" dirty="0"/>
          </a:p>
        </p:txBody>
      </p:sp>
      <p:sp>
        <p:nvSpPr>
          <p:cNvPr id="23" name="Text 21"/>
          <p:cNvSpPr/>
          <p:nvPr/>
        </p:nvSpPr>
        <p:spPr>
          <a:xfrm>
            <a:off x="6446520" y="4462272"/>
            <a:ext cx="2194560" cy="1143000"/>
          </a:xfrm>
          <a:prstGeom prst="rect">
            <a:avLst/>
          </a:prstGeom>
          <a:noFill/>
          <a:ln/>
        </p:spPr>
        <p:txBody>
          <a:bodyPr wrap="square" lIns="0" tIns="0" rIns="0" bIns="0" rtlCol="0" anchor="t"/>
          <a:lstStyle/>
          <a:p>
            <a:pPr marL="0" indent="0">
              <a:lnSpc>
                <a:spcPct val="112000"/>
              </a:lnSpc>
              <a:buNone/>
            </a:pPr>
            <a:r>
              <a:rPr lang="en-US" sz="1200" dirty="0">
                <a:solidFill>
                  <a:srgbClr val="23293F"/>
                </a:solidFill>
                <a:latin typeface="Calibri" pitchFamily="34" charset="0"/>
                <a:ea typeface="Calibri" pitchFamily="34" charset="-122"/>
                <a:cs typeface="Calibri" pitchFamily="34" charset="-120"/>
              </a:rPr>
              <a:t>The legitimate inputs are stated, and what counts as the answer is stated.</a:t>
            </a:r>
            <a:endParaRPr lang="en-US" sz="1200" dirty="0"/>
          </a:p>
        </p:txBody>
      </p:sp>
      <p:sp>
        <p:nvSpPr>
          <p:cNvPr id="24" name="Shape 22"/>
          <p:cNvSpPr/>
          <p:nvPr/>
        </p:nvSpPr>
        <p:spPr>
          <a:xfrm>
            <a:off x="9052560" y="3977640"/>
            <a:ext cx="2615184" cy="1783080"/>
          </a:xfrm>
          <a:prstGeom prst="roundRect">
            <a:avLst>
              <a:gd name="adj" fmla="val 2564"/>
            </a:avLst>
          </a:prstGeom>
          <a:solidFill>
            <a:srgbClr val="EDF2FC"/>
          </a:solidFill>
          <a:ln w="12700">
            <a:solidFill>
              <a:srgbClr val="D6E1F5"/>
            </a:solidFill>
            <a:prstDash val="solid"/>
          </a:ln>
        </p:spPr>
        <p:txBody>
          <a:bodyPr/>
          <a:lstStyle/>
          <a:p>
            <a:endParaRPr lang="en-US"/>
          </a:p>
        </p:txBody>
      </p:sp>
      <p:sp>
        <p:nvSpPr>
          <p:cNvPr id="25" name="Text 23"/>
          <p:cNvSpPr/>
          <p:nvPr/>
        </p:nvSpPr>
        <p:spPr>
          <a:xfrm>
            <a:off x="9281160" y="4114800"/>
            <a:ext cx="2194560" cy="320040"/>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Effectiveness</a:t>
            </a:r>
            <a:endParaRPr lang="en-US" sz="1500" dirty="0"/>
          </a:p>
        </p:txBody>
      </p:sp>
      <p:sp>
        <p:nvSpPr>
          <p:cNvPr id="26" name="Text 24"/>
          <p:cNvSpPr/>
          <p:nvPr/>
        </p:nvSpPr>
        <p:spPr>
          <a:xfrm>
            <a:off x="9281160" y="4462272"/>
            <a:ext cx="2194560" cy="1143000"/>
          </a:xfrm>
          <a:prstGeom prst="rect">
            <a:avLst/>
          </a:prstGeom>
          <a:noFill/>
          <a:ln/>
        </p:spPr>
        <p:txBody>
          <a:bodyPr wrap="square" lIns="0" tIns="0" rIns="0" bIns="0" rtlCol="0" anchor="t"/>
          <a:lstStyle/>
          <a:p>
            <a:pPr marL="0" indent="0">
              <a:lnSpc>
                <a:spcPct val="112000"/>
              </a:lnSpc>
              <a:buNone/>
            </a:pPr>
            <a:r>
              <a:rPr lang="en-US" sz="1200" dirty="0">
                <a:solidFill>
                  <a:srgbClr val="23293F"/>
                </a:solidFill>
                <a:latin typeface="Calibri" pitchFamily="34" charset="0"/>
                <a:ea typeface="Calibri" pitchFamily="34" charset="-122"/>
                <a:cs typeface="Calibri" pitchFamily="34" charset="-120"/>
              </a:rPr>
              <a:t>Each step is something you could actually carry out with pencil and paper.</a:t>
            </a:r>
            <a:endParaRPr lang="en-US" sz="1200" dirty="0"/>
          </a:p>
        </p:txBody>
      </p:sp>
      <p:sp>
        <p:nvSpPr>
          <p:cNvPr id="27" name="Text 25"/>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28" name="Text 26"/>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 (a)</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What number does a string of bits denote?</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Unsigned binary: the symbol tells you the digit, the position tells you its weight</a:t>
            </a:r>
            <a:endParaRPr lang="en-US" sz="1350" dirty="0"/>
          </a:p>
        </p:txBody>
      </p:sp>
      <p:sp>
        <p:nvSpPr>
          <p:cNvPr id="6" name="Shape 4"/>
          <p:cNvSpPr/>
          <p:nvPr/>
        </p:nvSpPr>
        <p:spPr>
          <a:xfrm>
            <a:off x="548640" y="1417320"/>
            <a:ext cx="11091672" cy="868680"/>
          </a:xfrm>
          <a:prstGeom prst="roundRect">
            <a:avLst>
              <a:gd name="adj" fmla="val 5263"/>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22960" y="1417320"/>
            <a:ext cx="10515600" cy="868680"/>
          </a:xfrm>
          <a:prstGeom prst="rect">
            <a:avLst/>
          </a:prstGeom>
          <a:noFill/>
          <a:ln/>
        </p:spPr>
        <p:txBody>
          <a:bodyPr wrap="square" lIns="0" tIns="0" rIns="0" bIns="0" rtlCol="0" anchor="ctr"/>
          <a:lstStyle/>
          <a:p>
            <a:pPr marL="0" indent="0" algn="ctr">
              <a:buNone/>
            </a:pPr>
            <a:r>
              <a:rPr lang="en-US" sz="1800" dirty="0">
                <a:solidFill>
                  <a:srgbClr val="1E2761"/>
                </a:solidFill>
                <a:latin typeface="Cambria" pitchFamily="34" charset="0"/>
                <a:ea typeface="Cambria" pitchFamily="34" charset="-122"/>
                <a:cs typeface="Cambria" pitchFamily="34" charset="-120"/>
              </a:rPr>
              <a:t>value = x</a:t>
            </a:r>
            <a:r>
              <a:rPr lang="en-US" sz="1800" baseline="-40000" dirty="0">
                <a:solidFill>
                  <a:srgbClr val="1E2761"/>
                </a:solidFill>
                <a:latin typeface="Cambria" pitchFamily="34" charset="0"/>
                <a:ea typeface="Cambria" pitchFamily="34" charset="-122"/>
                <a:cs typeface="Cambria" pitchFamily="34" charset="-120"/>
              </a:rPr>
              <a:t>n−1</a:t>
            </a:r>
            <a:r>
              <a:rPr lang="en-US" sz="1800" dirty="0">
                <a:solidFill>
                  <a:srgbClr val="1E2761"/>
                </a:solidFill>
                <a:latin typeface="Cambria" pitchFamily="34" charset="0"/>
                <a:ea typeface="Cambria" pitchFamily="34" charset="-122"/>
                <a:cs typeface="Cambria" pitchFamily="34" charset="-120"/>
              </a:rPr>
              <a:t>·2</a:t>
            </a:r>
            <a:r>
              <a:rPr lang="en-US" sz="1800" baseline="30000" dirty="0">
                <a:solidFill>
                  <a:srgbClr val="1E2761"/>
                </a:solidFill>
                <a:latin typeface="Cambria" pitchFamily="34" charset="0"/>
                <a:ea typeface="Cambria" pitchFamily="34" charset="-122"/>
                <a:cs typeface="Cambria" pitchFamily="34" charset="-120"/>
              </a:rPr>
              <a:t>n−1</a:t>
            </a:r>
            <a:r>
              <a:rPr lang="en-US" sz="1800" dirty="0">
                <a:solidFill>
                  <a:srgbClr val="1E2761"/>
                </a:solidFill>
                <a:latin typeface="Cambria" pitchFamily="34" charset="0"/>
                <a:ea typeface="Cambria" pitchFamily="34" charset="-122"/>
                <a:cs typeface="Cambria" pitchFamily="34" charset="-120"/>
              </a:rPr>
              <a:t>  +  x</a:t>
            </a:r>
            <a:r>
              <a:rPr lang="en-US" sz="1800" baseline="-40000" dirty="0">
                <a:solidFill>
                  <a:srgbClr val="1E2761"/>
                </a:solidFill>
                <a:latin typeface="Cambria" pitchFamily="34" charset="0"/>
                <a:ea typeface="Cambria" pitchFamily="34" charset="-122"/>
                <a:cs typeface="Cambria" pitchFamily="34" charset="-120"/>
              </a:rPr>
              <a:t>n−2</a:t>
            </a:r>
            <a:r>
              <a:rPr lang="en-US" sz="1800" dirty="0">
                <a:solidFill>
                  <a:srgbClr val="1E2761"/>
                </a:solidFill>
                <a:latin typeface="Cambria" pitchFamily="34" charset="0"/>
                <a:ea typeface="Cambria" pitchFamily="34" charset="-122"/>
                <a:cs typeface="Cambria" pitchFamily="34" charset="-120"/>
              </a:rPr>
              <a:t>·2</a:t>
            </a:r>
            <a:r>
              <a:rPr lang="en-US" sz="1800" baseline="30000" dirty="0">
                <a:solidFill>
                  <a:srgbClr val="1E2761"/>
                </a:solidFill>
                <a:latin typeface="Cambria" pitchFamily="34" charset="0"/>
                <a:ea typeface="Cambria" pitchFamily="34" charset="-122"/>
                <a:cs typeface="Cambria" pitchFamily="34" charset="-120"/>
              </a:rPr>
              <a:t>n−2</a:t>
            </a:r>
            <a:r>
              <a:rPr lang="en-US" sz="1800" dirty="0">
                <a:solidFill>
                  <a:srgbClr val="1E2761"/>
                </a:solidFill>
                <a:latin typeface="Cambria" pitchFamily="34" charset="0"/>
                <a:ea typeface="Cambria" pitchFamily="34" charset="-122"/>
                <a:cs typeface="Cambria" pitchFamily="34" charset="-120"/>
              </a:rPr>
              <a:t>  +  ⋯  +  x</a:t>
            </a:r>
            <a:r>
              <a:rPr lang="en-US" sz="1800" baseline="-40000" dirty="0">
                <a:solidFill>
                  <a:srgbClr val="1E2761"/>
                </a:solidFill>
                <a:latin typeface="Cambria" pitchFamily="34" charset="0"/>
                <a:ea typeface="Cambria" pitchFamily="34" charset="-122"/>
                <a:cs typeface="Cambria" pitchFamily="34" charset="-120"/>
              </a:rPr>
              <a:t>1</a:t>
            </a:r>
            <a:r>
              <a:rPr lang="en-US" sz="1800" dirty="0">
                <a:solidFill>
                  <a:srgbClr val="1E2761"/>
                </a:solidFill>
                <a:latin typeface="Cambria" pitchFamily="34" charset="0"/>
                <a:ea typeface="Cambria" pitchFamily="34" charset="-122"/>
                <a:cs typeface="Cambria" pitchFamily="34" charset="-120"/>
              </a:rPr>
              <a:t>·2</a:t>
            </a:r>
            <a:r>
              <a:rPr lang="en-US" sz="1800" baseline="30000" dirty="0">
                <a:solidFill>
                  <a:srgbClr val="1E2761"/>
                </a:solidFill>
                <a:latin typeface="Cambria" pitchFamily="34" charset="0"/>
                <a:ea typeface="Cambria" pitchFamily="34" charset="-122"/>
                <a:cs typeface="Cambria" pitchFamily="34" charset="-120"/>
              </a:rPr>
              <a:t>1</a:t>
            </a:r>
            <a:r>
              <a:rPr lang="en-US" sz="1800" dirty="0">
                <a:solidFill>
                  <a:srgbClr val="1E2761"/>
                </a:solidFill>
                <a:latin typeface="Cambria" pitchFamily="34" charset="0"/>
                <a:ea typeface="Cambria" pitchFamily="34" charset="-122"/>
                <a:cs typeface="Cambria" pitchFamily="34" charset="-120"/>
              </a:rPr>
              <a:t>  +  x</a:t>
            </a:r>
            <a:r>
              <a:rPr lang="en-US" sz="1800" baseline="-40000" dirty="0">
                <a:solidFill>
                  <a:srgbClr val="1E2761"/>
                </a:solidFill>
                <a:latin typeface="Cambria" pitchFamily="34" charset="0"/>
                <a:ea typeface="Cambria" pitchFamily="34" charset="-122"/>
                <a:cs typeface="Cambria" pitchFamily="34" charset="-120"/>
              </a:rPr>
              <a:t>0</a:t>
            </a:r>
            <a:r>
              <a:rPr lang="en-US" sz="1800" dirty="0">
                <a:solidFill>
                  <a:srgbClr val="1E2761"/>
                </a:solidFill>
                <a:latin typeface="Cambria" pitchFamily="34" charset="0"/>
                <a:ea typeface="Cambria" pitchFamily="34" charset="-122"/>
                <a:cs typeface="Cambria" pitchFamily="34" charset="-120"/>
              </a:rPr>
              <a:t>·2</a:t>
            </a:r>
            <a:r>
              <a:rPr lang="en-US" sz="1800" baseline="30000" dirty="0">
                <a:solidFill>
                  <a:srgbClr val="1E2761"/>
                </a:solidFill>
                <a:latin typeface="Cambria" pitchFamily="34" charset="0"/>
                <a:ea typeface="Cambria" pitchFamily="34" charset="-122"/>
                <a:cs typeface="Cambria" pitchFamily="34" charset="-120"/>
              </a:rPr>
              <a:t>0</a:t>
            </a:r>
            <a:r>
              <a:rPr lang="en-US" sz="1800" dirty="0">
                <a:solidFill>
                  <a:srgbClr val="1E2761"/>
                </a:solidFill>
                <a:latin typeface="Cambria" pitchFamily="34" charset="0"/>
                <a:ea typeface="Cambria" pitchFamily="34" charset="-122"/>
                <a:cs typeface="Cambria" pitchFamily="34" charset="-120"/>
              </a:rPr>
              <a:t>        =    </a:t>
            </a:r>
            <a:r>
              <a:rPr lang="en-US" sz="2200" dirty="0">
                <a:solidFill>
                  <a:srgbClr val="1E2761"/>
                </a:solidFill>
                <a:latin typeface="Cambria" pitchFamily="34" charset="0"/>
                <a:ea typeface="Cambria" pitchFamily="34" charset="-122"/>
                <a:cs typeface="Cambria" pitchFamily="34" charset="-120"/>
              </a:rPr>
              <a:t>∑ </a:t>
            </a:r>
            <a:r>
              <a:rPr lang="en-US" sz="1800" dirty="0">
                <a:solidFill>
                  <a:srgbClr val="1E2761"/>
                </a:solidFill>
                <a:latin typeface="Cambria" pitchFamily="34" charset="0"/>
                <a:ea typeface="Cambria" pitchFamily="34" charset="-122"/>
                <a:cs typeface="Cambria" pitchFamily="34" charset="-120"/>
              </a:rPr>
              <a:t>x</a:t>
            </a:r>
            <a:r>
              <a:rPr lang="en-US" sz="1800" baseline="-40000" dirty="0">
                <a:solidFill>
                  <a:srgbClr val="1E2761"/>
                </a:solidFill>
                <a:latin typeface="Cambria" pitchFamily="34" charset="0"/>
                <a:ea typeface="Cambria" pitchFamily="34" charset="-122"/>
                <a:cs typeface="Cambria" pitchFamily="34" charset="-120"/>
              </a:rPr>
              <a:t>i</a:t>
            </a:r>
            <a:r>
              <a:rPr lang="en-US" sz="1800" dirty="0">
                <a:solidFill>
                  <a:srgbClr val="1E2761"/>
                </a:solidFill>
                <a:latin typeface="Cambria" pitchFamily="34" charset="0"/>
                <a:ea typeface="Cambria" pitchFamily="34" charset="-122"/>
                <a:cs typeface="Cambria" pitchFamily="34" charset="-120"/>
              </a:rPr>
              <a:t>·2</a:t>
            </a:r>
            <a:r>
              <a:rPr lang="en-US" sz="1800" baseline="30000" dirty="0">
                <a:solidFill>
                  <a:srgbClr val="1E2761"/>
                </a:solidFill>
                <a:latin typeface="Cambria" pitchFamily="34" charset="0"/>
                <a:ea typeface="Cambria" pitchFamily="34" charset="-122"/>
                <a:cs typeface="Cambria" pitchFamily="34" charset="-120"/>
              </a:rPr>
              <a:t>i</a:t>
            </a:r>
            <a:r>
              <a:rPr lang="en-US" sz="1300" i="1" dirty="0">
                <a:solidFill>
                  <a:srgbClr val="6E7891"/>
                </a:solidFill>
                <a:latin typeface="Cambria" pitchFamily="34" charset="0"/>
                <a:ea typeface="Cambria" pitchFamily="34" charset="-122"/>
                <a:cs typeface="Cambria" pitchFamily="34" charset="-120"/>
              </a:rPr>
              <a:t>   for  i = 0 … n−1</a:t>
            </a:r>
            <a:endParaRPr lang="en-US" sz="1800" dirty="0"/>
          </a:p>
        </p:txBody>
      </p:sp>
      <p:sp>
        <p:nvSpPr>
          <p:cNvPr id="8" name="Text 6"/>
          <p:cNvSpPr/>
          <p:nvPr/>
        </p:nvSpPr>
        <p:spPr>
          <a:xfrm>
            <a:off x="230108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7</a:t>
            </a:r>
            <a:endParaRPr lang="en-US" sz="1200" dirty="0"/>
          </a:p>
        </p:txBody>
      </p:sp>
      <p:sp>
        <p:nvSpPr>
          <p:cNvPr id="9" name="Shape 7"/>
          <p:cNvSpPr/>
          <p:nvPr/>
        </p:nvSpPr>
        <p:spPr>
          <a:xfrm>
            <a:off x="2301088" y="3063240"/>
            <a:ext cx="868680" cy="777240"/>
          </a:xfrm>
          <a:prstGeom prst="roundRect">
            <a:avLst>
              <a:gd name="adj" fmla="val 5882"/>
            </a:avLst>
          </a:prstGeom>
          <a:solidFill>
            <a:srgbClr val="1E2761"/>
          </a:solidFill>
          <a:ln w="19050">
            <a:solidFill>
              <a:srgbClr val="1E2761"/>
            </a:solidFill>
            <a:prstDash val="solid"/>
          </a:ln>
        </p:spPr>
        <p:txBody>
          <a:bodyPr/>
          <a:lstStyle/>
          <a:p>
            <a:endParaRPr lang="en-US"/>
          </a:p>
        </p:txBody>
      </p:sp>
      <p:sp>
        <p:nvSpPr>
          <p:cNvPr id="10" name="Text 8"/>
          <p:cNvSpPr/>
          <p:nvPr/>
        </p:nvSpPr>
        <p:spPr>
          <a:xfrm>
            <a:off x="2301088" y="3063240"/>
            <a:ext cx="86868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1</a:t>
            </a:r>
            <a:endParaRPr lang="en-US" sz="2400" dirty="0"/>
          </a:p>
        </p:txBody>
      </p:sp>
      <p:sp>
        <p:nvSpPr>
          <p:cNvPr id="11" name="Text 9"/>
          <p:cNvSpPr/>
          <p:nvPr/>
        </p:nvSpPr>
        <p:spPr>
          <a:xfrm>
            <a:off x="2301088" y="3904488"/>
            <a:ext cx="868680" cy="292608"/>
          </a:xfrm>
          <a:prstGeom prst="rect">
            <a:avLst/>
          </a:prstGeom>
          <a:noFill/>
          <a:ln/>
        </p:spPr>
        <p:txBody>
          <a:bodyPr wrap="square" lIns="0" tIns="0" rIns="0" bIns="0"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128</a:t>
            </a:r>
            <a:endParaRPr lang="en-US" sz="1250" dirty="0"/>
          </a:p>
        </p:txBody>
      </p:sp>
      <p:sp>
        <p:nvSpPr>
          <p:cNvPr id="12" name="Text 10"/>
          <p:cNvSpPr/>
          <p:nvPr/>
        </p:nvSpPr>
        <p:spPr>
          <a:xfrm>
            <a:off x="326120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6</a:t>
            </a:r>
            <a:endParaRPr lang="en-US" sz="1200" dirty="0"/>
          </a:p>
        </p:txBody>
      </p:sp>
      <p:sp>
        <p:nvSpPr>
          <p:cNvPr id="13" name="Shape 11"/>
          <p:cNvSpPr/>
          <p:nvPr/>
        </p:nvSpPr>
        <p:spPr>
          <a:xfrm>
            <a:off x="3261208" y="3063240"/>
            <a:ext cx="868680" cy="777240"/>
          </a:xfrm>
          <a:prstGeom prst="roundRect">
            <a:avLst>
              <a:gd name="adj" fmla="val 5882"/>
            </a:avLst>
          </a:prstGeom>
          <a:solidFill>
            <a:srgbClr val="FFFFFF"/>
          </a:solidFill>
          <a:ln w="19050">
            <a:solidFill>
              <a:srgbClr val="AFC0DE"/>
            </a:solidFill>
            <a:prstDash val="solid"/>
          </a:ln>
        </p:spPr>
        <p:txBody>
          <a:bodyPr/>
          <a:lstStyle/>
          <a:p>
            <a:endParaRPr lang="en-US"/>
          </a:p>
        </p:txBody>
      </p:sp>
      <p:sp>
        <p:nvSpPr>
          <p:cNvPr id="14" name="Text 12"/>
          <p:cNvSpPr/>
          <p:nvPr/>
        </p:nvSpPr>
        <p:spPr>
          <a:xfrm>
            <a:off x="3261208" y="3063240"/>
            <a:ext cx="868680" cy="777240"/>
          </a:xfrm>
          <a:prstGeom prst="rect">
            <a:avLst/>
          </a:prstGeom>
          <a:noFill/>
          <a:ln/>
        </p:spPr>
        <p:txBody>
          <a:bodyPr wrap="square" lIns="0" tIns="0" rIns="0" bIns="0" rtlCol="0" anchor="ctr"/>
          <a:lstStyle/>
          <a:p>
            <a:pPr marL="0" indent="0" algn="ctr">
              <a:buNone/>
            </a:pPr>
            <a:r>
              <a:rPr lang="en-US" sz="2400" b="1" dirty="0">
                <a:solidFill>
                  <a:srgbClr val="7E8CA8"/>
                </a:solidFill>
                <a:latin typeface="Courier New" pitchFamily="34" charset="0"/>
                <a:ea typeface="Courier New" pitchFamily="34" charset="-122"/>
                <a:cs typeface="Courier New" pitchFamily="34" charset="-120"/>
              </a:rPr>
              <a:t>0</a:t>
            </a:r>
            <a:endParaRPr lang="en-US" sz="2400" dirty="0"/>
          </a:p>
        </p:txBody>
      </p:sp>
      <p:sp>
        <p:nvSpPr>
          <p:cNvPr id="15" name="Text 13"/>
          <p:cNvSpPr/>
          <p:nvPr/>
        </p:nvSpPr>
        <p:spPr>
          <a:xfrm>
            <a:off x="3261208" y="3904488"/>
            <a:ext cx="868680" cy="292608"/>
          </a:xfrm>
          <a:prstGeom prst="rect">
            <a:avLst/>
          </a:prstGeom>
          <a:noFill/>
          <a:ln/>
        </p:spPr>
        <p:txBody>
          <a:bodyPr wrap="square" lIns="0" tIns="0" rIns="0" bIns="0" rtlCol="0" anchor="ctr"/>
          <a:lstStyle/>
          <a:p>
            <a:pPr marL="0" indent="0" algn="ctr">
              <a:buNone/>
            </a:pPr>
            <a:r>
              <a:rPr lang="en-US" sz="1250" dirty="0">
                <a:solidFill>
                  <a:srgbClr val="6E7891"/>
                </a:solidFill>
                <a:latin typeface="Calibri" pitchFamily="34" charset="0"/>
                <a:ea typeface="Calibri" pitchFamily="34" charset="-122"/>
                <a:cs typeface="Calibri" pitchFamily="34" charset="-120"/>
              </a:rPr>
              <a:t>64</a:t>
            </a:r>
            <a:endParaRPr lang="en-US" sz="1250" dirty="0"/>
          </a:p>
        </p:txBody>
      </p:sp>
      <p:sp>
        <p:nvSpPr>
          <p:cNvPr id="16" name="Text 14"/>
          <p:cNvSpPr/>
          <p:nvPr/>
        </p:nvSpPr>
        <p:spPr>
          <a:xfrm>
            <a:off x="422132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5</a:t>
            </a:r>
            <a:endParaRPr lang="en-US" sz="1200" dirty="0"/>
          </a:p>
        </p:txBody>
      </p:sp>
      <p:sp>
        <p:nvSpPr>
          <p:cNvPr id="17" name="Shape 15"/>
          <p:cNvSpPr/>
          <p:nvPr/>
        </p:nvSpPr>
        <p:spPr>
          <a:xfrm>
            <a:off x="4221328" y="3063240"/>
            <a:ext cx="868680" cy="777240"/>
          </a:xfrm>
          <a:prstGeom prst="roundRect">
            <a:avLst>
              <a:gd name="adj" fmla="val 5882"/>
            </a:avLst>
          </a:prstGeom>
          <a:solidFill>
            <a:srgbClr val="1E2761"/>
          </a:solidFill>
          <a:ln w="19050">
            <a:solidFill>
              <a:srgbClr val="1E2761"/>
            </a:solidFill>
            <a:prstDash val="solid"/>
          </a:ln>
        </p:spPr>
        <p:txBody>
          <a:bodyPr/>
          <a:lstStyle/>
          <a:p>
            <a:endParaRPr lang="en-US"/>
          </a:p>
        </p:txBody>
      </p:sp>
      <p:sp>
        <p:nvSpPr>
          <p:cNvPr id="18" name="Text 16"/>
          <p:cNvSpPr/>
          <p:nvPr/>
        </p:nvSpPr>
        <p:spPr>
          <a:xfrm>
            <a:off x="4221328" y="3063240"/>
            <a:ext cx="86868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1</a:t>
            </a:r>
            <a:endParaRPr lang="en-US" sz="2400" dirty="0"/>
          </a:p>
        </p:txBody>
      </p:sp>
      <p:sp>
        <p:nvSpPr>
          <p:cNvPr id="19" name="Text 17"/>
          <p:cNvSpPr/>
          <p:nvPr/>
        </p:nvSpPr>
        <p:spPr>
          <a:xfrm>
            <a:off x="4221328" y="3904488"/>
            <a:ext cx="868680" cy="292608"/>
          </a:xfrm>
          <a:prstGeom prst="rect">
            <a:avLst/>
          </a:prstGeom>
          <a:noFill/>
          <a:ln/>
        </p:spPr>
        <p:txBody>
          <a:bodyPr wrap="square" lIns="0" tIns="0" rIns="0" bIns="0"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32</a:t>
            </a:r>
            <a:endParaRPr lang="en-US" sz="1250" dirty="0"/>
          </a:p>
        </p:txBody>
      </p:sp>
      <p:sp>
        <p:nvSpPr>
          <p:cNvPr id="20" name="Text 18"/>
          <p:cNvSpPr/>
          <p:nvPr/>
        </p:nvSpPr>
        <p:spPr>
          <a:xfrm>
            <a:off x="518144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4</a:t>
            </a:r>
            <a:endParaRPr lang="en-US" sz="1200" dirty="0"/>
          </a:p>
        </p:txBody>
      </p:sp>
      <p:sp>
        <p:nvSpPr>
          <p:cNvPr id="21" name="Shape 19"/>
          <p:cNvSpPr/>
          <p:nvPr/>
        </p:nvSpPr>
        <p:spPr>
          <a:xfrm>
            <a:off x="5181448" y="3063240"/>
            <a:ext cx="868680" cy="777240"/>
          </a:xfrm>
          <a:prstGeom prst="roundRect">
            <a:avLst>
              <a:gd name="adj" fmla="val 5882"/>
            </a:avLst>
          </a:prstGeom>
          <a:solidFill>
            <a:srgbClr val="1E2761"/>
          </a:solidFill>
          <a:ln w="19050">
            <a:solidFill>
              <a:srgbClr val="1E2761"/>
            </a:solidFill>
            <a:prstDash val="solid"/>
          </a:ln>
        </p:spPr>
        <p:txBody>
          <a:bodyPr/>
          <a:lstStyle/>
          <a:p>
            <a:endParaRPr lang="en-US"/>
          </a:p>
        </p:txBody>
      </p:sp>
      <p:sp>
        <p:nvSpPr>
          <p:cNvPr id="22" name="Text 20"/>
          <p:cNvSpPr/>
          <p:nvPr/>
        </p:nvSpPr>
        <p:spPr>
          <a:xfrm>
            <a:off x="5181448" y="3063240"/>
            <a:ext cx="86868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1</a:t>
            </a:r>
            <a:endParaRPr lang="en-US" sz="2400" dirty="0"/>
          </a:p>
        </p:txBody>
      </p:sp>
      <p:sp>
        <p:nvSpPr>
          <p:cNvPr id="23" name="Text 21"/>
          <p:cNvSpPr/>
          <p:nvPr/>
        </p:nvSpPr>
        <p:spPr>
          <a:xfrm>
            <a:off x="5181448" y="3904488"/>
            <a:ext cx="868680" cy="292608"/>
          </a:xfrm>
          <a:prstGeom prst="rect">
            <a:avLst/>
          </a:prstGeom>
          <a:noFill/>
          <a:ln/>
        </p:spPr>
        <p:txBody>
          <a:bodyPr wrap="square" lIns="0" tIns="0" rIns="0" bIns="0"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16</a:t>
            </a:r>
            <a:endParaRPr lang="en-US" sz="1250" dirty="0"/>
          </a:p>
        </p:txBody>
      </p:sp>
      <p:sp>
        <p:nvSpPr>
          <p:cNvPr id="24" name="Text 22"/>
          <p:cNvSpPr/>
          <p:nvPr/>
        </p:nvSpPr>
        <p:spPr>
          <a:xfrm>
            <a:off x="614156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3</a:t>
            </a:r>
            <a:endParaRPr lang="en-US" sz="1200" dirty="0"/>
          </a:p>
        </p:txBody>
      </p:sp>
      <p:sp>
        <p:nvSpPr>
          <p:cNvPr id="25" name="Shape 23"/>
          <p:cNvSpPr/>
          <p:nvPr/>
        </p:nvSpPr>
        <p:spPr>
          <a:xfrm>
            <a:off x="6141568" y="3063240"/>
            <a:ext cx="868680" cy="777240"/>
          </a:xfrm>
          <a:prstGeom prst="roundRect">
            <a:avLst>
              <a:gd name="adj" fmla="val 5882"/>
            </a:avLst>
          </a:prstGeom>
          <a:solidFill>
            <a:srgbClr val="FFFFFF"/>
          </a:solidFill>
          <a:ln w="19050">
            <a:solidFill>
              <a:srgbClr val="AFC0DE"/>
            </a:solidFill>
            <a:prstDash val="solid"/>
          </a:ln>
        </p:spPr>
        <p:txBody>
          <a:bodyPr/>
          <a:lstStyle/>
          <a:p>
            <a:endParaRPr lang="en-US"/>
          </a:p>
        </p:txBody>
      </p:sp>
      <p:sp>
        <p:nvSpPr>
          <p:cNvPr id="26" name="Text 24"/>
          <p:cNvSpPr/>
          <p:nvPr/>
        </p:nvSpPr>
        <p:spPr>
          <a:xfrm>
            <a:off x="6141568" y="3063240"/>
            <a:ext cx="868680" cy="777240"/>
          </a:xfrm>
          <a:prstGeom prst="rect">
            <a:avLst/>
          </a:prstGeom>
          <a:noFill/>
          <a:ln/>
        </p:spPr>
        <p:txBody>
          <a:bodyPr wrap="square" lIns="0" tIns="0" rIns="0" bIns="0" rtlCol="0" anchor="ctr"/>
          <a:lstStyle/>
          <a:p>
            <a:pPr marL="0" indent="0" algn="ctr">
              <a:buNone/>
            </a:pPr>
            <a:r>
              <a:rPr lang="en-US" sz="2400" b="1" dirty="0">
                <a:solidFill>
                  <a:srgbClr val="7E8CA8"/>
                </a:solidFill>
                <a:latin typeface="Courier New" pitchFamily="34" charset="0"/>
                <a:ea typeface="Courier New" pitchFamily="34" charset="-122"/>
                <a:cs typeface="Courier New" pitchFamily="34" charset="-120"/>
              </a:rPr>
              <a:t>0</a:t>
            </a:r>
            <a:endParaRPr lang="en-US" sz="2400" dirty="0"/>
          </a:p>
        </p:txBody>
      </p:sp>
      <p:sp>
        <p:nvSpPr>
          <p:cNvPr id="27" name="Text 25"/>
          <p:cNvSpPr/>
          <p:nvPr/>
        </p:nvSpPr>
        <p:spPr>
          <a:xfrm>
            <a:off x="6141568" y="3904488"/>
            <a:ext cx="868680" cy="292608"/>
          </a:xfrm>
          <a:prstGeom prst="rect">
            <a:avLst/>
          </a:prstGeom>
          <a:noFill/>
          <a:ln/>
        </p:spPr>
        <p:txBody>
          <a:bodyPr wrap="square" lIns="0" tIns="0" rIns="0" bIns="0" rtlCol="0" anchor="ctr"/>
          <a:lstStyle/>
          <a:p>
            <a:pPr marL="0" indent="0" algn="ctr">
              <a:buNone/>
            </a:pPr>
            <a:r>
              <a:rPr lang="en-US" sz="1250" dirty="0">
                <a:solidFill>
                  <a:srgbClr val="6E7891"/>
                </a:solidFill>
                <a:latin typeface="Calibri" pitchFamily="34" charset="0"/>
                <a:ea typeface="Calibri" pitchFamily="34" charset="-122"/>
                <a:cs typeface="Calibri" pitchFamily="34" charset="-120"/>
              </a:rPr>
              <a:t>8</a:t>
            </a:r>
            <a:endParaRPr lang="en-US" sz="1250" dirty="0"/>
          </a:p>
        </p:txBody>
      </p:sp>
      <p:sp>
        <p:nvSpPr>
          <p:cNvPr id="28" name="Text 26"/>
          <p:cNvSpPr/>
          <p:nvPr/>
        </p:nvSpPr>
        <p:spPr>
          <a:xfrm>
            <a:off x="710168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2</a:t>
            </a:r>
            <a:endParaRPr lang="en-US" sz="1200" dirty="0"/>
          </a:p>
        </p:txBody>
      </p:sp>
      <p:sp>
        <p:nvSpPr>
          <p:cNvPr id="29" name="Shape 27"/>
          <p:cNvSpPr/>
          <p:nvPr/>
        </p:nvSpPr>
        <p:spPr>
          <a:xfrm>
            <a:off x="7101688" y="3063240"/>
            <a:ext cx="868680" cy="777240"/>
          </a:xfrm>
          <a:prstGeom prst="roundRect">
            <a:avLst>
              <a:gd name="adj" fmla="val 5882"/>
            </a:avLst>
          </a:prstGeom>
          <a:solidFill>
            <a:srgbClr val="FFFFFF"/>
          </a:solidFill>
          <a:ln w="19050">
            <a:solidFill>
              <a:srgbClr val="AFC0DE"/>
            </a:solidFill>
            <a:prstDash val="solid"/>
          </a:ln>
        </p:spPr>
        <p:txBody>
          <a:bodyPr/>
          <a:lstStyle/>
          <a:p>
            <a:endParaRPr lang="en-US"/>
          </a:p>
        </p:txBody>
      </p:sp>
      <p:sp>
        <p:nvSpPr>
          <p:cNvPr id="30" name="Text 28"/>
          <p:cNvSpPr/>
          <p:nvPr/>
        </p:nvSpPr>
        <p:spPr>
          <a:xfrm>
            <a:off x="7101688" y="3063240"/>
            <a:ext cx="868680" cy="777240"/>
          </a:xfrm>
          <a:prstGeom prst="rect">
            <a:avLst/>
          </a:prstGeom>
          <a:noFill/>
          <a:ln/>
        </p:spPr>
        <p:txBody>
          <a:bodyPr wrap="square" lIns="0" tIns="0" rIns="0" bIns="0" rtlCol="0" anchor="ctr"/>
          <a:lstStyle/>
          <a:p>
            <a:pPr marL="0" indent="0" algn="ctr">
              <a:buNone/>
            </a:pPr>
            <a:r>
              <a:rPr lang="en-US" sz="2400" b="1" dirty="0">
                <a:solidFill>
                  <a:srgbClr val="7E8CA8"/>
                </a:solidFill>
                <a:latin typeface="Courier New" pitchFamily="34" charset="0"/>
                <a:ea typeface="Courier New" pitchFamily="34" charset="-122"/>
                <a:cs typeface="Courier New" pitchFamily="34" charset="-120"/>
              </a:rPr>
              <a:t>0</a:t>
            </a:r>
            <a:endParaRPr lang="en-US" sz="2400" dirty="0"/>
          </a:p>
        </p:txBody>
      </p:sp>
      <p:sp>
        <p:nvSpPr>
          <p:cNvPr id="31" name="Text 29"/>
          <p:cNvSpPr/>
          <p:nvPr/>
        </p:nvSpPr>
        <p:spPr>
          <a:xfrm>
            <a:off x="7101688" y="3904488"/>
            <a:ext cx="868680" cy="292608"/>
          </a:xfrm>
          <a:prstGeom prst="rect">
            <a:avLst/>
          </a:prstGeom>
          <a:noFill/>
          <a:ln/>
        </p:spPr>
        <p:txBody>
          <a:bodyPr wrap="square" lIns="0" tIns="0" rIns="0" bIns="0" rtlCol="0" anchor="ctr"/>
          <a:lstStyle/>
          <a:p>
            <a:pPr marL="0" indent="0" algn="ctr">
              <a:buNone/>
            </a:pPr>
            <a:r>
              <a:rPr lang="en-US" sz="1250" dirty="0">
                <a:solidFill>
                  <a:srgbClr val="6E7891"/>
                </a:solidFill>
                <a:latin typeface="Calibri" pitchFamily="34" charset="0"/>
                <a:ea typeface="Calibri" pitchFamily="34" charset="-122"/>
                <a:cs typeface="Calibri" pitchFamily="34" charset="-120"/>
              </a:rPr>
              <a:t>4</a:t>
            </a:r>
            <a:endParaRPr lang="en-US" sz="1250" dirty="0"/>
          </a:p>
        </p:txBody>
      </p:sp>
      <p:sp>
        <p:nvSpPr>
          <p:cNvPr id="32" name="Text 30"/>
          <p:cNvSpPr/>
          <p:nvPr/>
        </p:nvSpPr>
        <p:spPr>
          <a:xfrm>
            <a:off x="806180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1</a:t>
            </a:r>
            <a:endParaRPr lang="en-US" sz="1200" dirty="0"/>
          </a:p>
        </p:txBody>
      </p:sp>
      <p:sp>
        <p:nvSpPr>
          <p:cNvPr id="33" name="Shape 31"/>
          <p:cNvSpPr/>
          <p:nvPr/>
        </p:nvSpPr>
        <p:spPr>
          <a:xfrm>
            <a:off x="8061808" y="3063240"/>
            <a:ext cx="868680" cy="777240"/>
          </a:xfrm>
          <a:prstGeom prst="roundRect">
            <a:avLst>
              <a:gd name="adj" fmla="val 5882"/>
            </a:avLst>
          </a:prstGeom>
          <a:solidFill>
            <a:srgbClr val="1E2761"/>
          </a:solidFill>
          <a:ln w="19050">
            <a:solidFill>
              <a:srgbClr val="1E2761"/>
            </a:solidFill>
            <a:prstDash val="solid"/>
          </a:ln>
        </p:spPr>
        <p:txBody>
          <a:bodyPr/>
          <a:lstStyle/>
          <a:p>
            <a:endParaRPr lang="en-US"/>
          </a:p>
        </p:txBody>
      </p:sp>
      <p:sp>
        <p:nvSpPr>
          <p:cNvPr id="34" name="Text 32"/>
          <p:cNvSpPr/>
          <p:nvPr/>
        </p:nvSpPr>
        <p:spPr>
          <a:xfrm>
            <a:off x="8061808" y="3063240"/>
            <a:ext cx="868680" cy="7772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1</a:t>
            </a:r>
            <a:endParaRPr lang="en-US" sz="2400" dirty="0"/>
          </a:p>
        </p:txBody>
      </p:sp>
      <p:sp>
        <p:nvSpPr>
          <p:cNvPr id="35" name="Text 33"/>
          <p:cNvSpPr/>
          <p:nvPr/>
        </p:nvSpPr>
        <p:spPr>
          <a:xfrm>
            <a:off x="8061808" y="3904488"/>
            <a:ext cx="868680" cy="292608"/>
          </a:xfrm>
          <a:prstGeom prst="rect">
            <a:avLst/>
          </a:prstGeom>
          <a:noFill/>
          <a:ln/>
        </p:spPr>
        <p:txBody>
          <a:bodyPr wrap="square" lIns="0" tIns="0" rIns="0" bIns="0"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2</a:t>
            </a:r>
            <a:endParaRPr lang="en-US" sz="1250" dirty="0"/>
          </a:p>
        </p:txBody>
      </p:sp>
      <p:sp>
        <p:nvSpPr>
          <p:cNvPr id="36" name="Text 34"/>
          <p:cNvSpPr/>
          <p:nvPr/>
        </p:nvSpPr>
        <p:spPr>
          <a:xfrm>
            <a:off x="9021928" y="2679192"/>
            <a:ext cx="868680" cy="320040"/>
          </a:xfrm>
          <a:prstGeom prst="rect">
            <a:avLst/>
          </a:prstGeom>
          <a:noFill/>
          <a:ln/>
        </p:spPr>
        <p:txBody>
          <a:bodyPr wrap="square" lIns="0" tIns="0" rIns="0" bIns="0" rtlCol="0" anchor="ctr"/>
          <a:lstStyle/>
          <a:p>
            <a:pPr marL="0" indent="0" algn="ctr">
              <a:buNone/>
            </a:pPr>
            <a:r>
              <a:rPr lang="en-US" sz="1200" dirty="0">
                <a:solidFill>
                  <a:srgbClr val="6E7891"/>
                </a:solidFill>
                <a:latin typeface="Calibri" pitchFamily="34" charset="0"/>
                <a:ea typeface="Calibri" pitchFamily="34" charset="-122"/>
                <a:cs typeface="Calibri" pitchFamily="34" charset="-120"/>
              </a:rPr>
              <a:t>x</a:t>
            </a:r>
            <a:r>
              <a:rPr lang="en-US" sz="1200" baseline="-40000" dirty="0">
                <a:solidFill>
                  <a:srgbClr val="6E7891"/>
                </a:solidFill>
                <a:latin typeface="Calibri" pitchFamily="34" charset="0"/>
                <a:ea typeface="Calibri" pitchFamily="34" charset="-122"/>
                <a:cs typeface="Calibri" pitchFamily="34" charset="-120"/>
              </a:rPr>
              <a:t>0</a:t>
            </a:r>
            <a:endParaRPr lang="en-US" sz="1200" dirty="0"/>
          </a:p>
        </p:txBody>
      </p:sp>
      <p:sp>
        <p:nvSpPr>
          <p:cNvPr id="37" name="Shape 35"/>
          <p:cNvSpPr/>
          <p:nvPr/>
        </p:nvSpPr>
        <p:spPr>
          <a:xfrm>
            <a:off x="9021928" y="3063240"/>
            <a:ext cx="868680" cy="777240"/>
          </a:xfrm>
          <a:prstGeom prst="roundRect">
            <a:avLst>
              <a:gd name="adj" fmla="val 5882"/>
            </a:avLst>
          </a:prstGeom>
          <a:solidFill>
            <a:srgbClr val="FFFFFF"/>
          </a:solidFill>
          <a:ln w="19050">
            <a:solidFill>
              <a:srgbClr val="AFC0DE"/>
            </a:solidFill>
            <a:prstDash val="solid"/>
          </a:ln>
        </p:spPr>
        <p:txBody>
          <a:bodyPr/>
          <a:lstStyle/>
          <a:p>
            <a:endParaRPr lang="en-US"/>
          </a:p>
        </p:txBody>
      </p:sp>
      <p:sp>
        <p:nvSpPr>
          <p:cNvPr id="38" name="Text 36"/>
          <p:cNvSpPr/>
          <p:nvPr/>
        </p:nvSpPr>
        <p:spPr>
          <a:xfrm>
            <a:off x="9021928" y="3063240"/>
            <a:ext cx="868680" cy="777240"/>
          </a:xfrm>
          <a:prstGeom prst="rect">
            <a:avLst/>
          </a:prstGeom>
          <a:noFill/>
          <a:ln/>
        </p:spPr>
        <p:txBody>
          <a:bodyPr wrap="square" lIns="0" tIns="0" rIns="0" bIns="0" rtlCol="0" anchor="ctr"/>
          <a:lstStyle/>
          <a:p>
            <a:pPr marL="0" indent="0" algn="ctr">
              <a:buNone/>
            </a:pPr>
            <a:r>
              <a:rPr lang="en-US" sz="2400" b="1" dirty="0">
                <a:solidFill>
                  <a:srgbClr val="7E8CA8"/>
                </a:solidFill>
                <a:latin typeface="Courier New" pitchFamily="34" charset="0"/>
                <a:ea typeface="Courier New" pitchFamily="34" charset="-122"/>
                <a:cs typeface="Courier New" pitchFamily="34" charset="-120"/>
              </a:rPr>
              <a:t>0</a:t>
            </a:r>
            <a:endParaRPr lang="en-US" sz="2400" dirty="0"/>
          </a:p>
        </p:txBody>
      </p:sp>
      <p:sp>
        <p:nvSpPr>
          <p:cNvPr id="39" name="Text 37"/>
          <p:cNvSpPr/>
          <p:nvPr/>
        </p:nvSpPr>
        <p:spPr>
          <a:xfrm>
            <a:off x="9021928" y="3904488"/>
            <a:ext cx="868680" cy="292608"/>
          </a:xfrm>
          <a:prstGeom prst="rect">
            <a:avLst/>
          </a:prstGeom>
          <a:noFill/>
          <a:ln/>
        </p:spPr>
        <p:txBody>
          <a:bodyPr wrap="square" lIns="0" tIns="0" rIns="0" bIns="0" rtlCol="0" anchor="ctr"/>
          <a:lstStyle/>
          <a:p>
            <a:pPr marL="0" indent="0" algn="ctr">
              <a:buNone/>
            </a:pPr>
            <a:r>
              <a:rPr lang="en-US" sz="1250" dirty="0">
                <a:solidFill>
                  <a:srgbClr val="6E7891"/>
                </a:solidFill>
                <a:latin typeface="Calibri" pitchFamily="34" charset="0"/>
                <a:ea typeface="Calibri" pitchFamily="34" charset="-122"/>
                <a:cs typeface="Calibri" pitchFamily="34" charset="-120"/>
              </a:rPr>
              <a:t>1</a:t>
            </a:r>
            <a:endParaRPr lang="en-US" sz="1250" dirty="0"/>
          </a:p>
        </p:txBody>
      </p:sp>
      <p:sp>
        <p:nvSpPr>
          <p:cNvPr id="40" name="Text 38"/>
          <p:cNvSpPr/>
          <p:nvPr/>
        </p:nvSpPr>
        <p:spPr>
          <a:xfrm>
            <a:off x="548640" y="4434840"/>
            <a:ext cx="11091672" cy="502920"/>
          </a:xfrm>
          <a:prstGeom prst="rect">
            <a:avLst/>
          </a:prstGeom>
          <a:noFill/>
          <a:ln/>
        </p:spPr>
        <p:txBody>
          <a:bodyPr wrap="square" lIns="0" tIns="0" rIns="0" bIns="0" rtlCol="0" anchor="ctr"/>
          <a:lstStyle/>
          <a:p>
            <a:pPr marL="0" indent="0" algn="ctr">
              <a:buNone/>
            </a:pPr>
            <a:r>
              <a:rPr lang="en-US" sz="2400" b="1" dirty="0">
                <a:solidFill>
                  <a:srgbClr val="1E2761"/>
                </a:solidFill>
                <a:latin typeface="Cambria" pitchFamily="34" charset="0"/>
                <a:ea typeface="Cambria" pitchFamily="34" charset="-122"/>
                <a:cs typeface="Cambria" pitchFamily="34" charset="-120"/>
              </a:rPr>
              <a:t>128  +  32  +  16  +  2   =   178</a:t>
            </a:r>
            <a:endParaRPr lang="en-US" sz="2400" dirty="0"/>
          </a:p>
        </p:txBody>
      </p:sp>
      <p:sp>
        <p:nvSpPr>
          <p:cNvPr id="41" name="Shape 39"/>
          <p:cNvSpPr/>
          <p:nvPr/>
        </p:nvSpPr>
        <p:spPr>
          <a:xfrm>
            <a:off x="1828800" y="5120640"/>
            <a:ext cx="8531352" cy="868680"/>
          </a:xfrm>
          <a:prstGeom prst="roundRect">
            <a:avLst>
              <a:gd name="adj" fmla="val 5263"/>
            </a:avLst>
          </a:prstGeom>
          <a:solidFill>
            <a:srgbClr val="FCF3E3"/>
          </a:solidFill>
          <a:ln w="12700">
            <a:solidFill>
              <a:srgbClr val="E8A33D"/>
            </a:solidFill>
            <a:prstDash val="solid"/>
          </a:ln>
        </p:spPr>
        <p:txBody>
          <a:bodyPr/>
          <a:lstStyle/>
          <a:p>
            <a:endParaRPr lang="en-US"/>
          </a:p>
        </p:txBody>
      </p:sp>
      <p:sp>
        <p:nvSpPr>
          <p:cNvPr id="42" name="Text 40"/>
          <p:cNvSpPr/>
          <p:nvPr/>
        </p:nvSpPr>
        <p:spPr>
          <a:xfrm>
            <a:off x="2148840" y="5120640"/>
            <a:ext cx="7909560" cy="868680"/>
          </a:xfrm>
          <a:prstGeom prst="rect">
            <a:avLst/>
          </a:prstGeom>
          <a:noFill/>
          <a:ln/>
        </p:spPr>
        <p:txBody>
          <a:bodyPr wrap="square" lIns="0" tIns="0" rIns="0" bIns="0" rtlCol="0" anchor="ctr"/>
          <a:lstStyle/>
          <a:p>
            <a:pPr marL="0" indent="0">
              <a:lnSpc>
                <a:spcPct val="110000"/>
              </a:lnSpc>
              <a:buNone/>
            </a:pPr>
            <a:r>
              <a:rPr lang="en-US" sz="1350" b="1" dirty="0">
                <a:solidFill>
                  <a:srgbClr val="23293F"/>
                </a:solidFill>
                <a:latin typeface="Calibri" pitchFamily="34" charset="0"/>
                <a:ea typeface="Calibri" pitchFamily="34" charset="-122"/>
                <a:cs typeface="Calibri" pitchFamily="34" charset="-120"/>
              </a:rPr>
              <a:t>x₀ is the least significant bit. </a:t>
            </a:r>
            <a:r>
              <a:rPr lang="en-US" sz="1350" dirty="0">
                <a:solidFill>
                  <a:srgbClr val="23293F"/>
                </a:solidFill>
                <a:latin typeface="Calibri" pitchFamily="34" charset="0"/>
                <a:ea typeface="Calibri" pitchFamily="34" charset="-122"/>
                <a:cs typeface="Calibri" pitchFamily="34" charset="-120"/>
              </a:rPr>
              <a:t>So 000011 = 3 — leading zeros cost storage, not value. And with n bits you can name exactly the numbers 0 … 2ⁿ−1.</a:t>
            </a:r>
            <a:endParaRPr lang="en-US" sz="1350" dirty="0"/>
          </a:p>
        </p:txBody>
      </p:sp>
      <p:sp>
        <p:nvSpPr>
          <p:cNvPr id="43" name="Text 41"/>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44" name="Text 42"/>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 (b),(c)</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Converting binary to decimal</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In English first, then in pseudocode — always in that order</a:t>
            </a:r>
            <a:endParaRPr lang="en-US" sz="1350" dirty="0"/>
          </a:p>
        </p:txBody>
      </p:sp>
      <p:sp>
        <p:nvSpPr>
          <p:cNvPr id="6" name="Shape 4"/>
          <p:cNvSpPr/>
          <p:nvPr/>
        </p:nvSpPr>
        <p:spPr>
          <a:xfrm>
            <a:off x="548640" y="1417320"/>
            <a:ext cx="5349240" cy="4526280"/>
          </a:xfrm>
          <a:prstGeom prst="roundRect">
            <a:avLst>
              <a:gd name="adj" fmla="val 1010"/>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68680" y="1600200"/>
            <a:ext cx="475488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In English</a:t>
            </a:r>
            <a:endParaRPr lang="en-US" sz="1600" dirty="0"/>
          </a:p>
        </p:txBody>
      </p:sp>
      <p:sp>
        <p:nvSpPr>
          <p:cNvPr id="8" name="Shape 6"/>
          <p:cNvSpPr/>
          <p:nvPr/>
        </p:nvSpPr>
        <p:spPr>
          <a:xfrm>
            <a:off x="868680" y="2093976"/>
            <a:ext cx="310896" cy="310896"/>
          </a:xfrm>
          <a:prstGeom prst="ellipse">
            <a:avLst/>
          </a:prstGeom>
          <a:solidFill>
            <a:srgbClr val="1E2761"/>
          </a:solidFill>
          <a:ln/>
        </p:spPr>
        <p:txBody>
          <a:bodyPr/>
          <a:lstStyle/>
          <a:p>
            <a:endParaRPr lang="en-US"/>
          </a:p>
        </p:txBody>
      </p:sp>
      <p:sp>
        <p:nvSpPr>
          <p:cNvPr id="9" name="Text 7"/>
          <p:cNvSpPr/>
          <p:nvPr/>
        </p:nvSpPr>
        <p:spPr>
          <a:xfrm>
            <a:off x="868680" y="2093976"/>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298448" y="2057400"/>
            <a:ext cx="4343400" cy="594360"/>
          </a:xfrm>
          <a:prstGeom prst="rect">
            <a:avLst/>
          </a:prstGeom>
          <a:noFill/>
          <a:ln/>
        </p:spPr>
        <p:txBody>
          <a:bodyPr wrap="square" lIns="0" tIns="0" rIns="0" bIns="0" rtlCol="0" anchor="t"/>
          <a:lstStyle/>
          <a:p>
            <a:pPr marL="0" indent="0">
              <a:lnSpc>
                <a:spcPct val="110000"/>
              </a:lnSpc>
              <a:buNone/>
            </a:pPr>
            <a:r>
              <a:rPr lang="en-US" sz="1350" dirty="0">
                <a:solidFill>
                  <a:srgbClr val="23293F"/>
                </a:solidFill>
                <a:latin typeface="Calibri" pitchFamily="34" charset="0"/>
                <a:ea typeface="Calibri" pitchFamily="34" charset="-122"/>
                <a:cs typeface="Calibri" pitchFamily="34" charset="-120"/>
              </a:rPr>
              <a:t>Start with the accumulator a being 0.</a:t>
            </a:r>
          </a:p>
        </p:txBody>
      </p:sp>
      <p:sp>
        <p:nvSpPr>
          <p:cNvPr id="11" name="Shape 9"/>
          <p:cNvSpPr/>
          <p:nvPr/>
        </p:nvSpPr>
        <p:spPr>
          <a:xfrm>
            <a:off x="868680" y="2752344"/>
            <a:ext cx="310896" cy="310896"/>
          </a:xfrm>
          <a:prstGeom prst="ellipse">
            <a:avLst/>
          </a:prstGeom>
          <a:solidFill>
            <a:srgbClr val="1E2761"/>
          </a:solidFill>
          <a:ln/>
        </p:spPr>
        <p:txBody>
          <a:bodyPr/>
          <a:lstStyle/>
          <a:p>
            <a:endParaRPr lang="en-US"/>
          </a:p>
        </p:txBody>
      </p:sp>
      <p:sp>
        <p:nvSpPr>
          <p:cNvPr id="12" name="Text 10"/>
          <p:cNvSpPr/>
          <p:nvPr/>
        </p:nvSpPr>
        <p:spPr>
          <a:xfrm>
            <a:off x="868680" y="2752344"/>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1298448" y="2715768"/>
            <a:ext cx="4343400" cy="594360"/>
          </a:xfrm>
          <a:prstGeom prst="rect">
            <a:avLst/>
          </a:prstGeom>
          <a:noFill/>
          <a:ln/>
        </p:spPr>
        <p:txBody>
          <a:bodyPr wrap="square" lIns="0" tIns="0" rIns="0" bIns="0" rtlCol="0" anchor="t"/>
          <a:lstStyle/>
          <a:p>
            <a:pPr marL="0" indent="0">
              <a:lnSpc>
                <a:spcPct val="110000"/>
              </a:lnSpc>
              <a:buNone/>
            </a:pPr>
            <a:r>
              <a:rPr lang="en-US" sz="1350" dirty="0">
                <a:solidFill>
                  <a:srgbClr val="23293F"/>
                </a:solidFill>
                <a:latin typeface="Calibri" pitchFamily="34" charset="0"/>
                <a:ea typeface="Calibri" pitchFamily="34" charset="-122"/>
                <a:cs typeface="Calibri" pitchFamily="34" charset="-120"/>
              </a:rPr>
              <a:t>As long as there is a next bit to process, double the value of the accumulator.</a:t>
            </a:r>
          </a:p>
        </p:txBody>
      </p:sp>
      <p:sp>
        <p:nvSpPr>
          <p:cNvPr id="14" name="Shape 12"/>
          <p:cNvSpPr/>
          <p:nvPr/>
        </p:nvSpPr>
        <p:spPr>
          <a:xfrm>
            <a:off x="868680" y="3410712"/>
            <a:ext cx="310896" cy="310896"/>
          </a:xfrm>
          <a:prstGeom prst="ellipse">
            <a:avLst/>
          </a:prstGeom>
          <a:solidFill>
            <a:srgbClr val="1E2761"/>
          </a:solidFill>
          <a:ln/>
        </p:spPr>
        <p:txBody>
          <a:bodyPr/>
          <a:lstStyle/>
          <a:p>
            <a:endParaRPr lang="en-US"/>
          </a:p>
        </p:txBody>
      </p:sp>
      <p:sp>
        <p:nvSpPr>
          <p:cNvPr id="15" name="Text 13"/>
          <p:cNvSpPr/>
          <p:nvPr/>
        </p:nvSpPr>
        <p:spPr>
          <a:xfrm>
            <a:off x="868680" y="341071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Shape 15"/>
          <p:cNvSpPr/>
          <p:nvPr/>
        </p:nvSpPr>
        <p:spPr>
          <a:xfrm>
            <a:off x="868680" y="4069080"/>
            <a:ext cx="310896" cy="310896"/>
          </a:xfrm>
          <a:prstGeom prst="ellipse">
            <a:avLst/>
          </a:prstGeom>
          <a:solidFill>
            <a:srgbClr val="1E2761"/>
          </a:solidFill>
          <a:ln/>
        </p:spPr>
        <p:txBody>
          <a:bodyPr/>
          <a:lstStyle/>
          <a:p>
            <a:endParaRPr lang="en-US"/>
          </a:p>
        </p:txBody>
      </p:sp>
      <p:sp>
        <p:nvSpPr>
          <p:cNvPr id="18" name="Text 16"/>
          <p:cNvSpPr/>
          <p:nvPr/>
        </p:nvSpPr>
        <p:spPr>
          <a:xfrm>
            <a:off x="868680" y="406908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9" name="Text 17"/>
          <p:cNvSpPr/>
          <p:nvPr/>
        </p:nvSpPr>
        <p:spPr>
          <a:xfrm>
            <a:off x="1298448" y="4032504"/>
            <a:ext cx="4343400" cy="594360"/>
          </a:xfrm>
          <a:prstGeom prst="rect">
            <a:avLst/>
          </a:prstGeom>
          <a:noFill/>
          <a:ln/>
        </p:spPr>
        <p:txBody>
          <a:bodyPr wrap="square" lIns="0" tIns="0" rIns="0" bIns="0" rtlCol="0" anchor="t"/>
          <a:lstStyle/>
          <a:p>
            <a:pPr marL="0" indent="0">
              <a:lnSpc>
                <a:spcPct val="110000"/>
              </a:lnSpc>
              <a:buNone/>
            </a:pPr>
            <a:r>
              <a:rPr lang="en-US" sz="1350" dirty="0">
                <a:solidFill>
                  <a:srgbClr val="23293F"/>
                </a:solidFill>
                <a:latin typeface="Calibri" pitchFamily="34" charset="0"/>
                <a:ea typeface="Calibri" pitchFamily="34" charset="-122"/>
                <a:cs typeface="Calibri" pitchFamily="34" charset="-120"/>
              </a:rPr>
              <a:t>When the bits run out, accumulator is the number.</a:t>
            </a:r>
            <a:endParaRPr lang="en-US" sz="1350" dirty="0"/>
          </a:p>
        </p:txBody>
      </p:sp>
      <p:sp>
        <p:nvSpPr>
          <p:cNvPr id="20" name="Shape 18"/>
          <p:cNvSpPr/>
          <p:nvPr/>
        </p:nvSpPr>
        <p:spPr>
          <a:xfrm>
            <a:off x="868680" y="4754880"/>
            <a:ext cx="4709160" cy="1005840"/>
          </a:xfrm>
          <a:prstGeom prst="roundRect">
            <a:avLst>
              <a:gd name="adj" fmla="val 4545"/>
            </a:avLst>
          </a:prstGeom>
          <a:solidFill>
            <a:srgbClr val="DCE7FA"/>
          </a:solidFill>
          <a:ln/>
        </p:spPr>
        <p:txBody>
          <a:bodyPr/>
          <a:lstStyle/>
          <a:p>
            <a:endParaRPr lang="en-US"/>
          </a:p>
        </p:txBody>
      </p:sp>
      <p:sp>
        <p:nvSpPr>
          <p:cNvPr id="21" name="Text 19"/>
          <p:cNvSpPr/>
          <p:nvPr/>
        </p:nvSpPr>
        <p:spPr>
          <a:xfrm>
            <a:off x="1097280" y="4754880"/>
            <a:ext cx="4251960" cy="1005840"/>
          </a:xfrm>
          <a:prstGeom prst="rect">
            <a:avLst/>
          </a:prstGeom>
          <a:noFill/>
          <a:ln/>
        </p:spPr>
        <p:txBody>
          <a:bodyPr wrap="square" lIns="0" tIns="0" rIns="0" bIns="0" rtlCol="0" anchor="ctr"/>
          <a:lstStyle/>
          <a:p>
            <a:pPr marL="0" indent="0">
              <a:lnSpc>
                <a:spcPct val="110000"/>
              </a:lnSpc>
              <a:buNone/>
            </a:pPr>
            <a:r>
              <a:rPr lang="en-US" sz="1250" b="1" dirty="0">
                <a:solidFill>
                  <a:srgbClr val="23293F"/>
                </a:solidFill>
                <a:latin typeface="Calibri" pitchFamily="34" charset="0"/>
                <a:ea typeface="Calibri" pitchFamily="34" charset="-122"/>
                <a:cs typeface="Calibri" pitchFamily="34" charset="-120"/>
              </a:rPr>
              <a:t>Why doubling? </a:t>
            </a:r>
            <a:r>
              <a:rPr lang="en-US" sz="1250" dirty="0">
                <a:solidFill>
                  <a:srgbClr val="23293F"/>
                </a:solidFill>
                <a:latin typeface="Calibri" pitchFamily="34" charset="0"/>
                <a:ea typeface="Calibri" pitchFamily="34" charset="-122"/>
                <a:cs typeface="Calibri" pitchFamily="34" charset="-120"/>
              </a:rPr>
              <a:t>Every step to the right multiplies the weight of everything read so far by 2. That's </a:t>
            </a:r>
            <a:r>
              <a:rPr lang="en-US" sz="1250" b="1" dirty="0">
                <a:solidFill>
                  <a:srgbClr val="23293F"/>
                </a:solidFill>
                <a:latin typeface="Calibri" pitchFamily="34" charset="0"/>
                <a:ea typeface="Calibri" pitchFamily="34" charset="-122"/>
                <a:cs typeface="Calibri" pitchFamily="34" charset="-120"/>
              </a:rPr>
              <a:t>Horner's rule </a:t>
            </a:r>
            <a:r>
              <a:rPr lang="en-US" sz="1250" dirty="0">
                <a:solidFill>
                  <a:srgbClr val="23293F"/>
                </a:solidFill>
                <a:latin typeface="Calibri" pitchFamily="34" charset="0"/>
                <a:ea typeface="Calibri" pitchFamily="34" charset="-122"/>
                <a:cs typeface="Calibri" pitchFamily="34" charset="-120"/>
              </a:rPr>
              <a:t>— and it means we never compute a power of 2.</a:t>
            </a:r>
            <a:endParaRPr lang="en-US" sz="1250" dirty="0"/>
          </a:p>
        </p:txBody>
      </p:sp>
      <p:sp>
        <p:nvSpPr>
          <p:cNvPr id="22" name="Shape 20"/>
          <p:cNvSpPr/>
          <p:nvPr/>
        </p:nvSpPr>
        <p:spPr>
          <a:xfrm>
            <a:off x="6263640" y="1417320"/>
            <a:ext cx="5376672" cy="1645920"/>
          </a:xfrm>
          <a:prstGeom prst="roundRect">
            <a:avLst>
              <a:gd name="adj" fmla="val 2222"/>
            </a:avLst>
          </a:prstGeom>
          <a:solidFill>
            <a:srgbClr val="141C3A"/>
          </a:solidFill>
          <a:ln/>
        </p:spPr>
        <p:txBody>
          <a:bodyPr/>
          <a:lstStyle/>
          <a:p>
            <a:endParaRPr lang="en-US"/>
          </a:p>
        </p:txBody>
      </p:sp>
      <p:sp>
        <p:nvSpPr>
          <p:cNvPr id="24" name="Text 22"/>
          <p:cNvSpPr/>
          <p:nvPr/>
        </p:nvSpPr>
        <p:spPr>
          <a:xfrm>
            <a:off x="6263640" y="3291840"/>
            <a:ext cx="5376672"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Trace on 10110010</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58806841"/>
              </p:ext>
            </p:extLst>
          </p:nvPr>
        </p:nvGraphicFramePr>
        <p:xfrm>
          <a:off x="6263640" y="3630168"/>
          <a:ext cx="5376672" cy="658368"/>
        </p:xfrm>
        <a:graphic>
          <a:graphicData uri="http://schemas.openxmlformats.org/drawingml/2006/table">
            <a:tbl>
              <a:tblPr/>
              <a:tblGrid>
                <a:gridCol w="1060704">
                  <a:extLst>
                    <a:ext uri="{9D8B030D-6E8A-4147-A177-3AD203B41FA5}">
                      <a16:colId xmlns:a16="http://schemas.microsoft.com/office/drawing/2014/main" val="20000"/>
                    </a:ext>
                  </a:extLst>
                </a:gridCol>
                <a:gridCol w="539496">
                  <a:extLst>
                    <a:ext uri="{9D8B030D-6E8A-4147-A177-3AD203B41FA5}">
                      <a16:colId xmlns:a16="http://schemas.microsoft.com/office/drawing/2014/main" val="20001"/>
                    </a:ext>
                  </a:extLst>
                </a:gridCol>
                <a:gridCol w="539496">
                  <a:extLst>
                    <a:ext uri="{9D8B030D-6E8A-4147-A177-3AD203B41FA5}">
                      <a16:colId xmlns:a16="http://schemas.microsoft.com/office/drawing/2014/main" val="20002"/>
                    </a:ext>
                  </a:extLst>
                </a:gridCol>
                <a:gridCol w="539496">
                  <a:extLst>
                    <a:ext uri="{9D8B030D-6E8A-4147-A177-3AD203B41FA5}">
                      <a16:colId xmlns:a16="http://schemas.microsoft.com/office/drawing/2014/main" val="20003"/>
                    </a:ext>
                  </a:extLst>
                </a:gridCol>
                <a:gridCol w="539496">
                  <a:extLst>
                    <a:ext uri="{9D8B030D-6E8A-4147-A177-3AD203B41FA5}">
                      <a16:colId xmlns:a16="http://schemas.microsoft.com/office/drawing/2014/main" val="20004"/>
                    </a:ext>
                  </a:extLst>
                </a:gridCol>
                <a:gridCol w="539496">
                  <a:extLst>
                    <a:ext uri="{9D8B030D-6E8A-4147-A177-3AD203B41FA5}">
                      <a16:colId xmlns:a16="http://schemas.microsoft.com/office/drawing/2014/main" val="20005"/>
                    </a:ext>
                  </a:extLst>
                </a:gridCol>
                <a:gridCol w="539496">
                  <a:extLst>
                    <a:ext uri="{9D8B030D-6E8A-4147-A177-3AD203B41FA5}">
                      <a16:colId xmlns:a16="http://schemas.microsoft.com/office/drawing/2014/main" val="20006"/>
                    </a:ext>
                  </a:extLst>
                </a:gridCol>
                <a:gridCol w="539496">
                  <a:extLst>
                    <a:ext uri="{9D8B030D-6E8A-4147-A177-3AD203B41FA5}">
                      <a16:colId xmlns:a16="http://schemas.microsoft.com/office/drawing/2014/main" val="20007"/>
                    </a:ext>
                  </a:extLst>
                </a:gridCol>
                <a:gridCol w="539496">
                  <a:extLst>
                    <a:ext uri="{9D8B030D-6E8A-4147-A177-3AD203B41FA5}">
                      <a16:colId xmlns:a16="http://schemas.microsoft.com/office/drawing/2014/main" val="20008"/>
                    </a:ext>
                  </a:extLst>
                </a:gridCol>
              </a:tblGrid>
              <a:tr h="329184">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bit read</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9184">
                <a:tc>
                  <a:txBody>
                    <a:bodyPr/>
                    <a:lstStyle/>
                    <a:p>
                      <a:pPr marL="0" indent="0" algn="ctr">
                        <a:buNone/>
                      </a:pPr>
                      <a:r>
                        <a:rPr lang="en-US" sz="1250" b="1" dirty="0">
                          <a:solidFill>
                            <a:srgbClr val="1E2761"/>
                          </a:solidFill>
                          <a:latin typeface="Calibri" pitchFamily="34" charset="0"/>
                          <a:ea typeface="Calibri" charset="0"/>
                          <a:cs typeface="Calibri" pitchFamily="34" charset="-120"/>
                        </a:rPr>
                        <a:t>a</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EDF2FC"/>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11</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22</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44</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89</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23293F"/>
                          </a:solidFill>
                          <a:latin typeface="Calibri" pitchFamily="34" charset="0"/>
                          <a:ea typeface="Calibri" pitchFamily="34" charset="-122"/>
                          <a:cs typeface="Calibri" pitchFamily="34" charset="-120"/>
                        </a:rPr>
                        <a:t>178</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6" name="Text 23"/>
          <p:cNvSpPr/>
          <p:nvPr/>
        </p:nvSpPr>
        <p:spPr>
          <a:xfrm>
            <a:off x="6263640" y="4389120"/>
            <a:ext cx="5376672" cy="274320"/>
          </a:xfrm>
          <a:prstGeom prst="rect">
            <a:avLst/>
          </a:prstGeom>
          <a:noFill/>
          <a:ln/>
        </p:spPr>
        <p:txBody>
          <a:bodyPr wrap="square" lIns="0" tIns="0" rIns="0" bIns="0" rtlCol="0" anchor="ctr"/>
          <a:lstStyle/>
          <a:p>
            <a:pPr marL="0" indent="0">
              <a:buNone/>
            </a:pPr>
            <a:r>
              <a:rPr lang="en-US" sz="1200" i="1" dirty="0">
                <a:solidFill>
                  <a:srgbClr val="6E7891"/>
                </a:solidFill>
                <a:latin typeface="Calibri" pitchFamily="34" charset="0"/>
                <a:ea typeface="Calibri" pitchFamily="34" charset="-122"/>
                <a:cs typeface="Calibri" pitchFamily="34" charset="-120"/>
              </a:rPr>
              <a:t>a starts at 0, and 178 falls out at the end.</a:t>
            </a:r>
            <a:endParaRPr lang="en-US" sz="1200" dirty="0"/>
          </a:p>
        </p:txBody>
      </p:sp>
      <p:sp>
        <p:nvSpPr>
          <p:cNvPr id="27" name="Shape 24"/>
          <p:cNvSpPr/>
          <p:nvPr/>
        </p:nvSpPr>
        <p:spPr>
          <a:xfrm>
            <a:off x="6263640" y="4828032"/>
            <a:ext cx="5376672" cy="1051560"/>
          </a:xfrm>
          <a:prstGeom prst="roundRect">
            <a:avLst>
              <a:gd name="adj" fmla="val 4348"/>
            </a:avLst>
          </a:prstGeom>
          <a:solidFill>
            <a:srgbClr val="FCF3E3"/>
          </a:solidFill>
          <a:ln w="12700">
            <a:solidFill>
              <a:srgbClr val="E8A33D"/>
            </a:solidFill>
            <a:prstDash val="solid"/>
          </a:ln>
        </p:spPr>
        <p:txBody>
          <a:bodyPr/>
          <a:lstStyle/>
          <a:p>
            <a:r>
              <a:rPr lang="en-US" dirty="0"/>
              <a:t>Natural language expression brings ambiguity</a:t>
            </a:r>
          </a:p>
          <a:p>
            <a:endParaRPr lang="en-US" dirty="0"/>
          </a:p>
          <a:p>
            <a:r>
              <a:rPr lang="en-US" dirty="0"/>
              <a:t>We need more structured expression -&gt; </a:t>
            </a:r>
            <a:r>
              <a:rPr lang="en-US" dirty="0" err="1"/>
              <a:t>psuedocode</a:t>
            </a:r>
            <a:endParaRPr lang="en-US" dirty="0"/>
          </a:p>
        </p:txBody>
      </p:sp>
      <p:sp>
        <p:nvSpPr>
          <p:cNvPr id="29" name="Text 26"/>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0" name="Text 27"/>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6</a:t>
            </a:r>
            <a:endParaRPr lang="en-US" sz="900" dirty="0"/>
          </a:p>
        </p:txBody>
      </p:sp>
      <p:sp>
        <p:nvSpPr>
          <p:cNvPr id="31" name="Text 11">
            <a:extLst>
              <a:ext uri="{FF2B5EF4-FFF2-40B4-BE49-F238E27FC236}">
                <a16:creationId xmlns:a16="http://schemas.microsoft.com/office/drawing/2014/main" id="{25E1C0CF-979B-57D5-2E7C-DAD4D8A499DC}"/>
              </a:ext>
            </a:extLst>
          </p:cNvPr>
          <p:cNvSpPr/>
          <p:nvPr/>
        </p:nvSpPr>
        <p:spPr>
          <a:xfrm>
            <a:off x="1298448" y="3355967"/>
            <a:ext cx="4343400" cy="594360"/>
          </a:xfrm>
          <a:prstGeom prst="rect">
            <a:avLst/>
          </a:prstGeom>
          <a:noFill/>
          <a:ln/>
        </p:spPr>
        <p:txBody>
          <a:bodyPr wrap="square" lIns="0" tIns="0" rIns="0" bIns="0" rtlCol="0" anchor="t"/>
          <a:lstStyle/>
          <a:p>
            <a:pPr marL="0" indent="0">
              <a:lnSpc>
                <a:spcPct val="110000"/>
              </a:lnSpc>
              <a:buNone/>
            </a:pPr>
            <a:r>
              <a:rPr lang="en-US" sz="1350" dirty="0">
                <a:solidFill>
                  <a:srgbClr val="23293F"/>
                </a:solidFill>
                <a:latin typeface="Calibri" pitchFamily="34" charset="0"/>
                <a:ea typeface="Calibri" pitchFamily="34" charset="-122"/>
                <a:cs typeface="Calibri" pitchFamily="34" charset="-120"/>
              </a:rPr>
              <a:t>Add the value of </a:t>
            </a:r>
            <a:r>
              <a:rPr lang="en-US" sz="1350" b="1" dirty="0">
                <a:solidFill>
                  <a:srgbClr val="23293F"/>
                </a:solidFill>
                <a:latin typeface="Calibri" pitchFamily="34" charset="0"/>
                <a:ea typeface="Calibri" pitchFamily="34" charset="-122"/>
                <a:cs typeface="Calibri" pitchFamily="34" charset="-120"/>
              </a:rPr>
              <a:t>that</a:t>
            </a:r>
            <a:r>
              <a:rPr lang="en-US" sz="1350" dirty="0">
                <a:solidFill>
                  <a:srgbClr val="23293F"/>
                </a:solidFill>
                <a:latin typeface="Calibri" pitchFamily="34" charset="0"/>
                <a:ea typeface="Calibri" pitchFamily="34" charset="-122"/>
                <a:cs typeface="Calibri" pitchFamily="34" charset="-120"/>
              </a:rPr>
              <a:t> next bit.</a:t>
            </a:r>
          </a:p>
        </p:txBody>
      </p:sp>
      <p:sp>
        <p:nvSpPr>
          <p:cNvPr id="32" name="Text 5">
            <a:extLst>
              <a:ext uri="{FF2B5EF4-FFF2-40B4-BE49-F238E27FC236}">
                <a16:creationId xmlns:a16="http://schemas.microsoft.com/office/drawing/2014/main" id="{6EBE30C0-7FD6-7D1C-9A04-A5D550817D60}"/>
              </a:ext>
            </a:extLst>
          </p:cNvPr>
          <p:cNvSpPr/>
          <p:nvPr/>
        </p:nvSpPr>
        <p:spPr>
          <a:xfrm>
            <a:off x="6373368" y="1600200"/>
            <a:ext cx="5120640" cy="1435608"/>
          </a:xfrm>
          <a:prstGeom prst="rect">
            <a:avLst/>
          </a:prstGeom>
          <a:noFill/>
          <a:ln/>
        </p:spPr>
        <p:txBody>
          <a:bodyPr wrap="square" lIns="0" tIns="0" rIns="0" bIns="0" rtlCol="0" anchor="t"/>
          <a:lstStyle/>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function binToDec(x[n−1] x[n−2] ⋯ x[1] x[0])</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a ← 0</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for i ← 0 to n−1 do</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a ← 2a + x[n−i−1]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return a</a:t>
            </a:r>
            <a:endParaRPr lang="en-US" sz="1300" dirty="0"/>
          </a:p>
        </p:txBody>
      </p:sp>
      <p:sp>
        <p:nvSpPr>
          <p:cNvPr id="33" name="Cloud Callout 32">
            <a:extLst>
              <a:ext uri="{FF2B5EF4-FFF2-40B4-BE49-F238E27FC236}">
                <a16:creationId xmlns:a16="http://schemas.microsoft.com/office/drawing/2014/main" id="{F35C5194-B421-75C7-17D4-157A967FE30F}"/>
              </a:ext>
            </a:extLst>
          </p:cNvPr>
          <p:cNvSpPr/>
          <p:nvPr/>
        </p:nvSpPr>
        <p:spPr>
          <a:xfrm>
            <a:off x="8359397" y="498764"/>
            <a:ext cx="2430523" cy="784127"/>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What’s the value of 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 (d)</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And back again: decimal to binary</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Divide by two, keep the remainders, read them upwards</a:t>
            </a:r>
            <a:endParaRPr lang="en-US" sz="1350" dirty="0"/>
          </a:p>
        </p:txBody>
      </p:sp>
      <p:sp>
        <p:nvSpPr>
          <p:cNvPr id="6" name="Shape 4"/>
          <p:cNvSpPr/>
          <p:nvPr/>
        </p:nvSpPr>
        <p:spPr>
          <a:xfrm>
            <a:off x="548640" y="1417320"/>
            <a:ext cx="5486400" cy="2148840"/>
          </a:xfrm>
          <a:prstGeom prst="roundRect">
            <a:avLst>
              <a:gd name="adj" fmla="val 2128"/>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68680" y="1572768"/>
            <a:ext cx="4846320" cy="29260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In English</a:t>
            </a:r>
            <a:endParaRPr lang="en-US" sz="1500" dirty="0"/>
          </a:p>
        </p:txBody>
      </p:sp>
      <p:sp>
        <p:nvSpPr>
          <p:cNvPr id="8" name="Text 6"/>
          <p:cNvSpPr/>
          <p:nvPr/>
        </p:nvSpPr>
        <p:spPr>
          <a:xfrm>
            <a:off x="868680" y="1920240"/>
            <a:ext cx="4846320" cy="1508760"/>
          </a:xfrm>
          <a:prstGeom prst="rect">
            <a:avLst/>
          </a:prstGeom>
          <a:noFill/>
          <a:ln/>
        </p:spPr>
        <p:txBody>
          <a:bodyPr wrap="square" lIns="0" tIns="0" rIns="0" bIns="0" rtlCol="0" anchor="t"/>
          <a:lstStyle/>
          <a:p>
            <a:pPr marL="0" indent="0">
              <a:lnSpc>
                <a:spcPct val="120000"/>
              </a:lnSpc>
              <a:spcAft>
                <a:spcPts val="600"/>
              </a:spcAft>
              <a:buNone/>
            </a:pPr>
            <a:r>
              <a:rPr lang="en-US" sz="1350" dirty="0">
                <a:solidFill>
                  <a:srgbClr val="23293F"/>
                </a:solidFill>
                <a:latin typeface="Calibri" pitchFamily="34" charset="0"/>
                <a:ea typeface="Calibri" pitchFamily="34" charset="-122"/>
                <a:cs typeface="Calibri" pitchFamily="34" charset="-120"/>
              </a:rPr>
              <a:t>Repeatedly divide the number by 2, writing down the remainder (0 or 1) each time, until the quotient is 0. </a:t>
            </a:r>
            <a:endParaRPr lang="en-US" sz="1350" dirty="0"/>
          </a:p>
          <a:p>
            <a:pPr marL="0" indent="0">
              <a:lnSpc>
                <a:spcPct val="120000"/>
              </a:lnSpc>
              <a:spcAft>
                <a:spcPts val="600"/>
              </a:spcAft>
              <a:buNone/>
            </a:pPr>
            <a:r>
              <a:rPr lang="en-US" sz="1350" dirty="0">
                <a:solidFill>
                  <a:srgbClr val="23293F"/>
                </a:solidFill>
                <a:latin typeface="Calibri" pitchFamily="34" charset="0"/>
                <a:ea typeface="Calibri" pitchFamily="34" charset="-122"/>
                <a:cs typeface="Calibri" pitchFamily="34" charset="-120"/>
              </a:rPr>
              <a:t>The remainders are the binary digits — but they come out least significant first, so read them bottom-to-top.</a:t>
            </a:r>
            <a:endParaRPr lang="en-US" sz="1350" dirty="0"/>
          </a:p>
        </p:txBody>
      </p:sp>
      <p:sp>
        <p:nvSpPr>
          <p:cNvPr id="9" name="Shape 7"/>
          <p:cNvSpPr/>
          <p:nvPr/>
        </p:nvSpPr>
        <p:spPr>
          <a:xfrm>
            <a:off x="548640" y="3703320"/>
            <a:ext cx="5486400" cy="1828800"/>
          </a:xfrm>
          <a:prstGeom prst="roundRect">
            <a:avLst>
              <a:gd name="adj" fmla="val 2000"/>
            </a:avLst>
          </a:prstGeom>
          <a:solidFill>
            <a:srgbClr val="141C3A"/>
          </a:solidFill>
          <a:ln/>
        </p:spPr>
        <p:txBody>
          <a:bodyPr/>
          <a:lstStyle/>
          <a:p>
            <a:endParaRPr lang="en-US"/>
          </a:p>
        </p:txBody>
      </p:sp>
      <p:sp>
        <p:nvSpPr>
          <p:cNvPr id="11" name="Text 9"/>
          <p:cNvSpPr/>
          <p:nvPr/>
        </p:nvSpPr>
        <p:spPr>
          <a:xfrm>
            <a:off x="548640" y="5623560"/>
            <a:ext cx="5486400" cy="320040"/>
          </a:xfrm>
          <a:prstGeom prst="rect">
            <a:avLst/>
          </a:prstGeom>
          <a:noFill/>
          <a:ln/>
        </p:spPr>
        <p:txBody>
          <a:bodyPr wrap="square" lIns="0" tIns="0" rIns="0" bIns="0" rtlCol="0" anchor="ctr"/>
          <a:lstStyle/>
          <a:p>
            <a:pPr marL="0" indent="0">
              <a:buNone/>
            </a:pPr>
            <a:r>
              <a:rPr lang="en-US" sz="1200" i="1" dirty="0">
                <a:solidFill>
                  <a:srgbClr val="B23A34"/>
                </a:solidFill>
                <a:latin typeface="Calibri" pitchFamily="34" charset="0"/>
                <a:ea typeface="Calibri" pitchFamily="34" charset="-122"/>
                <a:cs typeface="Calibri" pitchFamily="34" charset="-120"/>
              </a:rPr>
              <a:t>m = 0 needs its own line: the loop never runs and returns nothing.</a:t>
            </a:r>
            <a:endParaRPr lang="en-US" sz="1200" dirty="0"/>
          </a:p>
        </p:txBody>
      </p:sp>
      <p:sp>
        <p:nvSpPr>
          <p:cNvPr id="12" name="Shape 10"/>
          <p:cNvSpPr/>
          <p:nvPr/>
        </p:nvSpPr>
        <p:spPr>
          <a:xfrm>
            <a:off x="6400800" y="1417320"/>
            <a:ext cx="5239512" cy="4526280"/>
          </a:xfrm>
          <a:prstGeom prst="roundRect">
            <a:avLst>
              <a:gd name="adj" fmla="val 1010"/>
            </a:avLst>
          </a:prstGeom>
          <a:solidFill>
            <a:srgbClr val="FFFFFF"/>
          </a:solidFill>
          <a:ln w="12700">
            <a:solidFill>
              <a:srgbClr val="D6E1F5"/>
            </a:solidFill>
            <a:prstDash val="solid"/>
          </a:ln>
        </p:spPr>
        <p:txBody>
          <a:bodyPr/>
          <a:lstStyle/>
          <a:p>
            <a:endParaRPr lang="en-US"/>
          </a:p>
        </p:txBody>
      </p:sp>
      <p:sp>
        <p:nvSpPr>
          <p:cNvPr id="13" name="Text 11"/>
          <p:cNvSpPr/>
          <p:nvPr/>
        </p:nvSpPr>
        <p:spPr>
          <a:xfrm>
            <a:off x="6675120" y="1572768"/>
            <a:ext cx="466344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Worked example:  178</a:t>
            </a:r>
            <a:endParaRPr lang="en-US" sz="1500" dirty="0"/>
          </a:p>
        </p:txBody>
      </p:sp>
      <p:sp>
        <p:nvSpPr>
          <p:cNvPr id="14" name="Text 12"/>
          <p:cNvSpPr/>
          <p:nvPr/>
        </p:nvSpPr>
        <p:spPr>
          <a:xfrm>
            <a:off x="6858000" y="1938528"/>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178 ÷ 2  =  89</a:t>
            </a:r>
            <a:endParaRPr lang="en-US" sz="1400" dirty="0"/>
          </a:p>
        </p:txBody>
      </p:sp>
      <p:sp>
        <p:nvSpPr>
          <p:cNvPr id="15" name="Text 13"/>
          <p:cNvSpPr/>
          <p:nvPr/>
        </p:nvSpPr>
        <p:spPr>
          <a:xfrm>
            <a:off x="9052560" y="1938528"/>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16" name="Shape 14"/>
          <p:cNvSpPr/>
          <p:nvPr/>
        </p:nvSpPr>
        <p:spPr>
          <a:xfrm>
            <a:off x="10241280" y="1984248"/>
            <a:ext cx="329184" cy="310896"/>
          </a:xfrm>
          <a:prstGeom prst="roundRect">
            <a:avLst>
              <a:gd name="adj" fmla="val 14706"/>
            </a:avLst>
          </a:prstGeom>
          <a:solidFill>
            <a:srgbClr val="E4EBF8"/>
          </a:solidFill>
          <a:ln/>
        </p:spPr>
        <p:txBody>
          <a:bodyPr/>
          <a:lstStyle/>
          <a:p>
            <a:endParaRPr lang="en-US"/>
          </a:p>
        </p:txBody>
      </p:sp>
      <p:sp>
        <p:nvSpPr>
          <p:cNvPr id="17" name="Text 15"/>
          <p:cNvSpPr/>
          <p:nvPr/>
        </p:nvSpPr>
        <p:spPr>
          <a:xfrm>
            <a:off x="10241280" y="1984248"/>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18" name="Text 16"/>
          <p:cNvSpPr/>
          <p:nvPr/>
        </p:nvSpPr>
        <p:spPr>
          <a:xfrm>
            <a:off x="6858000" y="2377440"/>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89 ÷ 2  =  44</a:t>
            </a:r>
            <a:endParaRPr lang="en-US" sz="1400" dirty="0"/>
          </a:p>
        </p:txBody>
      </p:sp>
      <p:sp>
        <p:nvSpPr>
          <p:cNvPr id="19" name="Text 17"/>
          <p:cNvSpPr/>
          <p:nvPr/>
        </p:nvSpPr>
        <p:spPr>
          <a:xfrm>
            <a:off x="9052560" y="2377440"/>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0" name="Shape 18"/>
          <p:cNvSpPr/>
          <p:nvPr/>
        </p:nvSpPr>
        <p:spPr>
          <a:xfrm>
            <a:off x="10241280" y="2423160"/>
            <a:ext cx="329184" cy="310896"/>
          </a:xfrm>
          <a:prstGeom prst="roundRect">
            <a:avLst>
              <a:gd name="adj" fmla="val 14706"/>
            </a:avLst>
          </a:prstGeom>
          <a:solidFill>
            <a:srgbClr val="1E2761"/>
          </a:solidFill>
          <a:ln/>
        </p:spPr>
        <p:txBody>
          <a:bodyPr/>
          <a:lstStyle/>
          <a:p>
            <a:endParaRPr lang="en-US"/>
          </a:p>
        </p:txBody>
      </p:sp>
      <p:sp>
        <p:nvSpPr>
          <p:cNvPr id="21" name="Text 19"/>
          <p:cNvSpPr/>
          <p:nvPr/>
        </p:nvSpPr>
        <p:spPr>
          <a:xfrm>
            <a:off x="10241280" y="2423160"/>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22" name="Text 20"/>
          <p:cNvSpPr/>
          <p:nvPr/>
        </p:nvSpPr>
        <p:spPr>
          <a:xfrm>
            <a:off x="6858000" y="2816352"/>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44 ÷ 2  =  22</a:t>
            </a:r>
            <a:endParaRPr lang="en-US" sz="1400" dirty="0"/>
          </a:p>
        </p:txBody>
      </p:sp>
      <p:sp>
        <p:nvSpPr>
          <p:cNvPr id="23" name="Text 21"/>
          <p:cNvSpPr/>
          <p:nvPr/>
        </p:nvSpPr>
        <p:spPr>
          <a:xfrm>
            <a:off x="9052560" y="2816352"/>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4" name="Shape 22"/>
          <p:cNvSpPr/>
          <p:nvPr/>
        </p:nvSpPr>
        <p:spPr>
          <a:xfrm>
            <a:off x="10241280" y="2862072"/>
            <a:ext cx="329184" cy="310896"/>
          </a:xfrm>
          <a:prstGeom prst="roundRect">
            <a:avLst>
              <a:gd name="adj" fmla="val 14706"/>
            </a:avLst>
          </a:prstGeom>
          <a:solidFill>
            <a:srgbClr val="E4EBF8"/>
          </a:solidFill>
          <a:ln/>
        </p:spPr>
        <p:txBody>
          <a:bodyPr/>
          <a:lstStyle/>
          <a:p>
            <a:endParaRPr lang="en-US"/>
          </a:p>
        </p:txBody>
      </p:sp>
      <p:sp>
        <p:nvSpPr>
          <p:cNvPr id="25" name="Text 23"/>
          <p:cNvSpPr/>
          <p:nvPr/>
        </p:nvSpPr>
        <p:spPr>
          <a:xfrm>
            <a:off x="10241280" y="2862072"/>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26" name="Text 24"/>
          <p:cNvSpPr/>
          <p:nvPr/>
        </p:nvSpPr>
        <p:spPr>
          <a:xfrm>
            <a:off x="6858000" y="3255264"/>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22 ÷ 2  =  11</a:t>
            </a:r>
            <a:endParaRPr lang="en-US" sz="1400" dirty="0"/>
          </a:p>
        </p:txBody>
      </p:sp>
      <p:sp>
        <p:nvSpPr>
          <p:cNvPr id="27" name="Text 25"/>
          <p:cNvSpPr/>
          <p:nvPr/>
        </p:nvSpPr>
        <p:spPr>
          <a:xfrm>
            <a:off x="9052560" y="3255264"/>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8" name="Shape 26"/>
          <p:cNvSpPr/>
          <p:nvPr/>
        </p:nvSpPr>
        <p:spPr>
          <a:xfrm>
            <a:off x="10241280" y="3300984"/>
            <a:ext cx="329184" cy="310896"/>
          </a:xfrm>
          <a:prstGeom prst="roundRect">
            <a:avLst>
              <a:gd name="adj" fmla="val 14706"/>
            </a:avLst>
          </a:prstGeom>
          <a:solidFill>
            <a:srgbClr val="E4EBF8"/>
          </a:solidFill>
          <a:ln/>
        </p:spPr>
        <p:txBody>
          <a:bodyPr/>
          <a:lstStyle/>
          <a:p>
            <a:endParaRPr lang="en-US"/>
          </a:p>
        </p:txBody>
      </p:sp>
      <p:sp>
        <p:nvSpPr>
          <p:cNvPr id="29" name="Text 27"/>
          <p:cNvSpPr/>
          <p:nvPr/>
        </p:nvSpPr>
        <p:spPr>
          <a:xfrm>
            <a:off x="10241280" y="3300984"/>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30" name="Text 28"/>
          <p:cNvSpPr/>
          <p:nvPr/>
        </p:nvSpPr>
        <p:spPr>
          <a:xfrm>
            <a:off x="6858000" y="3694176"/>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11 ÷ 2  =  5</a:t>
            </a:r>
            <a:endParaRPr lang="en-US" sz="1400" dirty="0"/>
          </a:p>
        </p:txBody>
      </p:sp>
      <p:sp>
        <p:nvSpPr>
          <p:cNvPr id="31" name="Text 29"/>
          <p:cNvSpPr/>
          <p:nvPr/>
        </p:nvSpPr>
        <p:spPr>
          <a:xfrm>
            <a:off x="9052560" y="3694176"/>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32" name="Shape 30"/>
          <p:cNvSpPr/>
          <p:nvPr/>
        </p:nvSpPr>
        <p:spPr>
          <a:xfrm>
            <a:off x="10241280" y="3739896"/>
            <a:ext cx="329184" cy="310896"/>
          </a:xfrm>
          <a:prstGeom prst="roundRect">
            <a:avLst>
              <a:gd name="adj" fmla="val 14706"/>
            </a:avLst>
          </a:prstGeom>
          <a:solidFill>
            <a:srgbClr val="1E2761"/>
          </a:solidFill>
          <a:ln/>
        </p:spPr>
        <p:txBody>
          <a:bodyPr/>
          <a:lstStyle/>
          <a:p>
            <a:endParaRPr lang="en-US"/>
          </a:p>
        </p:txBody>
      </p:sp>
      <p:sp>
        <p:nvSpPr>
          <p:cNvPr id="33" name="Text 31"/>
          <p:cNvSpPr/>
          <p:nvPr/>
        </p:nvSpPr>
        <p:spPr>
          <a:xfrm>
            <a:off x="10241280" y="3739896"/>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34" name="Text 32"/>
          <p:cNvSpPr/>
          <p:nvPr/>
        </p:nvSpPr>
        <p:spPr>
          <a:xfrm>
            <a:off x="6858000" y="4133088"/>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5 ÷ 2  =  2</a:t>
            </a:r>
            <a:endParaRPr lang="en-US" sz="1400" dirty="0"/>
          </a:p>
        </p:txBody>
      </p:sp>
      <p:sp>
        <p:nvSpPr>
          <p:cNvPr id="35" name="Text 33"/>
          <p:cNvSpPr/>
          <p:nvPr/>
        </p:nvSpPr>
        <p:spPr>
          <a:xfrm>
            <a:off x="9052560" y="4133088"/>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36" name="Shape 34"/>
          <p:cNvSpPr/>
          <p:nvPr/>
        </p:nvSpPr>
        <p:spPr>
          <a:xfrm>
            <a:off x="10241280" y="4178808"/>
            <a:ext cx="329184" cy="310896"/>
          </a:xfrm>
          <a:prstGeom prst="roundRect">
            <a:avLst>
              <a:gd name="adj" fmla="val 14706"/>
            </a:avLst>
          </a:prstGeom>
          <a:solidFill>
            <a:srgbClr val="1E2761"/>
          </a:solidFill>
          <a:ln/>
        </p:spPr>
        <p:txBody>
          <a:bodyPr/>
          <a:lstStyle/>
          <a:p>
            <a:endParaRPr lang="en-US"/>
          </a:p>
        </p:txBody>
      </p:sp>
      <p:sp>
        <p:nvSpPr>
          <p:cNvPr id="37" name="Text 35"/>
          <p:cNvSpPr/>
          <p:nvPr/>
        </p:nvSpPr>
        <p:spPr>
          <a:xfrm>
            <a:off x="10241280" y="4178808"/>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38" name="Text 36"/>
          <p:cNvSpPr/>
          <p:nvPr/>
        </p:nvSpPr>
        <p:spPr>
          <a:xfrm>
            <a:off x="6858000" y="4572000"/>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2 ÷ 2  =  1</a:t>
            </a:r>
            <a:endParaRPr lang="en-US" sz="1400" dirty="0"/>
          </a:p>
        </p:txBody>
      </p:sp>
      <p:sp>
        <p:nvSpPr>
          <p:cNvPr id="39" name="Text 37"/>
          <p:cNvSpPr/>
          <p:nvPr/>
        </p:nvSpPr>
        <p:spPr>
          <a:xfrm>
            <a:off x="9052560" y="4572000"/>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40" name="Shape 38"/>
          <p:cNvSpPr/>
          <p:nvPr/>
        </p:nvSpPr>
        <p:spPr>
          <a:xfrm>
            <a:off x="10241280" y="4617720"/>
            <a:ext cx="329184" cy="310896"/>
          </a:xfrm>
          <a:prstGeom prst="roundRect">
            <a:avLst>
              <a:gd name="adj" fmla="val 14706"/>
            </a:avLst>
          </a:prstGeom>
          <a:solidFill>
            <a:srgbClr val="E4EBF8"/>
          </a:solidFill>
          <a:ln/>
        </p:spPr>
        <p:txBody>
          <a:bodyPr/>
          <a:lstStyle/>
          <a:p>
            <a:endParaRPr lang="en-US"/>
          </a:p>
        </p:txBody>
      </p:sp>
      <p:sp>
        <p:nvSpPr>
          <p:cNvPr id="41" name="Text 39"/>
          <p:cNvSpPr/>
          <p:nvPr/>
        </p:nvSpPr>
        <p:spPr>
          <a:xfrm>
            <a:off x="10241280" y="4617720"/>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42" name="Text 40"/>
          <p:cNvSpPr/>
          <p:nvPr/>
        </p:nvSpPr>
        <p:spPr>
          <a:xfrm>
            <a:off x="6858000" y="5010912"/>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 ÷ 2  =  0</a:t>
            </a:r>
            <a:endParaRPr lang="en-US" sz="1400" dirty="0"/>
          </a:p>
        </p:txBody>
      </p:sp>
      <p:sp>
        <p:nvSpPr>
          <p:cNvPr id="43" name="Text 41"/>
          <p:cNvSpPr/>
          <p:nvPr/>
        </p:nvSpPr>
        <p:spPr>
          <a:xfrm>
            <a:off x="9052560" y="5010912"/>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44" name="Shape 42"/>
          <p:cNvSpPr/>
          <p:nvPr/>
        </p:nvSpPr>
        <p:spPr>
          <a:xfrm>
            <a:off x="10241280" y="5056632"/>
            <a:ext cx="329184" cy="310896"/>
          </a:xfrm>
          <a:prstGeom prst="roundRect">
            <a:avLst>
              <a:gd name="adj" fmla="val 14706"/>
            </a:avLst>
          </a:prstGeom>
          <a:solidFill>
            <a:srgbClr val="1E2761"/>
          </a:solidFill>
          <a:ln/>
        </p:spPr>
        <p:txBody>
          <a:bodyPr/>
          <a:lstStyle/>
          <a:p>
            <a:endParaRPr lang="en-US"/>
          </a:p>
        </p:txBody>
      </p:sp>
      <p:sp>
        <p:nvSpPr>
          <p:cNvPr id="45" name="Text 43"/>
          <p:cNvSpPr/>
          <p:nvPr/>
        </p:nvSpPr>
        <p:spPr>
          <a:xfrm>
            <a:off x="10241280" y="5056632"/>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46" name="Shape 44"/>
          <p:cNvSpPr/>
          <p:nvPr/>
        </p:nvSpPr>
        <p:spPr>
          <a:xfrm>
            <a:off x="10927080" y="2057400"/>
            <a:ext cx="0" cy="3291840"/>
          </a:xfrm>
          <a:prstGeom prst="line">
            <a:avLst/>
          </a:prstGeom>
          <a:noFill/>
          <a:ln w="25400">
            <a:solidFill>
              <a:srgbClr val="E8A33D"/>
            </a:solidFill>
            <a:prstDash val="solid"/>
          </a:ln>
        </p:spPr>
        <p:txBody>
          <a:bodyPr/>
          <a:lstStyle/>
          <a:p>
            <a:endParaRPr lang="en-US"/>
          </a:p>
        </p:txBody>
      </p:sp>
      <p:sp>
        <p:nvSpPr>
          <p:cNvPr id="47" name="Shape 45"/>
          <p:cNvSpPr/>
          <p:nvPr/>
        </p:nvSpPr>
        <p:spPr>
          <a:xfrm>
            <a:off x="10780776" y="1828800"/>
            <a:ext cx="292608" cy="246888"/>
          </a:xfrm>
          <a:prstGeom prst="triangle">
            <a:avLst/>
          </a:prstGeom>
          <a:solidFill>
            <a:srgbClr val="E8A33D"/>
          </a:solidFill>
          <a:ln/>
        </p:spPr>
        <p:txBody>
          <a:bodyPr/>
          <a:lstStyle/>
          <a:p>
            <a:endParaRPr lang="en-US"/>
          </a:p>
        </p:txBody>
      </p:sp>
      <p:sp>
        <p:nvSpPr>
          <p:cNvPr id="48" name="Text 46"/>
          <p:cNvSpPr/>
          <p:nvPr/>
        </p:nvSpPr>
        <p:spPr>
          <a:xfrm>
            <a:off x="11018520" y="3291840"/>
            <a:ext cx="566928" cy="640080"/>
          </a:xfrm>
          <a:prstGeom prst="rect">
            <a:avLst/>
          </a:prstGeom>
          <a:noFill/>
          <a:ln/>
        </p:spPr>
        <p:txBody>
          <a:bodyPr wrap="square" lIns="0" tIns="0" rIns="0" bIns="0" rtlCol="0" anchor="ctr"/>
          <a:lstStyle/>
          <a:p>
            <a:pPr marL="0" indent="0">
              <a:buNone/>
            </a:pPr>
            <a:r>
              <a:rPr lang="en-US" sz="1050" b="1" dirty="0">
                <a:solidFill>
                  <a:srgbClr val="E8A33D"/>
                </a:solidFill>
                <a:latin typeface="Calibri" pitchFamily="34" charset="0"/>
                <a:ea typeface="Calibri" pitchFamily="34" charset="-122"/>
                <a:cs typeface="Calibri" pitchFamily="34" charset="-120"/>
              </a:rPr>
              <a:t>read</a:t>
            </a:r>
            <a:endParaRPr lang="en-US" sz="1050" dirty="0"/>
          </a:p>
          <a:p>
            <a:pPr marL="0" indent="0">
              <a:buNone/>
            </a:pPr>
            <a:r>
              <a:rPr lang="en-US" sz="1050" b="1" dirty="0">
                <a:solidFill>
                  <a:srgbClr val="E8A33D"/>
                </a:solidFill>
                <a:latin typeface="Calibri" pitchFamily="34" charset="0"/>
                <a:ea typeface="Calibri" pitchFamily="34" charset="-122"/>
                <a:cs typeface="Calibri" pitchFamily="34" charset="-120"/>
              </a:rPr>
              <a:t>upwards</a:t>
            </a:r>
            <a:endParaRPr lang="en-US" sz="1050" dirty="0"/>
          </a:p>
        </p:txBody>
      </p:sp>
      <p:sp>
        <p:nvSpPr>
          <p:cNvPr id="49" name="Text 47"/>
          <p:cNvSpPr/>
          <p:nvPr/>
        </p:nvSpPr>
        <p:spPr>
          <a:xfrm>
            <a:off x="6675120" y="5440680"/>
            <a:ext cx="3657600" cy="365760"/>
          </a:xfrm>
          <a:prstGeom prst="rect">
            <a:avLst/>
          </a:prstGeom>
          <a:noFill/>
          <a:ln/>
        </p:spPr>
        <p:txBody>
          <a:bodyPr wrap="square" lIns="0" tIns="0" rIns="0" bIns="0" rtlCol="0" anchor="ctr"/>
          <a:lstStyle/>
          <a:p>
            <a:pPr marL="0" indent="0">
              <a:buNone/>
            </a:pPr>
            <a:r>
              <a:rPr lang="en-US" sz="1900" b="1" dirty="0">
                <a:solidFill>
                  <a:srgbClr val="1E2761"/>
                </a:solidFill>
                <a:latin typeface="Courier New" pitchFamily="34" charset="0"/>
                <a:ea typeface="Courier New" pitchFamily="34" charset="-122"/>
                <a:cs typeface="Courier New" pitchFamily="34" charset="-120"/>
              </a:rPr>
              <a:t>=  10110010</a:t>
            </a:r>
            <a:endParaRPr lang="en-US" sz="1900" dirty="0"/>
          </a:p>
        </p:txBody>
      </p:sp>
      <p:sp>
        <p:nvSpPr>
          <p:cNvPr id="50" name="Text 48"/>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51" name="Text 49"/>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0F3769-EB18-2090-4F0E-6913504C1A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F623004-EDE7-B8B7-3A8C-DADFBC6612BE}"/>
              </a:ext>
            </a:extLst>
          </p:cNvPr>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A998D537-2605-E567-2103-21F16BA8AC13}"/>
              </a:ext>
            </a:extLst>
          </p:cNvPr>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 (d)</a:t>
            </a:r>
            <a:endParaRPr lang="en-US" sz="1300" dirty="0"/>
          </a:p>
        </p:txBody>
      </p:sp>
      <p:sp>
        <p:nvSpPr>
          <p:cNvPr id="4" name="Text 2">
            <a:extLst>
              <a:ext uri="{FF2B5EF4-FFF2-40B4-BE49-F238E27FC236}">
                <a16:creationId xmlns:a16="http://schemas.microsoft.com/office/drawing/2014/main" id="{27137310-28F2-B6A2-F21E-986B09774FFA}"/>
              </a:ext>
            </a:extLst>
          </p:cNvPr>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And back again: decimal to binary</a:t>
            </a:r>
            <a:endParaRPr lang="en-US" sz="2900" dirty="0"/>
          </a:p>
        </p:txBody>
      </p:sp>
      <p:sp>
        <p:nvSpPr>
          <p:cNvPr id="5" name="Text 3">
            <a:extLst>
              <a:ext uri="{FF2B5EF4-FFF2-40B4-BE49-F238E27FC236}">
                <a16:creationId xmlns:a16="http://schemas.microsoft.com/office/drawing/2014/main" id="{55F52D6E-CD53-B1D0-278D-16436CB8E5EC}"/>
              </a:ext>
            </a:extLst>
          </p:cNvPr>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Divide by two, keep the remainders, read them upwards</a:t>
            </a:r>
            <a:endParaRPr lang="en-US" sz="1350" dirty="0"/>
          </a:p>
        </p:txBody>
      </p:sp>
      <p:sp>
        <p:nvSpPr>
          <p:cNvPr id="6" name="Shape 4">
            <a:extLst>
              <a:ext uri="{FF2B5EF4-FFF2-40B4-BE49-F238E27FC236}">
                <a16:creationId xmlns:a16="http://schemas.microsoft.com/office/drawing/2014/main" id="{E82E490A-5BBD-E2AC-D069-2DB57CFC1D27}"/>
              </a:ext>
            </a:extLst>
          </p:cNvPr>
          <p:cNvSpPr/>
          <p:nvPr/>
        </p:nvSpPr>
        <p:spPr>
          <a:xfrm>
            <a:off x="548640" y="1417320"/>
            <a:ext cx="5486400" cy="2148840"/>
          </a:xfrm>
          <a:prstGeom prst="roundRect">
            <a:avLst>
              <a:gd name="adj" fmla="val 2128"/>
            </a:avLst>
          </a:prstGeom>
          <a:solidFill>
            <a:srgbClr val="EDF2FC"/>
          </a:solidFill>
          <a:ln w="12700">
            <a:solidFill>
              <a:srgbClr val="D6E1F5"/>
            </a:solidFill>
            <a:prstDash val="solid"/>
          </a:ln>
        </p:spPr>
        <p:txBody>
          <a:bodyPr/>
          <a:lstStyle/>
          <a:p>
            <a:endParaRPr lang="en-US"/>
          </a:p>
        </p:txBody>
      </p:sp>
      <p:sp>
        <p:nvSpPr>
          <p:cNvPr id="7" name="Text 5">
            <a:extLst>
              <a:ext uri="{FF2B5EF4-FFF2-40B4-BE49-F238E27FC236}">
                <a16:creationId xmlns:a16="http://schemas.microsoft.com/office/drawing/2014/main" id="{1ABC65AD-A447-70DB-EE86-D319FD2D0196}"/>
              </a:ext>
            </a:extLst>
          </p:cNvPr>
          <p:cNvSpPr/>
          <p:nvPr/>
        </p:nvSpPr>
        <p:spPr>
          <a:xfrm>
            <a:off x="868680" y="1572768"/>
            <a:ext cx="4846320" cy="29260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In English</a:t>
            </a:r>
            <a:endParaRPr lang="en-US" sz="1500" dirty="0"/>
          </a:p>
        </p:txBody>
      </p:sp>
      <p:sp>
        <p:nvSpPr>
          <p:cNvPr id="8" name="Text 6">
            <a:extLst>
              <a:ext uri="{FF2B5EF4-FFF2-40B4-BE49-F238E27FC236}">
                <a16:creationId xmlns:a16="http://schemas.microsoft.com/office/drawing/2014/main" id="{F4786A5B-0609-0B70-FF71-2FEB8717104E}"/>
              </a:ext>
            </a:extLst>
          </p:cNvPr>
          <p:cNvSpPr/>
          <p:nvPr/>
        </p:nvSpPr>
        <p:spPr>
          <a:xfrm>
            <a:off x="868680" y="1920240"/>
            <a:ext cx="4846320" cy="1508760"/>
          </a:xfrm>
          <a:prstGeom prst="rect">
            <a:avLst/>
          </a:prstGeom>
          <a:noFill/>
          <a:ln/>
        </p:spPr>
        <p:txBody>
          <a:bodyPr wrap="square" lIns="0" tIns="0" rIns="0" bIns="0" rtlCol="0" anchor="t"/>
          <a:lstStyle/>
          <a:p>
            <a:pPr marL="0" indent="0">
              <a:lnSpc>
                <a:spcPct val="120000"/>
              </a:lnSpc>
              <a:spcAft>
                <a:spcPts val="600"/>
              </a:spcAft>
              <a:buNone/>
            </a:pPr>
            <a:r>
              <a:rPr lang="en-US" sz="1350" dirty="0">
                <a:solidFill>
                  <a:srgbClr val="23293F"/>
                </a:solidFill>
                <a:latin typeface="Calibri" pitchFamily="34" charset="0"/>
                <a:ea typeface="Calibri" pitchFamily="34" charset="-122"/>
                <a:cs typeface="Calibri" pitchFamily="34" charset="-120"/>
              </a:rPr>
              <a:t>Repeatedly divide the number by 2, writing down the remainder (0 or 1) each time, until the quotient is 0. </a:t>
            </a:r>
            <a:endParaRPr lang="en-US" sz="1350" dirty="0"/>
          </a:p>
          <a:p>
            <a:pPr marL="0" indent="0">
              <a:lnSpc>
                <a:spcPct val="120000"/>
              </a:lnSpc>
              <a:spcAft>
                <a:spcPts val="600"/>
              </a:spcAft>
              <a:buNone/>
            </a:pPr>
            <a:r>
              <a:rPr lang="en-US" sz="1350" dirty="0">
                <a:solidFill>
                  <a:srgbClr val="23293F"/>
                </a:solidFill>
                <a:latin typeface="Calibri" pitchFamily="34" charset="0"/>
                <a:ea typeface="Calibri" pitchFamily="34" charset="-122"/>
                <a:cs typeface="Calibri" pitchFamily="34" charset="-120"/>
              </a:rPr>
              <a:t>The remainders are the binary digits — but they come out least significant first, so read them bottom-to-top.</a:t>
            </a:r>
            <a:endParaRPr lang="en-US" sz="1350" dirty="0"/>
          </a:p>
        </p:txBody>
      </p:sp>
      <p:sp>
        <p:nvSpPr>
          <p:cNvPr id="9" name="Shape 7">
            <a:extLst>
              <a:ext uri="{FF2B5EF4-FFF2-40B4-BE49-F238E27FC236}">
                <a16:creationId xmlns:a16="http://schemas.microsoft.com/office/drawing/2014/main" id="{DB6665F9-3FA4-AE7A-57C4-BA9AE6333E9A}"/>
              </a:ext>
            </a:extLst>
          </p:cNvPr>
          <p:cNvSpPr/>
          <p:nvPr/>
        </p:nvSpPr>
        <p:spPr>
          <a:xfrm>
            <a:off x="548640" y="3703320"/>
            <a:ext cx="5486400" cy="1828800"/>
          </a:xfrm>
          <a:prstGeom prst="roundRect">
            <a:avLst>
              <a:gd name="adj" fmla="val 2000"/>
            </a:avLst>
          </a:prstGeom>
          <a:solidFill>
            <a:srgbClr val="141C3A"/>
          </a:solidFill>
          <a:ln/>
        </p:spPr>
        <p:txBody>
          <a:bodyPr/>
          <a:lstStyle/>
          <a:p>
            <a:endParaRPr lang="en-US"/>
          </a:p>
        </p:txBody>
      </p:sp>
      <p:sp>
        <p:nvSpPr>
          <p:cNvPr id="10" name="Text 8">
            <a:extLst>
              <a:ext uri="{FF2B5EF4-FFF2-40B4-BE49-F238E27FC236}">
                <a16:creationId xmlns:a16="http://schemas.microsoft.com/office/drawing/2014/main" id="{CE30B4B7-3322-8974-C609-37F6A2E08B8A}"/>
              </a:ext>
            </a:extLst>
          </p:cNvPr>
          <p:cNvSpPr/>
          <p:nvPr/>
        </p:nvSpPr>
        <p:spPr>
          <a:xfrm>
            <a:off x="749808" y="3831336"/>
            <a:ext cx="5120640" cy="1572768"/>
          </a:xfrm>
          <a:prstGeom prst="rect">
            <a:avLst/>
          </a:prstGeom>
          <a:noFill/>
          <a:ln/>
        </p:spPr>
        <p:txBody>
          <a:bodyPr wrap="square" lIns="0" tIns="0" rIns="0" bIns="0" rtlCol="0" anchor="t"/>
          <a:lstStyle/>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function DecToBin(m)          // m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s ← empty string</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while m &gt; 0 do</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s ← (m mod 2) </a:t>
            </a:r>
            <a:r>
              <a:rPr lang="en-US" sz="1300" b="1" dirty="0">
                <a:solidFill>
                  <a:srgbClr val="E7EDFA"/>
                </a:solidFill>
                <a:latin typeface="Courier New" pitchFamily="34" charset="0"/>
                <a:ea typeface="Courier New" pitchFamily="34" charset="-122"/>
                <a:cs typeface="Courier New" pitchFamily="34" charset="-120"/>
              </a:rPr>
              <a:t>prepended</a:t>
            </a:r>
            <a:r>
              <a:rPr lang="en-US" sz="1300" dirty="0">
                <a:solidFill>
                  <a:srgbClr val="E7EDFA"/>
                </a:solidFill>
                <a:latin typeface="Courier New" pitchFamily="34" charset="0"/>
                <a:ea typeface="Courier New" pitchFamily="34" charset="-122"/>
                <a:cs typeface="Courier New" pitchFamily="34" charset="-120"/>
              </a:rPr>
              <a:t> to s</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m ← ⌊m / 2⌋</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return s</a:t>
            </a:r>
            <a:endParaRPr lang="en-US" sz="1300" dirty="0"/>
          </a:p>
        </p:txBody>
      </p:sp>
      <p:sp>
        <p:nvSpPr>
          <p:cNvPr id="11" name="Text 9">
            <a:extLst>
              <a:ext uri="{FF2B5EF4-FFF2-40B4-BE49-F238E27FC236}">
                <a16:creationId xmlns:a16="http://schemas.microsoft.com/office/drawing/2014/main" id="{F0F65168-AA85-E1A8-C80D-90D4FC040ABE}"/>
              </a:ext>
            </a:extLst>
          </p:cNvPr>
          <p:cNvSpPr/>
          <p:nvPr/>
        </p:nvSpPr>
        <p:spPr>
          <a:xfrm>
            <a:off x="548640" y="5623560"/>
            <a:ext cx="5486400" cy="320040"/>
          </a:xfrm>
          <a:prstGeom prst="rect">
            <a:avLst/>
          </a:prstGeom>
          <a:noFill/>
          <a:ln/>
        </p:spPr>
        <p:txBody>
          <a:bodyPr wrap="square" lIns="0" tIns="0" rIns="0" bIns="0" rtlCol="0" anchor="ctr"/>
          <a:lstStyle/>
          <a:p>
            <a:pPr marL="0" indent="0">
              <a:buNone/>
            </a:pPr>
            <a:r>
              <a:rPr lang="en-US" sz="1200" i="1" dirty="0">
                <a:solidFill>
                  <a:srgbClr val="B23A34"/>
                </a:solidFill>
                <a:latin typeface="Calibri" pitchFamily="34" charset="0"/>
                <a:ea typeface="Calibri" pitchFamily="34" charset="-122"/>
                <a:cs typeface="Calibri" pitchFamily="34" charset="-120"/>
              </a:rPr>
              <a:t>m = 0 needs its own line: the loop never runs and returns nothing.</a:t>
            </a:r>
            <a:endParaRPr lang="en-US" sz="1200" dirty="0"/>
          </a:p>
        </p:txBody>
      </p:sp>
      <p:sp>
        <p:nvSpPr>
          <p:cNvPr id="12" name="Shape 10">
            <a:extLst>
              <a:ext uri="{FF2B5EF4-FFF2-40B4-BE49-F238E27FC236}">
                <a16:creationId xmlns:a16="http://schemas.microsoft.com/office/drawing/2014/main" id="{5A483DEE-7CCC-B56A-1F90-F76EAB80D574}"/>
              </a:ext>
            </a:extLst>
          </p:cNvPr>
          <p:cNvSpPr/>
          <p:nvPr/>
        </p:nvSpPr>
        <p:spPr>
          <a:xfrm>
            <a:off x="6400800" y="1417320"/>
            <a:ext cx="5239512" cy="4526280"/>
          </a:xfrm>
          <a:prstGeom prst="roundRect">
            <a:avLst>
              <a:gd name="adj" fmla="val 1010"/>
            </a:avLst>
          </a:prstGeom>
          <a:solidFill>
            <a:srgbClr val="FFFFFF"/>
          </a:solidFill>
          <a:ln w="12700">
            <a:solidFill>
              <a:srgbClr val="D6E1F5"/>
            </a:solidFill>
            <a:prstDash val="solid"/>
          </a:ln>
        </p:spPr>
        <p:txBody>
          <a:bodyPr/>
          <a:lstStyle/>
          <a:p>
            <a:endParaRPr lang="en-US"/>
          </a:p>
        </p:txBody>
      </p:sp>
      <p:sp>
        <p:nvSpPr>
          <p:cNvPr id="13" name="Text 11">
            <a:extLst>
              <a:ext uri="{FF2B5EF4-FFF2-40B4-BE49-F238E27FC236}">
                <a16:creationId xmlns:a16="http://schemas.microsoft.com/office/drawing/2014/main" id="{FB60D598-DEC1-3812-B6DC-0BDC295473C8}"/>
              </a:ext>
            </a:extLst>
          </p:cNvPr>
          <p:cNvSpPr/>
          <p:nvPr/>
        </p:nvSpPr>
        <p:spPr>
          <a:xfrm>
            <a:off x="6675120" y="1572768"/>
            <a:ext cx="4663440" cy="32004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Worked example:  178</a:t>
            </a:r>
            <a:endParaRPr lang="en-US" sz="1500" dirty="0"/>
          </a:p>
        </p:txBody>
      </p:sp>
      <p:sp>
        <p:nvSpPr>
          <p:cNvPr id="14" name="Text 12">
            <a:extLst>
              <a:ext uri="{FF2B5EF4-FFF2-40B4-BE49-F238E27FC236}">
                <a16:creationId xmlns:a16="http://schemas.microsoft.com/office/drawing/2014/main" id="{C39106D7-16D6-73AF-4D9C-DBC6CA23C06F}"/>
              </a:ext>
            </a:extLst>
          </p:cNvPr>
          <p:cNvSpPr/>
          <p:nvPr/>
        </p:nvSpPr>
        <p:spPr>
          <a:xfrm>
            <a:off x="6858000" y="1938528"/>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178 ÷ 2  =  89</a:t>
            </a:r>
            <a:endParaRPr lang="en-US" sz="1400" dirty="0"/>
          </a:p>
        </p:txBody>
      </p:sp>
      <p:sp>
        <p:nvSpPr>
          <p:cNvPr id="15" name="Text 13">
            <a:extLst>
              <a:ext uri="{FF2B5EF4-FFF2-40B4-BE49-F238E27FC236}">
                <a16:creationId xmlns:a16="http://schemas.microsoft.com/office/drawing/2014/main" id="{C354E937-BFA3-4905-7F3D-87BE38B0150B}"/>
              </a:ext>
            </a:extLst>
          </p:cNvPr>
          <p:cNvSpPr/>
          <p:nvPr/>
        </p:nvSpPr>
        <p:spPr>
          <a:xfrm>
            <a:off x="9052560" y="1938528"/>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16" name="Shape 14">
            <a:extLst>
              <a:ext uri="{FF2B5EF4-FFF2-40B4-BE49-F238E27FC236}">
                <a16:creationId xmlns:a16="http://schemas.microsoft.com/office/drawing/2014/main" id="{E5A93A34-CDF0-5316-B611-879EA078F047}"/>
              </a:ext>
            </a:extLst>
          </p:cNvPr>
          <p:cNvSpPr/>
          <p:nvPr/>
        </p:nvSpPr>
        <p:spPr>
          <a:xfrm>
            <a:off x="10241280" y="1984248"/>
            <a:ext cx="329184" cy="310896"/>
          </a:xfrm>
          <a:prstGeom prst="roundRect">
            <a:avLst>
              <a:gd name="adj" fmla="val 14706"/>
            </a:avLst>
          </a:prstGeom>
          <a:solidFill>
            <a:srgbClr val="E4EBF8"/>
          </a:solidFill>
          <a:ln/>
        </p:spPr>
        <p:txBody>
          <a:bodyPr/>
          <a:lstStyle/>
          <a:p>
            <a:endParaRPr lang="en-US"/>
          </a:p>
        </p:txBody>
      </p:sp>
      <p:sp>
        <p:nvSpPr>
          <p:cNvPr id="17" name="Text 15">
            <a:extLst>
              <a:ext uri="{FF2B5EF4-FFF2-40B4-BE49-F238E27FC236}">
                <a16:creationId xmlns:a16="http://schemas.microsoft.com/office/drawing/2014/main" id="{BF92FA63-251C-BD93-DBBB-D317DADF71C7}"/>
              </a:ext>
            </a:extLst>
          </p:cNvPr>
          <p:cNvSpPr/>
          <p:nvPr/>
        </p:nvSpPr>
        <p:spPr>
          <a:xfrm>
            <a:off x="10241280" y="1984248"/>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18" name="Text 16">
            <a:extLst>
              <a:ext uri="{FF2B5EF4-FFF2-40B4-BE49-F238E27FC236}">
                <a16:creationId xmlns:a16="http://schemas.microsoft.com/office/drawing/2014/main" id="{7917C474-BC8E-BDCB-4709-1396204F376A}"/>
              </a:ext>
            </a:extLst>
          </p:cNvPr>
          <p:cNvSpPr/>
          <p:nvPr/>
        </p:nvSpPr>
        <p:spPr>
          <a:xfrm>
            <a:off x="6858000" y="2377440"/>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89 ÷ 2  =  44</a:t>
            </a:r>
            <a:endParaRPr lang="en-US" sz="1400" dirty="0"/>
          </a:p>
        </p:txBody>
      </p:sp>
      <p:sp>
        <p:nvSpPr>
          <p:cNvPr id="19" name="Text 17">
            <a:extLst>
              <a:ext uri="{FF2B5EF4-FFF2-40B4-BE49-F238E27FC236}">
                <a16:creationId xmlns:a16="http://schemas.microsoft.com/office/drawing/2014/main" id="{DD744563-632D-18E3-6E29-DB37B3F5381B}"/>
              </a:ext>
            </a:extLst>
          </p:cNvPr>
          <p:cNvSpPr/>
          <p:nvPr/>
        </p:nvSpPr>
        <p:spPr>
          <a:xfrm>
            <a:off x="9052560" y="2377440"/>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0" name="Shape 18">
            <a:extLst>
              <a:ext uri="{FF2B5EF4-FFF2-40B4-BE49-F238E27FC236}">
                <a16:creationId xmlns:a16="http://schemas.microsoft.com/office/drawing/2014/main" id="{E926D3FF-CE06-5D6F-89AB-274C58BFB3FF}"/>
              </a:ext>
            </a:extLst>
          </p:cNvPr>
          <p:cNvSpPr/>
          <p:nvPr/>
        </p:nvSpPr>
        <p:spPr>
          <a:xfrm>
            <a:off x="10241280" y="2423160"/>
            <a:ext cx="329184" cy="310896"/>
          </a:xfrm>
          <a:prstGeom prst="roundRect">
            <a:avLst>
              <a:gd name="adj" fmla="val 14706"/>
            </a:avLst>
          </a:prstGeom>
          <a:solidFill>
            <a:srgbClr val="1E2761"/>
          </a:solidFill>
          <a:ln/>
        </p:spPr>
        <p:txBody>
          <a:bodyPr/>
          <a:lstStyle/>
          <a:p>
            <a:endParaRPr lang="en-US"/>
          </a:p>
        </p:txBody>
      </p:sp>
      <p:sp>
        <p:nvSpPr>
          <p:cNvPr id="21" name="Text 19">
            <a:extLst>
              <a:ext uri="{FF2B5EF4-FFF2-40B4-BE49-F238E27FC236}">
                <a16:creationId xmlns:a16="http://schemas.microsoft.com/office/drawing/2014/main" id="{F71C6E2D-6F15-35CC-1454-EC1ACB418300}"/>
              </a:ext>
            </a:extLst>
          </p:cNvPr>
          <p:cNvSpPr/>
          <p:nvPr/>
        </p:nvSpPr>
        <p:spPr>
          <a:xfrm>
            <a:off x="10241280" y="2423160"/>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22" name="Text 20">
            <a:extLst>
              <a:ext uri="{FF2B5EF4-FFF2-40B4-BE49-F238E27FC236}">
                <a16:creationId xmlns:a16="http://schemas.microsoft.com/office/drawing/2014/main" id="{239C206C-CB6C-364C-8735-90ECF36AD55E}"/>
              </a:ext>
            </a:extLst>
          </p:cNvPr>
          <p:cNvSpPr/>
          <p:nvPr/>
        </p:nvSpPr>
        <p:spPr>
          <a:xfrm>
            <a:off x="6858000" y="2816352"/>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44 ÷ 2  =  22</a:t>
            </a:r>
            <a:endParaRPr lang="en-US" sz="1400" dirty="0"/>
          </a:p>
        </p:txBody>
      </p:sp>
      <p:sp>
        <p:nvSpPr>
          <p:cNvPr id="23" name="Text 21">
            <a:extLst>
              <a:ext uri="{FF2B5EF4-FFF2-40B4-BE49-F238E27FC236}">
                <a16:creationId xmlns:a16="http://schemas.microsoft.com/office/drawing/2014/main" id="{CF6DB219-95F9-F4C3-430B-BC7ADD647EDC}"/>
              </a:ext>
            </a:extLst>
          </p:cNvPr>
          <p:cNvSpPr/>
          <p:nvPr/>
        </p:nvSpPr>
        <p:spPr>
          <a:xfrm>
            <a:off x="9052560" y="2816352"/>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4" name="Shape 22">
            <a:extLst>
              <a:ext uri="{FF2B5EF4-FFF2-40B4-BE49-F238E27FC236}">
                <a16:creationId xmlns:a16="http://schemas.microsoft.com/office/drawing/2014/main" id="{32ED03EB-EB26-F6E6-F8F8-9FA56C072D57}"/>
              </a:ext>
            </a:extLst>
          </p:cNvPr>
          <p:cNvSpPr/>
          <p:nvPr/>
        </p:nvSpPr>
        <p:spPr>
          <a:xfrm>
            <a:off x="10241280" y="2862072"/>
            <a:ext cx="329184" cy="310896"/>
          </a:xfrm>
          <a:prstGeom prst="roundRect">
            <a:avLst>
              <a:gd name="adj" fmla="val 14706"/>
            </a:avLst>
          </a:prstGeom>
          <a:solidFill>
            <a:srgbClr val="E4EBF8"/>
          </a:solidFill>
          <a:ln/>
        </p:spPr>
        <p:txBody>
          <a:bodyPr/>
          <a:lstStyle/>
          <a:p>
            <a:endParaRPr lang="en-US"/>
          </a:p>
        </p:txBody>
      </p:sp>
      <p:sp>
        <p:nvSpPr>
          <p:cNvPr id="25" name="Text 23">
            <a:extLst>
              <a:ext uri="{FF2B5EF4-FFF2-40B4-BE49-F238E27FC236}">
                <a16:creationId xmlns:a16="http://schemas.microsoft.com/office/drawing/2014/main" id="{88100482-A5E7-6938-1169-B0A7DE95B814}"/>
              </a:ext>
            </a:extLst>
          </p:cNvPr>
          <p:cNvSpPr/>
          <p:nvPr/>
        </p:nvSpPr>
        <p:spPr>
          <a:xfrm>
            <a:off x="10241280" y="2862072"/>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26" name="Text 24">
            <a:extLst>
              <a:ext uri="{FF2B5EF4-FFF2-40B4-BE49-F238E27FC236}">
                <a16:creationId xmlns:a16="http://schemas.microsoft.com/office/drawing/2014/main" id="{5E109A12-D0B7-74AF-2D95-3C8DA2D318EA}"/>
              </a:ext>
            </a:extLst>
          </p:cNvPr>
          <p:cNvSpPr/>
          <p:nvPr/>
        </p:nvSpPr>
        <p:spPr>
          <a:xfrm>
            <a:off x="6858000" y="3255264"/>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22 ÷ 2  =  11</a:t>
            </a:r>
            <a:endParaRPr lang="en-US" sz="1400" dirty="0"/>
          </a:p>
        </p:txBody>
      </p:sp>
      <p:sp>
        <p:nvSpPr>
          <p:cNvPr id="27" name="Text 25">
            <a:extLst>
              <a:ext uri="{FF2B5EF4-FFF2-40B4-BE49-F238E27FC236}">
                <a16:creationId xmlns:a16="http://schemas.microsoft.com/office/drawing/2014/main" id="{38CB3753-51CA-D46E-D654-901DEA6D5B86}"/>
              </a:ext>
            </a:extLst>
          </p:cNvPr>
          <p:cNvSpPr/>
          <p:nvPr/>
        </p:nvSpPr>
        <p:spPr>
          <a:xfrm>
            <a:off x="9052560" y="3255264"/>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28" name="Shape 26">
            <a:extLst>
              <a:ext uri="{FF2B5EF4-FFF2-40B4-BE49-F238E27FC236}">
                <a16:creationId xmlns:a16="http://schemas.microsoft.com/office/drawing/2014/main" id="{FF69024F-77A1-1D41-9A44-BB1F41BEA057}"/>
              </a:ext>
            </a:extLst>
          </p:cNvPr>
          <p:cNvSpPr/>
          <p:nvPr/>
        </p:nvSpPr>
        <p:spPr>
          <a:xfrm>
            <a:off x="10241280" y="3300984"/>
            <a:ext cx="329184" cy="310896"/>
          </a:xfrm>
          <a:prstGeom prst="roundRect">
            <a:avLst>
              <a:gd name="adj" fmla="val 14706"/>
            </a:avLst>
          </a:prstGeom>
          <a:solidFill>
            <a:srgbClr val="E4EBF8"/>
          </a:solidFill>
          <a:ln/>
        </p:spPr>
        <p:txBody>
          <a:bodyPr/>
          <a:lstStyle/>
          <a:p>
            <a:endParaRPr lang="en-US"/>
          </a:p>
        </p:txBody>
      </p:sp>
      <p:sp>
        <p:nvSpPr>
          <p:cNvPr id="29" name="Text 27">
            <a:extLst>
              <a:ext uri="{FF2B5EF4-FFF2-40B4-BE49-F238E27FC236}">
                <a16:creationId xmlns:a16="http://schemas.microsoft.com/office/drawing/2014/main" id="{CF52F394-A1B1-386B-8078-301369E411F1}"/>
              </a:ext>
            </a:extLst>
          </p:cNvPr>
          <p:cNvSpPr/>
          <p:nvPr/>
        </p:nvSpPr>
        <p:spPr>
          <a:xfrm>
            <a:off x="10241280" y="3300984"/>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30" name="Text 28">
            <a:extLst>
              <a:ext uri="{FF2B5EF4-FFF2-40B4-BE49-F238E27FC236}">
                <a16:creationId xmlns:a16="http://schemas.microsoft.com/office/drawing/2014/main" id="{75FF8479-857C-3259-1D54-8E5782AC8BC5}"/>
              </a:ext>
            </a:extLst>
          </p:cNvPr>
          <p:cNvSpPr/>
          <p:nvPr/>
        </p:nvSpPr>
        <p:spPr>
          <a:xfrm>
            <a:off x="6858000" y="3694176"/>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11 ÷ 2  =  5</a:t>
            </a:r>
            <a:endParaRPr lang="en-US" sz="1400" dirty="0"/>
          </a:p>
        </p:txBody>
      </p:sp>
      <p:sp>
        <p:nvSpPr>
          <p:cNvPr id="31" name="Text 29">
            <a:extLst>
              <a:ext uri="{FF2B5EF4-FFF2-40B4-BE49-F238E27FC236}">
                <a16:creationId xmlns:a16="http://schemas.microsoft.com/office/drawing/2014/main" id="{293ED1FB-F5B6-13B7-9CA6-2E2E127FFCC5}"/>
              </a:ext>
            </a:extLst>
          </p:cNvPr>
          <p:cNvSpPr/>
          <p:nvPr/>
        </p:nvSpPr>
        <p:spPr>
          <a:xfrm>
            <a:off x="9052560" y="3694176"/>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32" name="Shape 30">
            <a:extLst>
              <a:ext uri="{FF2B5EF4-FFF2-40B4-BE49-F238E27FC236}">
                <a16:creationId xmlns:a16="http://schemas.microsoft.com/office/drawing/2014/main" id="{7422A4C2-A0CE-148C-14E3-1B11429A3C6C}"/>
              </a:ext>
            </a:extLst>
          </p:cNvPr>
          <p:cNvSpPr/>
          <p:nvPr/>
        </p:nvSpPr>
        <p:spPr>
          <a:xfrm>
            <a:off x="10241280" y="3739896"/>
            <a:ext cx="329184" cy="310896"/>
          </a:xfrm>
          <a:prstGeom prst="roundRect">
            <a:avLst>
              <a:gd name="adj" fmla="val 14706"/>
            </a:avLst>
          </a:prstGeom>
          <a:solidFill>
            <a:srgbClr val="1E2761"/>
          </a:solidFill>
          <a:ln/>
        </p:spPr>
        <p:txBody>
          <a:bodyPr/>
          <a:lstStyle/>
          <a:p>
            <a:endParaRPr lang="en-US"/>
          </a:p>
        </p:txBody>
      </p:sp>
      <p:sp>
        <p:nvSpPr>
          <p:cNvPr id="33" name="Text 31">
            <a:extLst>
              <a:ext uri="{FF2B5EF4-FFF2-40B4-BE49-F238E27FC236}">
                <a16:creationId xmlns:a16="http://schemas.microsoft.com/office/drawing/2014/main" id="{19F41063-1243-F2D2-6A1D-BB47DC9F29A1}"/>
              </a:ext>
            </a:extLst>
          </p:cNvPr>
          <p:cNvSpPr/>
          <p:nvPr/>
        </p:nvSpPr>
        <p:spPr>
          <a:xfrm>
            <a:off x="10241280" y="3739896"/>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34" name="Text 32">
            <a:extLst>
              <a:ext uri="{FF2B5EF4-FFF2-40B4-BE49-F238E27FC236}">
                <a16:creationId xmlns:a16="http://schemas.microsoft.com/office/drawing/2014/main" id="{332A3801-B94E-BA59-F1F8-2E50F3DCAB0D}"/>
              </a:ext>
            </a:extLst>
          </p:cNvPr>
          <p:cNvSpPr/>
          <p:nvPr/>
        </p:nvSpPr>
        <p:spPr>
          <a:xfrm>
            <a:off x="6858000" y="4133088"/>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5 ÷ 2  =  2</a:t>
            </a:r>
            <a:endParaRPr lang="en-US" sz="1400" dirty="0"/>
          </a:p>
        </p:txBody>
      </p:sp>
      <p:sp>
        <p:nvSpPr>
          <p:cNvPr id="35" name="Text 33">
            <a:extLst>
              <a:ext uri="{FF2B5EF4-FFF2-40B4-BE49-F238E27FC236}">
                <a16:creationId xmlns:a16="http://schemas.microsoft.com/office/drawing/2014/main" id="{4274E48F-A573-5AF5-6387-2722970CCFA9}"/>
              </a:ext>
            </a:extLst>
          </p:cNvPr>
          <p:cNvSpPr/>
          <p:nvPr/>
        </p:nvSpPr>
        <p:spPr>
          <a:xfrm>
            <a:off x="9052560" y="4133088"/>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36" name="Shape 34">
            <a:extLst>
              <a:ext uri="{FF2B5EF4-FFF2-40B4-BE49-F238E27FC236}">
                <a16:creationId xmlns:a16="http://schemas.microsoft.com/office/drawing/2014/main" id="{16427A92-FFAD-80D3-6D51-64555C7F6B30}"/>
              </a:ext>
            </a:extLst>
          </p:cNvPr>
          <p:cNvSpPr/>
          <p:nvPr/>
        </p:nvSpPr>
        <p:spPr>
          <a:xfrm>
            <a:off x="10241280" y="4178808"/>
            <a:ext cx="329184" cy="310896"/>
          </a:xfrm>
          <a:prstGeom prst="roundRect">
            <a:avLst>
              <a:gd name="adj" fmla="val 14706"/>
            </a:avLst>
          </a:prstGeom>
          <a:solidFill>
            <a:srgbClr val="1E2761"/>
          </a:solidFill>
          <a:ln/>
        </p:spPr>
        <p:txBody>
          <a:bodyPr/>
          <a:lstStyle/>
          <a:p>
            <a:endParaRPr lang="en-US"/>
          </a:p>
        </p:txBody>
      </p:sp>
      <p:sp>
        <p:nvSpPr>
          <p:cNvPr id="37" name="Text 35">
            <a:extLst>
              <a:ext uri="{FF2B5EF4-FFF2-40B4-BE49-F238E27FC236}">
                <a16:creationId xmlns:a16="http://schemas.microsoft.com/office/drawing/2014/main" id="{16A5D039-D033-59A3-4442-8ADC8E515563}"/>
              </a:ext>
            </a:extLst>
          </p:cNvPr>
          <p:cNvSpPr/>
          <p:nvPr/>
        </p:nvSpPr>
        <p:spPr>
          <a:xfrm>
            <a:off x="10241280" y="4178808"/>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38" name="Text 36">
            <a:extLst>
              <a:ext uri="{FF2B5EF4-FFF2-40B4-BE49-F238E27FC236}">
                <a16:creationId xmlns:a16="http://schemas.microsoft.com/office/drawing/2014/main" id="{5ED72A73-0709-AE86-423E-280F6DA416FE}"/>
              </a:ext>
            </a:extLst>
          </p:cNvPr>
          <p:cNvSpPr/>
          <p:nvPr/>
        </p:nvSpPr>
        <p:spPr>
          <a:xfrm>
            <a:off x="6858000" y="4572000"/>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2 ÷ 2  =  1</a:t>
            </a:r>
            <a:endParaRPr lang="en-US" sz="1400" dirty="0"/>
          </a:p>
        </p:txBody>
      </p:sp>
      <p:sp>
        <p:nvSpPr>
          <p:cNvPr id="39" name="Text 37">
            <a:extLst>
              <a:ext uri="{FF2B5EF4-FFF2-40B4-BE49-F238E27FC236}">
                <a16:creationId xmlns:a16="http://schemas.microsoft.com/office/drawing/2014/main" id="{D42E21F7-5581-A3F1-AEDC-3F2AACD53629}"/>
              </a:ext>
            </a:extLst>
          </p:cNvPr>
          <p:cNvSpPr/>
          <p:nvPr/>
        </p:nvSpPr>
        <p:spPr>
          <a:xfrm>
            <a:off x="9052560" y="4572000"/>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40" name="Shape 38">
            <a:extLst>
              <a:ext uri="{FF2B5EF4-FFF2-40B4-BE49-F238E27FC236}">
                <a16:creationId xmlns:a16="http://schemas.microsoft.com/office/drawing/2014/main" id="{A4099D6C-B920-35CB-EE5F-914E666C9F26}"/>
              </a:ext>
            </a:extLst>
          </p:cNvPr>
          <p:cNvSpPr/>
          <p:nvPr/>
        </p:nvSpPr>
        <p:spPr>
          <a:xfrm>
            <a:off x="10241280" y="4617720"/>
            <a:ext cx="329184" cy="310896"/>
          </a:xfrm>
          <a:prstGeom prst="roundRect">
            <a:avLst>
              <a:gd name="adj" fmla="val 14706"/>
            </a:avLst>
          </a:prstGeom>
          <a:solidFill>
            <a:srgbClr val="E4EBF8"/>
          </a:solidFill>
          <a:ln/>
        </p:spPr>
        <p:txBody>
          <a:bodyPr/>
          <a:lstStyle/>
          <a:p>
            <a:endParaRPr lang="en-US"/>
          </a:p>
        </p:txBody>
      </p:sp>
      <p:sp>
        <p:nvSpPr>
          <p:cNvPr id="41" name="Text 39">
            <a:extLst>
              <a:ext uri="{FF2B5EF4-FFF2-40B4-BE49-F238E27FC236}">
                <a16:creationId xmlns:a16="http://schemas.microsoft.com/office/drawing/2014/main" id="{B7866893-B03D-A935-8F73-D5C7E2464A1C}"/>
              </a:ext>
            </a:extLst>
          </p:cNvPr>
          <p:cNvSpPr/>
          <p:nvPr/>
        </p:nvSpPr>
        <p:spPr>
          <a:xfrm>
            <a:off x="10241280" y="4617720"/>
            <a:ext cx="329184" cy="310896"/>
          </a:xfrm>
          <a:prstGeom prst="rect">
            <a:avLst/>
          </a:prstGeom>
          <a:noFill/>
          <a:ln/>
        </p:spPr>
        <p:txBody>
          <a:bodyPr wrap="square" lIns="0" tIns="0" rIns="0" bIns="0" rtlCol="0" anchor="ctr"/>
          <a:lstStyle/>
          <a:p>
            <a:pPr marL="0" indent="0" algn="ctr">
              <a:buNone/>
            </a:pPr>
            <a:r>
              <a:rPr lang="en-US" sz="1250" b="1" dirty="0">
                <a:solidFill>
                  <a:srgbClr val="1E2761"/>
                </a:solidFill>
                <a:latin typeface="Courier New" pitchFamily="34" charset="0"/>
                <a:ea typeface="Courier New" pitchFamily="34" charset="-122"/>
                <a:cs typeface="Courier New" pitchFamily="34" charset="-120"/>
              </a:rPr>
              <a:t>0</a:t>
            </a:r>
            <a:endParaRPr lang="en-US" sz="1250" dirty="0"/>
          </a:p>
        </p:txBody>
      </p:sp>
      <p:sp>
        <p:nvSpPr>
          <p:cNvPr id="42" name="Text 40">
            <a:extLst>
              <a:ext uri="{FF2B5EF4-FFF2-40B4-BE49-F238E27FC236}">
                <a16:creationId xmlns:a16="http://schemas.microsoft.com/office/drawing/2014/main" id="{57346D48-F4C3-033B-77A9-617AB635C07F}"/>
              </a:ext>
            </a:extLst>
          </p:cNvPr>
          <p:cNvSpPr/>
          <p:nvPr/>
        </p:nvSpPr>
        <p:spPr>
          <a:xfrm>
            <a:off x="6858000" y="5010912"/>
            <a:ext cx="2377440" cy="402336"/>
          </a:xfrm>
          <a:prstGeom prst="rect">
            <a:avLst/>
          </a:prstGeom>
          <a:noFill/>
          <a:ln/>
        </p:spPr>
        <p:txBody>
          <a:bodyPr wrap="square" lIns="0" tIns="0" rIns="0" bIns="0" rtlCol="0" anchor="ctr"/>
          <a:lstStyle/>
          <a:p>
            <a:pPr marL="0" indent="0">
              <a:buNone/>
            </a:pPr>
            <a:r>
              <a:rPr lang="en-US" sz="1400" dirty="0">
                <a:solidFill>
                  <a:srgbClr val="23293F"/>
                </a:solidFill>
                <a:latin typeface="Courier New" pitchFamily="34" charset="0"/>
                <a:ea typeface="Courier New" pitchFamily="34" charset="-122"/>
                <a:cs typeface="Courier New" pitchFamily="34" charset="-120"/>
              </a:rPr>
              <a:t>1 ÷ 2  =  0</a:t>
            </a:r>
            <a:endParaRPr lang="en-US" sz="1400" dirty="0"/>
          </a:p>
        </p:txBody>
      </p:sp>
      <p:sp>
        <p:nvSpPr>
          <p:cNvPr id="43" name="Text 41">
            <a:extLst>
              <a:ext uri="{FF2B5EF4-FFF2-40B4-BE49-F238E27FC236}">
                <a16:creationId xmlns:a16="http://schemas.microsoft.com/office/drawing/2014/main" id="{41E3E58E-D65F-6948-E31A-0CC59918E235}"/>
              </a:ext>
            </a:extLst>
          </p:cNvPr>
          <p:cNvSpPr/>
          <p:nvPr/>
        </p:nvSpPr>
        <p:spPr>
          <a:xfrm>
            <a:off x="9052560" y="5010912"/>
            <a:ext cx="1051560" cy="402336"/>
          </a:xfrm>
          <a:prstGeom prst="rect">
            <a:avLst/>
          </a:prstGeom>
          <a:noFill/>
          <a:ln/>
        </p:spPr>
        <p:txBody>
          <a:bodyPr wrap="square" lIns="0" tIns="0" rIns="0" bIns="0" rtlCol="0" anchor="ctr"/>
          <a:lstStyle/>
          <a:p>
            <a:pPr marL="0" indent="0" algn="r">
              <a:buNone/>
            </a:pPr>
            <a:r>
              <a:rPr lang="en-US" sz="1050" dirty="0">
                <a:solidFill>
                  <a:srgbClr val="6E7891"/>
                </a:solidFill>
                <a:latin typeface="Calibri" pitchFamily="34" charset="0"/>
                <a:ea typeface="Calibri" pitchFamily="34" charset="-122"/>
                <a:cs typeface="Calibri" pitchFamily="34" charset="-120"/>
              </a:rPr>
              <a:t>remainder</a:t>
            </a:r>
            <a:endParaRPr lang="en-US" sz="1050" dirty="0"/>
          </a:p>
        </p:txBody>
      </p:sp>
      <p:sp>
        <p:nvSpPr>
          <p:cNvPr id="44" name="Shape 42">
            <a:extLst>
              <a:ext uri="{FF2B5EF4-FFF2-40B4-BE49-F238E27FC236}">
                <a16:creationId xmlns:a16="http://schemas.microsoft.com/office/drawing/2014/main" id="{1EE618E4-37C9-C445-7B40-884FBF4A312A}"/>
              </a:ext>
            </a:extLst>
          </p:cNvPr>
          <p:cNvSpPr/>
          <p:nvPr/>
        </p:nvSpPr>
        <p:spPr>
          <a:xfrm>
            <a:off x="10241280" y="5056632"/>
            <a:ext cx="329184" cy="310896"/>
          </a:xfrm>
          <a:prstGeom prst="roundRect">
            <a:avLst>
              <a:gd name="adj" fmla="val 14706"/>
            </a:avLst>
          </a:prstGeom>
          <a:solidFill>
            <a:srgbClr val="1E2761"/>
          </a:solidFill>
          <a:ln/>
        </p:spPr>
        <p:txBody>
          <a:bodyPr/>
          <a:lstStyle/>
          <a:p>
            <a:endParaRPr lang="en-US"/>
          </a:p>
        </p:txBody>
      </p:sp>
      <p:sp>
        <p:nvSpPr>
          <p:cNvPr id="45" name="Text 43">
            <a:extLst>
              <a:ext uri="{FF2B5EF4-FFF2-40B4-BE49-F238E27FC236}">
                <a16:creationId xmlns:a16="http://schemas.microsoft.com/office/drawing/2014/main" id="{F2B5A8BF-A6EB-E639-FA8A-91C7B988B481}"/>
              </a:ext>
            </a:extLst>
          </p:cNvPr>
          <p:cNvSpPr/>
          <p:nvPr/>
        </p:nvSpPr>
        <p:spPr>
          <a:xfrm>
            <a:off x="10241280" y="5056632"/>
            <a:ext cx="329184"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1</a:t>
            </a:r>
            <a:endParaRPr lang="en-US" sz="1250" dirty="0"/>
          </a:p>
        </p:txBody>
      </p:sp>
      <p:sp>
        <p:nvSpPr>
          <p:cNvPr id="46" name="Shape 44">
            <a:extLst>
              <a:ext uri="{FF2B5EF4-FFF2-40B4-BE49-F238E27FC236}">
                <a16:creationId xmlns:a16="http://schemas.microsoft.com/office/drawing/2014/main" id="{ECC4E4E0-A670-98F2-1665-635F4363BFBE}"/>
              </a:ext>
            </a:extLst>
          </p:cNvPr>
          <p:cNvSpPr/>
          <p:nvPr/>
        </p:nvSpPr>
        <p:spPr>
          <a:xfrm>
            <a:off x="10927080" y="2057400"/>
            <a:ext cx="0" cy="3291840"/>
          </a:xfrm>
          <a:prstGeom prst="line">
            <a:avLst/>
          </a:prstGeom>
          <a:noFill/>
          <a:ln w="25400">
            <a:solidFill>
              <a:srgbClr val="E8A33D"/>
            </a:solidFill>
            <a:prstDash val="solid"/>
          </a:ln>
        </p:spPr>
        <p:txBody>
          <a:bodyPr/>
          <a:lstStyle/>
          <a:p>
            <a:endParaRPr lang="en-US"/>
          </a:p>
        </p:txBody>
      </p:sp>
      <p:sp>
        <p:nvSpPr>
          <p:cNvPr id="47" name="Shape 45">
            <a:extLst>
              <a:ext uri="{FF2B5EF4-FFF2-40B4-BE49-F238E27FC236}">
                <a16:creationId xmlns:a16="http://schemas.microsoft.com/office/drawing/2014/main" id="{3B71B418-1BF3-B01A-5C91-75F8AE74A810}"/>
              </a:ext>
            </a:extLst>
          </p:cNvPr>
          <p:cNvSpPr/>
          <p:nvPr/>
        </p:nvSpPr>
        <p:spPr>
          <a:xfrm>
            <a:off x="10780776" y="1828800"/>
            <a:ext cx="292608" cy="246888"/>
          </a:xfrm>
          <a:prstGeom prst="triangle">
            <a:avLst/>
          </a:prstGeom>
          <a:solidFill>
            <a:srgbClr val="E8A33D"/>
          </a:solidFill>
          <a:ln/>
        </p:spPr>
        <p:txBody>
          <a:bodyPr/>
          <a:lstStyle/>
          <a:p>
            <a:endParaRPr lang="en-US"/>
          </a:p>
        </p:txBody>
      </p:sp>
      <p:sp>
        <p:nvSpPr>
          <p:cNvPr id="48" name="Text 46">
            <a:extLst>
              <a:ext uri="{FF2B5EF4-FFF2-40B4-BE49-F238E27FC236}">
                <a16:creationId xmlns:a16="http://schemas.microsoft.com/office/drawing/2014/main" id="{A7089FD8-6878-09BE-804D-AEBC307FF6BF}"/>
              </a:ext>
            </a:extLst>
          </p:cNvPr>
          <p:cNvSpPr/>
          <p:nvPr/>
        </p:nvSpPr>
        <p:spPr>
          <a:xfrm>
            <a:off x="11018520" y="3291840"/>
            <a:ext cx="566928" cy="640080"/>
          </a:xfrm>
          <a:prstGeom prst="rect">
            <a:avLst/>
          </a:prstGeom>
          <a:noFill/>
          <a:ln/>
        </p:spPr>
        <p:txBody>
          <a:bodyPr wrap="square" lIns="0" tIns="0" rIns="0" bIns="0" rtlCol="0" anchor="ctr"/>
          <a:lstStyle/>
          <a:p>
            <a:pPr marL="0" indent="0">
              <a:buNone/>
            </a:pPr>
            <a:r>
              <a:rPr lang="en-US" sz="1050" b="1" dirty="0">
                <a:solidFill>
                  <a:srgbClr val="E8A33D"/>
                </a:solidFill>
                <a:latin typeface="Calibri" pitchFamily="34" charset="0"/>
                <a:ea typeface="Calibri" pitchFamily="34" charset="-122"/>
                <a:cs typeface="Calibri" pitchFamily="34" charset="-120"/>
              </a:rPr>
              <a:t>read</a:t>
            </a:r>
            <a:endParaRPr lang="en-US" sz="1050" dirty="0"/>
          </a:p>
          <a:p>
            <a:pPr marL="0" indent="0">
              <a:buNone/>
            </a:pPr>
            <a:r>
              <a:rPr lang="en-US" sz="1050" b="1" dirty="0">
                <a:solidFill>
                  <a:srgbClr val="E8A33D"/>
                </a:solidFill>
                <a:latin typeface="Calibri" pitchFamily="34" charset="0"/>
                <a:ea typeface="Calibri" pitchFamily="34" charset="-122"/>
                <a:cs typeface="Calibri" pitchFamily="34" charset="-120"/>
              </a:rPr>
              <a:t>upwards</a:t>
            </a:r>
            <a:endParaRPr lang="en-US" sz="1050" dirty="0"/>
          </a:p>
        </p:txBody>
      </p:sp>
      <p:sp>
        <p:nvSpPr>
          <p:cNvPr id="49" name="Text 47">
            <a:extLst>
              <a:ext uri="{FF2B5EF4-FFF2-40B4-BE49-F238E27FC236}">
                <a16:creationId xmlns:a16="http://schemas.microsoft.com/office/drawing/2014/main" id="{BF964DE5-2096-0559-6FC3-9682AAD5BC4F}"/>
              </a:ext>
            </a:extLst>
          </p:cNvPr>
          <p:cNvSpPr/>
          <p:nvPr/>
        </p:nvSpPr>
        <p:spPr>
          <a:xfrm>
            <a:off x="6675120" y="5440680"/>
            <a:ext cx="3657600" cy="365760"/>
          </a:xfrm>
          <a:prstGeom prst="rect">
            <a:avLst/>
          </a:prstGeom>
          <a:noFill/>
          <a:ln/>
        </p:spPr>
        <p:txBody>
          <a:bodyPr wrap="square" lIns="0" tIns="0" rIns="0" bIns="0" rtlCol="0" anchor="ctr"/>
          <a:lstStyle/>
          <a:p>
            <a:pPr marL="0" indent="0">
              <a:buNone/>
            </a:pPr>
            <a:r>
              <a:rPr lang="en-US" sz="1900" b="1" dirty="0">
                <a:solidFill>
                  <a:srgbClr val="1E2761"/>
                </a:solidFill>
                <a:latin typeface="Courier New" pitchFamily="34" charset="0"/>
                <a:ea typeface="Courier New" pitchFamily="34" charset="-122"/>
                <a:cs typeface="Courier New" pitchFamily="34" charset="-120"/>
              </a:rPr>
              <a:t>=  10110010</a:t>
            </a:r>
            <a:endParaRPr lang="en-US" sz="1900" dirty="0"/>
          </a:p>
        </p:txBody>
      </p:sp>
      <p:sp>
        <p:nvSpPr>
          <p:cNvPr id="50" name="Text 48">
            <a:extLst>
              <a:ext uri="{FF2B5EF4-FFF2-40B4-BE49-F238E27FC236}">
                <a16:creationId xmlns:a16="http://schemas.microsoft.com/office/drawing/2014/main" id="{708D1E06-814E-E9D8-2641-E25A5796E2A1}"/>
              </a:ext>
            </a:extLst>
          </p:cNvPr>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51" name="Text 49">
            <a:extLst>
              <a:ext uri="{FF2B5EF4-FFF2-40B4-BE49-F238E27FC236}">
                <a16:creationId xmlns:a16="http://schemas.microsoft.com/office/drawing/2014/main" id="{F4646ECC-5195-8DDE-0429-0E384393B907}"/>
              </a:ext>
            </a:extLst>
          </p:cNvPr>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7</a:t>
            </a:r>
            <a:endParaRPr lang="en-US" sz="900" dirty="0"/>
          </a:p>
        </p:txBody>
      </p:sp>
    </p:spTree>
    <p:extLst>
      <p:ext uri="{BB962C8B-B14F-4D97-AF65-F5344CB8AC3E}">
        <p14:creationId xmlns:p14="http://schemas.microsoft.com/office/powerpoint/2010/main" val="2524391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Three correct formulas for the area of a triangle</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All three are true. Which would you accept as an algorithm?</a:t>
            </a:r>
            <a:endParaRPr lang="en-US" sz="1350" dirty="0"/>
          </a:p>
        </p:txBody>
      </p:sp>
      <p:sp>
        <p:nvSpPr>
          <p:cNvPr id="6" name="Shape 4"/>
          <p:cNvSpPr/>
          <p:nvPr/>
        </p:nvSpPr>
        <p:spPr>
          <a:xfrm>
            <a:off x="548640" y="1463040"/>
            <a:ext cx="6675120" cy="1024128"/>
          </a:xfrm>
          <a:prstGeom prst="roundRect">
            <a:avLst>
              <a:gd name="adj" fmla="val 4464"/>
            </a:avLst>
          </a:prstGeom>
          <a:solidFill>
            <a:srgbClr val="EDF2FC"/>
          </a:solidFill>
          <a:ln w="12700">
            <a:solidFill>
              <a:srgbClr val="D6E1F5"/>
            </a:solidFill>
            <a:prstDash val="solid"/>
          </a:ln>
        </p:spPr>
        <p:txBody>
          <a:bodyPr/>
          <a:lstStyle/>
          <a:p>
            <a:endParaRPr lang="en-US"/>
          </a:p>
        </p:txBody>
      </p:sp>
      <p:sp>
        <p:nvSpPr>
          <p:cNvPr id="7" name="Shape 5"/>
          <p:cNvSpPr/>
          <p:nvPr/>
        </p:nvSpPr>
        <p:spPr>
          <a:xfrm>
            <a:off x="777240" y="1773936"/>
            <a:ext cx="566928" cy="384048"/>
          </a:xfrm>
          <a:prstGeom prst="roundRect">
            <a:avLst>
              <a:gd name="adj" fmla="val 19048"/>
            </a:avLst>
          </a:prstGeom>
          <a:solidFill>
            <a:srgbClr val="1E2761"/>
          </a:solidFill>
          <a:ln/>
        </p:spPr>
        <p:txBody>
          <a:bodyPr/>
          <a:lstStyle/>
          <a:p>
            <a:endParaRPr lang="en-US"/>
          </a:p>
        </p:txBody>
      </p:sp>
      <p:sp>
        <p:nvSpPr>
          <p:cNvPr id="8" name="Text 6"/>
          <p:cNvSpPr/>
          <p:nvPr/>
        </p:nvSpPr>
        <p:spPr>
          <a:xfrm>
            <a:off x="777240" y="1773936"/>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7"/>
          <p:cNvSpPr/>
          <p:nvPr/>
        </p:nvSpPr>
        <p:spPr>
          <a:xfrm>
            <a:off x="1508760" y="1572768"/>
            <a:ext cx="548640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 = √( p(p−a)(p−b)(p−c) ),   where p = (a+b+c)/2</a:t>
            </a:r>
            <a:endParaRPr lang="en-US" sz="1500" dirty="0"/>
          </a:p>
        </p:txBody>
      </p:sp>
      <p:sp>
        <p:nvSpPr>
          <p:cNvPr id="10" name="Text 8"/>
          <p:cNvSpPr/>
          <p:nvPr/>
        </p:nvSpPr>
        <p:spPr>
          <a:xfrm>
            <a:off x="1508760" y="2039112"/>
            <a:ext cx="5486400" cy="320040"/>
          </a:xfrm>
          <a:prstGeom prst="rect">
            <a:avLst/>
          </a:prstGeom>
          <a:noFill/>
          <a:ln/>
        </p:spPr>
        <p:txBody>
          <a:bodyPr wrap="square" lIns="0" tIns="0" rIns="0" bIns="0" rtlCol="0" anchor="ctr"/>
          <a:lstStyle/>
          <a:p>
            <a:pPr marL="0" indent="0">
              <a:buNone/>
            </a:pPr>
            <a:r>
              <a:rPr lang="en-US" sz="1200" i="1" dirty="0">
                <a:solidFill>
                  <a:srgbClr val="6E7891"/>
                </a:solidFill>
                <a:latin typeface="Calibri" pitchFamily="34" charset="0"/>
                <a:ea typeface="Calibri" pitchFamily="34" charset="-122"/>
                <a:cs typeface="Calibri" pitchFamily="34" charset="-120"/>
              </a:rPr>
              <a:t>Heron's formula — needs only the three side lengths</a:t>
            </a:r>
            <a:endParaRPr lang="en-US" sz="1200" dirty="0"/>
          </a:p>
        </p:txBody>
      </p:sp>
      <p:sp>
        <p:nvSpPr>
          <p:cNvPr id="11" name="Shape 9"/>
          <p:cNvSpPr/>
          <p:nvPr/>
        </p:nvSpPr>
        <p:spPr>
          <a:xfrm>
            <a:off x="548640" y="2633472"/>
            <a:ext cx="6675120" cy="1024128"/>
          </a:xfrm>
          <a:prstGeom prst="roundRect">
            <a:avLst>
              <a:gd name="adj" fmla="val 4464"/>
            </a:avLst>
          </a:prstGeom>
          <a:solidFill>
            <a:srgbClr val="EDF2FC"/>
          </a:solidFill>
          <a:ln w="12700">
            <a:solidFill>
              <a:srgbClr val="D6E1F5"/>
            </a:solidFill>
            <a:prstDash val="solid"/>
          </a:ln>
        </p:spPr>
        <p:txBody>
          <a:bodyPr/>
          <a:lstStyle/>
          <a:p>
            <a:endParaRPr lang="en-US"/>
          </a:p>
        </p:txBody>
      </p:sp>
      <p:sp>
        <p:nvSpPr>
          <p:cNvPr id="12" name="Shape 10"/>
          <p:cNvSpPr/>
          <p:nvPr/>
        </p:nvSpPr>
        <p:spPr>
          <a:xfrm>
            <a:off x="777240" y="2944368"/>
            <a:ext cx="566928" cy="384048"/>
          </a:xfrm>
          <a:prstGeom prst="roundRect">
            <a:avLst>
              <a:gd name="adj" fmla="val 19048"/>
            </a:avLst>
          </a:prstGeom>
          <a:solidFill>
            <a:srgbClr val="1E2761"/>
          </a:solidFill>
          <a:ln/>
        </p:spPr>
        <p:txBody>
          <a:bodyPr/>
          <a:lstStyle/>
          <a:p>
            <a:endParaRPr lang="en-US"/>
          </a:p>
        </p:txBody>
      </p:sp>
      <p:sp>
        <p:nvSpPr>
          <p:cNvPr id="13" name="Text 11"/>
          <p:cNvSpPr/>
          <p:nvPr/>
        </p:nvSpPr>
        <p:spPr>
          <a:xfrm>
            <a:off x="777240" y="2944368"/>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4" name="Text 12"/>
          <p:cNvSpPr/>
          <p:nvPr/>
        </p:nvSpPr>
        <p:spPr>
          <a:xfrm>
            <a:off x="1508760" y="2743200"/>
            <a:ext cx="548640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 = ½ · a · b · sin θ,   where θ is the angle between sides A and B</a:t>
            </a:r>
            <a:endParaRPr lang="en-US" sz="1500" dirty="0"/>
          </a:p>
        </p:txBody>
      </p:sp>
      <p:sp>
        <p:nvSpPr>
          <p:cNvPr id="15" name="Text 13"/>
          <p:cNvSpPr/>
          <p:nvPr/>
        </p:nvSpPr>
        <p:spPr>
          <a:xfrm>
            <a:off x="1508760" y="3209544"/>
            <a:ext cx="5486400" cy="320040"/>
          </a:xfrm>
          <a:prstGeom prst="rect">
            <a:avLst/>
          </a:prstGeom>
          <a:noFill/>
          <a:ln/>
        </p:spPr>
        <p:txBody>
          <a:bodyPr wrap="square" lIns="0" tIns="0" rIns="0" bIns="0" rtlCol="0" anchor="ctr"/>
          <a:lstStyle/>
          <a:p>
            <a:pPr marL="0" indent="0">
              <a:buNone/>
            </a:pPr>
            <a:r>
              <a:rPr lang="en-US" sz="1200" i="1" dirty="0">
                <a:solidFill>
                  <a:srgbClr val="6E7891"/>
                </a:solidFill>
                <a:latin typeface="Calibri" pitchFamily="34" charset="0"/>
                <a:ea typeface="Calibri" pitchFamily="34" charset="-122"/>
                <a:cs typeface="Calibri" pitchFamily="34" charset="-120"/>
              </a:rPr>
              <a:t>needs an angle</a:t>
            </a:r>
            <a:endParaRPr lang="en-US" sz="1200" dirty="0"/>
          </a:p>
        </p:txBody>
      </p:sp>
      <p:sp>
        <p:nvSpPr>
          <p:cNvPr id="16" name="Shape 14"/>
          <p:cNvSpPr/>
          <p:nvPr/>
        </p:nvSpPr>
        <p:spPr>
          <a:xfrm>
            <a:off x="548640" y="3803904"/>
            <a:ext cx="6675120" cy="1024128"/>
          </a:xfrm>
          <a:prstGeom prst="roundRect">
            <a:avLst>
              <a:gd name="adj" fmla="val 4464"/>
            </a:avLst>
          </a:prstGeom>
          <a:solidFill>
            <a:srgbClr val="EDF2FC"/>
          </a:solidFill>
          <a:ln w="12700">
            <a:solidFill>
              <a:srgbClr val="D6E1F5"/>
            </a:solidFill>
            <a:prstDash val="solid"/>
          </a:ln>
        </p:spPr>
        <p:txBody>
          <a:bodyPr/>
          <a:lstStyle/>
          <a:p>
            <a:endParaRPr lang="en-US"/>
          </a:p>
        </p:txBody>
      </p:sp>
      <p:sp>
        <p:nvSpPr>
          <p:cNvPr id="17" name="Shape 15"/>
          <p:cNvSpPr/>
          <p:nvPr/>
        </p:nvSpPr>
        <p:spPr>
          <a:xfrm>
            <a:off x="777240" y="4114800"/>
            <a:ext cx="566928" cy="384048"/>
          </a:xfrm>
          <a:prstGeom prst="roundRect">
            <a:avLst>
              <a:gd name="adj" fmla="val 19048"/>
            </a:avLst>
          </a:prstGeom>
          <a:solidFill>
            <a:srgbClr val="1E2761"/>
          </a:solidFill>
          <a:ln/>
        </p:spPr>
        <p:txBody>
          <a:bodyPr/>
          <a:lstStyle/>
          <a:p>
            <a:endParaRPr lang="en-US"/>
          </a:p>
        </p:txBody>
      </p:sp>
      <p:sp>
        <p:nvSpPr>
          <p:cNvPr id="18" name="Text 16"/>
          <p:cNvSpPr/>
          <p:nvPr/>
        </p:nvSpPr>
        <p:spPr>
          <a:xfrm>
            <a:off x="777240" y="4114800"/>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9" name="Text 17"/>
          <p:cNvSpPr/>
          <p:nvPr/>
        </p:nvSpPr>
        <p:spPr>
          <a:xfrm>
            <a:off x="1508760" y="3913632"/>
            <a:ext cx="5486400" cy="502920"/>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 = ½ · a · hA,   where hA is the height to base A</a:t>
            </a:r>
            <a:endParaRPr lang="en-US" sz="1500" dirty="0"/>
          </a:p>
        </p:txBody>
      </p:sp>
      <p:sp>
        <p:nvSpPr>
          <p:cNvPr id="20" name="Text 18"/>
          <p:cNvSpPr/>
          <p:nvPr/>
        </p:nvSpPr>
        <p:spPr>
          <a:xfrm>
            <a:off x="1508760" y="4379976"/>
            <a:ext cx="5486400" cy="320040"/>
          </a:xfrm>
          <a:prstGeom prst="rect">
            <a:avLst/>
          </a:prstGeom>
          <a:noFill/>
          <a:ln/>
        </p:spPr>
        <p:txBody>
          <a:bodyPr wrap="square" lIns="0" tIns="0" rIns="0" bIns="0" rtlCol="0" anchor="ctr"/>
          <a:lstStyle/>
          <a:p>
            <a:pPr marL="0" indent="0">
              <a:buNone/>
            </a:pPr>
            <a:r>
              <a:rPr lang="en-US" sz="1200" i="1" dirty="0">
                <a:solidFill>
                  <a:srgbClr val="6E7891"/>
                </a:solidFill>
                <a:latin typeface="Calibri" pitchFamily="34" charset="0"/>
                <a:ea typeface="Calibri" pitchFamily="34" charset="-122"/>
                <a:cs typeface="Calibri" pitchFamily="34" charset="-120"/>
              </a:rPr>
              <a:t>needs a height</a:t>
            </a:r>
            <a:endParaRPr lang="en-US" sz="1200" dirty="0"/>
          </a:p>
        </p:txBody>
      </p:sp>
      <p:sp>
        <p:nvSpPr>
          <p:cNvPr id="21" name="Shape 19"/>
          <p:cNvSpPr/>
          <p:nvPr/>
        </p:nvSpPr>
        <p:spPr>
          <a:xfrm>
            <a:off x="8138160" y="5257800"/>
            <a:ext cx="3291840" cy="0"/>
          </a:xfrm>
          <a:prstGeom prst="line">
            <a:avLst/>
          </a:prstGeom>
          <a:noFill/>
          <a:ln w="28575">
            <a:solidFill>
              <a:srgbClr val="1E2761"/>
            </a:solidFill>
            <a:prstDash val="solid"/>
          </a:ln>
        </p:spPr>
        <p:txBody>
          <a:bodyPr/>
          <a:lstStyle/>
          <a:p>
            <a:endParaRPr lang="en-US"/>
          </a:p>
        </p:txBody>
      </p:sp>
      <p:sp>
        <p:nvSpPr>
          <p:cNvPr id="22" name="Shape 20"/>
          <p:cNvSpPr/>
          <p:nvPr/>
        </p:nvSpPr>
        <p:spPr>
          <a:xfrm flipV="1">
            <a:off x="8138160" y="2743200"/>
            <a:ext cx="1554480" cy="2514600"/>
          </a:xfrm>
          <a:prstGeom prst="line">
            <a:avLst/>
          </a:prstGeom>
          <a:noFill/>
          <a:ln w="28575">
            <a:solidFill>
              <a:srgbClr val="1E2761"/>
            </a:solidFill>
            <a:prstDash val="solid"/>
          </a:ln>
        </p:spPr>
        <p:txBody>
          <a:bodyPr/>
          <a:lstStyle/>
          <a:p>
            <a:endParaRPr lang="en-US"/>
          </a:p>
        </p:txBody>
      </p:sp>
      <p:sp>
        <p:nvSpPr>
          <p:cNvPr id="23" name="Shape 21"/>
          <p:cNvSpPr/>
          <p:nvPr/>
        </p:nvSpPr>
        <p:spPr>
          <a:xfrm>
            <a:off x="9692640" y="2743200"/>
            <a:ext cx="1737360" cy="2514600"/>
          </a:xfrm>
          <a:prstGeom prst="line">
            <a:avLst/>
          </a:prstGeom>
          <a:noFill/>
          <a:ln w="28575">
            <a:solidFill>
              <a:srgbClr val="1E2761"/>
            </a:solidFill>
            <a:prstDash val="solid"/>
          </a:ln>
        </p:spPr>
        <p:txBody>
          <a:bodyPr/>
          <a:lstStyle/>
          <a:p>
            <a:endParaRPr lang="en-US"/>
          </a:p>
        </p:txBody>
      </p:sp>
      <p:sp>
        <p:nvSpPr>
          <p:cNvPr id="24" name="Shape 22"/>
          <p:cNvSpPr/>
          <p:nvPr/>
        </p:nvSpPr>
        <p:spPr>
          <a:xfrm>
            <a:off x="9692640" y="2743200"/>
            <a:ext cx="0" cy="2514600"/>
          </a:xfrm>
          <a:prstGeom prst="line">
            <a:avLst/>
          </a:prstGeom>
          <a:noFill/>
          <a:ln w="22225">
            <a:solidFill>
              <a:srgbClr val="E8A33D"/>
            </a:solidFill>
            <a:prstDash val="dash"/>
          </a:ln>
        </p:spPr>
        <p:txBody>
          <a:bodyPr/>
          <a:lstStyle/>
          <a:p>
            <a:endParaRPr lang="en-US"/>
          </a:p>
        </p:txBody>
      </p:sp>
      <p:sp>
        <p:nvSpPr>
          <p:cNvPr id="25" name="Shape 23"/>
          <p:cNvSpPr/>
          <p:nvPr/>
        </p:nvSpPr>
        <p:spPr>
          <a:xfrm>
            <a:off x="9692640" y="5074920"/>
            <a:ext cx="182880" cy="182880"/>
          </a:xfrm>
          <a:prstGeom prst="rect">
            <a:avLst/>
          </a:prstGeom>
          <a:solidFill>
            <a:srgbClr val="FFFFFF"/>
          </a:solidFill>
          <a:ln w="12700">
            <a:solidFill>
              <a:srgbClr val="E8A33D"/>
            </a:solidFill>
            <a:prstDash val="solid"/>
          </a:ln>
        </p:spPr>
        <p:txBody>
          <a:bodyPr/>
          <a:lstStyle/>
          <a:p>
            <a:endParaRPr lang="en-US"/>
          </a:p>
        </p:txBody>
      </p:sp>
      <p:sp>
        <p:nvSpPr>
          <p:cNvPr id="26" name="Text 24"/>
          <p:cNvSpPr/>
          <p:nvPr/>
        </p:nvSpPr>
        <p:spPr>
          <a:xfrm>
            <a:off x="8412480" y="5321808"/>
            <a:ext cx="2743200" cy="27432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A  (length a)</a:t>
            </a:r>
            <a:endParaRPr lang="en-US" sz="1250" dirty="0"/>
          </a:p>
        </p:txBody>
      </p:sp>
      <p:sp>
        <p:nvSpPr>
          <p:cNvPr id="27" name="Text 25"/>
          <p:cNvSpPr/>
          <p:nvPr/>
        </p:nvSpPr>
        <p:spPr>
          <a:xfrm>
            <a:off x="8001000" y="3794760"/>
            <a:ext cx="868680" cy="27432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B  (b)</a:t>
            </a:r>
            <a:endParaRPr lang="en-US" sz="1250" dirty="0"/>
          </a:p>
        </p:txBody>
      </p:sp>
      <p:sp>
        <p:nvSpPr>
          <p:cNvPr id="28" name="Text 26"/>
          <p:cNvSpPr/>
          <p:nvPr/>
        </p:nvSpPr>
        <p:spPr>
          <a:xfrm>
            <a:off x="10744200" y="3794760"/>
            <a:ext cx="868680" cy="274320"/>
          </a:xfrm>
          <a:prstGeom prst="rect">
            <a:avLst/>
          </a:prstGeom>
          <a:noFill/>
          <a:ln/>
        </p:spPr>
        <p:txBody>
          <a:bodyPr wrap="square" lIns="0" tIns="0" rIns="0" bIns="0" rtlCol="0" anchor="ctr"/>
          <a:lstStyle/>
          <a:p>
            <a:pPr marL="0" indent="0" algn="ctr">
              <a:buNone/>
            </a:pPr>
            <a:r>
              <a:rPr lang="en-US" sz="1250" b="1" dirty="0">
                <a:solidFill>
                  <a:srgbClr val="1E2761"/>
                </a:solidFill>
                <a:latin typeface="Calibri" pitchFamily="34" charset="0"/>
                <a:ea typeface="Calibri" pitchFamily="34" charset="-122"/>
                <a:cs typeface="Calibri" pitchFamily="34" charset="-120"/>
              </a:rPr>
              <a:t>C  (c)</a:t>
            </a:r>
            <a:endParaRPr lang="en-US" sz="1250" dirty="0"/>
          </a:p>
        </p:txBody>
      </p:sp>
      <p:sp>
        <p:nvSpPr>
          <p:cNvPr id="29" name="Text 27"/>
          <p:cNvSpPr/>
          <p:nvPr/>
        </p:nvSpPr>
        <p:spPr>
          <a:xfrm>
            <a:off x="8503920" y="4846320"/>
            <a:ext cx="365760" cy="274320"/>
          </a:xfrm>
          <a:prstGeom prst="rect">
            <a:avLst/>
          </a:prstGeom>
          <a:noFill/>
          <a:ln/>
        </p:spPr>
        <p:txBody>
          <a:bodyPr wrap="square" lIns="0" tIns="0" rIns="0" bIns="0" rtlCol="0" anchor="ctr"/>
          <a:lstStyle/>
          <a:p>
            <a:pPr marL="0" indent="0">
              <a:buNone/>
            </a:pPr>
            <a:r>
              <a:rPr lang="en-US" sz="1400" b="1" i="1" dirty="0">
                <a:solidFill>
                  <a:srgbClr val="E8A33D"/>
                </a:solidFill>
                <a:latin typeface="Cambria" pitchFamily="34" charset="0"/>
                <a:ea typeface="Cambria" pitchFamily="34" charset="-122"/>
                <a:cs typeface="Cambria" pitchFamily="34" charset="-120"/>
              </a:rPr>
              <a:t>θ</a:t>
            </a:r>
            <a:endParaRPr lang="en-US" sz="1400" dirty="0"/>
          </a:p>
        </p:txBody>
      </p:sp>
      <p:sp>
        <p:nvSpPr>
          <p:cNvPr id="30" name="Text 28"/>
          <p:cNvSpPr/>
          <p:nvPr/>
        </p:nvSpPr>
        <p:spPr>
          <a:xfrm>
            <a:off x="9784080" y="3931920"/>
            <a:ext cx="457200" cy="274320"/>
          </a:xfrm>
          <a:prstGeom prst="rect">
            <a:avLst/>
          </a:prstGeom>
          <a:noFill/>
          <a:ln/>
        </p:spPr>
        <p:txBody>
          <a:bodyPr wrap="square" lIns="0" tIns="0" rIns="0" bIns="0" rtlCol="0" anchor="ctr"/>
          <a:lstStyle/>
          <a:p>
            <a:pPr marL="0" indent="0">
              <a:buNone/>
            </a:pPr>
            <a:r>
              <a:rPr lang="en-US" sz="1250" b="1" i="1" dirty="0">
                <a:solidFill>
                  <a:srgbClr val="E8A33D"/>
                </a:solidFill>
                <a:latin typeface="Calibri" pitchFamily="34" charset="0"/>
                <a:ea typeface="Calibri" pitchFamily="34" charset="-122"/>
                <a:cs typeface="Calibri" pitchFamily="34" charset="-120"/>
              </a:rPr>
              <a:t>hA</a:t>
            </a:r>
            <a:endParaRPr lang="en-US" sz="1250" dirty="0"/>
          </a:p>
        </p:txBody>
      </p:sp>
      <p:sp>
        <p:nvSpPr>
          <p:cNvPr id="31" name="Shape 29"/>
          <p:cNvSpPr/>
          <p:nvPr/>
        </p:nvSpPr>
        <p:spPr>
          <a:xfrm>
            <a:off x="548640" y="5029200"/>
            <a:ext cx="6675120" cy="914400"/>
          </a:xfrm>
          <a:prstGeom prst="roundRect">
            <a:avLst>
              <a:gd name="adj" fmla="val 5000"/>
            </a:avLst>
          </a:prstGeom>
          <a:solidFill>
            <a:srgbClr val="1E2761"/>
          </a:solidFill>
          <a:ln w="12700">
            <a:solidFill>
              <a:srgbClr val="1E2761"/>
            </a:solidFill>
            <a:prstDash val="solid"/>
          </a:ln>
        </p:spPr>
        <p:txBody>
          <a:bodyPr/>
          <a:lstStyle/>
          <a:p>
            <a:endParaRPr lang="en-US"/>
          </a:p>
        </p:txBody>
      </p:sp>
      <p:sp>
        <p:nvSpPr>
          <p:cNvPr id="32" name="Text 30"/>
          <p:cNvSpPr/>
          <p:nvPr/>
        </p:nvSpPr>
        <p:spPr>
          <a:xfrm>
            <a:off x="822960" y="5029200"/>
            <a:ext cx="6126480" cy="91440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Ask of each one:  What are the inputs?  ·  Is every step something I can actually carry out?  ·  Is it unambiguous?  ·  Does it stop?</a:t>
            </a:r>
            <a:endParaRPr lang="en-US" sz="1300" dirty="0"/>
          </a:p>
        </p:txBody>
      </p:sp>
      <p:sp>
        <p:nvSpPr>
          <p:cNvPr id="33" name="Text 31"/>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4" name="Text 32"/>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It depends on what you're given</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The problem is “compute the area of a triangle with sides a, b, c” — so a, b, c are the input</a:t>
            </a:r>
            <a:endParaRPr lang="en-US" sz="1350" dirty="0"/>
          </a:p>
        </p:txBody>
      </p:sp>
      <p:sp>
        <p:nvSpPr>
          <p:cNvPr id="6" name="Shape 4"/>
          <p:cNvSpPr/>
          <p:nvPr/>
        </p:nvSpPr>
        <p:spPr>
          <a:xfrm>
            <a:off x="548640" y="1463040"/>
            <a:ext cx="11091672" cy="1207008"/>
          </a:xfrm>
          <a:prstGeom prst="roundRect">
            <a:avLst>
              <a:gd name="adj" fmla="val 3788"/>
            </a:avLst>
          </a:prstGeom>
          <a:solidFill>
            <a:srgbClr val="EDF2FC"/>
          </a:solidFill>
          <a:ln w="12700">
            <a:solidFill>
              <a:srgbClr val="D6E1F5"/>
            </a:solidFill>
            <a:prstDash val="solid"/>
          </a:ln>
        </p:spPr>
        <p:txBody>
          <a:bodyPr/>
          <a:lstStyle/>
          <a:p>
            <a:endParaRPr lang="en-US"/>
          </a:p>
        </p:txBody>
      </p:sp>
      <p:sp>
        <p:nvSpPr>
          <p:cNvPr id="7" name="Shape 5"/>
          <p:cNvSpPr/>
          <p:nvPr/>
        </p:nvSpPr>
        <p:spPr>
          <a:xfrm>
            <a:off x="777240" y="1682496"/>
            <a:ext cx="566928" cy="384048"/>
          </a:xfrm>
          <a:prstGeom prst="roundRect">
            <a:avLst>
              <a:gd name="adj" fmla="val 19048"/>
            </a:avLst>
          </a:prstGeom>
          <a:solidFill>
            <a:srgbClr val="1E2761"/>
          </a:solidFill>
          <a:ln/>
        </p:spPr>
        <p:txBody>
          <a:bodyPr/>
          <a:lstStyle/>
          <a:p>
            <a:endParaRPr lang="en-US"/>
          </a:p>
        </p:txBody>
      </p:sp>
      <p:sp>
        <p:nvSpPr>
          <p:cNvPr id="8" name="Text 6"/>
          <p:cNvSpPr/>
          <p:nvPr/>
        </p:nvSpPr>
        <p:spPr>
          <a:xfrm>
            <a:off x="777240" y="1682496"/>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9" name="Text 7"/>
          <p:cNvSpPr/>
          <p:nvPr/>
        </p:nvSpPr>
        <p:spPr>
          <a:xfrm>
            <a:off x="777240" y="2121408"/>
            <a:ext cx="1371600" cy="320040"/>
          </a:xfrm>
          <a:prstGeom prst="rect">
            <a:avLst/>
          </a:prstGeom>
          <a:noFill/>
          <a:ln/>
        </p:spPr>
        <p:txBody>
          <a:bodyPr wrap="square" lIns="0" tIns="0" rIns="0" bIns="0" rtlCol="0" anchor="ctr"/>
          <a:lstStyle/>
          <a:p>
            <a:pPr marL="0" indent="0">
              <a:buNone/>
            </a:pPr>
            <a:r>
              <a:rPr lang="en-US" sz="1250" i="1" dirty="0">
                <a:solidFill>
                  <a:srgbClr val="6E7891"/>
                </a:solidFill>
                <a:latin typeface="Calibri" pitchFamily="34" charset="0"/>
                <a:ea typeface="Calibri" pitchFamily="34" charset="-122"/>
                <a:cs typeface="Calibri" pitchFamily="34" charset="-120"/>
              </a:rPr>
              <a:t>Heron</a:t>
            </a:r>
            <a:endParaRPr lang="en-US" sz="1250" dirty="0"/>
          </a:p>
        </p:txBody>
      </p:sp>
      <p:sp>
        <p:nvSpPr>
          <p:cNvPr id="10" name="Shape 8"/>
          <p:cNvSpPr/>
          <p:nvPr/>
        </p:nvSpPr>
        <p:spPr>
          <a:xfrm>
            <a:off x="1554480" y="1682496"/>
            <a:ext cx="2148840" cy="384048"/>
          </a:xfrm>
          <a:prstGeom prst="roundRect">
            <a:avLst>
              <a:gd name="adj" fmla="val 19048"/>
            </a:avLst>
          </a:prstGeom>
          <a:solidFill>
            <a:srgbClr val="1F7A72"/>
          </a:solidFill>
          <a:ln/>
        </p:spPr>
        <p:txBody>
          <a:bodyPr/>
          <a:lstStyle/>
          <a:p>
            <a:endParaRPr lang="en-US"/>
          </a:p>
        </p:txBody>
      </p:sp>
      <p:sp>
        <p:nvSpPr>
          <p:cNvPr id="11" name="Text 9"/>
          <p:cNvSpPr/>
          <p:nvPr/>
        </p:nvSpPr>
        <p:spPr>
          <a:xfrm>
            <a:off x="1554480" y="1682496"/>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Yes — with one caveat</a:t>
            </a:r>
            <a:endParaRPr lang="en-US" sz="1200" dirty="0"/>
          </a:p>
        </p:txBody>
      </p:sp>
      <p:sp>
        <p:nvSpPr>
          <p:cNvPr id="12" name="Text 10"/>
          <p:cNvSpPr/>
          <p:nvPr/>
        </p:nvSpPr>
        <p:spPr>
          <a:xfrm>
            <a:off x="3931920" y="1572768"/>
            <a:ext cx="7498080" cy="987552"/>
          </a:xfrm>
          <a:prstGeom prst="rect">
            <a:avLst/>
          </a:prstGeom>
          <a:noFill/>
          <a:ln/>
        </p:spPr>
        <p:txBody>
          <a:bodyPr wrap="square" lIns="0" tIns="0" rIns="0" bIns="0" rtlCol="0" anchor="ctr"/>
          <a:lstStyle/>
          <a:p>
            <a:pPr marL="0" indent="0">
              <a:lnSpc>
                <a:spcPct val="115000"/>
              </a:lnSpc>
              <a:buNone/>
            </a:pPr>
            <a:r>
              <a:rPr lang="en-US" sz="1300" dirty="0">
                <a:solidFill>
                  <a:srgbClr val="23293F"/>
                </a:solidFill>
                <a:latin typeface="Calibri" pitchFamily="34" charset="0"/>
                <a:ea typeface="Calibri" pitchFamily="34" charset="-122"/>
                <a:cs typeface="Calibri" pitchFamily="34" charset="-120"/>
              </a:rPr>
              <a:t>Uses exactly the given inputs. Every step is add, subtract, multiply, divide — plus one square root. √ of an irrational can't be computed exactly in finitely many steps, so we accept it as a primitive returning a fixed-precision approximation. On that reading it is an algorithm.</a:t>
            </a:r>
            <a:endParaRPr lang="en-US" sz="1300" dirty="0"/>
          </a:p>
        </p:txBody>
      </p:sp>
      <p:sp>
        <p:nvSpPr>
          <p:cNvPr id="13" name="Shape 11"/>
          <p:cNvSpPr/>
          <p:nvPr/>
        </p:nvSpPr>
        <p:spPr>
          <a:xfrm>
            <a:off x="548640" y="2816352"/>
            <a:ext cx="11091672" cy="1207008"/>
          </a:xfrm>
          <a:prstGeom prst="roundRect">
            <a:avLst>
              <a:gd name="adj" fmla="val 3788"/>
            </a:avLst>
          </a:prstGeom>
          <a:solidFill>
            <a:srgbClr val="EDF2FC"/>
          </a:solidFill>
          <a:ln w="12700">
            <a:solidFill>
              <a:srgbClr val="D6E1F5"/>
            </a:solidFill>
            <a:prstDash val="solid"/>
          </a:ln>
        </p:spPr>
        <p:txBody>
          <a:bodyPr/>
          <a:lstStyle/>
          <a:p>
            <a:endParaRPr lang="en-US"/>
          </a:p>
        </p:txBody>
      </p:sp>
      <p:sp>
        <p:nvSpPr>
          <p:cNvPr id="14" name="Shape 12"/>
          <p:cNvSpPr/>
          <p:nvPr/>
        </p:nvSpPr>
        <p:spPr>
          <a:xfrm>
            <a:off x="777240" y="3035808"/>
            <a:ext cx="566928" cy="384048"/>
          </a:xfrm>
          <a:prstGeom prst="roundRect">
            <a:avLst>
              <a:gd name="adj" fmla="val 19048"/>
            </a:avLst>
          </a:prstGeom>
          <a:solidFill>
            <a:srgbClr val="1E2761"/>
          </a:solidFill>
          <a:ln/>
        </p:spPr>
        <p:txBody>
          <a:bodyPr/>
          <a:lstStyle/>
          <a:p>
            <a:endParaRPr lang="en-US"/>
          </a:p>
        </p:txBody>
      </p:sp>
      <p:sp>
        <p:nvSpPr>
          <p:cNvPr id="15" name="Text 13"/>
          <p:cNvSpPr/>
          <p:nvPr/>
        </p:nvSpPr>
        <p:spPr>
          <a:xfrm>
            <a:off x="777240" y="3035808"/>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6" name="Text 14"/>
          <p:cNvSpPr/>
          <p:nvPr/>
        </p:nvSpPr>
        <p:spPr>
          <a:xfrm>
            <a:off x="777240" y="3474720"/>
            <a:ext cx="1371600" cy="320040"/>
          </a:xfrm>
          <a:prstGeom prst="rect">
            <a:avLst/>
          </a:prstGeom>
          <a:noFill/>
          <a:ln/>
        </p:spPr>
        <p:txBody>
          <a:bodyPr wrap="square" lIns="0" tIns="0" rIns="0" bIns="0" rtlCol="0" anchor="ctr"/>
          <a:lstStyle/>
          <a:p>
            <a:pPr marL="0" indent="0">
              <a:buNone/>
            </a:pPr>
            <a:r>
              <a:rPr lang="en-US" sz="1250" i="1" dirty="0">
                <a:solidFill>
                  <a:srgbClr val="6E7891"/>
                </a:solidFill>
                <a:latin typeface="Calibri" pitchFamily="34" charset="0"/>
                <a:ea typeface="Calibri" pitchFamily="34" charset="-122"/>
                <a:cs typeface="Calibri" pitchFamily="34" charset="-120"/>
              </a:rPr>
              <a:t>½ab sin θ</a:t>
            </a:r>
            <a:endParaRPr lang="en-US" sz="1250" dirty="0"/>
          </a:p>
        </p:txBody>
      </p:sp>
      <p:sp>
        <p:nvSpPr>
          <p:cNvPr id="17" name="Shape 15"/>
          <p:cNvSpPr/>
          <p:nvPr/>
        </p:nvSpPr>
        <p:spPr>
          <a:xfrm>
            <a:off x="1554480" y="3035808"/>
            <a:ext cx="2148840" cy="384048"/>
          </a:xfrm>
          <a:prstGeom prst="roundRect">
            <a:avLst>
              <a:gd name="adj" fmla="val 19048"/>
            </a:avLst>
          </a:prstGeom>
          <a:solidFill>
            <a:srgbClr val="B23A34"/>
          </a:solidFill>
          <a:ln/>
        </p:spPr>
        <p:txBody>
          <a:bodyPr/>
          <a:lstStyle/>
          <a:p>
            <a:endParaRPr lang="en-US"/>
          </a:p>
        </p:txBody>
      </p:sp>
      <p:sp>
        <p:nvSpPr>
          <p:cNvPr id="18" name="Text 16"/>
          <p:cNvSpPr/>
          <p:nvPr/>
        </p:nvSpPr>
        <p:spPr>
          <a:xfrm>
            <a:off x="1554480" y="3035808"/>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Not as it stands</a:t>
            </a:r>
            <a:endParaRPr lang="en-US" sz="1200" dirty="0"/>
          </a:p>
        </p:txBody>
      </p:sp>
      <p:sp>
        <p:nvSpPr>
          <p:cNvPr id="19" name="Text 17"/>
          <p:cNvSpPr/>
          <p:nvPr/>
        </p:nvSpPr>
        <p:spPr>
          <a:xfrm>
            <a:off x="3931920" y="2926080"/>
            <a:ext cx="7498080" cy="987552"/>
          </a:xfrm>
          <a:prstGeom prst="rect">
            <a:avLst/>
          </a:prstGeom>
          <a:noFill/>
          <a:ln/>
        </p:spPr>
        <p:txBody>
          <a:bodyPr wrap="square" lIns="0" tIns="0" rIns="0" bIns="0" rtlCol="0" anchor="ctr"/>
          <a:lstStyle/>
          <a:p>
            <a:pPr>
              <a:lnSpc>
                <a:spcPct val="115000"/>
              </a:lnSpc>
            </a:pPr>
            <a:r>
              <a:rPr lang="en-US" sz="1300" b="1" dirty="0">
                <a:solidFill>
                  <a:srgbClr val="23293F"/>
                </a:solidFill>
                <a:latin typeface="Calibri" pitchFamily="34" charset="0"/>
                <a:ea typeface="Calibri" pitchFamily="34" charset="-122"/>
                <a:cs typeface="Calibri" pitchFamily="34" charset="-120"/>
              </a:rPr>
              <a:t>θ is not part of the input. E</a:t>
            </a:r>
            <a:r>
              <a:rPr lang="en-US" sz="1300" dirty="0">
                <a:solidFill>
                  <a:srgbClr val="23293F"/>
                </a:solidFill>
                <a:latin typeface="Calibri" pitchFamily="34" charset="0"/>
                <a:ea typeface="Calibri" pitchFamily="34" charset="-122"/>
                <a:cs typeface="Calibri" pitchFamily="34" charset="-120"/>
              </a:rPr>
              <a:t>ven if the sine function is considered a</a:t>
            </a:r>
            <a:r>
              <a:rPr lang="zh-CN" altLang="en-US" sz="1300" dirty="0">
                <a:solidFill>
                  <a:srgbClr val="23293F"/>
                </a:solidFill>
                <a:latin typeface="Calibri" pitchFamily="34" charset="0"/>
                <a:ea typeface="Calibri" pitchFamily="34" charset="-122"/>
                <a:cs typeface="Calibri" pitchFamily="34" charset="-120"/>
              </a:rPr>
              <a:t> </a:t>
            </a:r>
            <a:r>
              <a:rPr lang="en-US" sz="1300" dirty="0">
                <a:solidFill>
                  <a:srgbClr val="23293F"/>
                </a:solidFill>
                <a:latin typeface="Calibri" pitchFamily="34" charset="0"/>
                <a:ea typeface="Calibri" pitchFamily="34" charset="-122"/>
                <a:cs typeface="Calibri" pitchFamily="34" charset="-120"/>
              </a:rPr>
              <a:t>primitive, there is no indication of how to compute the angle </a:t>
            </a:r>
            <a:r>
              <a:rPr lang="el-GR" sz="1300" dirty="0">
                <a:solidFill>
                  <a:srgbClr val="23293F"/>
                </a:solidFill>
                <a:latin typeface="Calibri" pitchFamily="34" charset="0"/>
                <a:ea typeface="Calibri" pitchFamily="34" charset="-122"/>
                <a:cs typeface="Calibri" pitchFamily="34" charset="-120"/>
              </a:rPr>
              <a:t>θ</a:t>
            </a:r>
            <a:r>
              <a:rPr lang="en-US" sz="1300" dirty="0">
                <a:solidFill>
                  <a:srgbClr val="23293F"/>
                </a:solidFill>
                <a:latin typeface="Calibri" pitchFamily="34" charset="0"/>
                <a:ea typeface="Calibri" pitchFamily="34" charset="-122"/>
                <a:cs typeface="Calibri" pitchFamily="34" charset="-120"/>
              </a:rPr>
              <a:t>. </a:t>
            </a:r>
            <a:endParaRPr lang="en-US" sz="1300" dirty="0"/>
          </a:p>
        </p:txBody>
      </p:sp>
      <p:sp>
        <p:nvSpPr>
          <p:cNvPr id="20" name="Shape 18"/>
          <p:cNvSpPr/>
          <p:nvPr/>
        </p:nvSpPr>
        <p:spPr>
          <a:xfrm>
            <a:off x="548640" y="4169664"/>
            <a:ext cx="11091672" cy="1207008"/>
          </a:xfrm>
          <a:prstGeom prst="roundRect">
            <a:avLst>
              <a:gd name="adj" fmla="val 3788"/>
            </a:avLst>
          </a:prstGeom>
          <a:solidFill>
            <a:srgbClr val="EDF2FC"/>
          </a:solidFill>
          <a:ln w="12700">
            <a:solidFill>
              <a:srgbClr val="D6E1F5"/>
            </a:solidFill>
            <a:prstDash val="solid"/>
          </a:ln>
        </p:spPr>
        <p:txBody>
          <a:bodyPr/>
          <a:lstStyle/>
          <a:p>
            <a:endParaRPr lang="en-US"/>
          </a:p>
        </p:txBody>
      </p:sp>
      <p:sp>
        <p:nvSpPr>
          <p:cNvPr id="21" name="Shape 19"/>
          <p:cNvSpPr/>
          <p:nvPr/>
        </p:nvSpPr>
        <p:spPr>
          <a:xfrm>
            <a:off x="777240" y="4389120"/>
            <a:ext cx="566928" cy="384048"/>
          </a:xfrm>
          <a:prstGeom prst="roundRect">
            <a:avLst>
              <a:gd name="adj" fmla="val 19048"/>
            </a:avLst>
          </a:prstGeom>
          <a:solidFill>
            <a:srgbClr val="1E2761"/>
          </a:solidFill>
          <a:ln/>
        </p:spPr>
        <p:txBody>
          <a:bodyPr/>
          <a:lstStyle/>
          <a:p>
            <a:endParaRPr lang="en-US"/>
          </a:p>
        </p:txBody>
      </p:sp>
      <p:sp>
        <p:nvSpPr>
          <p:cNvPr id="22" name="Text 20"/>
          <p:cNvSpPr/>
          <p:nvPr/>
        </p:nvSpPr>
        <p:spPr>
          <a:xfrm>
            <a:off x="777240" y="4389120"/>
            <a:ext cx="56692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3" name="Text 21"/>
          <p:cNvSpPr/>
          <p:nvPr/>
        </p:nvSpPr>
        <p:spPr>
          <a:xfrm>
            <a:off x="777240" y="4828032"/>
            <a:ext cx="1371600" cy="320040"/>
          </a:xfrm>
          <a:prstGeom prst="rect">
            <a:avLst/>
          </a:prstGeom>
          <a:noFill/>
          <a:ln/>
        </p:spPr>
        <p:txBody>
          <a:bodyPr wrap="square" lIns="0" tIns="0" rIns="0" bIns="0" rtlCol="0" anchor="ctr"/>
          <a:lstStyle/>
          <a:p>
            <a:pPr marL="0" indent="0">
              <a:buNone/>
            </a:pPr>
            <a:r>
              <a:rPr lang="en-US" sz="1250" i="1" dirty="0">
                <a:solidFill>
                  <a:srgbClr val="6E7891"/>
                </a:solidFill>
                <a:latin typeface="Calibri" pitchFamily="34" charset="0"/>
                <a:ea typeface="Calibri" pitchFamily="34" charset="-122"/>
                <a:cs typeface="Calibri" pitchFamily="34" charset="-120"/>
              </a:rPr>
              <a:t>½a·hA</a:t>
            </a:r>
            <a:endParaRPr lang="en-US" sz="1250" dirty="0"/>
          </a:p>
        </p:txBody>
      </p:sp>
      <p:sp>
        <p:nvSpPr>
          <p:cNvPr id="24" name="Shape 22"/>
          <p:cNvSpPr/>
          <p:nvPr/>
        </p:nvSpPr>
        <p:spPr>
          <a:xfrm>
            <a:off x="1554480" y="4389120"/>
            <a:ext cx="2148840" cy="384048"/>
          </a:xfrm>
          <a:prstGeom prst="roundRect">
            <a:avLst>
              <a:gd name="adj" fmla="val 19048"/>
            </a:avLst>
          </a:prstGeom>
          <a:solidFill>
            <a:srgbClr val="B23A34"/>
          </a:solidFill>
          <a:ln/>
        </p:spPr>
        <p:txBody>
          <a:bodyPr/>
          <a:lstStyle/>
          <a:p>
            <a:endParaRPr lang="en-US"/>
          </a:p>
        </p:txBody>
      </p:sp>
      <p:sp>
        <p:nvSpPr>
          <p:cNvPr id="25" name="Text 23"/>
          <p:cNvSpPr/>
          <p:nvPr/>
        </p:nvSpPr>
        <p:spPr>
          <a:xfrm>
            <a:off x="1554480" y="4389120"/>
            <a:ext cx="214884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Not as it stands</a:t>
            </a:r>
            <a:endParaRPr lang="en-US" sz="1200" dirty="0"/>
          </a:p>
        </p:txBody>
      </p:sp>
      <p:sp>
        <p:nvSpPr>
          <p:cNvPr id="26" name="Text 24"/>
          <p:cNvSpPr/>
          <p:nvPr/>
        </p:nvSpPr>
        <p:spPr>
          <a:xfrm>
            <a:off x="3931920" y="4279392"/>
            <a:ext cx="7498080" cy="987552"/>
          </a:xfrm>
          <a:prstGeom prst="rect">
            <a:avLst/>
          </a:prstGeom>
          <a:noFill/>
          <a:ln/>
        </p:spPr>
        <p:txBody>
          <a:bodyPr wrap="square" lIns="0" tIns="0" rIns="0" bIns="0" rtlCol="0" anchor="ctr"/>
          <a:lstStyle/>
          <a:p>
            <a:r>
              <a:rPr lang="en-US" sz="1300" dirty="0"/>
              <a:t>Again, the formula says “the height to base A”, without any indication of how to find that. So we can’t really call that an algorithm.</a:t>
            </a:r>
          </a:p>
        </p:txBody>
      </p:sp>
      <p:sp>
        <p:nvSpPr>
          <p:cNvPr id="27" name="Shape 25"/>
          <p:cNvSpPr/>
          <p:nvPr/>
        </p:nvSpPr>
        <p:spPr>
          <a:xfrm>
            <a:off x="548640" y="5650992"/>
            <a:ext cx="11091672" cy="621792"/>
          </a:xfrm>
          <a:prstGeom prst="roundRect">
            <a:avLst>
              <a:gd name="adj" fmla="val 7353"/>
            </a:avLst>
          </a:prstGeom>
          <a:solidFill>
            <a:srgbClr val="FCF3E3"/>
          </a:solidFill>
          <a:ln w="12700">
            <a:solidFill>
              <a:srgbClr val="E8A33D"/>
            </a:solidFill>
            <a:prstDash val="solid"/>
          </a:ln>
        </p:spPr>
        <p:txBody>
          <a:bodyPr/>
          <a:lstStyle/>
          <a:p>
            <a:endParaRPr lang="en-US"/>
          </a:p>
        </p:txBody>
      </p:sp>
      <p:sp>
        <p:nvSpPr>
          <p:cNvPr id="28" name="Text 26"/>
          <p:cNvSpPr/>
          <p:nvPr/>
        </p:nvSpPr>
        <p:spPr>
          <a:xfrm>
            <a:off x="868680" y="5650992"/>
            <a:ext cx="10469880" cy="621792"/>
          </a:xfrm>
          <a:prstGeom prst="rect">
            <a:avLst/>
          </a:prstGeom>
          <a:noFill/>
          <a:ln/>
        </p:spPr>
        <p:txBody>
          <a:bodyPr wrap="square" lIns="0" tIns="0" rIns="0" bIns="0" rtlCol="0" anchor="ctr"/>
          <a:lstStyle/>
          <a:p>
            <a:pPr marL="0" indent="0">
              <a:buNone/>
            </a:pPr>
            <a:r>
              <a:rPr lang="en-US" sz="1300" b="1" dirty="0">
                <a:solidFill>
                  <a:srgbClr val="23293F"/>
                </a:solidFill>
                <a:latin typeface="Calibri" pitchFamily="34" charset="0"/>
                <a:ea typeface="Calibri" pitchFamily="34" charset="-122"/>
                <a:cs typeface="Calibri" pitchFamily="34" charset="-120"/>
              </a:rPr>
              <a:t>And what counts as a legitimate input? </a:t>
            </a:r>
            <a:r>
              <a:rPr lang="en-US" sz="1300" dirty="0">
                <a:solidFill>
                  <a:srgbClr val="23293F"/>
                </a:solidFill>
                <a:latin typeface="Calibri" pitchFamily="34" charset="0"/>
                <a:ea typeface="Calibri" pitchFamily="34" charset="-122"/>
                <a:cs typeface="Calibri" pitchFamily="34" charset="-120"/>
              </a:rPr>
              <a:t>Try a = 1, b = 1, c = 5. No such triangle exists — Heron asks you to take the square root of a negative number. An algorithm must say which inputs it accepts.</a:t>
            </a:r>
            <a:endParaRPr lang="en-US" sz="1300" dirty="0"/>
          </a:p>
        </p:txBody>
      </p:sp>
      <p:sp>
        <p:nvSpPr>
          <p:cNvPr id="29" name="Text 27"/>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0" name="Text 28"/>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Is the square root really a primitive?</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Heron is an algorithm provided √ is available — and if it isn't, supplying one is not hard</a:t>
            </a:r>
            <a:endParaRPr lang="en-US" sz="1350" dirty="0"/>
          </a:p>
        </p:txBody>
      </p:sp>
      <p:sp>
        <p:nvSpPr>
          <p:cNvPr id="6" name="Shape 4"/>
          <p:cNvSpPr/>
          <p:nvPr/>
        </p:nvSpPr>
        <p:spPr>
          <a:xfrm>
            <a:off x="548640" y="1371600"/>
            <a:ext cx="5577840" cy="777240"/>
          </a:xfrm>
          <a:prstGeom prst="roundRect">
            <a:avLst>
              <a:gd name="adj" fmla="val 5882"/>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22960" y="1371600"/>
            <a:ext cx="5029200" cy="777240"/>
          </a:xfrm>
          <a:prstGeom prst="rect">
            <a:avLst/>
          </a:prstGeom>
          <a:noFill/>
          <a:ln/>
        </p:spPr>
        <p:txBody>
          <a:bodyPr wrap="square" lIns="0" tIns="0" rIns="0" bIns="0" rtlCol="0" anchor="ctr"/>
          <a:lstStyle/>
          <a:p>
            <a:pPr marL="0" indent="0">
              <a:lnSpc>
                <a:spcPct val="110000"/>
              </a:lnSpc>
              <a:buNone/>
            </a:pPr>
            <a:r>
              <a:rPr lang="en-US" sz="1300" dirty="0">
                <a:solidFill>
                  <a:srgbClr val="23293F"/>
                </a:solidFill>
                <a:latin typeface="Calibri" pitchFamily="34" charset="0"/>
                <a:ea typeface="Calibri" pitchFamily="34" charset="-122"/>
                <a:cs typeface="Calibri" pitchFamily="34" charset="-120"/>
              </a:rPr>
              <a:t>For a </a:t>
            </a:r>
            <a:r>
              <a:rPr lang="en-US" sz="1300" b="1" dirty="0">
                <a:solidFill>
                  <a:srgbClr val="23293F"/>
                </a:solidFill>
                <a:latin typeface="Calibri" pitchFamily="34" charset="0"/>
                <a:ea typeface="Calibri" pitchFamily="34" charset="-122"/>
                <a:cs typeface="Calibri" pitchFamily="34" charset="-120"/>
              </a:rPr>
              <a:t>non-negative integer n</a:t>
            </a:r>
            <a:r>
              <a:rPr lang="en-US" sz="1300" dirty="0">
                <a:solidFill>
                  <a:srgbClr val="23293F"/>
                </a:solidFill>
                <a:latin typeface="Calibri" pitchFamily="34" charset="0"/>
                <a:ea typeface="Calibri" pitchFamily="34" charset="-122"/>
                <a:cs typeface="Calibri" pitchFamily="34" charset="-120"/>
              </a:rPr>
              <a:t>, here is ⌊√n⌋ from first principles — nothing but addition and comparison:</a:t>
            </a:r>
            <a:endParaRPr lang="en-US" sz="1300" dirty="0"/>
          </a:p>
        </p:txBody>
      </p:sp>
      <p:sp>
        <p:nvSpPr>
          <p:cNvPr id="8" name="Shape 6"/>
          <p:cNvSpPr/>
          <p:nvPr/>
        </p:nvSpPr>
        <p:spPr>
          <a:xfrm>
            <a:off x="548640" y="2331720"/>
            <a:ext cx="5577840" cy="1463040"/>
          </a:xfrm>
          <a:prstGeom prst="roundRect">
            <a:avLst>
              <a:gd name="adj" fmla="val 2500"/>
            </a:avLst>
          </a:prstGeom>
          <a:solidFill>
            <a:srgbClr val="141C3A"/>
          </a:solidFill>
          <a:ln/>
        </p:spPr>
        <p:txBody>
          <a:bodyPr/>
          <a:lstStyle/>
          <a:p>
            <a:endParaRPr lang="en-US"/>
          </a:p>
        </p:txBody>
      </p:sp>
      <p:sp>
        <p:nvSpPr>
          <p:cNvPr id="9" name="Text 7"/>
          <p:cNvSpPr/>
          <p:nvPr/>
        </p:nvSpPr>
        <p:spPr>
          <a:xfrm>
            <a:off x="749808" y="2459736"/>
            <a:ext cx="5212080" cy="1207008"/>
          </a:xfrm>
          <a:prstGeom prst="rect">
            <a:avLst/>
          </a:prstGeom>
          <a:noFill/>
          <a:ln/>
        </p:spPr>
        <p:txBody>
          <a:bodyPr wrap="square" lIns="0" tIns="0" rIns="0" bIns="0" rtlCol="0" anchor="t"/>
          <a:lstStyle/>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function Sqrt(n)</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root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while root · root ≤ n do</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root ← root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return root − 1</a:t>
            </a:r>
            <a:endParaRPr lang="en-US" sz="1300" dirty="0"/>
          </a:p>
        </p:txBody>
      </p:sp>
      <p:sp>
        <p:nvSpPr>
          <p:cNvPr id="10" name="Shape 8"/>
          <p:cNvSpPr/>
          <p:nvPr/>
        </p:nvSpPr>
        <p:spPr>
          <a:xfrm>
            <a:off x="548640" y="3977640"/>
            <a:ext cx="5577840" cy="1965960"/>
          </a:xfrm>
          <a:prstGeom prst="roundRect">
            <a:avLst>
              <a:gd name="adj" fmla="val 2326"/>
            </a:avLst>
          </a:prstGeom>
          <a:solidFill>
            <a:srgbClr val="F6E9E7"/>
          </a:solidFill>
          <a:ln w="12700">
            <a:solidFill>
              <a:srgbClr val="B23A34"/>
            </a:solidFill>
            <a:prstDash val="solid"/>
          </a:ln>
        </p:spPr>
        <p:txBody>
          <a:bodyPr/>
          <a:lstStyle/>
          <a:p>
            <a:endParaRPr lang="en-US"/>
          </a:p>
        </p:txBody>
      </p:sp>
      <p:sp>
        <p:nvSpPr>
          <p:cNvPr id="11" name="Text 9"/>
          <p:cNvSpPr/>
          <p:nvPr/>
        </p:nvSpPr>
        <p:spPr>
          <a:xfrm>
            <a:off x="822960" y="4114800"/>
            <a:ext cx="5029200" cy="292608"/>
          </a:xfrm>
          <a:prstGeom prst="rect">
            <a:avLst/>
          </a:prstGeom>
          <a:noFill/>
          <a:ln/>
        </p:spPr>
        <p:txBody>
          <a:bodyPr wrap="square" lIns="0" tIns="0" rIns="0" bIns="0" rtlCol="0" anchor="ctr"/>
          <a:lstStyle/>
          <a:p>
            <a:pPr marL="0" indent="0">
              <a:buNone/>
            </a:pPr>
            <a:r>
              <a:rPr lang="en-US" sz="1450" b="1" dirty="0">
                <a:solidFill>
                  <a:srgbClr val="B23A34"/>
                </a:solidFill>
                <a:latin typeface="Cambria" pitchFamily="34" charset="0"/>
                <a:ea typeface="Cambria" pitchFamily="34" charset="-122"/>
                <a:cs typeface="Cambria" pitchFamily="34" charset="-120"/>
              </a:rPr>
              <a:t>Be sceptical — of this and of everything</a:t>
            </a:r>
            <a:endParaRPr lang="en-US" sz="1450" dirty="0"/>
          </a:p>
        </p:txBody>
      </p:sp>
      <p:sp>
        <p:nvSpPr>
          <p:cNvPr id="12" name="Text 10"/>
          <p:cNvSpPr/>
          <p:nvPr/>
        </p:nvSpPr>
        <p:spPr>
          <a:xfrm>
            <a:off x="822960" y="4453128"/>
            <a:ext cx="5029200" cy="137160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Does it really work? Don't accept an algorithm until you have tried it on several examples — and even then stay uneasy, because there are infinitely many inputs and testing can only ever cover finitely many of them. Here it is not hard to see why it is right, and seeing why is the part that counts.</a:t>
            </a:r>
            <a:endParaRPr lang="en-US" sz="1250" dirty="0"/>
          </a:p>
        </p:txBody>
      </p:sp>
      <p:sp>
        <p:nvSpPr>
          <p:cNvPr id="13" name="Text 11"/>
          <p:cNvSpPr/>
          <p:nvPr/>
        </p:nvSpPr>
        <p:spPr>
          <a:xfrm>
            <a:off x="6309360" y="1371600"/>
            <a:ext cx="5330952" cy="365760"/>
          </a:xfrm>
          <a:prstGeom prst="rect">
            <a:avLst/>
          </a:prstGeom>
          <a:noFill/>
          <a:ln/>
        </p:spPr>
        <p:txBody>
          <a:bodyPr wrap="square" lIns="0" tIns="0" rIns="0" bIns="0" rtlCol="0" anchor="ctr"/>
          <a:lstStyle/>
          <a:p>
            <a:pPr marL="0" indent="0">
              <a:buNone/>
            </a:pPr>
            <a:r>
              <a:rPr lang="en-US" sz="1300" i="1" dirty="0">
                <a:solidFill>
                  <a:srgbClr val="6E7891"/>
                </a:solidFill>
                <a:latin typeface="Calibri" pitchFamily="34" charset="0"/>
                <a:ea typeface="Calibri" pitchFamily="34" charset="-122"/>
                <a:cs typeface="Calibri" pitchFamily="34" charset="-120"/>
              </a:rPr>
              <a:t>If general multiplication is expensive on our machine, avoid root · root:</a:t>
            </a:r>
            <a:endParaRPr lang="en-US" sz="1300" dirty="0"/>
          </a:p>
        </p:txBody>
      </p:sp>
      <p:sp>
        <p:nvSpPr>
          <p:cNvPr id="14" name="Shape 12"/>
          <p:cNvSpPr/>
          <p:nvPr/>
        </p:nvSpPr>
        <p:spPr>
          <a:xfrm>
            <a:off x="6309360" y="1783080"/>
            <a:ext cx="5330952" cy="1691640"/>
          </a:xfrm>
          <a:prstGeom prst="roundRect">
            <a:avLst>
              <a:gd name="adj" fmla="val 2162"/>
            </a:avLst>
          </a:prstGeom>
          <a:solidFill>
            <a:srgbClr val="141C3A"/>
          </a:solidFill>
          <a:ln/>
        </p:spPr>
        <p:txBody>
          <a:bodyPr/>
          <a:lstStyle/>
          <a:p>
            <a:endParaRPr lang="en-US"/>
          </a:p>
        </p:txBody>
      </p:sp>
      <p:sp>
        <p:nvSpPr>
          <p:cNvPr id="15" name="Text 13"/>
          <p:cNvSpPr/>
          <p:nvPr/>
        </p:nvSpPr>
        <p:spPr>
          <a:xfrm>
            <a:off x="6510528" y="1911096"/>
            <a:ext cx="4965192" cy="1435608"/>
          </a:xfrm>
          <a:prstGeom prst="rect">
            <a:avLst/>
          </a:prstGeom>
          <a:noFill/>
          <a:ln/>
        </p:spPr>
        <p:txBody>
          <a:bodyPr wrap="square" lIns="0" tIns="0" rIns="0" bIns="0" rtlCol="0" anchor="t"/>
          <a:lstStyle/>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function Sqrt(n)</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square ← 1;   i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while square ≤ n do</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square ← square + 2i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i ← i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return i − 1</a:t>
            </a:r>
            <a:endParaRPr lang="en-US" sz="1300" dirty="0"/>
          </a:p>
        </p:txBody>
      </p:sp>
      <p:sp>
        <p:nvSpPr>
          <p:cNvPr id="16" name="Shape 14"/>
          <p:cNvSpPr/>
          <p:nvPr/>
        </p:nvSpPr>
        <p:spPr>
          <a:xfrm>
            <a:off x="6309360" y="3657600"/>
            <a:ext cx="5330952" cy="2286000"/>
          </a:xfrm>
          <a:prstGeom prst="roundRect">
            <a:avLst>
              <a:gd name="adj" fmla="val 2000"/>
            </a:avLst>
          </a:prstGeom>
          <a:solidFill>
            <a:srgbClr val="EDF2FC"/>
          </a:solidFill>
          <a:ln w="12700">
            <a:solidFill>
              <a:srgbClr val="D6E1F5"/>
            </a:solidFill>
            <a:prstDash val="solid"/>
          </a:ln>
        </p:spPr>
        <p:txBody>
          <a:bodyPr/>
          <a:lstStyle/>
          <a:p>
            <a:endParaRPr lang="en-US"/>
          </a:p>
        </p:txBody>
      </p:sp>
      <p:sp>
        <p:nvSpPr>
          <p:cNvPr id="17" name="Text 15"/>
          <p:cNvSpPr/>
          <p:nvPr/>
        </p:nvSpPr>
        <p:spPr>
          <a:xfrm>
            <a:off x="6583680" y="3767328"/>
            <a:ext cx="4754880" cy="292608"/>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Why does that work?</a:t>
            </a:r>
            <a:endParaRPr lang="en-US" sz="1450" dirty="0"/>
          </a:p>
        </p:txBody>
      </p:sp>
      <p:sp>
        <p:nvSpPr>
          <p:cNvPr id="18" name="Text 16"/>
          <p:cNvSpPr/>
          <p:nvPr/>
        </p:nvSpPr>
        <p:spPr>
          <a:xfrm>
            <a:off x="6583680" y="4096512"/>
            <a:ext cx="4754880" cy="548640"/>
          </a:xfrm>
          <a:prstGeom prst="rect">
            <a:avLst/>
          </a:prstGeom>
          <a:noFill/>
          <a:ln/>
        </p:spPr>
        <p:txBody>
          <a:bodyPr wrap="square" lIns="0" tIns="0" rIns="0" bIns="0" rtlCol="0" anchor="t"/>
          <a:lstStyle/>
          <a:p>
            <a:pPr marL="0" indent="0">
              <a:lnSpc>
                <a:spcPct val="112000"/>
              </a:lnSpc>
              <a:buNone/>
            </a:pPr>
            <a:r>
              <a:rPr lang="en-US" sz="1250" dirty="0">
                <a:solidFill>
                  <a:srgbClr val="23293F"/>
                </a:solidFill>
                <a:latin typeface="Calibri" pitchFamily="34" charset="0"/>
                <a:ea typeface="Calibri" pitchFamily="34" charset="-122"/>
                <a:cs typeface="Calibri" pitchFamily="34" charset="-120"/>
              </a:rPr>
              <a:t>square is always i², because (i+1)² = i² + 2i + 1. Equivalently, the sum of the first k odd numbers is k².</a:t>
            </a:r>
            <a:endParaRPr lang="en-US" sz="1250" dirty="0"/>
          </a:p>
        </p:txBody>
      </p:sp>
      <p:sp>
        <p:nvSpPr>
          <p:cNvPr id="19" name="Shape 17"/>
          <p:cNvSpPr/>
          <p:nvPr/>
        </p:nvSpPr>
        <p:spPr>
          <a:xfrm>
            <a:off x="6720840" y="4754880"/>
            <a:ext cx="292608" cy="292608"/>
          </a:xfrm>
          <a:prstGeom prst="rect">
            <a:avLst/>
          </a:prstGeom>
          <a:solidFill>
            <a:srgbClr val="CADCFC"/>
          </a:solidFill>
          <a:ln w="12700">
            <a:solidFill>
              <a:srgbClr val="FFFFFF"/>
            </a:solidFill>
            <a:prstDash val="solid"/>
          </a:ln>
        </p:spPr>
        <p:txBody>
          <a:bodyPr/>
          <a:lstStyle/>
          <a:p>
            <a:endParaRPr lang="en-US"/>
          </a:p>
        </p:txBody>
      </p:sp>
      <p:sp>
        <p:nvSpPr>
          <p:cNvPr id="20" name="Shape 18"/>
          <p:cNvSpPr/>
          <p:nvPr/>
        </p:nvSpPr>
        <p:spPr>
          <a:xfrm>
            <a:off x="7013448" y="4754880"/>
            <a:ext cx="292608" cy="292608"/>
          </a:xfrm>
          <a:prstGeom prst="rect">
            <a:avLst/>
          </a:prstGeom>
          <a:solidFill>
            <a:srgbClr val="8FB3E8"/>
          </a:solidFill>
          <a:ln w="12700">
            <a:solidFill>
              <a:srgbClr val="FFFFFF"/>
            </a:solidFill>
            <a:prstDash val="solid"/>
          </a:ln>
        </p:spPr>
        <p:txBody>
          <a:bodyPr/>
          <a:lstStyle/>
          <a:p>
            <a:endParaRPr lang="en-US"/>
          </a:p>
        </p:txBody>
      </p:sp>
      <p:sp>
        <p:nvSpPr>
          <p:cNvPr id="21" name="Shape 19"/>
          <p:cNvSpPr/>
          <p:nvPr/>
        </p:nvSpPr>
        <p:spPr>
          <a:xfrm>
            <a:off x="7306056" y="4754880"/>
            <a:ext cx="292608" cy="292608"/>
          </a:xfrm>
          <a:prstGeom prst="rect">
            <a:avLst/>
          </a:prstGeom>
          <a:solidFill>
            <a:srgbClr val="E8A33D"/>
          </a:solidFill>
          <a:ln w="12700">
            <a:solidFill>
              <a:srgbClr val="FFFFFF"/>
            </a:solidFill>
            <a:prstDash val="solid"/>
          </a:ln>
        </p:spPr>
        <p:txBody>
          <a:bodyPr/>
          <a:lstStyle/>
          <a:p>
            <a:endParaRPr lang="en-US"/>
          </a:p>
        </p:txBody>
      </p:sp>
      <p:sp>
        <p:nvSpPr>
          <p:cNvPr id="22" name="Shape 20"/>
          <p:cNvSpPr/>
          <p:nvPr/>
        </p:nvSpPr>
        <p:spPr>
          <a:xfrm>
            <a:off x="7598664" y="4754880"/>
            <a:ext cx="292608" cy="292608"/>
          </a:xfrm>
          <a:prstGeom prst="rect">
            <a:avLst/>
          </a:prstGeom>
          <a:solidFill>
            <a:srgbClr val="1F7A72"/>
          </a:solidFill>
          <a:ln w="12700">
            <a:solidFill>
              <a:srgbClr val="FFFFFF"/>
            </a:solidFill>
            <a:prstDash val="solid"/>
          </a:ln>
        </p:spPr>
        <p:txBody>
          <a:bodyPr/>
          <a:lstStyle/>
          <a:p>
            <a:endParaRPr lang="en-US"/>
          </a:p>
        </p:txBody>
      </p:sp>
      <p:sp>
        <p:nvSpPr>
          <p:cNvPr id="23" name="Shape 21"/>
          <p:cNvSpPr/>
          <p:nvPr/>
        </p:nvSpPr>
        <p:spPr>
          <a:xfrm>
            <a:off x="6720840" y="5047488"/>
            <a:ext cx="292608" cy="292608"/>
          </a:xfrm>
          <a:prstGeom prst="rect">
            <a:avLst/>
          </a:prstGeom>
          <a:solidFill>
            <a:srgbClr val="8FB3E8"/>
          </a:solidFill>
          <a:ln w="12700">
            <a:solidFill>
              <a:srgbClr val="FFFFFF"/>
            </a:solidFill>
            <a:prstDash val="solid"/>
          </a:ln>
        </p:spPr>
        <p:txBody>
          <a:bodyPr/>
          <a:lstStyle/>
          <a:p>
            <a:endParaRPr lang="en-US"/>
          </a:p>
        </p:txBody>
      </p:sp>
      <p:sp>
        <p:nvSpPr>
          <p:cNvPr id="24" name="Shape 22"/>
          <p:cNvSpPr/>
          <p:nvPr/>
        </p:nvSpPr>
        <p:spPr>
          <a:xfrm>
            <a:off x="7013448" y="5047488"/>
            <a:ext cx="292608" cy="292608"/>
          </a:xfrm>
          <a:prstGeom prst="rect">
            <a:avLst/>
          </a:prstGeom>
          <a:solidFill>
            <a:srgbClr val="8FB3E8"/>
          </a:solidFill>
          <a:ln w="12700">
            <a:solidFill>
              <a:srgbClr val="FFFFFF"/>
            </a:solidFill>
            <a:prstDash val="solid"/>
          </a:ln>
        </p:spPr>
        <p:txBody>
          <a:bodyPr/>
          <a:lstStyle/>
          <a:p>
            <a:endParaRPr lang="en-US"/>
          </a:p>
        </p:txBody>
      </p:sp>
      <p:sp>
        <p:nvSpPr>
          <p:cNvPr id="25" name="Shape 23"/>
          <p:cNvSpPr/>
          <p:nvPr/>
        </p:nvSpPr>
        <p:spPr>
          <a:xfrm>
            <a:off x="7306056" y="5047488"/>
            <a:ext cx="292608" cy="292608"/>
          </a:xfrm>
          <a:prstGeom prst="rect">
            <a:avLst/>
          </a:prstGeom>
          <a:solidFill>
            <a:srgbClr val="E8A33D"/>
          </a:solidFill>
          <a:ln w="12700">
            <a:solidFill>
              <a:srgbClr val="FFFFFF"/>
            </a:solidFill>
            <a:prstDash val="solid"/>
          </a:ln>
        </p:spPr>
        <p:txBody>
          <a:bodyPr/>
          <a:lstStyle/>
          <a:p>
            <a:endParaRPr lang="en-US"/>
          </a:p>
        </p:txBody>
      </p:sp>
      <p:sp>
        <p:nvSpPr>
          <p:cNvPr id="26" name="Shape 24"/>
          <p:cNvSpPr/>
          <p:nvPr/>
        </p:nvSpPr>
        <p:spPr>
          <a:xfrm>
            <a:off x="7598664" y="5047488"/>
            <a:ext cx="292608" cy="292608"/>
          </a:xfrm>
          <a:prstGeom prst="rect">
            <a:avLst/>
          </a:prstGeom>
          <a:solidFill>
            <a:srgbClr val="1F7A72"/>
          </a:solidFill>
          <a:ln w="12700">
            <a:solidFill>
              <a:srgbClr val="FFFFFF"/>
            </a:solidFill>
            <a:prstDash val="solid"/>
          </a:ln>
        </p:spPr>
        <p:txBody>
          <a:bodyPr/>
          <a:lstStyle/>
          <a:p>
            <a:endParaRPr lang="en-US"/>
          </a:p>
        </p:txBody>
      </p:sp>
      <p:sp>
        <p:nvSpPr>
          <p:cNvPr id="27" name="Shape 25"/>
          <p:cNvSpPr/>
          <p:nvPr/>
        </p:nvSpPr>
        <p:spPr>
          <a:xfrm>
            <a:off x="6720840" y="5340096"/>
            <a:ext cx="292608" cy="292608"/>
          </a:xfrm>
          <a:prstGeom prst="rect">
            <a:avLst/>
          </a:prstGeom>
          <a:solidFill>
            <a:srgbClr val="E8A33D"/>
          </a:solidFill>
          <a:ln w="12700">
            <a:solidFill>
              <a:srgbClr val="FFFFFF"/>
            </a:solidFill>
            <a:prstDash val="solid"/>
          </a:ln>
        </p:spPr>
        <p:txBody>
          <a:bodyPr/>
          <a:lstStyle/>
          <a:p>
            <a:endParaRPr lang="en-US"/>
          </a:p>
        </p:txBody>
      </p:sp>
      <p:sp>
        <p:nvSpPr>
          <p:cNvPr id="28" name="Shape 26"/>
          <p:cNvSpPr/>
          <p:nvPr/>
        </p:nvSpPr>
        <p:spPr>
          <a:xfrm>
            <a:off x="7013448" y="5340096"/>
            <a:ext cx="292608" cy="292608"/>
          </a:xfrm>
          <a:prstGeom prst="rect">
            <a:avLst/>
          </a:prstGeom>
          <a:solidFill>
            <a:srgbClr val="E8A33D"/>
          </a:solidFill>
          <a:ln w="12700">
            <a:solidFill>
              <a:srgbClr val="FFFFFF"/>
            </a:solidFill>
            <a:prstDash val="solid"/>
          </a:ln>
        </p:spPr>
        <p:txBody>
          <a:bodyPr/>
          <a:lstStyle/>
          <a:p>
            <a:endParaRPr lang="en-US"/>
          </a:p>
        </p:txBody>
      </p:sp>
      <p:sp>
        <p:nvSpPr>
          <p:cNvPr id="29" name="Shape 27"/>
          <p:cNvSpPr/>
          <p:nvPr/>
        </p:nvSpPr>
        <p:spPr>
          <a:xfrm>
            <a:off x="7306056" y="5340096"/>
            <a:ext cx="292608" cy="292608"/>
          </a:xfrm>
          <a:prstGeom prst="rect">
            <a:avLst/>
          </a:prstGeom>
          <a:solidFill>
            <a:srgbClr val="E8A33D"/>
          </a:solidFill>
          <a:ln w="12700">
            <a:solidFill>
              <a:srgbClr val="FFFFFF"/>
            </a:solidFill>
            <a:prstDash val="solid"/>
          </a:ln>
        </p:spPr>
        <p:txBody>
          <a:bodyPr/>
          <a:lstStyle/>
          <a:p>
            <a:endParaRPr lang="en-US"/>
          </a:p>
        </p:txBody>
      </p:sp>
      <p:sp>
        <p:nvSpPr>
          <p:cNvPr id="30" name="Shape 28"/>
          <p:cNvSpPr/>
          <p:nvPr/>
        </p:nvSpPr>
        <p:spPr>
          <a:xfrm>
            <a:off x="7598664" y="5340096"/>
            <a:ext cx="292608" cy="292608"/>
          </a:xfrm>
          <a:prstGeom prst="rect">
            <a:avLst/>
          </a:prstGeom>
          <a:solidFill>
            <a:srgbClr val="1F7A72"/>
          </a:solidFill>
          <a:ln w="12700">
            <a:solidFill>
              <a:srgbClr val="FFFFFF"/>
            </a:solidFill>
            <a:prstDash val="solid"/>
          </a:ln>
        </p:spPr>
        <p:txBody>
          <a:bodyPr/>
          <a:lstStyle/>
          <a:p>
            <a:endParaRPr lang="en-US"/>
          </a:p>
        </p:txBody>
      </p:sp>
      <p:sp>
        <p:nvSpPr>
          <p:cNvPr id="31" name="Shape 29"/>
          <p:cNvSpPr/>
          <p:nvPr/>
        </p:nvSpPr>
        <p:spPr>
          <a:xfrm>
            <a:off x="6720840" y="5632704"/>
            <a:ext cx="292608" cy="292608"/>
          </a:xfrm>
          <a:prstGeom prst="rect">
            <a:avLst/>
          </a:prstGeom>
          <a:solidFill>
            <a:srgbClr val="1F7A72"/>
          </a:solidFill>
          <a:ln w="12700">
            <a:solidFill>
              <a:srgbClr val="FFFFFF"/>
            </a:solidFill>
            <a:prstDash val="solid"/>
          </a:ln>
        </p:spPr>
        <p:txBody>
          <a:bodyPr/>
          <a:lstStyle/>
          <a:p>
            <a:endParaRPr lang="en-US"/>
          </a:p>
        </p:txBody>
      </p:sp>
      <p:sp>
        <p:nvSpPr>
          <p:cNvPr id="32" name="Shape 30"/>
          <p:cNvSpPr/>
          <p:nvPr/>
        </p:nvSpPr>
        <p:spPr>
          <a:xfrm>
            <a:off x="7013448" y="5632704"/>
            <a:ext cx="292608" cy="292608"/>
          </a:xfrm>
          <a:prstGeom prst="rect">
            <a:avLst/>
          </a:prstGeom>
          <a:solidFill>
            <a:srgbClr val="1F7A72"/>
          </a:solidFill>
          <a:ln w="12700">
            <a:solidFill>
              <a:srgbClr val="FFFFFF"/>
            </a:solidFill>
            <a:prstDash val="solid"/>
          </a:ln>
        </p:spPr>
        <p:txBody>
          <a:bodyPr/>
          <a:lstStyle/>
          <a:p>
            <a:endParaRPr lang="en-US"/>
          </a:p>
        </p:txBody>
      </p:sp>
      <p:sp>
        <p:nvSpPr>
          <p:cNvPr id="33" name="Shape 31"/>
          <p:cNvSpPr/>
          <p:nvPr/>
        </p:nvSpPr>
        <p:spPr>
          <a:xfrm>
            <a:off x="7306056" y="5632704"/>
            <a:ext cx="292608" cy="292608"/>
          </a:xfrm>
          <a:prstGeom prst="rect">
            <a:avLst/>
          </a:prstGeom>
          <a:solidFill>
            <a:srgbClr val="1F7A72"/>
          </a:solidFill>
          <a:ln w="12700">
            <a:solidFill>
              <a:srgbClr val="FFFFFF"/>
            </a:solidFill>
            <a:prstDash val="solid"/>
          </a:ln>
        </p:spPr>
        <p:txBody>
          <a:bodyPr/>
          <a:lstStyle/>
          <a:p>
            <a:endParaRPr lang="en-US"/>
          </a:p>
        </p:txBody>
      </p:sp>
      <p:sp>
        <p:nvSpPr>
          <p:cNvPr id="34" name="Shape 32"/>
          <p:cNvSpPr/>
          <p:nvPr/>
        </p:nvSpPr>
        <p:spPr>
          <a:xfrm>
            <a:off x="7598664" y="5632704"/>
            <a:ext cx="292608" cy="292608"/>
          </a:xfrm>
          <a:prstGeom prst="rect">
            <a:avLst/>
          </a:prstGeom>
          <a:solidFill>
            <a:srgbClr val="1F7A72"/>
          </a:solidFill>
          <a:ln w="12700">
            <a:solidFill>
              <a:srgbClr val="FFFFFF"/>
            </a:solidFill>
            <a:prstDash val="solid"/>
          </a:ln>
        </p:spPr>
        <p:txBody>
          <a:bodyPr/>
          <a:lstStyle/>
          <a:p>
            <a:endParaRPr lang="en-US"/>
          </a:p>
        </p:txBody>
      </p:sp>
      <p:sp>
        <p:nvSpPr>
          <p:cNvPr id="35" name="Text 33"/>
          <p:cNvSpPr/>
          <p:nvPr/>
        </p:nvSpPr>
        <p:spPr>
          <a:xfrm>
            <a:off x="8092440" y="4754880"/>
            <a:ext cx="3291840" cy="1170432"/>
          </a:xfrm>
          <a:prstGeom prst="rect">
            <a:avLst/>
          </a:prstGeom>
          <a:noFill/>
          <a:ln/>
        </p:spPr>
        <p:txBody>
          <a:bodyPr wrap="square" lIns="0" tIns="0" rIns="0" bIns="0" rtlCol="0" anchor="ctr"/>
          <a:lstStyle/>
          <a:p>
            <a:pPr marL="0" indent="0">
              <a:lnSpc>
                <a:spcPct val="115000"/>
              </a:lnSpc>
              <a:spcAft>
                <a:spcPts val="400"/>
              </a:spcAft>
              <a:buNone/>
            </a:pPr>
            <a:r>
              <a:rPr lang="en-US" sz="1400" b="1" dirty="0">
                <a:solidFill>
                  <a:srgbClr val="1E2761"/>
                </a:solidFill>
                <a:latin typeface="Calibri" pitchFamily="34" charset="0"/>
                <a:ea typeface="Calibri" pitchFamily="34" charset="-122"/>
                <a:cs typeface="Calibri" pitchFamily="34" charset="-120"/>
              </a:rPr>
              <a:t>1 + 3 + 5 + 7  =  16  =  4²</a:t>
            </a:r>
            <a:endParaRPr lang="en-US" sz="1300" dirty="0"/>
          </a:p>
          <a:p>
            <a:pPr marL="0" indent="0">
              <a:lnSpc>
                <a:spcPct val="115000"/>
              </a:lnSpc>
              <a:spcAft>
                <a:spcPts val="400"/>
              </a:spcAft>
              <a:buNone/>
            </a:pPr>
            <a:r>
              <a:rPr lang="en-US" sz="1150" i="1" dirty="0">
                <a:solidFill>
                  <a:srgbClr val="6E7891"/>
                </a:solidFill>
                <a:latin typeface="Calibri" pitchFamily="34" charset="0"/>
                <a:ea typeface="Calibri" pitchFamily="34" charset="-122"/>
                <a:cs typeface="Calibri" pitchFamily="34" charset="-120"/>
              </a:rPr>
              <a:t>each L-shaped layer adds the next odd number</a:t>
            </a:r>
            <a:endParaRPr lang="en-US" sz="1300" dirty="0"/>
          </a:p>
        </p:txBody>
      </p:sp>
      <p:sp>
        <p:nvSpPr>
          <p:cNvPr id="36" name="Text 34"/>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7" name="Text 35"/>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 (a)</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Searching a sorted linked list</a:t>
            </a:r>
            <a:endParaRPr lang="en-US" sz="2900" dirty="0"/>
          </a:p>
        </p:txBody>
      </p:sp>
      <p:sp>
        <p:nvSpPr>
          <p:cNvPr id="5" name="Text 3"/>
          <p:cNvSpPr/>
          <p:nvPr/>
        </p:nvSpPr>
        <p:spPr>
          <a:xfrm>
            <a:off x="1783080" y="809244"/>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You can only move one link at a time — and that changes everything</a:t>
            </a:r>
            <a:endParaRPr lang="en-US" sz="1350" dirty="0"/>
          </a:p>
        </p:txBody>
      </p:sp>
      <p:sp>
        <p:nvSpPr>
          <p:cNvPr id="9" name="Shape 7"/>
          <p:cNvSpPr/>
          <p:nvPr/>
        </p:nvSpPr>
        <p:spPr>
          <a:xfrm>
            <a:off x="1783080" y="1643634"/>
            <a:ext cx="8049689" cy="1623654"/>
          </a:xfrm>
          <a:prstGeom prst="roundRect">
            <a:avLst>
              <a:gd name="adj" fmla="val 2500"/>
            </a:avLst>
          </a:prstGeom>
          <a:solidFill>
            <a:srgbClr val="E4F2EF"/>
          </a:solidFill>
          <a:ln w="12700">
            <a:solidFill>
              <a:srgbClr val="1F7A72"/>
            </a:solidFill>
            <a:prstDash val="solid"/>
          </a:ln>
        </p:spPr>
        <p:txBody>
          <a:bodyPr/>
          <a:lstStyle/>
          <a:p>
            <a:endParaRPr lang="en-US"/>
          </a:p>
        </p:txBody>
      </p:sp>
      <p:sp>
        <p:nvSpPr>
          <p:cNvPr id="10" name="Text 8"/>
          <p:cNvSpPr/>
          <p:nvPr/>
        </p:nvSpPr>
        <p:spPr>
          <a:xfrm>
            <a:off x="2057401" y="1780794"/>
            <a:ext cx="7179826" cy="292608"/>
          </a:xfrm>
          <a:prstGeom prst="rect">
            <a:avLst/>
          </a:prstGeom>
          <a:noFill/>
          <a:ln/>
        </p:spPr>
        <p:txBody>
          <a:bodyPr wrap="square" lIns="0" tIns="0" rIns="0" bIns="0" rtlCol="0" anchor="ctr"/>
          <a:lstStyle/>
          <a:p>
            <a:pPr marL="0" indent="0">
              <a:buNone/>
            </a:pPr>
            <a:r>
              <a:rPr lang="en-US" sz="1500" b="1" dirty="0">
                <a:solidFill>
                  <a:srgbClr val="1F7A72"/>
                </a:solidFill>
                <a:latin typeface="Cambria" pitchFamily="34" charset="0"/>
                <a:ea typeface="Cambria" pitchFamily="34" charset="-122"/>
                <a:cs typeface="Cambria" pitchFamily="34" charset="-120"/>
              </a:rPr>
              <a:t>What it does buy you</a:t>
            </a:r>
            <a:endParaRPr lang="en-US" sz="1500" dirty="0"/>
          </a:p>
        </p:txBody>
      </p:sp>
      <p:sp>
        <p:nvSpPr>
          <p:cNvPr id="11" name="Text 9"/>
          <p:cNvSpPr/>
          <p:nvPr/>
        </p:nvSpPr>
        <p:spPr>
          <a:xfrm>
            <a:off x="2057401" y="2146554"/>
            <a:ext cx="7179826" cy="1234440"/>
          </a:xfrm>
          <a:prstGeom prst="rect">
            <a:avLst/>
          </a:prstGeom>
          <a:noFill/>
          <a:ln/>
        </p:spPr>
        <p:txBody>
          <a:bodyPr wrap="square" lIns="0" tIns="0" rIns="0" bIns="0" rtlCol="0" anchor="t"/>
          <a:lstStyle/>
          <a:p>
            <a:pPr marL="0" indent="0">
              <a:lnSpc>
                <a:spcPct val="115000"/>
              </a:lnSpc>
              <a:buNone/>
            </a:pPr>
            <a:r>
              <a:rPr lang="en-US" sz="1400" dirty="0">
                <a:solidFill>
                  <a:srgbClr val="23293F"/>
                </a:solidFill>
                <a:latin typeface="Calibri" pitchFamily="34" charset="0"/>
                <a:ea typeface="Calibri" pitchFamily="34" charset="-122"/>
                <a:cs typeface="Calibri" pitchFamily="34" charset="-120"/>
              </a:rPr>
              <a:t>You can </a:t>
            </a:r>
            <a:r>
              <a:rPr lang="en-US" sz="1400" b="1" dirty="0">
                <a:solidFill>
                  <a:srgbClr val="23293F"/>
                </a:solidFill>
                <a:latin typeface="Calibri" pitchFamily="34" charset="0"/>
                <a:ea typeface="Calibri" pitchFamily="34" charset="-122"/>
                <a:cs typeface="Calibri" pitchFamily="34" charset="-120"/>
              </a:rPr>
              <a:t>stop early</a:t>
            </a:r>
            <a:r>
              <a:rPr lang="en-US" sz="1400" dirty="0">
                <a:solidFill>
                  <a:srgbClr val="23293F"/>
                </a:solidFill>
                <a:latin typeface="Calibri" pitchFamily="34" charset="0"/>
                <a:ea typeface="Calibri" pitchFamily="34" charset="-122"/>
                <a:cs typeface="Calibri" pitchFamily="34" charset="-120"/>
              </a:rPr>
              <a:t>. Walk from the head and abandon the search the moment the current key exceeds n — the rest of the list can't contain it. Unsuccessful searches end after about half the list on average instead of all of it.</a:t>
            </a:r>
            <a:endParaRPr lang="en-US" sz="1400" dirty="0"/>
          </a:p>
        </p:txBody>
      </p:sp>
      <p:sp>
        <p:nvSpPr>
          <p:cNvPr id="12" name="Shape 10"/>
          <p:cNvSpPr/>
          <p:nvPr/>
        </p:nvSpPr>
        <p:spPr>
          <a:xfrm>
            <a:off x="2002536" y="4242816"/>
            <a:ext cx="1051560" cy="658368"/>
          </a:xfrm>
          <a:prstGeom prst="roundRect">
            <a:avLst>
              <a:gd name="adj" fmla="val 8333"/>
            </a:avLst>
          </a:prstGeom>
          <a:solidFill>
            <a:srgbClr val="1E2761"/>
          </a:solidFill>
          <a:ln w="19050">
            <a:solidFill>
              <a:srgbClr val="1E2761"/>
            </a:solidFill>
            <a:prstDash val="solid"/>
          </a:ln>
        </p:spPr>
        <p:txBody>
          <a:bodyPr/>
          <a:lstStyle/>
          <a:p>
            <a:endParaRPr lang="en-US"/>
          </a:p>
        </p:txBody>
      </p:sp>
      <p:sp>
        <p:nvSpPr>
          <p:cNvPr id="13" name="Text 11"/>
          <p:cNvSpPr/>
          <p:nvPr/>
        </p:nvSpPr>
        <p:spPr>
          <a:xfrm>
            <a:off x="2002536" y="4242816"/>
            <a:ext cx="1051560" cy="65836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12</a:t>
            </a:r>
            <a:endParaRPr lang="en-US" sz="1700" dirty="0"/>
          </a:p>
        </p:txBody>
      </p:sp>
      <p:sp>
        <p:nvSpPr>
          <p:cNvPr id="14" name="Shape 12"/>
          <p:cNvSpPr/>
          <p:nvPr/>
        </p:nvSpPr>
        <p:spPr>
          <a:xfrm>
            <a:off x="3127248" y="4462272"/>
            <a:ext cx="329184" cy="219456"/>
          </a:xfrm>
          <a:prstGeom prst="rightArrow">
            <a:avLst/>
          </a:prstGeom>
          <a:solidFill>
            <a:srgbClr val="6E7891"/>
          </a:solidFill>
          <a:ln/>
        </p:spPr>
        <p:txBody>
          <a:bodyPr/>
          <a:lstStyle/>
          <a:p>
            <a:endParaRPr lang="en-US"/>
          </a:p>
        </p:txBody>
      </p:sp>
      <p:sp>
        <p:nvSpPr>
          <p:cNvPr id="15" name="Shape 13"/>
          <p:cNvSpPr/>
          <p:nvPr/>
        </p:nvSpPr>
        <p:spPr>
          <a:xfrm>
            <a:off x="3529584" y="4242816"/>
            <a:ext cx="1051560" cy="658368"/>
          </a:xfrm>
          <a:prstGeom prst="roundRect">
            <a:avLst>
              <a:gd name="adj" fmla="val 8333"/>
            </a:avLst>
          </a:prstGeom>
          <a:solidFill>
            <a:srgbClr val="1E2761"/>
          </a:solidFill>
          <a:ln w="19050">
            <a:solidFill>
              <a:srgbClr val="1E2761"/>
            </a:solidFill>
            <a:prstDash val="solid"/>
          </a:ln>
        </p:spPr>
        <p:txBody>
          <a:bodyPr/>
          <a:lstStyle/>
          <a:p>
            <a:endParaRPr lang="en-US"/>
          </a:p>
        </p:txBody>
      </p:sp>
      <p:sp>
        <p:nvSpPr>
          <p:cNvPr id="16" name="Text 14"/>
          <p:cNvSpPr/>
          <p:nvPr/>
        </p:nvSpPr>
        <p:spPr>
          <a:xfrm>
            <a:off x="3529584" y="4242816"/>
            <a:ext cx="1051560" cy="65836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25</a:t>
            </a:r>
            <a:endParaRPr lang="en-US" sz="1700" dirty="0"/>
          </a:p>
        </p:txBody>
      </p:sp>
      <p:sp>
        <p:nvSpPr>
          <p:cNvPr id="17" name="Shape 15"/>
          <p:cNvSpPr/>
          <p:nvPr/>
        </p:nvSpPr>
        <p:spPr>
          <a:xfrm>
            <a:off x="4654296" y="4462272"/>
            <a:ext cx="329184" cy="219456"/>
          </a:xfrm>
          <a:prstGeom prst="rightArrow">
            <a:avLst/>
          </a:prstGeom>
          <a:solidFill>
            <a:srgbClr val="6E7891"/>
          </a:solidFill>
          <a:ln/>
        </p:spPr>
        <p:txBody>
          <a:bodyPr/>
          <a:lstStyle/>
          <a:p>
            <a:endParaRPr lang="en-US"/>
          </a:p>
        </p:txBody>
      </p:sp>
      <p:sp>
        <p:nvSpPr>
          <p:cNvPr id="18" name="Shape 16"/>
          <p:cNvSpPr/>
          <p:nvPr/>
        </p:nvSpPr>
        <p:spPr>
          <a:xfrm>
            <a:off x="5056632" y="4242816"/>
            <a:ext cx="1051560" cy="658368"/>
          </a:xfrm>
          <a:prstGeom prst="roundRect">
            <a:avLst>
              <a:gd name="adj" fmla="val 8333"/>
            </a:avLst>
          </a:prstGeom>
          <a:solidFill>
            <a:srgbClr val="1E2761"/>
          </a:solidFill>
          <a:ln w="19050">
            <a:solidFill>
              <a:srgbClr val="1E2761"/>
            </a:solidFill>
            <a:prstDash val="solid"/>
          </a:ln>
        </p:spPr>
        <p:txBody>
          <a:bodyPr/>
          <a:lstStyle/>
          <a:p>
            <a:endParaRPr lang="en-US"/>
          </a:p>
        </p:txBody>
      </p:sp>
      <p:sp>
        <p:nvSpPr>
          <p:cNvPr id="19" name="Text 17"/>
          <p:cNvSpPr/>
          <p:nvPr/>
        </p:nvSpPr>
        <p:spPr>
          <a:xfrm>
            <a:off x="5056632" y="4242816"/>
            <a:ext cx="1051560" cy="65836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31</a:t>
            </a:r>
            <a:endParaRPr lang="en-US" sz="1700" dirty="0"/>
          </a:p>
        </p:txBody>
      </p:sp>
      <p:sp>
        <p:nvSpPr>
          <p:cNvPr id="20" name="Shape 18"/>
          <p:cNvSpPr/>
          <p:nvPr/>
        </p:nvSpPr>
        <p:spPr>
          <a:xfrm>
            <a:off x="6181344" y="4462272"/>
            <a:ext cx="329184" cy="219456"/>
          </a:xfrm>
          <a:prstGeom prst="rightArrow">
            <a:avLst/>
          </a:prstGeom>
          <a:solidFill>
            <a:srgbClr val="6E7891"/>
          </a:solidFill>
          <a:ln/>
        </p:spPr>
        <p:txBody>
          <a:bodyPr/>
          <a:lstStyle/>
          <a:p>
            <a:endParaRPr lang="en-US"/>
          </a:p>
        </p:txBody>
      </p:sp>
      <p:sp>
        <p:nvSpPr>
          <p:cNvPr id="21" name="Shape 19"/>
          <p:cNvSpPr/>
          <p:nvPr/>
        </p:nvSpPr>
        <p:spPr>
          <a:xfrm>
            <a:off x="6583680" y="4242816"/>
            <a:ext cx="1051560" cy="658368"/>
          </a:xfrm>
          <a:prstGeom prst="roundRect">
            <a:avLst>
              <a:gd name="adj" fmla="val 8333"/>
            </a:avLst>
          </a:prstGeom>
          <a:solidFill>
            <a:srgbClr val="E8A33D"/>
          </a:solidFill>
          <a:ln w="19050">
            <a:solidFill>
              <a:srgbClr val="E8A33D"/>
            </a:solidFill>
            <a:prstDash val="solid"/>
          </a:ln>
        </p:spPr>
        <p:txBody>
          <a:bodyPr/>
          <a:lstStyle/>
          <a:p>
            <a:endParaRPr lang="en-US"/>
          </a:p>
        </p:txBody>
      </p:sp>
      <p:sp>
        <p:nvSpPr>
          <p:cNvPr id="22" name="Text 20"/>
          <p:cNvSpPr/>
          <p:nvPr/>
        </p:nvSpPr>
        <p:spPr>
          <a:xfrm>
            <a:off x="6583680" y="4242816"/>
            <a:ext cx="1051560" cy="658368"/>
          </a:xfrm>
          <a:prstGeom prst="rect">
            <a:avLst/>
          </a:prstGeom>
          <a:noFill/>
          <a:ln/>
        </p:spPr>
        <p:txBody>
          <a:bodyPr wrap="square" lIns="0" tIns="0" rIns="0" bIns="0" rtlCol="0" anchor="ctr"/>
          <a:lstStyle/>
          <a:p>
            <a:pPr marL="0" indent="0" algn="ctr">
              <a:buNone/>
            </a:pPr>
            <a:r>
              <a:rPr lang="en-US" sz="1700" b="1" dirty="0">
                <a:solidFill>
                  <a:srgbClr val="141C3A"/>
                </a:solidFill>
                <a:latin typeface="Calibri" pitchFamily="34" charset="0"/>
                <a:ea typeface="Calibri" pitchFamily="34" charset="-122"/>
                <a:cs typeface="Calibri" pitchFamily="34" charset="-120"/>
              </a:rPr>
              <a:t>44</a:t>
            </a:r>
            <a:endParaRPr lang="en-US" sz="1700" dirty="0"/>
          </a:p>
        </p:txBody>
      </p:sp>
      <p:sp>
        <p:nvSpPr>
          <p:cNvPr id="23" name="Shape 21"/>
          <p:cNvSpPr/>
          <p:nvPr/>
        </p:nvSpPr>
        <p:spPr>
          <a:xfrm>
            <a:off x="7708392" y="4462272"/>
            <a:ext cx="329184" cy="219456"/>
          </a:xfrm>
          <a:prstGeom prst="rightArrow">
            <a:avLst/>
          </a:prstGeom>
          <a:solidFill>
            <a:srgbClr val="6E7891"/>
          </a:solidFill>
          <a:ln/>
        </p:spPr>
        <p:txBody>
          <a:bodyPr/>
          <a:lstStyle/>
          <a:p>
            <a:endParaRPr lang="en-US"/>
          </a:p>
        </p:txBody>
      </p:sp>
      <p:sp>
        <p:nvSpPr>
          <p:cNvPr id="24" name="Shape 22"/>
          <p:cNvSpPr/>
          <p:nvPr/>
        </p:nvSpPr>
        <p:spPr>
          <a:xfrm>
            <a:off x="8110728" y="4242816"/>
            <a:ext cx="1051560" cy="658368"/>
          </a:xfrm>
          <a:prstGeom prst="roundRect">
            <a:avLst>
              <a:gd name="adj" fmla="val 8333"/>
            </a:avLst>
          </a:prstGeom>
          <a:solidFill>
            <a:srgbClr val="FFFFFF"/>
          </a:solidFill>
          <a:ln w="19050">
            <a:solidFill>
              <a:srgbClr val="1E2761"/>
            </a:solidFill>
            <a:prstDash val="solid"/>
          </a:ln>
        </p:spPr>
        <p:txBody>
          <a:bodyPr/>
          <a:lstStyle/>
          <a:p>
            <a:endParaRPr lang="en-US"/>
          </a:p>
        </p:txBody>
      </p:sp>
      <p:sp>
        <p:nvSpPr>
          <p:cNvPr id="25" name="Text 23"/>
          <p:cNvSpPr/>
          <p:nvPr/>
        </p:nvSpPr>
        <p:spPr>
          <a:xfrm>
            <a:off x="8110728" y="4242816"/>
            <a:ext cx="1051560" cy="658368"/>
          </a:xfrm>
          <a:prstGeom prst="rect">
            <a:avLst/>
          </a:prstGeom>
          <a:noFill/>
          <a:ln/>
        </p:spPr>
        <p:txBody>
          <a:bodyPr wrap="square" lIns="0" tIns="0" rIns="0" bIns="0" rtlCol="0" anchor="ctr"/>
          <a:lstStyle/>
          <a:p>
            <a:pPr marL="0" indent="0" algn="ctr">
              <a:buNone/>
            </a:pPr>
            <a:r>
              <a:rPr lang="en-US" sz="1700" b="1" dirty="0">
                <a:solidFill>
                  <a:srgbClr val="1E2761"/>
                </a:solidFill>
                <a:latin typeface="Calibri" pitchFamily="34" charset="0"/>
                <a:ea typeface="Calibri" pitchFamily="34" charset="-122"/>
                <a:cs typeface="Calibri" pitchFamily="34" charset="-120"/>
              </a:rPr>
              <a:t>58</a:t>
            </a:r>
            <a:endParaRPr lang="en-US" sz="1700" dirty="0"/>
          </a:p>
        </p:txBody>
      </p:sp>
      <p:sp>
        <p:nvSpPr>
          <p:cNvPr id="26" name="Shape 24"/>
          <p:cNvSpPr/>
          <p:nvPr/>
        </p:nvSpPr>
        <p:spPr>
          <a:xfrm>
            <a:off x="9235440" y="4462272"/>
            <a:ext cx="329184" cy="219456"/>
          </a:xfrm>
          <a:prstGeom prst="rightArrow">
            <a:avLst/>
          </a:prstGeom>
          <a:solidFill>
            <a:srgbClr val="6E7891"/>
          </a:solidFill>
          <a:ln/>
        </p:spPr>
        <p:txBody>
          <a:bodyPr/>
          <a:lstStyle/>
          <a:p>
            <a:endParaRPr lang="en-US"/>
          </a:p>
        </p:txBody>
      </p:sp>
      <p:sp>
        <p:nvSpPr>
          <p:cNvPr id="27" name="Shape 25"/>
          <p:cNvSpPr/>
          <p:nvPr/>
        </p:nvSpPr>
        <p:spPr>
          <a:xfrm>
            <a:off x="9637776" y="4242816"/>
            <a:ext cx="1051560" cy="658368"/>
          </a:xfrm>
          <a:prstGeom prst="roundRect">
            <a:avLst>
              <a:gd name="adj" fmla="val 8333"/>
            </a:avLst>
          </a:prstGeom>
          <a:solidFill>
            <a:srgbClr val="FFFFFF"/>
          </a:solidFill>
          <a:ln w="19050">
            <a:solidFill>
              <a:srgbClr val="1E2761"/>
            </a:solidFill>
            <a:prstDash val="solid"/>
          </a:ln>
        </p:spPr>
        <p:txBody>
          <a:bodyPr/>
          <a:lstStyle/>
          <a:p>
            <a:endParaRPr lang="en-US"/>
          </a:p>
        </p:txBody>
      </p:sp>
      <p:sp>
        <p:nvSpPr>
          <p:cNvPr id="28" name="Text 26"/>
          <p:cNvSpPr/>
          <p:nvPr/>
        </p:nvSpPr>
        <p:spPr>
          <a:xfrm>
            <a:off x="9637776" y="4242816"/>
            <a:ext cx="1051560" cy="658368"/>
          </a:xfrm>
          <a:prstGeom prst="rect">
            <a:avLst/>
          </a:prstGeom>
          <a:noFill/>
          <a:ln/>
        </p:spPr>
        <p:txBody>
          <a:bodyPr wrap="square" lIns="0" tIns="0" rIns="0" bIns="0" rtlCol="0" anchor="ctr"/>
          <a:lstStyle/>
          <a:p>
            <a:pPr marL="0" indent="0" algn="ctr">
              <a:buNone/>
            </a:pPr>
            <a:r>
              <a:rPr lang="en-US" sz="1700" b="1" dirty="0">
                <a:solidFill>
                  <a:srgbClr val="1E2761"/>
                </a:solidFill>
                <a:latin typeface="Calibri" pitchFamily="34" charset="0"/>
                <a:ea typeface="Calibri" pitchFamily="34" charset="-122"/>
                <a:cs typeface="Calibri" pitchFamily="34" charset="-120"/>
              </a:rPr>
              <a:t>73</a:t>
            </a:r>
            <a:endParaRPr lang="en-US" sz="1700" dirty="0"/>
          </a:p>
        </p:txBody>
      </p:sp>
      <p:sp>
        <p:nvSpPr>
          <p:cNvPr id="29" name="Text 27"/>
          <p:cNvSpPr/>
          <p:nvPr/>
        </p:nvSpPr>
        <p:spPr>
          <a:xfrm>
            <a:off x="1179576" y="4425696"/>
            <a:ext cx="731520" cy="292608"/>
          </a:xfrm>
          <a:prstGeom prst="rect">
            <a:avLst/>
          </a:prstGeom>
          <a:noFill/>
          <a:ln/>
        </p:spPr>
        <p:txBody>
          <a:bodyPr wrap="square" lIns="0" tIns="0" rIns="0" bIns="0" rtlCol="0" anchor="ctr"/>
          <a:lstStyle/>
          <a:p>
            <a:pPr marL="0" indent="0" algn="r">
              <a:buNone/>
            </a:pPr>
            <a:r>
              <a:rPr lang="en-US" sz="1150" dirty="0">
                <a:solidFill>
                  <a:srgbClr val="6E7891"/>
                </a:solidFill>
                <a:latin typeface="Calibri" pitchFamily="34" charset="0"/>
                <a:ea typeface="Calibri" pitchFamily="34" charset="-122"/>
                <a:cs typeface="Calibri" pitchFamily="34" charset="-120"/>
              </a:rPr>
              <a:t>head</a:t>
            </a:r>
            <a:endParaRPr lang="en-US" sz="1150" dirty="0"/>
          </a:p>
        </p:txBody>
      </p:sp>
      <p:sp>
        <p:nvSpPr>
          <p:cNvPr id="30" name="Text 28"/>
          <p:cNvSpPr/>
          <p:nvPr/>
        </p:nvSpPr>
        <p:spPr>
          <a:xfrm>
            <a:off x="2002536" y="5020056"/>
            <a:ext cx="8686800" cy="320040"/>
          </a:xfrm>
          <a:prstGeom prst="rect">
            <a:avLst/>
          </a:prstGeom>
          <a:noFill/>
          <a:ln/>
        </p:spPr>
        <p:txBody>
          <a:bodyPr wrap="square" lIns="0" tIns="0" rIns="0" bIns="0" rtlCol="0" anchor="ctr"/>
          <a:lstStyle/>
          <a:p>
            <a:pPr marL="0" indent="0" algn="ctr">
              <a:buNone/>
            </a:pPr>
            <a:r>
              <a:rPr lang="en-US" sz="1250" b="1" dirty="0">
                <a:solidFill>
                  <a:srgbClr val="E8A33D"/>
                </a:solidFill>
                <a:latin typeface="Calibri" pitchFamily="34" charset="0"/>
                <a:ea typeface="Calibri" pitchFamily="34" charset="-122"/>
                <a:cs typeface="Calibri" pitchFamily="34" charset="-120"/>
              </a:rPr>
              <a:t>searching for 40  →  44 &gt; 40, so stop here: 40 is not in the list</a:t>
            </a:r>
            <a:endParaRPr lang="en-US" sz="1250" dirty="0"/>
          </a:p>
        </p:txBody>
      </p:sp>
      <p:sp>
        <p:nvSpPr>
          <p:cNvPr id="33" name="Text 31"/>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4" name="Text 32"/>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Q5 (b)</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Searching a sorted array</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Random access is the whole difference</a:t>
            </a:r>
            <a:endParaRPr lang="en-US" sz="1350" dirty="0"/>
          </a:p>
        </p:txBody>
      </p:sp>
      <p:sp>
        <p:nvSpPr>
          <p:cNvPr id="6" name="Shape 4"/>
          <p:cNvSpPr/>
          <p:nvPr/>
        </p:nvSpPr>
        <p:spPr>
          <a:xfrm>
            <a:off x="548640" y="1371600"/>
            <a:ext cx="5486400" cy="1572768"/>
          </a:xfrm>
          <a:prstGeom prst="roundRect">
            <a:avLst>
              <a:gd name="adj" fmla="val 2907"/>
            </a:avLst>
          </a:prstGeom>
          <a:solidFill>
            <a:srgbClr val="E4F2EF"/>
          </a:solidFill>
          <a:ln w="12700">
            <a:solidFill>
              <a:srgbClr val="1F7A72"/>
            </a:solidFill>
            <a:prstDash val="solid"/>
          </a:ln>
        </p:spPr>
        <p:txBody>
          <a:bodyPr/>
          <a:lstStyle/>
          <a:p>
            <a:endParaRPr lang="en-US"/>
          </a:p>
        </p:txBody>
      </p:sp>
      <p:sp>
        <p:nvSpPr>
          <p:cNvPr id="7" name="Text 5"/>
          <p:cNvSpPr/>
          <p:nvPr/>
        </p:nvSpPr>
        <p:spPr>
          <a:xfrm>
            <a:off x="822960" y="1481328"/>
            <a:ext cx="4937760" cy="292608"/>
          </a:xfrm>
          <a:prstGeom prst="rect">
            <a:avLst/>
          </a:prstGeom>
          <a:noFill/>
          <a:ln/>
        </p:spPr>
        <p:txBody>
          <a:bodyPr wrap="square" lIns="0" tIns="0" rIns="0" bIns="0" rtlCol="0" anchor="ctr"/>
          <a:lstStyle/>
          <a:p>
            <a:pPr marL="0" indent="0">
              <a:buNone/>
            </a:pPr>
            <a:r>
              <a:rPr lang="en-US" sz="1500" b="1" dirty="0">
                <a:solidFill>
                  <a:srgbClr val="1F7A72"/>
                </a:solidFill>
                <a:latin typeface="Cambria" pitchFamily="34" charset="0"/>
                <a:ea typeface="Cambria" pitchFamily="34" charset="-122"/>
                <a:cs typeface="Cambria" pitchFamily="34" charset="-120"/>
              </a:rPr>
              <a:t>Binary search</a:t>
            </a:r>
            <a:endParaRPr lang="en-US" sz="1500" dirty="0"/>
          </a:p>
        </p:txBody>
      </p:sp>
      <p:sp>
        <p:nvSpPr>
          <p:cNvPr id="8" name="Text 6"/>
          <p:cNvSpPr/>
          <p:nvPr/>
        </p:nvSpPr>
        <p:spPr>
          <a:xfrm>
            <a:off x="822960" y="1828800"/>
            <a:ext cx="4937760" cy="1234440"/>
          </a:xfrm>
          <a:prstGeom prst="rect">
            <a:avLst/>
          </a:prstGeom>
          <a:noFill/>
          <a:ln/>
        </p:spPr>
        <p:txBody>
          <a:bodyPr wrap="square" lIns="0" tIns="0" rIns="0" bIns="0" rtlCol="0" anchor="t"/>
          <a:lstStyle/>
          <a:p>
            <a:pPr marL="0" indent="0">
              <a:lnSpc>
                <a:spcPct val="115000"/>
              </a:lnSpc>
              <a:buNone/>
            </a:pPr>
            <a:r>
              <a:rPr lang="en-US" sz="1300" dirty="0">
                <a:solidFill>
                  <a:srgbClr val="23293F"/>
                </a:solidFill>
                <a:latin typeface="Calibri" pitchFamily="34" charset="0"/>
                <a:ea typeface="Calibri" pitchFamily="34" charset="-122"/>
                <a:cs typeface="Calibri" pitchFamily="34" charset="-120"/>
              </a:rPr>
              <a:t>A[i] costs the same no matter what i is. So compare n with the middle element, throw away half the array, and repeat. Each comparison halves the problem.</a:t>
            </a:r>
            <a:endParaRPr lang="en-US" sz="1300" dirty="0"/>
          </a:p>
        </p:txBody>
      </p:sp>
      <p:sp>
        <p:nvSpPr>
          <p:cNvPr id="9" name="Shape 7"/>
          <p:cNvSpPr/>
          <p:nvPr/>
        </p:nvSpPr>
        <p:spPr>
          <a:xfrm>
            <a:off x="548640" y="3154680"/>
            <a:ext cx="5486400" cy="1965960"/>
          </a:xfrm>
          <a:prstGeom prst="roundRect">
            <a:avLst>
              <a:gd name="adj" fmla="val 1860"/>
            </a:avLst>
          </a:prstGeom>
          <a:solidFill>
            <a:srgbClr val="141C3A"/>
          </a:solidFill>
          <a:ln/>
        </p:spPr>
        <p:txBody>
          <a:bodyPr/>
          <a:lstStyle/>
          <a:p>
            <a:endParaRPr lang="en-US"/>
          </a:p>
        </p:txBody>
      </p:sp>
      <p:sp>
        <p:nvSpPr>
          <p:cNvPr id="10" name="Text 8"/>
          <p:cNvSpPr/>
          <p:nvPr/>
        </p:nvSpPr>
        <p:spPr>
          <a:xfrm>
            <a:off x="749808" y="3282696"/>
            <a:ext cx="5120640" cy="1709928"/>
          </a:xfrm>
          <a:prstGeom prst="rect">
            <a:avLst/>
          </a:prstGeom>
          <a:noFill/>
          <a:ln/>
        </p:spPr>
        <p:txBody>
          <a:bodyPr wrap="square" lIns="0" tIns="0" rIns="0" bIns="0" rtlCol="0" anchor="t"/>
          <a:lstStyle/>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lo ← 0;  hi ← n−1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while lo ≤ hi do</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mid ← ⌊(lo + hi) / 2⌋</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if A[mid] = key then return mid</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else if A[mid] &lt; key then lo ← mid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    else hi ← mid − 1</a:t>
            </a:r>
            <a:endParaRPr lang="en-US" sz="1300" dirty="0"/>
          </a:p>
          <a:p>
            <a:pPr marL="0" indent="0">
              <a:lnSpc>
                <a:spcPct val="115000"/>
              </a:lnSpc>
              <a:buNone/>
            </a:pPr>
            <a:r>
              <a:rPr lang="en-US" sz="1300" dirty="0">
                <a:solidFill>
                  <a:srgbClr val="E7EDFA"/>
                </a:solidFill>
                <a:latin typeface="Courier New" pitchFamily="34" charset="0"/>
                <a:ea typeface="Courier New" pitchFamily="34" charset="-122"/>
                <a:cs typeface="Courier New" pitchFamily="34" charset="-120"/>
              </a:rPr>
              <a:t>return not found</a:t>
            </a:r>
            <a:endParaRPr lang="en-US" sz="1300" dirty="0"/>
          </a:p>
        </p:txBody>
      </p:sp>
      <p:sp>
        <p:nvSpPr>
          <p:cNvPr id="11" name="Text 9"/>
          <p:cNvSpPr/>
          <p:nvPr/>
        </p:nvSpPr>
        <p:spPr>
          <a:xfrm>
            <a:off x="548640" y="5230368"/>
            <a:ext cx="5486400" cy="320040"/>
          </a:xfrm>
          <a:prstGeom prst="rect">
            <a:avLst/>
          </a:prstGeom>
          <a:noFill/>
          <a:ln/>
        </p:spPr>
        <p:txBody>
          <a:bodyPr wrap="square" lIns="0" tIns="0" rIns="0" bIns="0" rtlCol="0" anchor="ctr"/>
          <a:lstStyle/>
          <a:p>
            <a:pPr marL="0" indent="0">
              <a:buNone/>
            </a:pPr>
            <a:r>
              <a:rPr lang="en-US" sz="1250" b="1" i="1" dirty="0">
                <a:solidFill>
                  <a:srgbClr val="1E2761"/>
                </a:solidFill>
                <a:latin typeface="Calibri" pitchFamily="34" charset="0"/>
                <a:ea typeface="Calibri" pitchFamily="34" charset="-122"/>
                <a:cs typeface="Calibri" pitchFamily="34" charset="-120"/>
              </a:rPr>
              <a:t>Θ(log n): a million sorted elements need at most 20 comparisons.</a:t>
            </a:r>
            <a:endParaRPr lang="en-US"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09360" y="1371600"/>
          <a:ext cx="5330952" cy="2377440"/>
        </p:xfrm>
        <a:graphic>
          <a:graphicData uri="http://schemas.openxmlformats.org/drawingml/2006/table">
            <a:tbl>
              <a:tblPr/>
              <a:tblGrid>
                <a:gridCol w="1947672">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475488">
                <a:tc>
                  <a:txBody>
                    <a:bodyPr/>
                    <a:lstStyle/>
                    <a:p>
                      <a:pPr marL="0" indent="0" algn="ctr">
                        <a:buNone/>
                      </a:pP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Sorted linked list</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Sorted array</a:t>
                      </a:r>
                      <a:endParaRPr lang="en-US" sz="125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7548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Reach the k-th element</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EDF2FC"/>
                    </a:solidFill>
                  </a:tcPr>
                </a:tc>
                <a:tc>
                  <a:txBody>
                    <a:bodyPr/>
                    <a:lstStyle/>
                    <a:p>
                      <a:pPr marL="0" indent="0" algn="ctr">
                        <a:buNone/>
                      </a:pPr>
                      <a:r>
                        <a:rPr lang="en-US" sz="1200" dirty="0">
                          <a:solidFill>
                            <a:srgbClr val="23293F"/>
                          </a:solidFill>
                          <a:latin typeface="Calibri" pitchFamily="34" charset="0"/>
                          <a:ea typeface="Calibri" pitchFamily="34" charset="-122"/>
                          <a:cs typeface="Calibri" pitchFamily="34" charset="-120"/>
                        </a:rPr>
                        <a:t>Θ(k)</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7A72"/>
                          </a:solidFill>
                          <a:latin typeface="Calibri" pitchFamily="34" charset="0"/>
                          <a:ea typeface="Calibri" pitchFamily="34" charset="-122"/>
                          <a:cs typeface="Calibri" pitchFamily="34" charset="-120"/>
                        </a:rPr>
                        <a:t>Θ(1)</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Search for a key</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EDF2FC"/>
                    </a:solidFill>
                  </a:tcPr>
                </a:tc>
                <a:tc>
                  <a:txBody>
                    <a:bodyPr/>
                    <a:lstStyle/>
                    <a:p>
                      <a:pPr marL="0" indent="0" algn="ctr">
                        <a:buNone/>
                      </a:pPr>
                      <a:r>
                        <a:rPr lang="en-US" sz="1200" dirty="0">
                          <a:solidFill>
                            <a:srgbClr val="23293F"/>
                          </a:solidFill>
                          <a:latin typeface="Calibri" pitchFamily="34" charset="0"/>
                          <a:ea typeface="Calibri" pitchFamily="34" charset="-122"/>
                          <a:cs typeface="Calibri" pitchFamily="34" charset="-120"/>
                        </a:rPr>
                        <a:t>Θ(n)</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F7A72"/>
                          </a:solidFill>
                          <a:latin typeface="Calibri" pitchFamily="34" charset="0"/>
                          <a:ea typeface="Calibri" pitchFamily="34" charset="-122"/>
                          <a:cs typeface="Calibri" pitchFamily="34" charset="-120"/>
                        </a:rPr>
                        <a:t>Θ(log n)</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Insert, once positioned</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EDF2FC"/>
                    </a:solidFill>
                  </a:tcPr>
                </a:tc>
                <a:tc>
                  <a:txBody>
                    <a:bodyPr/>
                    <a:lstStyle/>
                    <a:p>
                      <a:pPr marL="0" indent="0" algn="ctr">
                        <a:buNone/>
                      </a:pPr>
                      <a:r>
                        <a:rPr lang="en-US" sz="1200" b="1" dirty="0">
                          <a:solidFill>
                            <a:srgbClr val="1F7A72"/>
                          </a:solidFill>
                          <a:latin typeface="Calibri" pitchFamily="34" charset="0"/>
                          <a:ea typeface="Calibri" pitchFamily="34" charset="-122"/>
                          <a:cs typeface="Calibri" pitchFamily="34" charset="-120"/>
                        </a:rPr>
                        <a:t>Θ(1)</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3293F"/>
                          </a:solidFill>
                          <a:latin typeface="Calibri" pitchFamily="34" charset="0"/>
                          <a:ea typeface="Calibri" pitchFamily="34" charset="-122"/>
                          <a:cs typeface="Calibri" pitchFamily="34" charset="-120"/>
                        </a:rPr>
                        <a:t>Θ(n) — shift everything</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Memory</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EDF2FC"/>
                    </a:solidFill>
                  </a:tcPr>
                </a:tc>
                <a:tc>
                  <a:txBody>
                    <a:bodyPr/>
                    <a:lstStyle/>
                    <a:p>
                      <a:pPr marL="0" indent="0" algn="ctr">
                        <a:buNone/>
                      </a:pPr>
                      <a:r>
                        <a:rPr lang="en-US" sz="1200" dirty="0">
                          <a:solidFill>
                            <a:srgbClr val="23293F"/>
                          </a:solidFill>
                          <a:latin typeface="Calibri" pitchFamily="34" charset="0"/>
                          <a:ea typeface="Calibri" pitchFamily="34" charset="-122"/>
                          <a:cs typeface="Calibri" pitchFamily="34" charset="-120"/>
                        </a:rPr>
                        <a:t>pointer per node</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3293F"/>
                          </a:solidFill>
                          <a:latin typeface="Calibri" pitchFamily="34" charset="0"/>
                          <a:ea typeface="Calibri" pitchFamily="34" charset="-122"/>
                          <a:cs typeface="Calibri" pitchFamily="34" charset="-120"/>
                        </a:rPr>
                        <a:t>contiguous, cache-friendly</a:t>
                      </a:r>
                      <a:endParaRPr lang="en-US" sz="1200" dirty="0">
                        <a:latin typeface="Calibri" charset="0"/>
                        <a:ea typeface="Calibri" charset="0"/>
                        <a:cs typeface="Calibri" charset="0"/>
                      </a:endParaRPr>
                    </a:p>
                  </a:txBody>
                  <a:tcPr anchor="ctr">
                    <a:lnL w="12700" cap="flat" cmpd="sng" algn="ctr">
                      <a:solidFill>
                        <a:srgbClr val="D6E1F5"/>
                      </a:solidFill>
                      <a:prstDash val="solid"/>
                      <a:round/>
                      <a:headEnd type="none" w="med" len="med"/>
                      <a:tailEnd type="none" w="med" len="med"/>
                    </a:lnL>
                    <a:lnR w="12700" cap="flat" cmpd="sng" algn="ctr">
                      <a:solidFill>
                        <a:srgbClr val="D6E1F5"/>
                      </a:solidFill>
                      <a:prstDash val="solid"/>
                      <a:round/>
                      <a:headEnd type="none" w="med" len="med"/>
                      <a:tailEnd type="none" w="med" len="med"/>
                    </a:lnR>
                    <a:lnT w="12700" cap="flat" cmpd="sng" algn="ctr">
                      <a:solidFill>
                        <a:srgbClr val="D6E1F5"/>
                      </a:solidFill>
                      <a:prstDash val="solid"/>
                      <a:round/>
                      <a:headEnd type="none" w="med" len="med"/>
                      <a:tailEnd type="none" w="med" len="med"/>
                    </a:lnT>
                    <a:lnB w="12700" cap="flat" cmpd="sng" algn="ctr">
                      <a:solidFill>
                        <a:srgbClr val="D6E1F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Shape 10"/>
          <p:cNvSpPr/>
          <p:nvPr/>
        </p:nvSpPr>
        <p:spPr>
          <a:xfrm>
            <a:off x="6309360" y="3977640"/>
            <a:ext cx="5330952" cy="1965960"/>
          </a:xfrm>
          <a:prstGeom prst="roundRect">
            <a:avLst>
              <a:gd name="adj" fmla="val 2326"/>
            </a:avLst>
          </a:prstGeom>
          <a:solidFill>
            <a:srgbClr val="FCF3E3"/>
          </a:solidFill>
          <a:ln w="12700">
            <a:solidFill>
              <a:srgbClr val="E8A33D"/>
            </a:solidFill>
            <a:prstDash val="solid"/>
          </a:ln>
        </p:spPr>
        <p:txBody>
          <a:bodyPr/>
          <a:lstStyle/>
          <a:p>
            <a:endParaRPr lang="en-US"/>
          </a:p>
        </p:txBody>
      </p:sp>
      <p:sp>
        <p:nvSpPr>
          <p:cNvPr id="14" name="Text 11"/>
          <p:cNvSpPr/>
          <p:nvPr/>
        </p:nvSpPr>
        <p:spPr>
          <a:xfrm>
            <a:off x="6583680" y="4114800"/>
            <a:ext cx="4800600" cy="1737360"/>
          </a:xfrm>
          <a:prstGeom prst="rect">
            <a:avLst/>
          </a:prstGeom>
          <a:noFill/>
          <a:ln/>
        </p:spPr>
        <p:txBody>
          <a:bodyPr wrap="square" lIns="0" tIns="0" rIns="0" bIns="0" rtlCol="0" anchor="t"/>
          <a:lstStyle/>
          <a:p>
            <a:pPr marL="0" indent="0">
              <a:lnSpc>
                <a:spcPct val="113000"/>
              </a:lnSpc>
              <a:spcAft>
                <a:spcPts val="500"/>
              </a:spcAft>
              <a:buNone/>
            </a:pPr>
            <a:r>
              <a:rPr lang="en-US" sz="1250" b="1" dirty="0">
                <a:solidFill>
                  <a:srgbClr val="23293F"/>
                </a:solidFill>
                <a:latin typeface="Calibri" pitchFamily="34" charset="0"/>
                <a:ea typeface="Calibri" pitchFamily="34" charset="-122"/>
                <a:cs typeface="Calibri" pitchFamily="34" charset="-120"/>
              </a:rPr>
              <a:t>No representation wins outright.</a:t>
            </a:r>
            <a:endParaRPr lang="en-US" sz="1250" dirty="0"/>
          </a:p>
          <a:p>
            <a:pPr marL="0" indent="0">
              <a:lnSpc>
                <a:spcPct val="113000"/>
              </a:lnSpc>
              <a:spcAft>
                <a:spcPts val="500"/>
              </a:spcAft>
              <a:buNone/>
            </a:pPr>
            <a:r>
              <a:rPr lang="en-US" sz="1250" dirty="0">
                <a:solidFill>
                  <a:srgbClr val="23293F"/>
                </a:solidFill>
                <a:latin typeface="Calibri" pitchFamily="34" charset="0"/>
                <a:ea typeface="Calibri" pitchFamily="34" charset="-122"/>
                <a:cs typeface="Calibri" pitchFamily="34" charset="-120"/>
              </a:rPr>
              <a:t>The array is better for searching, the list is better for inserting. Which you choose depends on the mix of operations you actually perform — which is a question about the application, not about the algorithm.</a:t>
            </a:r>
            <a:endParaRPr lang="en-US" sz="1250" dirty="0"/>
          </a:p>
          <a:p>
            <a:pPr marL="0" indent="0">
              <a:lnSpc>
                <a:spcPct val="113000"/>
              </a:lnSpc>
              <a:spcAft>
                <a:spcPts val="500"/>
              </a:spcAft>
              <a:buNone/>
            </a:pPr>
            <a:r>
              <a:rPr lang="en-US" sz="1150" i="1" dirty="0">
                <a:solidFill>
                  <a:srgbClr val="6E7891"/>
                </a:solidFill>
                <a:latin typeface="Calibri" pitchFamily="34" charset="0"/>
                <a:ea typeface="Calibri" pitchFamily="34" charset="-122"/>
                <a:cs typeface="Calibri" pitchFamily="34" charset="-120"/>
              </a:rPr>
              <a:t>Aside: if the keys are roughly evenly spread, interpolation search guesses where to look instead of taking the middle, and reaches Θ(log log n).</a:t>
            </a:r>
            <a:endParaRPr lang="en-US" sz="1250" dirty="0"/>
          </a:p>
        </p:txBody>
      </p:sp>
      <p:sp>
        <p:nvSpPr>
          <p:cNvPr id="15" name="Text 12"/>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16" name="Text 13"/>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 (a)</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“The best route from station X to station Y”</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Before you can design an algorithm, someone has to say what the question means</a:t>
            </a:r>
            <a:endParaRPr lang="en-US" sz="1350" dirty="0"/>
          </a:p>
        </p:txBody>
      </p:sp>
      <p:sp>
        <p:nvSpPr>
          <p:cNvPr id="6" name="Text 4"/>
          <p:cNvSpPr/>
          <p:nvPr/>
        </p:nvSpPr>
        <p:spPr>
          <a:xfrm>
            <a:off x="548640" y="1371600"/>
            <a:ext cx="548640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could “best” mean?</a:t>
            </a:r>
            <a:endParaRPr lang="en-US" sz="1600" dirty="0"/>
          </a:p>
        </p:txBody>
      </p:sp>
      <p:sp>
        <p:nvSpPr>
          <p:cNvPr id="7" name="Shape 5"/>
          <p:cNvSpPr/>
          <p:nvPr/>
        </p:nvSpPr>
        <p:spPr>
          <a:xfrm>
            <a:off x="548640" y="1783080"/>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8" name="Text 6"/>
          <p:cNvSpPr/>
          <p:nvPr/>
        </p:nvSpPr>
        <p:spPr>
          <a:xfrm>
            <a:off x="640080" y="1783080"/>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fewest stops</a:t>
            </a:r>
            <a:endParaRPr lang="en-US" sz="1250" dirty="0"/>
          </a:p>
        </p:txBody>
      </p:sp>
      <p:sp>
        <p:nvSpPr>
          <p:cNvPr id="9" name="Shape 7"/>
          <p:cNvSpPr/>
          <p:nvPr/>
        </p:nvSpPr>
        <p:spPr>
          <a:xfrm>
            <a:off x="3383280" y="1783080"/>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10" name="Text 8"/>
          <p:cNvSpPr/>
          <p:nvPr/>
        </p:nvSpPr>
        <p:spPr>
          <a:xfrm>
            <a:off x="3474720" y="1783080"/>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shortest travel time</a:t>
            </a:r>
            <a:endParaRPr lang="en-US" sz="1250" dirty="0"/>
          </a:p>
        </p:txBody>
      </p:sp>
      <p:sp>
        <p:nvSpPr>
          <p:cNvPr id="11" name="Shape 9"/>
          <p:cNvSpPr/>
          <p:nvPr/>
        </p:nvSpPr>
        <p:spPr>
          <a:xfrm>
            <a:off x="548640" y="2350008"/>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12" name="Text 10"/>
          <p:cNvSpPr/>
          <p:nvPr/>
        </p:nvSpPr>
        <p:spPr>
          <a:xfrm>
            <a:off x="640080" y="2350008"/>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fewest transfers</a:t>
            </a:r>
            <a:endParaRPr lang="en-US" sz="1250" dirty="0"/>
          </a:p>
        </p:txBody>
      </p:sp>
      <p:sp>
        <p:nvSpPr>
          <p:cNvPr id="13" name="Shape 11"/>
          <p:cNvSpPr/>
          <p:nvPr/>
        </p:nvSpPr>
        <p:spPr>
          <a:xfrm>
            <a:off x="3383280" y="2350008"/>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14" name="Text 12"/>
          <p:cNvSpPr/>
          <p:nvPr/>
        </p:nvSpPr>
        <p:spPr>
          <a:xfrm>
            <a:off x="3474720" y="2350008"/>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cheapest fare</a:t>
            </a:r>
            <a:endParaRPr lang="en-US" sz="1250" dirty="0"/>
          </a:p>
        </p:txBody>
      </p:sp>
      <p:sp>
        <p:nvSpPr>
          <p:cNvPr id="15" name="Shape 13"/>
          <p:cNvSpPr/>
          <p:nvPr/>
        </p:nvSpPr>
        <p:spPr>
          <a:xfrm>
            <a:off x="548640" y="2916936"/>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16" name="Text 14"/>
          <p:cNvSpPr/>
          <p:nvPr/>
        </p:nvSpPr>
        <p:spPr>
          <a:xfrm>
            <a:off x="640080" y="2916936"/>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least walking underground</a:t>
            </a:r>
            <a:endParaRPr lang="en-US" sz="1250" dirty="0"/>
          </a:p>
        </p:txBody>
      </p:sp>
      <p:sp>
        <p:nvSpPr>
          <p:cNvPr id="17" name="Shape 15"/>
          <p:cNvSpPr/>
          <p:nvPr/>
        </p:nvSpPr>
        <p:spPr>
          <a:xfrm>
            <a:off x="3383280" y="2916936"/>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18" name="Text 16"/>
          <p:cNvSpPr/>
          <p:nvPr/>
        </p:nvSpPr>
        <p:spPr>
          <a:xfrm>
            <a:off x="3474720" y="2916936"/>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step-free / accessible</a:t>
            </a:r>
            <a:endParaRPr lang="en-US" sz="1250" dirty="0"/>
          </a:p>
        </p:txBody>
      </p:sp>
      <p:sp>
        <p:nvSpPr>
          <p:cNvPr id="19" name="Shape 17"/>
          <p:cNvSpPr/>
          <p:nvPr/>
        </p:nvSpPr>
        <p:spPr>
          <a:xfrm>
            <a:off x="548640" y="3483864"/>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20" name="Text 18"/>
          <p:cNvSpPr/>
          <p:nvPr/>
        </p:nvSpPr>
        <p:spPr>
          <a:xfrm>
            <a:off x="640080" y="3483864"/>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most reliable at 6pm</a:t>
            </a:r>
            <a:endParaRPr lang="en-US" sz="1250" dirty="0"/>
          </a:p>
        </p:txBody>
      </p:sp>
      <p:sp>
        <p:nvSpPr>
          <p:cNvPr id="21" name="Shape 19"/>
          <p:cNvSpPr/>
          <p:nvPr/>
        </p:nvSpPr>
        <p:spPr>
          <a:xfrm>
            <a:off x="3383280" y="3483864"/>
            <a:ext cx="2697480" cy="457200"/>
          </a:xfrm>
          <a:prstGeom prst="roundRect">
            <a:avLst>
              <a:gd name="adj" fmla="val 20000"/>
            </a:avLst>
          </a:prstGeom>
          <a:solidFill>
            <a:srgbClr val="EDF2FC"/>
          </a:solidFill>
          <a:ln w="12700">
            <a:solidFill>
              <a:srgbClr val="3A5BA0"/>
            </a:solidFill>
            <a:prstDash val="solid"/>
          </a:ln>
        </p:spPr>
        <p:txBody>
          <a:bodyPr/>
          <a:lstStyle/>
          <a:p>
            <a:endParaRPr lang="en-US"/>
          </a:p>
        </p:txBody>
      </p:sp>
      <p:sp>
        <p:nvSpPr>
          <p:cNvPr id="22" name="Text 20"/>
          <p:cNvSpPr/>
          <p:nvPr/>
        </p:nvSpPr>
        <p:spPr>
          <a:xfrm>
            <a:off x="3474720" y="3483864"/>
            <a:ext cx="2514600" cy="457200"/>
          </a:xfrm>
          <a:prstGeom prst="rect">
            <a:avLst/>
          </a:prstGeom>
          <a:noFill/>
          <a:ln/>
        </p:spPr>
        <p:txBody>
          <a:bodyPr wrap="square" lIns="0" tIns="0" rIns="0" bIns="0" rtlCol="0" anchor="ctr"/>
          <a:lstStyle/>
          <a:p>
            <a:pPr marL="0" indent="0" algn="ctr">
              <a:buNone/>
            </a:pPr>
            <a:r>
              <a:rPr lang="en-US" sz="1250" dirty="0">
                <a:solidFill>
                  <a:srgbClr val="1E2761"/>
                </a:solidFill>
                <a:latin typeface="Calibri" pitchFamily="34" charset="0"/>
                <a:ea typeface="Calibri" pitchFamily="34" charset="-122"/>
                <a:cs typeface="Calibri" pitchFamily="34" charset="-120"/>
              </a:rPr>
              <a:t>least crowded</a:t>
            </a:r>
            <a:endParaRPr lang="en-US" sz="1250" dirty="0"/>
          </a:p>
        </p:txBody>
      </p:sp>
      <p:sp>
        <p:nvSpPr>
          <p:cNvPr id="23" name="Shape 21"/>
          <p:cNvSpPr/>
          <p:nvPr/>
        </p:nvSpPr>
        <p:spPr>
          <a:xfrm>
            <a:off x="548640" y="4160520"/>
            <a:ext cx="5532120" cy="1783080"/>
          </a:xfrm>
          <a:prstGeom prst="roundRect">
            <a:avLst>
              <a:gd name="adj" fmla="val 2564"/>
            </a:avLst>
          </a:prstGeom>
          <a:solidFill>
            <a:srgbClr val="FCF3E3"/>
          </a:solidFill>
          <a:ln w="12700">
            <a:solidFill>
              <a:srgbClr val="E8A33D"/>
            </a:solidFill>
            <a:prstDash val="solid"/>
          </a:ln>
        </p:spPr>
        <p:txBody>
          <a:bodyPr/>
          <a:lstStyle/>
          <a:p>
            <a:endParaRPr lang="en-US"/>
          </a:p>
        </p:txBody>
      </p:sp>
      <p:sp>
        <p:nvSpPr>
          <p:cNvPr id="24" name="Text 22"/>
          <p:cNvSpPr/>
          <p:nvPr/>
        </p:nvSpPr>
        <p:spPr>
          <a:xfrm>
            <a:off x="822960" y="4507992"/>
            <a:ext cx="4983480" cy="1179576"/>
          </a:xfrm>
          <a:prstGeom prst="rect">
            <a:avLst/>
          </a:prstGeom>
          <a:noFill/>
          <a:ln/>
        </p:spPr>
        <p:txBody>
          <a:bodyPr wrap="square" lIns="0" tIns="0" rIns="0" bIns="0" rtlCol="0" anchor="t"/>
          <a:lstStyle/>
          <a:p>
            <a:pPr marL="0" indent="0">
              <a:lnSpc>
                <a:spcPct val="115000"/>
              </a:lnSpc>
              <a:spcAft>
                <a:spcPts val="400"/>
              </a:spcAft>
              <a:buNone/>
            </a:pPr>
            <a:r>
              <a:rPr lang="en-US" sz="1300" b="1" dirty="0">
                <a:solidFill>
                  <a:srgbClr val="23293F"/>
                </a:solidFill>
                <a:latin typeface="Calibri" pitchFamily="34" charset="0"/>
                <a:ea typeface="Calibri" pitchFamily="34" charset="-122"/>
                <a:cs typeface="Calibri" pitchFamily="34" charset="-120"/>
              </a:rPr>
              <a:t>These conflict.</a:t>
            </a:r>
            <a:endParaRPr lang="en-US" sz="1300" dirty="0"/>
          </a:p>
          <a:p>
            <a:pPr marL="0" indent="0">
              <a:lnSpc>
                <a:spcPct val="115000"/>
              </a:lnSpc>
              <a:spcAft>
                <a:spcPts val="400"/>
              </a:spcAft>
              <a:buNone/>
            </a:pPr>
            <a:r>
              <a:rPr lang="en-US" sz="1300" dirty="0">
                <a:solidFill>
                  <a:srgbClr val="23293F"/>
                </a:solidFill>
                <a:latin typeface="Calibri" pitchFamily="34" charset="0"/>
                <a:ea typeface="Calibri" pitchFamily="34" charset="-122"/>
                <a:cs typeface="Calibri" pitchFamily="34" charset="-120"/>
              </a:rPr>
              <a:t>The fastest route often has more transfers; the cheapest may be the slowest. </a:t>
            </a:r>
            <a:r>
              <a:rPr lang="en-US" sz="1300" b="1" dirty="0">
                <a:solidFill>
                  <a:srgbClr val="23293F"/>
                </a:solidFill>
                <a:latin typeface="Calibri" pitchFamily="34" charset="0"/>
                <a:ea typeface="Calibri" pitchFamily="34" charset="-122"/>
                <a:cs typeface="Calibri" pitchFamily="34" charset="-120"/>
              </a:rPr>
              <a:t>So either pick one measure, or combine them into a single number with weights</a:t>
            </a:r>
            <a:r>
              <a:rPr lang="en-US" sz="1300" dirty="0">
                <a:solidFill>
                  <a:srgbClr val="23293F"/>
                </a:solidFill>
                <a:latin typeface="Calibri" pitchFamily="34" charset="0"/>
                <a:ea typeface="Calibri" pitchFamily="34" charset="-122"/>
                <a:cs typeface="Calibri" pitchFamily="34" charset="-120"/>
              </a:rPr>
              <a:t>.</a:t>
            </a:r>
            <a:endParaRPr lang="en-US" sz="1300" dirty="0"/>
          </a:p>
        </p:txBody>
      </p:sp>
      <p:sp>
        <p:nvSpPr>
          <p:cNvPr id="25" name="Text 23"/>
          <p:cNvSpPr/>
          <p:nvPr/>
        </p:nvSpPr>
        <p:spPr>
          <a:xfrm>
            <a:off x="6355080" y="1371600"/>
            <a:ext cx="5303520" cy="320040"/>
          </a:xfrm>
          <a:prstGeom prst="rect">
            <a:avLst/>
          </a:prstGeom>
          <a:noFill/>
          <a:ln/>
        </p:spPr>
        <p:txBody>
          <a:bodyPr wrap="square" lIns="0" tIns="0" rIns="0" bIns="0" rtlCol="0" anchor="ctr"/>
          <a:lstStyle/>
          <a:p>
            <a:pPr marL="0" indent="0">
              <a:buNone/>
            </a:pPr>
            <a:r>
              <a:rPr lang="en-US" sz="1600" b="1" dirty="0">
                <a:solidFill>
                  <a:srgbClr val="1E2761"/>
                </a:solidFill>
                <a:latin typeface="Cambria" pitchFamily="34" charset="0"/>
                <a:ea typeface="Cambria" pitchFamily="34" charset="-122"/>
                <a:cs typeface="Cambria" pitchFamily="34" charset="-120"/>
              </a:rPr>
              <a:t>What else is left unsaid?</a:t>
            </a:r>
            <a:endParaRPr lang="en-US" sz="1600" dirty="0"/>
          </a:p>
        </p:txBody>
      </p:sp>
      <p:sp>
        <p:nvSpPr>
          <p:cNvPr id="26" name="Shape 24"/>
          <p:cNvSpPr/>
          <p:nvPr/>
        </p:nvSpPr>
        <p:spPr>
          <a:xfrm>
            <a:off x="6355080" y="1783080"/>
            <a:ext cx="5285232" cy="914400"/>
          </a:xfrm>
          <a:prstGeom prst="roundRect">
            <a:avLst>
              <a:gd name="adj" fmla="val 5000"/>
            </a:avLst>
          </a:prstGeom>
          <a:solidFill>
            <a:srgbClr val="EDF2FC"/>
          </a:solidFill>
          <a:ln w="12700">
            <a:solidFill>
              <a:srgbClr val="D6E1F5"/>
            </a:solidFill>
            <a:prstDash val="solid"/>
          </a:ln>
        </p:spPr>
        <p:txBody>
          <a:bodyPr/>
          <a:lstStyle/>
          <a:p>
            <a:endParaRPr lang="en-US"/>
          </a:p>
        </p:txBody>
      </p:sp>
      <p:sp>
        <p:nvSpPr>
          <p:cNvPr id="27" name="Text 25"/>
          <p:cNvSpPr/>
          <p:nvPr/>
        </p:nvSpPr>
        <p:spPr>
          <a:xfrm>
            <a:off x="6583680" y="1856232"/>
            <a:ext cx="1280160"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Input</a:t>
            </a:r>
            <a:endParaRPr lang="en-US" sz="1350" dirty="0"/>
          </a:p>
        </p:txBody>
      </p:sp>
      <p:sp>
        <p:nvSpPr>
          <p:cNvPr id="28" name="Text 26"/>
          <p:cNvSpPr/>
          <p:nvPr/>
        </p:nvSpPr>
        <p:spPr>
          <a:xfrm>
            <a:off x="7772400" y="1856232"/>
            <a:ext cx="3657600" cy="777240"/>
          </a:xfrm>
          <a:prstGeom prst="rect">
            <a:avLst/>
          </a:prstGeom>
          <a:noFill/>
          <a:ln/>
        </p:spPr>
        <p:txBody>
          <a:bodyPr wrap="square" lIns="0" tIns="0" rIns="0" bIns="0" rtlCol="0" anchor="ctr"/>
          <a:lstStyle/>
          <a:p>
            <a:pPr marL="0" indent="0">
              <a:lnSpc>
                <a:spcPct val="110000"/>
              </a:lnSpc>
              <a:buNone/>
            </a:pPr>
            <a:r>
              <a:rPr lang="en-US" sz="1200" dirty="0">
                <a:solidFill>
                  <a:srgbClr val="23293F"/>
                </a:solidFill>
                <a:latin typeface="Calibri" pitchFamily="34" charset="0"/>
                <a:ea typeface="Calibri" pitchFamily="34" charset="-122"/>
                <a:cs typeface="Calibri" pitchFamily="34" charset="-120"/>
              </a:rPr>
              <a:t>The network alone, or the timetable too? A departure time? Is the passenger already inside the paid area?</a:t>
            </a:r>
            <a:endParaRPr lang="en-US" sz="1200" dirty="0"/>
          </a:p>
        </p:txBody>
      </p:sp>
      <p:sp>
        <p:nvSpPr>
          <p:cNvPr id="29" name="Shape 27"/>
          <p:cNvSpPr/>
          <p:nvPr/>
        </p:nvSpPr>
        <p:spPr>
          <a:xfrm>
            <a:off x="6355080" y="2834640"/>
            <a:ext cx="5285232" cy="914400"/>
          </a:xfrm>
          <a:prstGeom prst="roundRect">
            <a:avLst>
              <a:gd name="adj" fmla="val 5000"/>
            </a:avLst>
          </a:prstGeom>
          <a:solidFill>
            <a:srgbClr val="EDF2FC"/>
          </a:solidFill>
          <a:ln w="12700">
            <a:solidFill>
              <a:srgbClr val="D6E1F5"/>
            </a:solidFill>
            <a:prstDash val="solid"/>
          </a:ln>
        </p:spPr>
        <p:txBody>
          <a:bodyPr/>
          <a:lstStyle/>
          <a:p>
            <a:endParaRPr lang="en-US"/>
          </a:p>
        </p:txBody>
      </p:sp>
      <p:sp>
        <p:nvSpPr>
          <p:cNvPr id="30" name="Text 28"/>
          <p:cNvSpPr/>
          <p:nvPr/>
        </p:nvSpPr>
        <p:spPr>
          <a:xfrm>
            <a:off x="6583680" y="2907792"/>
            <a:ext cx="1280160"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Output</a:t>
            </a:r>
            <a:endParaRPr lang="en-US" sz="1350" dirty="0"/>
          </a:p>
        </p:txBody>
      </p:sp>
      <p:sp>
        <p:nvSpPr>
          <p:cNvPr id="31" name="Text 29"/>
          <p:cNvSpPr/>
          <p:nvPr/>
        </p:nvSpPr>
        <p:spPr>
          <a:xfrm>
            <a:off x="7772400" y="2907792"/>
            <a:ext cx="3657600" cy="777240"/>
          </a:xfrm>
          <a:prstGeom prst="rect">
            <a:avLst/>
          </a:prstGeom>
          <a:noFill/>
          <a:ln/>
        </p:spPr>
        <p:txBody>
          <a:bodyPr wrap="square" lIns="0" tIns="0" rIns="0" bIns="0" rtlCol="0" anchor="ctr"/>
          <a:lstStyle/>
          <a:p>
            <a:pPr marL="0" indent="0">
              <a:lnSpc>
                <a:spcPct val="110000"/>
              </a:lnSpc>
              <a:buNone/>
            </a:pPr>
            <a:r>
              <a:rPr lang="en-US" sz="1200" dirty="0">
                <a:solidFill>
                  <a:srgbClr val="23293F"/>
                </a:solidFill>
                <a:latin typeface="Calibri" pitchFamily="34" charset="0"/>
                <a:ea typeface="Calibri" pitchFamily="34" charset="-122"/>
                <a:cs typeface="Calibri" pitchFamily="34" charset="-120"/>
              </a:rPr>
              <a:t>One route? Every optimal route? Turn-by-turn instructions, or just a cost?</a:t>
            </a:r>
            <a:endParaRPr lang="en-US" sz="1200" dirty="0"/>
          </a:p>
        </p:txBody>
      </p:sp>
      <p:sp>
        <p:nvSpPr>
          <p:cNvPr id="32" name="Shape 30"/>
          <p:cNvSpPr/>
          <p:nvPr/>
        </p:nvSpPr>
        <p:spPr>
          <a:xfrm>
            <a:off x="6355080" y="3886200"/>
            <a:ext cx="5285232" cy="914400"/>
          </a:xfrm>
          <a:prstGeom prst="roundRect">
            <a:avLst>
              <a:gd name="adj" fmla="val 5000"/>
            </a:avLst>
          </a:prstGeom>
          <a:solidFill>
            <a:srgbClr val="EDF2FC"/>
          </a:solidFill>
          <a:ln w="12700">
            <a:solidFill>
              <a:srgbClr val="D6E1F5"/>
            </a:solidFill>
            <a:prstDash val="solid"/>
          </a:ln>
        </p:spPr>
        <p:txBody>
          <a:bodyPr/>
          <a:lstStyle/>
          <a:p>
            <a:endParaRPr lang="en-US"/>
          </a:p>
        </p:txBody>
      </p:sp>
      <p:sp>
        <p:nvSpPr>
          <p:cNvPr id="33" name="Text 31"/>
          <p:cNvSpPr/>
          <p:nvPr/>
        </p:nvSpPr>
        <p:spPr>
          <a:xfrm>
            <a:off x="6583680" y="3959352"/>
            <a:ext cx="1280160"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Assumptions</a:t>
            </a:r>
            <a:endParaRPr lang="en-US" sz="1350" dirty="0"/>
          </a:p>
        </p:txBody>
      </p:sp>
      <p:sp>
        <p:nvSpPr>
          <p:cNvPr id="34" name="Text 32"/>
          <p:cNvSpPr/>
          <p:nvPr/>
        </p:nvSpPr>
        <p:spPr>
          <a:xfrm>
            <a:off x="7772400" y="3959352"/>
            <a:ext cx="3657600" cy="777240"/>
          </a:xfrm>
          <a:prstGeom prst="rect">
            <a:avLst/>
          </a:prstGeom>
          <a:noFill/>
          <a:ln/>
        </p:spPr>
        <p:txBody>
          <a:bodyPr wrap="square" lIns="0" tIns="0" rIns="0" bIns="0" rtlCol="0" anchor="ctr"/>
          <a:lstStyle/>
          <a:p>
            <a:pPr marL="0" indent="0">
              <a:lnSpc>
                <a:spcPct val="110000"/>
              </a:lnSpc>
              <a:buNone/>
            </a:pPr>
            <a:r>
              <a:rPr lang="en-US" sz="1200" dirty="0">
                <a:solidFill>
                  <a:srgbClr val="23293F"/>
                </a:solidFill>
                <a:latin typeface="Calibri" pitchFamily="34" charset="0"/>
                <a:ea typeface="Calibri" pitchFamily="34" charset="-122"/>
                <a:cs typeface="Calibri" pitchFamily="34" charset="-120"/>
              </a:rPr>
              <a:t>Trains always run, transfer time is a fixed constant, nothing is closed for works, no delays.</a:t>
            </a:r>
            <a:endParaRPr lang="en-US" sz="1200" dirty="0"/>
          </a:p>
        </p:txBody>
      </p:sp>
      <p:sp>
        <p:nvSpPr>
          <p:cNvPr id="35" name="Shape 33"/>
          <p:cNvSpPr/>
          <p:nvPr/>
        </p:nvSpPr>
        <p:spPr>
          <a:xfrm>
            <a:off x="6355080" y="4937760"/>
            <a:ext cx="5285232" cy="914400"/>
          </a:xfrm>
          <a:prstGeom prst="roundRect">
            <a:avLst>
              <a:gd name="adj" fmla="val 5000"/>
            </a:avLst>
          </a:prstGeom>
          <a:solidFill>
            <a:srgbClr val="EDF2FC"/>
          </a:solidFill>
          <a:ln w="12700">
            <a:solidFill>
              <a:srgbClr val="D6E1F5"/>
            </a:solidFill>
            <a:prstDash val="solid"/>
          </a:ln>
        </p:spPr>
        <p:txBody>
          <a:bodyPr/>
          <a:lstStyle/>
          <a:p>
            <a:endParaRPr lang="en-US"/>
          </a:p>
        </p:txBody>
      </p:sp>
      <p:sp>
        <p:nvSpPr>
          <p:cNvPr id="36" name="Text 34"/>
          <p:cNvSpPr/>
          <p:nvPr/>
        </p:nvSpPr>
        <p:spPr>
          <a:xfrm>
            <a:off x="6583680" y="5010912"/>
            <a:ext cx="1280160" cy="32004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Scale</a:t>
            </a:r>
            <a:endParaRPr lang="en-US" sz="1350" dirty="0"/>
          </a:p>
        </p:txBody>
      </p:sp>
      <p:sp>
        <p:nvSpPr>
          <p:cNvPr id="37" name="Text 35"/>
          <p:cNvSpPr/>
          <p:nvPr/>
        </p:nvSpPr>
        <p:spPr>
          <a:xfrm>
            <a:off x="7772400" y="5010912"/>
            <a:ext cx="3657600" cy="777240"/>
          </a:xfrm>
          <a:prstGeom prst="rect">
            <a:avLst/>
          </a:prstGeom>
          <a:noFill/>
          <a:ln/>
        </p:spPr>
        <p:txBody>
          <a:bodyPr wrap="square" lIns="0" tIns="0" rIns="0" bIns="0" rtlCol="0" anchor="ctr"/>
          <a:lstStyle/>
          <a:p>
            <a:pPr marL="0" indent="0">
              <a:lnSpc>
                <a:spcPct val="110000"/>
              </a:lnSpc>
              <a:buNone/>
            </a:pPr>
            <a:r>
              <a:rPr lang="en-US" sz="1200" dirty="0">
                <a:solidFill>
                  <a:srgbClr val="23293F"/>
                </a:solidFill>
                <a:latin typeface="Calibri" pitchFamily="34" charset="0"/>
                <a:ea typeface="Calibri" pitchFamily="34" charset="-122"/>
                <a:cs typeface="Calibri" pitchFamily="34" charset="-120"/>
              </a:rPr>
              <a:t>Tokyo has ~900 stations. Does the answer need to come back in milliseconds, on a phone, offline?</a:t>
            </a:r>
            <a:endParaRPr lang="en-US" sz="1200" dirty="0"/>
          </a:p>
        </p:txBody>
      </p:sp>
      <p:sp>
        <p:nvSpPr>
          <p:cNvPr id="38" name="Text 36"/>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39" name="Text 37"/>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 (b)</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Modelling the subway as a graph</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Once “best” means “least total time”, the problem has a standard shape</a:t>
            </a:r>
            <a:endParaRPr lang="en-US" sz="1350" dirty="0"/>
          </a:p>
        </p:txBody>
      </p:sp>
      <p:sp>
        <p:nvSpPr>
          <p:cNvPr id="6" name="Shape 4"/>
          <p:cNvSpPr/>
          <p:nvPr/>
        </p:nvSpPr>
        <p:spPr>
          <a:xfrm>
            <a:off x="548640" y="1371600"/>
            <a:ext cx="5120640" cy="4572000"/>
          </a:xfrm>
          <a:prstGeom prst="roundRect">
            <a:avLst>
              <a:gd name="adj" fmla="val 1000"/>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22960" y="1600200"/>
            <a:ext cx="4572000"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Vertices</a:t>
            </a:r>
            <a:r>
              <a:rPr lang="en-US" altLang="zh-CN" sz="1350" b="1" dirty="0">
                <a:solidFill>
                  <a:srgbClr val="1E2761"/>
                </a:solidFill>
                <a:latin typeface="Calibri" pitchFamily="34" charset="0"/>
                <a:ea typeface="Calibri" pitchFamily="34" charset="-122"/>
                <a:cs typeface="Calibri" pitchFamily="34" charset="-120"/>
              </a:rPr>
              <a:t>/Nodes</a:t>
            </a:r>
            <a:endParaRPr lang="en-US" sz="1350" dirty="0"/>
          </a:p>
        </p:txBody>
      </p:sp>
      <p:sp>
        <p:nvSpPr>
          <p:cNvPr id="8" name="Text 6"/>
          <p:cNvSpPr/>
          <p:nvPr/>
        </p:nvSpPr>
        <p:spPr>
          <a:xfrm>
            <a:off x="822960" y="1874520"/>
            <a:ext cx="4572000" cy="548640"/>
          </a:xfrm>
          <a:prstGeom prst="rect">
            <a:avLst/>
          </a:prstGeom>
          <a:noFill/>
          <a:ln/>
        </p:spPr>
        <p:txBody>
          <a:bodyPr wrap="square" lIns="0" tIns="0" rIns="0" bIns="0" rtlCol="0" anchor="t"/>
          <a:lstStyle/>
          <a:p>
            <a:pPr marL="0" indent="0">
              <a:lnSpc>
                <a:spcPct val="110000"/>
              </a:lnSpc>
              <a:buNone/>
            </a:pPr>
            <a:r>
              <a:rPr lang="en-US" sz="1250" dirty="0">
                <a:solidFill>
                  <a:srgbClr val="23293F"/>
                </a:solidFill>
                <a:latin typeface="Calibri" pitchFamily="34" charset="0"/>
                <a:ea typeface="Calibri" pitchFamily="34" charset="-122"/>
                <a:cs typeface="Calibri" pitchFamily="34" charset="-120"/>
              </a:rPr>
              <a:t>One per station.</a:t>
            </a:r>
            <a:endParaRPr lang="en-US" sz="1250" dirty="0"/>
          </a:p>
        </p:txBody>
      </p:sp>
      <p:sp>
        <p:nvSpPr>
          <p:cNvPr id="9" name="Text 7"/>
          <p:cNvSpPr/>
          <p:nvPr/>
        </p:nvSpPr>
        <p:spPr>
          <a:xfrm>
            <a:off x="822960" y="2468880"/>
            <a:ext cx="4572000"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Edges</a:t>
            </a:r>
            <a:endParaRPr lang="en-US" sz="1350" dirty="0"/>
          </a:p>
        </p:txBody>
      </p:sp>
      <p:sp>
        <p:nvSpPr>
          <p:cNvPr id="10" name="Text 8"/>
          <p:cNvSpPr/>
          <p:nvPr/>
        </p:nvSpPr>
        <p:spPr>
          <a:xfrm>
            <a:off x="822960" y="2743200"/>
            <a:ext cx="4572000" cy="548640"/>
          </a:xfrm>
          <a:prstGeom prst="rect">
            <a:avLst/>
          </a:prstGeom>
          <a:noFill/>
          <a:ln/>
        </p:spPr>
        <p:txBody>
          <a:bodyPr wrap="square" lIns="0" tIns="0" rIns="0" bIns="0" rtlCol="0" anchor="t"/>
          <a:lstStyle/>
          <a:p>
            <a:pPr marL="0" indent="0">
              <a:lnSpc>
                <a:spcPct val="110000"/>
              </a:lnSpc>
              <a:buNone/>
            </a:pPr>
            <a:r>
              <a:rPr lang="en-US" sz="1250" dirty="0">
                <a:solidFill>
                  <a:srgbClr val="23293F"/>
                </a:solidFill>
                <a:latin typeface="Calibri" pitchFamily="34" charset="0"/>
                <a:ea typeface="Calibri" pitchFamily="34" charset="-122"/>
                <a:cs typeface="Calibri" pitchFamily="34" charset="-120"/>
              </a:rPr>
              <a:t>One per direct hop between consecutive stations on the same line.</a:t>
            </a:r>
            <a:endParaRPr lang="en-US" sz="1250" dirty="0"/>
          </a:p>
        </p:txBody>
      </p:sp>
      <p:sp>
        <p:nvSpPr>
          <p:cNvPr id="11" name="Text 9"/>
          <p:cNvSpPr/>
          <p:nvPr/>
        </p:nvSpPr>
        <p:spPr>
          <a:xfrm>
            <a:off x="822960" y="3337560"/>
            <a:ext cx="4572000"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Weights</a:t>
            </a:r>
            <a:endParaRPr lang="en-US" sz="1350" dirty="0"/>
          </a:p>
        </p:txBody>
      </p:sp>
      <p:sp>
        <p:nvSpPr>
          <p:cNvPr id="12" name="Text 10"/>
          <p:cNvSpPr/>
          <p:nvPr/>
        </p:nvSpPr>
        <p:spPr>
          <a:xfrm>
            <a:off x="822960" y="3611880"/>
            <a:ext cx="4572000" cy="548640"/>
          </a:xfrm>
          <a:prstGeom prst="rect">
            <a:avLst/>
          </a:prstGeom>
          <a:noFill/>
          <a:ln/>
        </p:spPr>
        <p:txBody>
          <a:bodyPr wrap="square" lIns="0" tIns="0" rIns="0" bIns="0" rtlCol="0" anchor="t"/>
          <a:lstStyle/>
          <a:p>
            <a:pPr marL="0" indent="0">
              <a:lnSpc>
                <a:spcPct val="110000"/>
              </a:lnSpc>
              <a:buNone/>
            </a:pPr>
            <a:r>
              <a:rPr lang="en-US" sz="1250" dirty="0">
                <a:solidFill>
                  <a:srgbClr val="23293F"/>
                </a:solidFill>
                <a:latin typeface="Calibri" pitchFamily="34" charset="0"/>
                <a:ea typeface="Calibri" pitchFamily="34" charset="-122"/>
                <a:cs typeface="Calibri" pitchFamily="34" charset="-120"/>
              </a:rPr>
              <a:t>Travel time for that hop — not distance. Distance is not what anyone is minimising.</a:t>
            </a:r>
            <a:endParaRPr lang="en-US" sz="1250" dirty="0"/>
          </a:p>
        </p:txBody>
      </p:sp>
      <p:sp>
        <p:nvSpPr>
          <p:cNvPr id="13" name="Text 11"/>
          <p:cNvSpPr/>
          <p:nvPr/>
        </p:nvSpPr>
        <p:spPr>
          <a:xfrm>
            <a:off x="822960" y="4206240"/>
            <a:ext cx="4572000"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Direction</a:t>
            </a:r>
            <a:endParaRPr lang="en-US" sz="1350" dirty="0"/>
          </a:p>
        </p:txBody>
      </p:sp>
      <p:sp>
        <p:nvSpPr>
          <p:cNvPr id="14" name="Text 12"/>
          <p:cNvSpPr/>
          <p:nvPr/>
        </p:nvSpPr>
        <p:spPr>
          <a:xfrm>
            <a:off x="822960" y="4480560"/>
            <a:ext cx="4572000" cy="548640"/>
          </a:xfrm>
          <a:prstGeom prst="rect">
            <a:avLst/>
          </a:prstGeom>
          <a:noFill/>
          <a:ln/>
        </p:spPr>
        <p:txBody>
          <a:bodyPr wrap="square" lIns="0" tIns="0" rIns="0" bIns="0" rtlCol="0" anchor="t"/>
          <a:lstStyle/>
          <a:p>
            <a:pPr marL="0" indent="0">
              <a:lnSpc>
                <a:spcPct val="110000"/>
              </a:lnSpc>
              <a:buNone/>
            </a:pPr>
            <a:r>
              <a:rPr lang="en-US" sz="1250" dirty="0">
                <a:solidFill>
                  <a:srgbClr val="23293F"/>
                </a:solidFill>
                <a:latin typeface="Calibri" pitchFamily="34" charset="0"/>
                <a:ea typeface="Calibri" pitchFamily="34" charset="-122"/>
                <a:cs typeface="Calibri" pitchFamily="34" charset="-120"/>
              </a:rPr>
              <a:t>Undirected if trains run both ways; directed if any link is one-way.</a:t>
            </a:r>
            <a:endParaRPr lang="en-US" sz="1250" dirty="0"/>
          </a:p>
        </p:txBody>
      </p:sp>
      <p:sp>
        <p:nvSpPr>
          <p:cNvPr id="15" name="Text 13"/>
          <p:cNvSpPr/>
          <p:nvPr/>
        </p:nvSpPr>
        <p:spPr>
          <a:xfrm>
            <a:off x="822960" y="5074920"/>
            <a:ext cx="4572000" cy="27432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The question</a:t>
            </a:r>
            <a:endParaRPr lang="en-US" sz="1350" dirty="0"/>
          </a:p>
        </p:txBody>
      </p:sp>
      <p:sp>
        <p:nvSpPr>
          <p:cNvPr id="16" name="Text 14"/>
          <p:cNvSpPr/>
          <p:nvPr/>
        </p:nvSpPr>
        <p:spPr>
          <a:xfrm>
            <a:off x="822960" y="5349240"/>
            <a:ext cx="4572000" cy="548640"/>
          </a:xfrm>
          <a:prstGeom prst="rect">
            <a:avLst/>
          </a:prstGeom>
          <a:noFill/>
          <a:ln/>
        </p:spPr>
        <p:txBody>
          <a:bodyPr wrap="square" lIns="0" tIns="0" rIns="0" bIns="0" rtlCol="0" anchor="t"/>
          <a:lstStyle/>
          <a:p>
            <a:pPr marL="0" indent="0">
              <a:lnSpc>
                <a:spcPct val="110000"/>
              </a:lnSpc>
              <a:buNone/>
            </a:pPr>
            <a:r>
              <a:rPr lang="en-US" sz="1250" b="1" dirty="0">
                <a:solidFill>
                  <a:srgbClr val="23293F"/>
                </a:solidFill>
                <a:latin typeface="Calibri" pitchFamily="34" charset="0"/>
                <a:ea typeface="Calibri" pitchFamily="34" charset="-122"/>
                <a:cs typeface="Calibri" pitchFamily="34" charset="-120"/>
              </a:rPr>
              <a:t>A shortest path from the origin to the destination. We'll meet Dijkstra's algorithm later in the semester.</a:t>
            </a:r>
            <a:endParaRPr lang="en-US" sz="1250" b="1" dirty="0"/>
          </a:p>
        </p:txBody>
      </p:sp>
      <p:sp>
        <p:nvSpPr>
          <p:cNvPr id="17" name="Shape 15"/>
          <p:cNvSpPr/>
          <p:nvPr/>
        </p:nvSpPr>
        <p:spPr>
          <a:xfrm>
            <a:off x="6537960" y="2011680"/>
            <a:ext cx="1645920" cy="0"/>
          </a:xfrm>
          <a:prstGeom prst="line">
            <a:avLst/>
          </a:prstGeom>
          <a:noFill/>
          <a:ln w="31750">
            <a:solidFill>
              <a:srgbClr val="3A5BA0"/>
            </a:solidFill>
            <a:prstDash val="solid"/>
          </a:ln>
        </p:spPr>
        <p:txBody>
          <a:bodyPr/>
          <a:lstStyle/>
          <a:p>
            <a:endParaRPr lang="en-US"/>
          </a:p>
        </p:txBody>
      </p:sp>
      <p:sp>
        <p:nvSpPr>
          <p:cNvPr id="18" name="Shape 16"/>
          <p:cNvSpPr/>
          <p:nvPr/>
        </p:nvSpPr>
        <p:spPr>
          <a:xfrm>
            <a:off x="8183880" y="2011680"/>
            <a:ext cx="1645920" cy="0"/>
          </a:xfrm>
          <a:prstGeom prst="line">
            <a:avLst/>
          </a:prstGeom>
          <a:noFill/>
          <a:ln w="31750">
            <a:solidFill>
              <a:srgbClr val="3A5BA0"/>
            </a:solidFill>
            <a:prstDash val="solid"/>
          </a:ln>
        </p:spPr>
        <p:txBody>
          <a:bodyPr/>
          <a:lstStyle/>
          <a:p>
            <a:endParaRPr lang="en-US"/>
          </a:p>
        </p:txBody>
      </p:sp>
      <p:sp>
        <p:nvSpPr>
          <p:cNvPr id="19" name="Shape 17"/>
          <p:cNvSpPr/>
          <p:nvPr/>
        </p:nvSpPr>
        <p:spPr>
          <a:xfrm>
            <a:off x="9829800" y="2011680"/>
            <a:ext cx="1508760" cy="0"/>
          </a:xfrm>
          <a:prstGeom prst="line">
            <a:avLst/>
          </a:prstGeom>
          <a:noFill/>
          <a:ln w="31750">
            <a:solidFill>
              <a:srgbClr val="3A5BA0"/>
            </a:solidFill>
            <a:prstDash val="solid"/>
          </a:ln>
        </p:spPr>
        <p:txBody>
          <a:bodyPr/>
          <a:lstStyle/>
          <a:p>
            <a:endParaRPr lang="en-US"/>
          </a:p>
        </p:txBody>
      </p:sp>
      <p:sp>
        <p:nvSpPr>
          <p:cNvPr id="20" name="Shape 18"/>
          <p:cNvSpPr/>
          <p:nvPr/>
        </p:nvSpPr>
        <p:spPr>
          <a:xfrm>
            <a:off x="6537960" y="3291840"/>
            <a:ext cx="1645920" cy="0"/>
          </a:xfrm>
          <a:prstGeom prst="line">
            <a:avLst/>
          </a:prstGeom>
          <a:noFill/>
          <a:ln w="31750">
            <a:solidFill>
              <a:srgbClr val="1F7A72"/>
            </a:solidFill>
            <a:prstDash val="solid"/>
          </a:ln>
        </p:spPr>
        <p:txBody>
          <a:bodyPr/>
          <a:lstStyle/>
          <a:p>
            <a:endParaRPr lang="en-US"/>
          </a:p>
        </p:txBody>
      </p:sp>
      <p:sp>
        <p:nvSpPr>
          <p:cNvPr id="21" name="Shape 19"/>
          <p:cNvSpPr/>
          <p:nvPr/>
        </p:nvSpPr>
        <p:spPr>
          <a:xfrm>
            <a:off x="8183880" y="3291840"/>
            <a:ext cx="1645920" cy="0"/>
          </a:xfrm>
          <a:prstGeom prst="line">
            <a:avLst/>
          </a:prstGeom>
          <a:noFill/>
          <a:ln w="31750">
            <a:solidFill>
              <a:srgbClr val="1F7A72"/>
            </a:solidFill>
            <a:prstDash val="solid"/>
          </a:ln>
        </p:spPr>
        <p:txBody>
          <a:bodyPr/>
          <a:lstStyle/>
          <a:p>
            <a:endParaRPr lang="en-US"/>
          </a:p>
        </p:txBody>
      </p:sp>
      <p:sp>
        <p:nvSpPr>
          <p:cNvPr id="22" name="Shape 20"/>
          <p:cNvSpPr/>
          <p:nvPr/>
        </p:nvSpPr>
        <p:spPr>
          <a:xfrm>
            <a:off x="9829800" y="3291840"/>
            <a:ext cx="1508760" cy="0"/>
          </a:xfrm>
          <a:prstGeom prst="line">
            <a:avLst/>
          </a:prstGeom>
          <a:noFill/>
          <a:ln w="31750">
            <a:solidFill>
              <a:srgbClr val="1F7A72"/>
            </a:solidFill>
            <a:prstDash val="solid"/>
          </a:ln>
        </p:spPr>
        <p:txBody>
          <a:bodyPr/>
          <a:lstStyle/>
          <a:p>
            <a:endParaRPr lang="en-US"/>
          </a:p>
        </p:txBody>
      </p:sp>
      <p:sp>
        <p:nvSpPr>
          <p:cNvPr id="23" name="Shape 21"/>
          <p:cNvSpPr/>
          <p:nvPr/>
        </p:nvSpPr>
        <p:spPr>
          <a:xfrm>
            <a:off x="9829800" y="2011680"/>
            <a:ext cx="0" cy="1280160"/>
          </a:xfrm>
          <a:prstGeom prst="line">
            <a:avLst/>
          </a:prstGeom>
          <a:noFill/>
          <a:ln w="28575">
            <a:solidFill>
              <a:srgbClr val="E8A33D"/>
            </a:solidFill>
            <a:prstDash val="dash"/>
          </a:ln>
        </p:spPr>
        <p:txBody>
          <a:bodyPr/>
          <a:lstStyle/>
          <a:p>
            <a:endParaRPr lang="en-US"/>
          </a:p>
        </p:txBody>
      </p:sp>
      <p:sp>
        <p:nvSpPr>
          <p:cNvPr id="24" name="Text 22"/>
          <p:cNvSpPr/>
          <p:nvPr/>
        </p:nvSpPr>
        <p:spPr>
          <a:xfrm>
            <a:off x="7040880" y="1664208"/>
            <a:ext cx="640080" cy="274320"/>
          </a:xfrm>
          <a:prstGeom prst="rect">
            <a:avLst/>
          </a:prstGeom>
          <a:noFill/>
          <a:ln/>
        </p:spPr>
        <p:txBody>
          <a:bodyPr wrap="square" lIns="0" tIns="0" rIns="0" bIns="0" rtlCol="0" anchor="ctr"/>
          <a:lstStyle/>
          <a:p>
            <a:pPr marL="0" indent="0" algn="ctr">
              <a:buNone/>
            </a:pPr>
            <a:r>
              <a:rPr lang="en-US" sz="1100" b="1" dirty="0">
                <a:solidFill>
                  <a:srgbClr val="3A5BA0"/>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8686800" y="1664208"/>
            <a:ext cx="640080" cy="274320"/>
          </a:xfrm>
          <a:prstGeom prst="rect">
            <a:avLst/>
          </a:prstGeom>
          <a:noFill/>
          <a:ln/>
        </p:spPr>
        <p:txBody>
          <a:bodyPr wrap="square" lIns="0" tIns="0" rIns="0" bIns="0" rtlCol="0" anchor="ctr"/>
          <a:lstStyle/>
          <a:p>
            <a:pPr marL="0" indent="0" algn="ctr">
              <a:buNone/>
            </a:pPr>
            <a:r>
              <a:rPr lang="en-US" sz="1100" b="1" dirty="0">
                <a:solidFill>
                  <a:srgbClr val="3A5BA0"/>
                </a:solidFill>
                <a:latin typeface="Calibri" pitchFamily="34" charset="0"/>
                <a:ea typeface="Calibri" pitchFamily="34" charset="-122"/>
                <a:cs typeface="Calibri" pitchFamily="34" charset="-120"/>
              </a:rPr>
              <a:t>4</a:t>
            </a:r>
            <a:endParaRPr lang="en-US" sz="1100" dirty="0"/>
          </a:p>
        </p:txBody>
      </p:sp>
      <p:sp>
        <p:nvSpPr>
          <p:cNvPr id="26" name="Text 24"/>
          <p:cNvSpPr/>
          <p:nvPr/>
        </p:nvSpPr>
        <p:spPr>
          <a:xfrm>
            <a:off x="10332720" y="1664208"/>
            <a:ext cx="640080" cy="274320"/>
          </a:xfrm>
          <a:prstGeom prst="rect">
            <a:avLst/>
          </a:prstGeom>
          <a:noFill/>
          <a:ln/>
        </p:spPr>
        <p:txBody>
          <a:bodyPr wrap="square" lIns="0" tIns="0" rIns="0" bIns="0" rtlCol="0" anchor="ctr"/>
          <a:lstStyle/>
          <a:p>
            <a:pPr marL="0" indent="0" algn="ctr">
              <a:buNone/>
            </a:pPr>
            <a:r>
              <a:rPr lang="en-US" sz="1100" b="1" dirty="0">
                <a:solidFill>
                  <a:srgbClr val="3A5BA0"/>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7040880" y="3401568"/>
            <a:ext cx="640080" cy="274320"/>
          </a:xfrm>
          <a:prstGeom prst="rect">
            <a:avLst/>
          </a:prstGeom>
          <a:noFill/>
          <a:ln/>
        </p:spPr>
        <p:txBody>
          <a:bodyPr wrap="square" lIns="0" tIns="0" rIns="0" bIns="0" rtlCol="0" anchor="ctr"/>
          <a:lstStyle/>
          <a:p>
            <a:pPr marL="0" indent="0" algn="ctr">
              <a:buNone/>
            </a:pPr>
            <a:r>
              <a:rPr lang="en-US" sz="1100" b="1" dirty="0">
                <a:solidFill>
                  <a:srgbClr val="1F7A72"/>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8686800" y="3401568"/>
            <a:ext cx="640080" cy="274320"/>
          </a:xfrm>
          <a:prstGeom prst="rect">
            <a:avLst/>
          </a:prstGeom>
          <a:noFill/>
          <a:ln/>
        </p:spPr>
        <p:txBody>
          <a:bodyPr wrap="square" lIns="0" tIns="0" rIns="0" bIns="0" rtlCol="0" anchor="ctr"/>
          <a:lstStyle/>
          <a:p>
            <a:pPr marL="0" indent="0" algn="ctr">
              <a:buNone/>
            </a:pPr>
            <a:r>
              <a:rPr lang="en-US" sz="1100" b="1" dirty="0">
                <a:solidFill>
                  <a:srgbClr val="1F7A72"/>
                </a:solidFill>
                <a:latin typeface="Calibri" pitchFamily="34" charset="0"/>
                <a:ea typeface="Calibri" pitchFamily="34" charset="-122"/>
                <a:cs typeface="Calibri" pitchFamily="34" charset="-120"/>
              </a:rPr>
              <a:t>3</a:t>
            </a:r>
            <a:endParaRPr lang="en-US" sz="1100" dirty="0"/>
          </a:p>
        </p:txBody>
      </p:sp>
      <p:sp>
        <p:nvSpPr>
          <p:cNvPr id="29" name="Text 27"/>
          <p:cNvSpPr/>
          <p:nvPr/>
        </p:nvSpPr>
        <p:spPr>
          <a:xfrm>
            <a:off x="10332720" y="3401568"/>
            <a:ext cx="640080" cy="274320"/>
          </a:xfrm>
          <a:prstGeom prst="rect">
            <a:avLst/>
          </a:prstGeom>
          <a:noFill/>
          <a:ln/>
        </p:spPr>
        <p:txBody>
          <a:bodyPr wrap="square" lIns="0" tIns="0" rIns="0" bIns="0" rtlCol="0" anchor="ctr"/>
          <a:lstStyle/>
          <a:p>
            <a:pPr marL="0" indent="0" algn="ctr">
              <a:buNone/>
            </a:pPr>
            <a:r>
              <a:rPr lang="en-US" sz="1100" b="1" dirty="0">
                <a:solidFill>
                  <a:srgbClr val="1F7A72"/>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9966960" y="2514600"/>
            <a:ext cx="1371600" cy="274320"/>
          </a:xfrm>
          <a:prstGeom prst="rect">
            <a:avLst/>
          </a:prstGeom>
          <a:noFill/>
          <a:ln/>
        </p:spPr>
        <p:txBody>
          <a:bodyPr wrap="square" lIns="0" tIns="0" rIns="0" bIns="0" rtlCol="0" anchor="ctr"/>
          <a:lstStyle/>
          <a:p>
            <a:pPr marL="0" indent="0">
              <a:buNone/>
            </a:pPr>
            <a:r>
              <a:rPr lang="en-US" sz="1100" b="1" dirty="0">
                <a:solidFill>
                  <a:srgbClr val="E8A33D"/>
                </a:solidFill>
                <a:latin typeface="Calibri" pitchFamily="34" charset="0"/>
                <a:ea typeface="Calibri" pitchFamily="34" charset="-122"/>
                <a:cs typeface="Calibri" pitchFamily="34" charset="-120"/>
              </a:rPr>
              <a:t>transfer +4</a:t>
            </a:r>
            <a:endParaRPr lang="en-US" sz="1100" dirty="0"/>
          </a:p>
        </p:txBody>
      </p:sp>
      <p:sp>
        <p:nvSpPr>
          <p:cNvPr id="31" name="Shape 29"/>
          <p:cNvSpPr/>
          <p:nvPr/>
        </p:nvSpPr>
        <p:spPr>
          <a:xfrm>
            <a:off x="6272784" y="1746504"/>
            <a:ext cx="530352" cy="530352"/>
          </a:xfrm>
          <a:prstGeom prst="ellipse">
            <a:avLst/>
          </a:prstGeom>
          <a:solidFill>
            <a:srgbClr val="FFFFFF"/>
          </a:solidFill>
          <a:ln w="22225">
            <a:solidFill>
              <a:srgbClr val="3A5BA0"/>
            </a:solidFill>
            <a:prstDash val="solid"/>
          </a:ln>
        </p:spPr>
        <p:txBody>
          <a:bodyPr/>
          <a:lstStyle/>
          <a:p>
            <a:endParaRPr lang="en-US"/>
          </a:p>
        </p:txBody>
      </p:sp>
      <p:sp>
        <p:nvSpPr>
          <p:cNvPr id="32" name="Text 30"/>
          <p:cNvSpPr/>
          <p:nvPr/>
        </p:nvSpPr>
        <p:spPr>
          <a:xfrm>
            <a:off x="6272784" y="174650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A1</a:t>
            </a:r>
            <a:endParaRPr lang="en-US" sz="1050" dirty="0"/>
          </a:p>
        </p:txBody>
      </p:sp>
      <p:sp>
        <p:nvSpPr>
          <p:cNvPr id="33" name="Shape 31"/>
          <p:cNvSpPr/>
          <p:nvPr/>
        </p:nvSpPr>
        <p:spPr>
          <a:xfrm>
            <a:off x="7918704" y="1746504"/>
            <a:ext cx="530352" cy="530352"/>
          </a:xfrm>
          <a:prstGeom prst="ellipse">
            <a:avLst/>
          </a:prstGeom>
          <a:solidFill>
            <a:srgbClr val="FFFFFF"/>
          </a:solidFill>
          <a:ln w="22225">
            <a:solidFill>
              <a:srgbClr val="3A5BA0"/>
            </a:solidFill>
            <a:prstDash val="solid"/>
          </a:ln>
        </p:spPr>
        <p:txBody>
          <a:bodyPr/>
          <a:lstStyle/>
          <a:p>
            <a:endParaRPr lang="en-US"/>
          </a:p>
        </p:txBody>
      </p:sp>
      <p:sp>
        <p:nvSpPr>
          <p:cNvPr id="34" name="Text 32"/>
          <p:cNvSpPr/>
          <p:nvPr/>
        </p:nvSpPr>
        <p:spPr>
          <a:xfrm>
            <a:off x="7918704" y="174650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A2</a:t>
            </a:r>
            <a:endParaRPr lang="en-US" sz="1050" dirty="0"/>
          </a:p>
        </p:txBody>
      </p:sp>
      <p:sp>
        <p:nvSpPr>
          <p:cNvPr id="35" name="Shape 33"/>
          <p:cNvSpPr/>
          <p:nvPr/>
        </p:nvSpPr>
        <p:spPr>
          <a:xfrm>
            <a:off x="9564624" y="1746504"/>
            <a:ext cx="530352" cy="530352"/>
          </a:xfrm>
          <a:prstGeom prst="ellipse">
            <a:avLst/>
          </a:prstGeom>
          <a:solidFill>
            <a:srgbClr val="FFFFFF"/>
          </a:solidFill>
          <a:ln w="22225">
            <a:solidFill>
              <a:srgbClr val="3A5BA0"/>
            </a:solidFill>
            <a:prstDash val="solid"/>
          </a:ln>
        </p:spPr>
        <p:txBody>
          <a:bodyPr/>
          <a:lstStyle/>
          <a:p>
            <a:endParaRPr lang="en-US"/>
          </a:p>
        </p:txBody>
      </p:sp>
      <p:sp>
        <p:nvSpPr>
          <p:cNvPr id="36" name="Text 34"/>
          <p:cNvSpPr/>
          <p:nvPr/>
        </p:nvSpPr>
        <p:spPr>
          <a:xfrm>
            <a:off x="9564624" y="174650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X,A</a:t>
            </a:r>
            <a:endParaRPr lang="en-US" sz="1050" dirty="0"/>
          </a:p>
        </p:txBody>
      </p:sp>
      <p:sp>
        <p:nvSpPr>
          <p:cNvPr id="37" name="Shape 35"/>
          <p:cNvSpPr/>
          <p:nvPr/>
        </p:nvSpPr>
        <p:spPr>
          <a:xfrm>
            <a:off x="11073384" y="1746504"/>
            <a:ext cx="530352" cy="530352"/>
          </a:xfrm>
          <a:prstGeom prst="ellipse">
            <a:avLst/>
          </a:prstGeom>
          <a:solidFill>
            <a:srgbClr val="FFFFFF"/>
          </a:solidFill>
          <a:ln w="22225">
            <a:solidFill>
              <a:srgbClr val="3A5BA0"/>
            </a:solidFill>
            <a:prstDash val="solid"/>
          </a:ln>
        </p:spPr>
        <p:txBody>
          <a:bodyPr/>
          <a:lstStyle/>
          <a:p>
            <a:endParaRPr lang="en-US"/>
          </a:p>
        </p:txBody>
      </p:sp>
      <p:sp>
        <p:nvSpPr>
          <p:cNvPr id="38" name="Text 36"/>
          <p:cNvSpPr/>
          <p:nvPr/>
        </p:nvSpPr>
        <p:spPr>
          <a:xfrm>
            <a:off x="11073384" y="174650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A4</a:t>
            </a:r>
            <a:endParaRPr lang="en-US" sz="1050" dirty="0"/>
          </a:p>
        </p:txBody>
      </p:sp>
      <p:sp>
        <p:nvSpPr>
          <p:cNvPr id="39" name="Shape 37"/>
          <p:cNvSpPr/>
          <p:nvPr/>
        </p:nvSpPr>
        <p:spPr>
          <a:xfrm>
            <a:off x="6272784" y="3026664"/>
            <a:ext cx="530352" cy="530352"/>
          </a:xfrm>
          <a:prstGeom prst="ellipse">
            <a:avLst/>
          </a:prstGeom>
          <a:solidFill>
            <a:srgbClr val="FFFFFF"/>
          </a:solidFill>
          <a:ln w="22225">
            <a:solidFill>
              <a:srgbClr val="1F7A72"/>
            </a:solidFill>
            <a:prstDash val="solid"/>
          </a:ln>
        </p:spPr>
        <p:txBody>
          <a:bodyPr/>
          <a:lstStyle/>
          <a:p>
            <a:endParaRPr lang="en-US"/>
          </a:p>
        </p:txBody>
      </p:sp>
      <p:sp>
        <p:nvSpPr>
          <p:cNvPr id="40" name="Text 38"/>
          <p:cNvSpPr/>
          <p:nvPr/>
        </p:nvSpPr>
        <p:spPr>
          <a:xfrm>
            <a:off x="6272784" y="302666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B1</a:t>
            </a:r>
            <a:endParaRPr lang="en-US" sz="1050" dirty="0"/>
          </a:p>
        </p:txBody>
      </p:sp>
      <p:sp>
        <p:nvSpPr>
          <p:cNvPr id="41" name="Shape 39"/>
          <p:cNvSpPr/>
          <p:nvPr/>
        </p:nvSpPr>
        <p:spPr>
          <a:xfrm>
            <a:off x="7918704" y="3026664"/>
            <a:ext cx="530352" cy="530352"/>
          </a:xfrm>
          <a:prstGeom prst="ellipse">
            <a:avLst/>
          </a:prstGeom>
          <a:solidFill>
            <a:srgbClr val="FFFFFF"/>
          </a:solidFill>
          <a:ln w="22225">
            <a:solidFill>
              <a:srgbClr val="1F7A72"/>
            </a:solidFill>
            <a:prstDash val="solid"/>
          </a:ln>
        </p:spPr>
        <p:txBody>
          <a:bodyPr/>
          <a:lstStyle/>
          <a:p>
            <a:endParaRPr lang="en-US"/>
          </a:p>
        </p:txBody>
      </p:sp>
      <p:sp>
        <p:nvSpPr>
          <p:cNvPr id="42" name="Text 40"/>
          <p:cNvSpPr/>
          <p:nvPr/>
        </p:nvSpPr>
        <p:spPr>
          <a:xfrm>
            <a:off x="7918704" y="302666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B2</a:t>
            </a:r>
            <a:endParaRPr lang="en-US" sz="1050" dirty="0"/>
          </a:p>
        </p:txBody>
      </p:sp>
      <p:sp>
        <p:nvSpPr>
          <p:cNvPr id="43" name="Shape 41"/>
          <p:cNvSpPr/>
          <p:nvPr/>
        </p:nvSpPr>
        <p:spPr>
          <a:xfrm>
            <a:off x="9564624" y="3026664"/>
            <a:ext cx="530352" cy="530352"/>
          </a:xfrm>
          <a:prstGeom prst="ellipse">
            <a:avLst/>
          </a:prstGeom>
          <a:solidFill>
            <a:srgbClr val="FFFFFF"/>
          </a:solidFill>
          <a:ln w="22225">
            <a:solidFill>
              <a:srgbClr val="1F7A72"/>
            </a:solidFill>
            <a:prstDash val="solid"/>
          </a:ln>
        </p:spPr>
        <p:txBody>
          <a:bodyPr/>
          <a:lstStyle/>
          <a:p>
            <a:endParaRPr lang="en-US"/>
          </a:p>
        </p:txBody>
      </p:sp>
      <p:sp>
        <p:nvSpPr>
          <p:cNvPr id="44" name="Text 42"/>
          <p:cNvSpPr/>
          <p:nvPr/>
        </p:nvSpPr>
        <p:spPr>
          <a:xfrm>
            <a:off x="9564624" y="302666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X,B</a:t>
            </a:r>
            <a:endParaRPr lang="en-US" sz="1050" dirty="0"/>
          </a:p>
        </p:txBody>
      </p:sp>
      <p:sp>
        <p:nvSpPr>
          <p:cNvPr id="45" name="Shape 43"/>
          <p:cNvSpPr/>
          <p:nvPr/>
        </p:nvSpPr>
        <p:spPr>
          <a:xfrm>
            <a:off x="11073384" y="3026664"/>
            <a:ext cx="530352" cy="530352"/>
          </a:xfrm>
          <a:prstGeom prst="ellipse">
            <a:avLst/>
          </a:prstGeom>
          <a:solidFill>
            <a:srgbClr val="FFFFFF"/>
          </a:solidFill>
          <a:ln w="22225">
            <a:solidFill>
              <a:srgbClr val="1F7A72"/>
            </a:solidFill>
            <a:prstDash val="solid"/>
          </a:ln>
        </p:spPr>
        <p:txBody>
          <a:bodyPr/>
          <a:lstStyle/>
          <a:p>
            <a:endParaRPr lang="en-US"/>
          </a:p>
        </p:txBody>
      </p:sp>
      <p:sp>
        <p:nvSpPr>
          <p:cNvPr id="46" name="Text 44"/>
          <p:cNvSpPr/>
          <p:nvPr/>
        </p:nvSpPr>
        <p:spPr>
          <a:xfrm>
            <a:off x="11073384" y="3026664"/>
            <a:ext cx="530352" cy="530352"/>
          </a:xfrm>
          <a:prstGeom prst="rect">
            <a:avLst/>
          </a:prstGeom>
          <a:noFill/>
          <a:ln/>
        </p:spPr>
        <p:txBody>
          <a:bodyPr wrap="square" lIns="0" tIns="0" rIns="0" bIns="0"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B4</a:t>
            </a:r>
            <a:endParaRPr lang="en-US" sz="1050" dirty="0"/>
          </a:p>
        </p:txBody>
      </p:sp>
      <p:sp>
        <p:nvSpPr>
          <p:cNvPr id="47" name="Shape 45"/>
          <p:cNvSpPr/>
          <p:nvPr/>
        </p:nvSpPr>
        <p:spPr>
          <a:xfrm>
            <a:off x="6035040" y="1508760"/>
            <a:ext cx="292608" cy="54864"/>
          </a:xfrm>
          <a:prstGeom prst="rect">
            <a:avLst/>
          </a:prstGeom>
          <a:solidFill>
            <a:srgbClr val="3A5BA0"/>
          </a:solidFill>
          <a:ln/>
        </p:spPr>
        <p:txBody>
          <a:bodyPr/>
          <a:lstStyle/>
          <a:p>
            <a:endParaRPr lang="en-US"/>
          </a:p>
        </p:txBody>
      </p:sp>
      <p:sp>
        <p:nvSpPr>
          <p:cNvPr id="48" name="Text 46"/>
          <p:cNvSpPr/>
          <p:nvPr/>
        </p:nvSpPr>
        <p:spPr>
          <a:xfrm>
            <a:off x="6419088" y="1371600"/>
            <a:ext cx="1097280" cy="320040"/>
          </a:xfrm>
          <a:prstGeom prst="rect">
            <a:avLst/>
          </a:prstGeom>
          <a:noFill/>
          <a:ln/>
        </p:spPr>
        <p:txBody>
          <a:bodyPr wrap="square" lIns="0" tIns="0" rIns="0" bIns="0" rtlCol="0" anchor="ctr"/>
          <a:lstStyle/>
          <a:p>
            <a:pPr marL="0" indent="0">
              <a:buNone/>
            </a:pPr>
            <a:r>
              <a:rPr lang="en-US" sz="1150" b="1" dirty="0">
                <a:solidFill>
                  <a:srgbClr val="3A5BA0"/>
                </a:solidFill>
                <a:latin typeface="Calibri" pitchFamily="34" charset="0"/>
                <a:ea typeface="Calibri" pitchFamily="34" charset="-122"/>
                <a:cs typeface="Calibri" pitchFamily="34" charset="-120"/>
              </a:rPr>
              <a:t>Line A</a:t>
            </a:r>
            <a:endParaRPr lang="en-US" sz="1150" dirty="0"/>
          </a:p>
        </p:txBody>
      </p:sp>
      <p:sp>
        <p:nvSpPr>
          <p:cNvPr id="49" name="Shape 47"/>
          <p:cNvSpPr/>
          <p:nvPr/>
        </p:nvSpPr>
        <p:spPr>
          <a:xfrm>
            <a:off x="7452360" y="1508760"/>
            <a:ext cx="292608" cy="54864"/>
          </a:xfrm>
          <a:prstGeom prst="rect">
            <a:avLst/>
          </a:prstGeom>
          <a:solidFill>
            <a:srgbClr val="1F7A72"/>
          </a:solidFill>
          <a:ln/>
        </p:spPr>
        <p:txBody>
          <a:bodyPr/>
          <a:lstStyle/>
          <a:p>
            <a:endParaRPr lang="en-US"/>
          </a:p>
        </p:txBody>
      </p:sp>
      <p:sp>
        <p:nvSpPr>
          <p:cNvPr id="50" name="Text 48"/>
          <p:cNvSpPr/>
          <p:nvPr/>
        </p:nvSpPr>
        <p:spPr>
          <a:xfrm>
            <a:off x="7836408" y="1371600"/>
            <a:ext cx="1097280" cy="320040"/>
          </a:xfrm>
          <a:prstGeom prst="rect">
            <a:avLst/>
          </a:prstGeom>
          <a:noFill/>
          <a:ln/>
        </p:spPr>
        <p:txBody>
          <a:bodyPr wrap="square" lIns="0" tIns="0" rIns="0" bIns="0" rtlCol="0" anchor="ctr"/>
          <a:lstStyle/>
          <a:p>
            <a:pPr marL="0" indent="0">
              <a:buNone/>
            </a:pPr>
            <a:r>
              <a:rPr lang="en-US" sz="1150" b="1" dirty="0">
                <a:solidFill>
                  <a:srgbClr val="1F7A72"/>
                </a:solidFill>
                <a:latin typeface="Calibri" pitchFamily="34" charset="0"/>
                <a:ea typeface="Calibri" pitchFamily="34" charset="-122"/>
                <a:cs typeface="Calibri" pitchFamily="34" charset="-120"/>
              </a:rPr>
              <a:t>Line B</a:t>
            </a:r>
            <a:endParaRPr lang="en-US" sz="1150" dirty="0"/>
          </a:p>
        </p:txBody>
      </p:sp>
      <p:sp>
        <p:nvSpPr>
          <p:cNvPr id="51" name="Shape 49"/>
          <p:cNvSpPr/>
          <p:nvPr/>
        </p:nvSpPr>
        <p:spPr>
          <a:xfrm>
            <a:off x="5943600" y="3931920"/>
            <a:ext cx="5696712" cy="2011680"/>
          </a:xfrm>
          <a:prstGeom prst="roundRect">
            <a:avLst>
              <a:gd name="adj" fmla="val 2273"/>
            </a:avLst>
          </a:prstGeom>
          <a:solidFill>
            <a:srgbClr val="1E2761"/>
          </a:solidFill>
          <a:ln w="12700">
            <a:solidFill>
              <a:srgbClr val="1E2761"/>
            </a:solidFill>
            <a:prstDash val="solid"/>
          </a:ln>
        </p:spPr>
        <p:txBody>
          <a:bodyPr/>
          <a:lstStyle/>
          <a:p>
            <a:endParaRPr lang="en-US"/>
          </a:p>
        </p:txBody>
      </p:sp>
      <p:sp>
        <p:nvSpPr>
          <p:cNvPr id="52" name="Text 50"/>
          <p:cNvSpPr/>
          <p:nvPr/>
        </p:nvSpPr>
        <p:spPr>
          <a:xfrm>
            <a:off x="6263640" y="4069080"/>
            <a:ext cx="5074920" cy="1737360"/>
          </a:xfrm>
          <a:prstGeom prst="rect">
            <a:avLst/>
          </a:prstGeom>
          <a:noFill/>
          <a:ln/>
        </p:spPr>
        <p:txBody>
          <a:bodyPr wrap="square" lIns="0" tIns="0" rIns="0" bIns="0" rtlCol="0" anchor="t"/>
          <a:lstStyle/>
          <a:p>
            <a:pPr marL="0" indent="0">
              <a:lnSpc>
                <a:spcPct val="115000"/>
              </a:lnSpc>
              <a:spcAft>
                <a:spcPts val="500"/>
              </a:spcAft>
              <a:buNone/>
            </a:pPr>
            <a:r>
              <a:rPr lang="en-US" sz="1250" b="1" dirty="0">
                <a:solidFill>
                  <a:srgbClr val="E8A33D"/>
                </a:solidFill>
                <a:latin typeface="Calibri" pitchFamily="34" charset="0"/>
                <a:ea typeface="Calibri" pitchFamily="34" charset="-122"/>
                <a:cs typeface="Calibri" pitchFamily="34" charset="-120"/>
              </a:rPr>
              <a:t>The trick: transfers cost time.</a:t>
            </a:r>
            <a:endParaRPr lang="en-US" sz="1250" dirty="0"/>
          </a:p>
          <a:p>
            <a:pPr marL="0" indent="0">
              <a:lnSpc>
                <a:spcPct val="115000"/>
              </a:lnSpc>
              <a:spcAft>
                <a:spcPts val="500"/>
              </a:spcAft>
              <a:buNone/>
            </a:pPr>
            <a:r>
              <a:rPr lang="en-US" sz="1250" dirty="0">
                <a:solidFill>
                  <a:srgbClr val="FFFFFF"/>
                </a:solidFill>
                <a:latin typeface="Calibri" pitchFamily="34" charset="0"/>
                <a:ea typeface="Calibri" pitchFamily="34" charset="-122"/>
                <a:cs typeface="Calibri" pitchFamily="34" charset="-120"/>
              </a:rPr>
              <a:t>A single vertex per station can't charge for changing lines. So split station X into one vertex per line it serves — (X, A) and (X, B) — and add an edge between them weighted by the interchange penalty. Now “fewest transfers” and “least total time” are the same kind of question, and the shortest-path algorithm handles both.</a:t>
            </a:r>
            <a:endParaRPr lang="en-US" sz="1250" dirty="0"/>
          </a:p>
        </p:txBody>
      </p:sp>
      <p:sp>
        <p:nvSpPr>
          <p:cNvPr id="53" name="Text 51"/>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54" name="Text 52"/>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 (a)</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How few colours does the cartographer need?</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No two neighbouring countries may share a colour</a:t>
            </a:r>
            <a:endParaRPr lang="en-US" sz="1350" dirty="0"/>
          </a:p>
        </p:txBody>
      </p:sp>
      <p:sp>
        <p:nvSpPr>
          <p:cNvPr id="6" name="Shape 4"/>
          <p:cNvSpPr/>
          <p:nvPr/>
        </p:nvSpPr>
        <p:spPr>
          <a:xfrm>
            <a:off x="3977640" y="1600200"/>
            <a:ext cx="4491990" cy="4000500"/>
          </a:xfrm>
          <a:prstGeom prst="rect">
            <a:avLst/>
          </a:prstGeom>
          <a:solidFill>
            <a:srgbClr val="FFFFFF"/>
          </a:solidFill>
          <a:ln w="12700">
            <a:solidFill>
              <a:srgbClr val="FFFFFF"/>
            </a:solidFill>
            <a:prstDash val="solid"/>
          </a:ln>
        </p:spPr>
        <p:txBody>
          <a:bodyPr/>
          <a:lstStyle/>
          <a:p>
            <a:endParaRPr lang="en-US"/>
          </a:p>
        </p:txBody>
      </p:sp>
      <p:sp>
        <p:nvSpPr>
          <p:cNvPr id="7" name="Shape 5"/>
          <p:cNvSpPr/>
          <p:nvPr/>
        </p:nvSpPr>
        <p:spPr>
          <a:xfrm>
            <a:off x="4411980" y="2057400"/>
            <a:ext cx="857250" cy="1485900"/>
          </a:xfrm>
          <a:prstGeom prst="rect">
            <a:avLst/>
          </a:prstGeom>
          <a:solidFill>
            <a:srgbClr val="FFFFFF"/>
          </a:solidFill>
          <a:ln w="12700">
            <a:solidFill>
              <a:srgbClr val="FFFFFF"/>
            </a:solidFill>
            <a:prstDash val="solid"/>
          </a:ln>
        </p:spPr>
        <p:txBody>
          <a:bodyPr/>
          <a:lstStyle/>
          <a:p>
            <a:endParaRPr lang="en-US"/>
          </a:p>
        </p:txBody>
      </p:sp>
      <p:sp>
        <p:nvSpPr>
          <p:cNvPr id="8" name="Shape 6"/>
          <p:cNvSpPr/>
          <p:nvPr/>
        </p:nvSpPr>
        <p:spPr>
          <a:xfrm>
            <a:off x="4411980" y="3543300"/>
            <a:ext cx="857250" cy="1600200"/>
          </a:xfrm>
          <a:prstGeom prst="rect">
            <a:avLst/>
          </a:prstGeom>
          <a:solidFill>
            <a:srgbClr val="FFFFFF"/>
          </a:solidFill>
          <a:ln w="12700">
            <a:solidFill>
              <a:srgbClr val="FFFFFF"/>
            </a:solidFill>
            <a:prstDash val="solid"/>
          </a:ln>
        </p:spPr>
        <p:txBody>
          <a:bodyPr/>
          <a:lstStyle/>
          <a:p>
            <a:endParaRPr lang="en-US"/>
          </a:p>
        </p:txBody>
      </p:sp>
      <p:sp>
        <p:nvSpPr>
          <p:cNvPr id="9" name="Shape 7"/>
          <p:cNvSpPr/>
          <p:nvPr/>
        </p:nvSpPr>
        <p:spPr>
          <a:xfrm>
            <a:off x="5269230" y="2057400"/>
            <a:ext cx="2171700" cy="800100"/>
          </a:xfrm>
          <a:prstGeom prst="rect">
            <a:avLst/>
          </a:prstGeom>
          <a:solidFill>
            <a:srgbClr val="FFFFFF"/>
          </a:solidFill>
          <a:ln w="12700">
            <a:solidFill>
              <a:srgbClr val="FFFFFF"/>
            </a:solidFill>
            <a:prstDash val="solid"/>
          </a:ln>
        </p:spPr>
        <p:txBody>
          <a:bodyPr/>
          <a:lstStyle/>
          <a:p>
            <a:endParaRPr lang="en-US"/>
          </a:p>
        </p:txBody>
      </p:sp>
      <p:sp>
        <p:nvSpPr>
          <p:cNvPr id="10" name="Shape 8"/>
          <p:cNvSpPr/>
          <p:nvPr/>
        </p:nvSpPr>
        <p:spPr>
          <a:xfrm>
            <a:off x="5269230" y="2857500"/>
            <a:ext cx="685800" cy="1485900"/>
          </a:xfrm>
          <a:prstGeom prst="rect">
            <a:avLst/>
          </a:prstGeom>
          <a:solidFill>
            <a:srgbClr val="FFFFFF"/>
          </a:solidFill>
          <a:ln w="12700">
            <a:solidFill>
              <a:srgbClr val="FFFFFF"/>
            </a:solidFill>
            <a:prstDash val="solid"/>
          </a:ln>
        </p:spPr>
        <p:txBody>
          <a:bodyPr/>
          <a:lstStyle/>
          <a:p>
            <a:endParaRPr lang="en-US"/>
          </a:p>
        </p:txBody>
      </p:sp>
      <p:sp>
        <p:nvSpPr>
          <p:cNvPr id="11" name="Shape 9"/>
          <p:cNvSpPr/>
          <p:nvPr/>
        </p:nvSpPr>
        <p:spPr>
          <a:xfrm>
            <a:off x="5955030" y="2857500"/>
            <a:ext cx="1485900" cy="1257300"/>
          </a:xfrm>
          <a:prstGeom prst="rect">
            <a:avLst/>
          </a:prstGeom>
          <a:solidFill>
            <a:srgbClr val="FFFFFF"/>
          </a:solidFill>
          <a:ln w="12700">
            <a:solidFill>
              <a:srgbClr val="FFFFFF"/>
            </a:solidFill>
            <a:prstDash val="solid"/>
          </a:ln>
        </p:spPr>
        <p:txBody>
          <a:bodyPr/>
          <a:lstStyle/>
          <a:p>
            <a:endParaRPr lang="en-US"/>
          </a:p>
        </p:txBody>
      </p:sp>
      <p:sp>
        <p:nvSpPr>
          <p:cNvPr id="12" name="Shape 10"/>
          <p:cNvSpPr/>
          <p:nvPr/>
        </p:nvSpPr>
        <p:spPr>
          <a:xfrm>
            <a:off x="5955030" y="4114800"/>
            <a:ext cx="1485900" cy="1028700"/>
          </a:xfrm>
          <a:prstGeom prst="rect">
            <a:avLst/>
          </a:prstGeom>
          <a:solidFill>
            <a:srgbClr val="FFFFFF"/>
          </a:solidFill>
          <a:ln w="12700">
            <a:solidFill>
              <a:srgbClr val="FFFFFF"/>
            </a:solidFill>
            <a:prstDash val="solid"/>
          </a:ln>
        </p:spPr>
        <p:txBody>
          <a:bodyPr/>
          <a:lstStyle/>
          <a:p>
            <a:endParaRPr lang="en-US"/>
          </a:p>
        </p:txBody>
      </p:sp>
      <p:sp>
        <p:nvSpPr>
          <p:cNvPr id="13" name="Shape 11"/>
          <p:cNvSpPr/>
          <p:nvPr/>
        </p:nvSpPr>
        <p:spPr>
          <a:xfrm>
            <a:off x="5269230" y="4343400"/>
            <a:ext cx="685800" cy="800100"/>
          </a:xfrm>
          <a:prstGeom prst="rect">
            <a:avLst/>
          </a:prstGeom>
          <a:solidFill>
            <a:srgbClr val="FFFFFF"/>
          </a:solidFill>
          <a:ln w="12700">
            <a:solidFill>
              <a:srgbClr val="FFFFFF"/>
            </a:solidFill>
            <a:prstDash val="solid"/>
          </a:ln>
        </p:spPr>
        <p:txBody>
          <a:bodyPr/>
          <a:lstStyle/>
          <a:p>
            <a:endParaRPr lang="en-US"/>
          </a:p>
        </p:txBody>
      </p:sp>
      <p:sp>
        <p:nvSpPr>
          <p:cNvPr id="14" name="Shape 12"/>
          <p:cNvSpPr/>
          <p:nvPr/>
        </p:nvSpPr>
        <p:spPr>
          <a:xfrm>
            <a:off x="3977640" y="1600200"/>
            <a:ext cx="4491990" cy="0"/>
          </a:xfrm>
          <a:prstGeom prst="line">
            <a:avLst/>
          </a:prstGeom>
          <a:noFill/>
          <a:ln w="15875">
            <a:solidFill>
              <a:srgbClr val="23293F"/>
            </a:solidFill>
            <a:prstDash val="solid"/>
          </a:ln>
        </p:spPr>
        <p:txBody>
          <a:bodyPr/>
          <a:lstStyle/>
          <a:p>
            <a:endParaRPr lang="en-US"/>
          </a:p>
        </p:txBody>
      </p:sp>
      <p:sp>
        <p:nvSpPr>
          <p:cNvPr id="15" name="Shape 13"/>
          <p:cNvSpPr/>
          <p:nvPr/>
        </p:nvSpPr>
        <p:spPr>
          <a:xfrm>
            <a:off x="8469630" y="1600200"/>
            <a:ext cx="0" cy="4000500"/>
          </a:xfrm>
          <a:prstGeom prst="line">
            <a:avLst/>
          </a:prstGeom>
          <a:noFill/>
          <a:ln w="15875">
            <a:solidFill>
              <a:srgbClr val="23293F"/>
            </a:solidFill>
            <a:prstDash val="solid"/>
          </a:ln>
        </p:spPr>
        <p:txBody>
          <a:bodyPr/>
          <a:lstStyle/>
          <a:p>
            <a:endParaRPr lang="en-US"/>
          </a:p>
        </p:txBody>
      </p:sp>
      <p:sp>
        <p:nvSpPr>
          <p:cNvPr id="16" name="Shape 14"/>
          <p:cNvSpPr/>
          <p:nvPr/>
        </p:nvSpPr>
        <p:spPr>
          <a:xfrm>
            <a:off x="3977640" y="5600700"/>
            <a:ext cx="4491990" cy="0"/>
          </a:xfrm>
          <a:prstGeom prst="line">
            <a:avLst/>
          </a:prstGeom>
          <a:noFill/>
          <a:ln w="15875">
            <a:solidFill>
              <a:srgbClr val="23293F"/>
            </a:solidFill>
            <a:prstDash val="solid"/>
          </a:ln>
        </p:spPr>
        <p:txBody>
          <a:bodyPr/>
          <a:lstStyle/>
          <a:p>
            <a:endParaRPr lang="en-US"/>
          </a:p>
        </p:txBody>
      </p:sp>
      <p:sp>
        <p:nvSpPr>
          <p:cNvPr id="17" name="Shape 15"/>
          <p:cNvSpPr/>
          <p:nvPr/>
        </p:nvSpPr>
        <p:spPr>
          <a:xfrm>
            <a:off x="3977640" y="1600200"/>
            <a:ext cx="0" cy="4000500"/>
          </a:xfrm>
          <a:prstGeom prst="line">
            <a:avLst/>
          </a:prstGeom>
          <a:noFill/>
          <a:ln w="15875">
            <a:solidFill>
              <a:srgbClr val="23293F"/>
            </a:solidFill>
            <a:prstDash val="solid"/>
          </a:ln>
        </p:spPr>
        <p:txBody>
          <a:bodyPr/>
          <a:lstStyle/>
          <a:p>
            <a:endParaRPr lang="en-US"/>
          </a:p>
        </p:txBody>
      </p:sp>
      <p:sp>
        <p:nvSpPr>
          <p:cNvPr id="18" name="Shape 16"/>
          <p:cNvSpPr/>
          <p:nvPr/>
        </p:nvSpPr>
        <p:spPr>
          <a:xfrm>
            <a:off x="4411980" y="2057400"/>
            <a:ext cx="3028950" cy="0"/>
          </a:xfrm>
          <a:prstGeom prst="line">
            <a:avLst/>
          </a:prstGeom>
          <a:noFill/>
          <a:ln w="15875">
            <a:solidFill>
              <a:srgbClr val="23293F"/>
            </a:solidFill>
            <a:prstDash val="solid"/>
          </a:ln>
        </p:spPr>
        <p:txBody>
          <a:bodyPr/>
          <a:lstStyle/>
          <a:p>
            <a:endParaRPr lang="en-US"/>
          </a:p>
        </p:txBody>
      </p:sp>
      <p:sp>
        <p:nvSpPr>
          <p:cNvPr id="19" name="Shape 17"/>
          <p:cNvSpPr/>
          <p:nvPr/>
        </p:nvSpPr>
        <p:spPr>
          <a:xfrm>
            <a:off x="7440930" y="2057400"/>
            <a:ext cx="0" cy="3086100"/>
          </a:xfrm>
          <a:prstGeom prst="line">
            <a:avLst/>
          </a:prstGeom>
          <a:noFill/>
          <a:ln w="15875">
            <a:solidFill>
              <a:srgbClr val="23293F"/>
            </a:solidFill>
            <a:prstDash val="solid"/>
          </a:ln>
        </p:spPr>
        <p:txBody>
          <a:bodyPr/>
          <a:lstStyle/>
          <a:p>
            <a:endParaRPr lang="en-US"/>
          </a:p>
        </p:txBody>
      </p:sp>
      <p:sp>
        <p:nvSpPr>
          <p:cNvPr id="20" name="Shape 18"/>
          <p:cNvSpPr/>
          <p:nvPr/>
        </p:nvSpPr>
        <p:spPr>
          <a:xfrm>
            <a:off x="4411980" y="5143500"/>
            <a:ext cx="3028950" cy="0"/>
          </a:xfrm>
          <a:prstGeom prst="line">
            <a:avLst/>
          </a:prstGeom>
          <a:noFill/>
          <a:ln w="15875">
            <a:solidFill>
              <a:srgbClr val="23293F"/>
            </a:solidFill>
            <a:prstDash val="solid"/>
          </a:ln>
        </p:spPr>
        <p:txBody>
          <a:bodyPr/>
          <a:lstStyle/>
          <a:p>
            <a:endParaRPr lang="en-US"/>
          </a:p>
        </p:txBody>
      </p:sp>
      <p:sp>
        <p:nvSpPr>
          <p:cNvPr id="21" name="Shape 19"/>
          <p:cNvSpPr/>
          <p:nvPr/>
        </p:nvSpPr>
        <p:spPr>
          <a:xfrm>
            <a:off x="4411980" y="2057400"/>
            <a:ext cx="0" cy="3086100"/>
          </a:xfrm>
          <a:prstGeom prst="line">
            <a:avLst/>
          </a:prstGeom>
          <a:noFill/>
          <a:ln w="15875">
            <a:solidFill>
              <a:srgbClr val="23293F"/>
            </a:solidFill>
            <a:prstDash val="solid"/>
          </a:ln>
        </p:spPr>
        <p:txBody>
          <a:bodyPr/>
          <a:lstStyle/>
          <a:p>
            <a:endParaRPr lang="en-US"/>
          </a:p>
        </p:txBody>
      </p:sp>
      <p:sp>
        <p:nvSpPr>
          <p:cNvPr id="22" name="Shape 20"/>
          <p:cNvSpPr/>
          <p:nvPr/>
        </p:nvSpPr>
        <p:spPr>
          <a:xfrm>
            <a:off x="5269230" y="2057400"/>
            <a:ext cx="0" cy="3086100"/>
          </a:xfrm>
          <a:prstGeom prst="line">
            <a:avLst/>
          </a:prstGeom>
          <a:noFill/>
          <a:ln w="15875">
            <a:solidFill>
              <a:srgbClr val="23293F"/>
            </a:solidFill>
            <a:prstDash val="solid"/>
          </a:ln>
        </p:spPr>
        <p:txBody>
          <a:bodyPr/>
          <a:lstStyle/>
          <a:p>
            <a:endParaRPr lang="en-US"/>
          </a:p>
        </p:txBody>
      </p:sp>
      <p:sp>
        <p:nvSpPr>
          <p:cNvPr id="23" name="Shape 21"/>
          <p:cNvSpPr/>
          <p:nvPr/>
        </p:nvSpPr>
        <p:spPr>
          <a:xfrm>
            <a:off x="4411980" y="3543300"/>
            <a:ext cx="857250" cy="0"/>
          </a:xfrm>
          <a:prstGeom prst="line">
            <a:avLst/>
          </a:prstGeom>
          <a:noFill/>
          <a:ln w="15875">
            <a:solidFill>
              <a:srgbClr val="23293F"/>
            </a:solidFill>
            <a:prstDash val="solid"/>
          </a:ln>
        </p:spPr>
        <p:txBody>
          <a:bodyPr/>
          <a:lstStyle/>
          <a:p>
            <a:endParaRPr lang="en-US"/>
          </a:p>
        </p:txBody>
      </p:sp>
      <p:sp>
        <p:nvSpPr>
          <p:cNvPr id="24" name="Shape 22"/>
          <p:cNvSpPr/>
          <p:nvPr/>
        </p:nvSpPr>
        <p:spPr>
          <a:xfrm>
            <a:off x="5269230" y="2857500"/>
            <a:ext cx="2171700" cy="0"/>
          </a:xfrm>
          <a:prstGeom prst="line">
            <a:avLst/>
          </a:prstGeom>
          <a:noFill/>
          <a:ln w="15875">
            <a:solidFill>
              <a:srgbClr val="23293F"/>
            </a:solidFill>
            <a:prstDash val="solid"/>
          </a:ln>
        </p:spPr>
        <p:txBody>
          <a:bodyPr/>
          <a:lstStyle/>
          <a:p>
            <a:endParaRPr lang="en-US"/>
          </a:p>
        </p:txBody>
      </p:sp>
      <p:sp>
        <p:nvSpPr>
          <p:cNvPr id="25" name="Shape 23"/>
          <p:cNvSpPr/>
          <p:nvPr/>
        </p:nvSpPr>
        <p:spPr>
          <a:xfrm>
            <a:off x="5955030" y="2857500"/>
            <a:ext cx="0" cy="1485900"/>
          </a:xfrm>
          <a:prstGeom prst="line">
            <a:avLst/>
          </a:prstGeom>
          <a:noFill/>
          <a:ln w="15875">
            <a:solidFill>
              <a:srgbClr val="23293F"/>
            </a:solidFill>
            <a:prstDash val="solid"/>
          </a:ln>
        </p:spPr>
        <p:txBody>
          <a:bodyPr/>
          <a:lstStyle/>
          <a:p>
            <a:endParaRPr lang="en-US"/>
          </a:p>
        </p:txBody>
      </p:sp>
      <p:sp>
        <p:nvSpPr>
          <p:cNvPr id="26" name="Shape 24"/>
          <p:cNvSpPr/>
          <p:nvPr/>
        </p:nvSpPr>
        <p:spPr>
          <a:xfrm>
            <a:off x="5955030" y="4114800"/>
            <a:ext cx="1485900" cy="0"/>
          </a:xfrm>
          <a:prstGeom prst="line">
            <a:avLst/>
          </a:prstGeom>
          <a:noFill/>
          <a:ln w="15875">
            <a:solidFill>
              <a:srgbClr val="23293F"/>
            </a:solidFill>
            <a:prstDash val="solid"/>
          </a:ln>
        </p:spPr>
        <p:txBody>
          <a:bodyPr/>
          <a:lstStyle/>
          <a:p>
            <a:endParaRPr lang="en-US"/>
          </a:p>
        </p:txBody>
      </p:sp>
      <p:sp>
        <p:nvSpPr>
          <p:cNvPr id="27" name="Shape 25"/>
          <p:cNvSpPr/>
          <p:nvPr/>
        </p:nvSpPr>
        <p:spPr>
          <a:xfrm>
            <a:off x="5269230" y="4343400"/>
            <a:ext cx="685800" cy="0"/>
          </a:xfrm>
          <a:prstGeom prst="line">
            <a:avLst/>
          </a:prstGeom>
          <a:noFill/>
          <a:ln w="15875">
            <a:solidFill>
              <a:srgbClr val="23293F"/>
            </a:solidFill>
            <a:prstDash val="solid"/>
          </a:ln>
        </p:spPr>
        <p:txBody>
          <a:bodyPr/>
          <a:lstStyle/>
          <a:p>
            <a:endParaRPr lang="en-US"/>
          </a:p>
        </p:txBody>
      </p:sp>
      <p:sp>
        <p:nvSpPr>
          <p:cNvPr id="28" name="Text 26"/>
          <p:cNvSpPr/>
          <p:nvPr/>
        </p:nvSpPr>
        <p:spPr>
          <a:xfrm>
            <a:off x="4560570" y="261747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a</a:t>
            </a:r>
            <a:endParaRPr lang="en-US" sz="1700" dirty="0"/>
          </a:p>
        </p:txBody>
      </p:sp>
      <p:sp>
        <p:nvSpPr>
          <p:cNvPr id="29" name="Text 27"/>
          <p:cNvSpPr/>
          <p:nvPr/>
        </p:nvSpPr>
        <p:spPr>
          <a:xfrm>
            <a:off x="4560570" y="416052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e</a:t>
            </a:r>
            <a:endParaRPr lang="en-US" sz="1700" dirty="0"/>
          </a:p>
        </p:txBody>
      </p:sp>
      <p:sp>
        <p:nvSpPr>
          <p:cNvPr id="30" name="Text 28"/>
          <p:cNvSpPr/>
          <p:nvPr/>
        </p:nvSpPr>
        <p:spPr>
          <a:xfrm>
            <a:off x="6080760" y="227457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b</a:t>
            </a:r>
            <a:endParaRPr lang="en-US" sz="1700" dirty="0"/>
          </a:p>
        </p:txBody>
      </p:sp>
      <p:sp>
        <p:nvSpPr>
          <p:cNvPr id="31" name="Text 29"/>
          <p:cNvSpPr/>
          <p:nvPr/>
        </p:nvSpPr>
        <p:spPr>
          <a:xfrm>
            <a:off x="5337810" y="341757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c</a:t>
            </a:r>
            <a:endParaRPr lang="en-US" sz="1700" dirty="0"/>
          </a:p>
        </p:txBody>
      </p:sp>
      <p:sp>
        <p:nvSpPr>
          <p:cNvPr id="32" name="Text 30"/>
          <p:cNvSpPr/>
          <p:nvPr/>
        </p:nvSpPr>
        <p:spPr>
          <a:xfrm>
            <a:off x="6423660" y="330327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d</a:t>
            </a:r>
            <a:endParaRPr lang="en-US" sz="1700" dirty="0"/>
          </a:p>
        </p:txBody>
      </p:sp>
      <p:sp>
        <p:nvSpPr>
          <p:cNvPr id="33" name="Text 31"/>
          <p:cNvSpPr/>
          <p:nvPr/>
        </p:nvSpPr>
        <p:spPr>
          <a:xfrm>
            <a:off x="6023610" y="444627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f</a:t>
            </a:r>
            <a:endParaRPr lang="en-US" sz="1700" dirty="0"/>
          </a:p>
        </p:txBody>
      </p:sp>
      <p:sp>
        <p:nvSpPr>
          <p:cNvPr id="34" name="Text 32"/>
          <p:cNvSpPr/>
          <p:nvPr/>
        </p:nvSpPr>
        <p:spPr>
          <a:xfrm>
            <a:off x="7738110" y="3360420"/>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g</a:t>
            </a:r>
            <a:endParaRPr lang="en-US" sz="1700" dirty="0"/>
          </a:p>
        </p:txBody>
      </p:sp>
      <p:sp>
        <p:nvSpPr>
          <p:cNvPr id="35" name="Shape 33"/>
          <p:cNvSpPr/>
          <p:nvPr/>
        </p:nvSpPr>
        <p:spPr>
          <a:xfrm>
            <a:off x="548640" y="1920240"/>
            <a:ext cx="3200400" cy="1920240"/>
          </a:xfrm>
          <a:prstGeom prst="roundRect">
            <a:avLst>
              <a:gd name="adj" fmla="val 2381"/>
            </a:avLst>
          </a:prstGeom>
          <a:solidFill>
            <a:srgbClr val="EDF2FC"/>
          </a:solidFill>
          <a:ln w="12700">
            <a:solidFill>
              <a:srgbClr val="D6E1F5"/>
            </a:solidFill>
            <a:prstDash val="solid"/>
          </a:ln>
        </p:spPr>
        <p:txBody>
          <a:bodyPr/>
          <a:lstStyle/>
          <a:p>
            <a:endParaRPr lang="en-US"/>
          </a:p>
        </p:txBody>
      </p:sp>
      <p:sp>
        <p:nvSpPr>
          <p:cNvPr id="36" name="Text 34"/>
          <p:cNvSpPr/>
          <p:nvPr/>
        </p:nvSpPr>
        <p:spPr>
          <a:xfrm>
            <a:off x="777240" y="2057400"/>
            <a:ext cx="2743200" cy="292608"/>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The rule</a:t>
            </a:r>
            <a:endParaRPr lang="en-US" sz="1400" dirty="0"/>
          </a:p>
        </p:txBody>
      </p:sp>
      <p:sp>
        <p:nvSpPr>
          <p:cNvPr id="37" name="Text 35"/>
          <p:cNvSpPr/>
          <p:nvPr/>
        </p:nvSpPr>
        <p:spPr>
          <a:xfrm>
            <a:off x="777240" y="2395728"/>
            <a:ext cx="2743200" cy="128016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Two countries clash only if they share a stretch of border. Meeting at a single point doesn't count.</a:t>
            </a:r>
            <a:endParaRPr lang="en-US" sz="1250" dirty="0"/>
          </a:p>
        </p:txBody>
      </p:sp>
      <p:sp>
        <p:nvSpPr>
          <p:cNvPr id="38" name="Shape 36"/>
          <p:cNvSpPr/>
          <p:nvPr/>
        </p:nvSpPr>
        <p:spPr>
          <a:xfrm>
            <a:off x="548640" y="4069080"/>
            <a:ext cx="3200400" cy="1737360"/>
          </a:xfrm>
          <a:prstGeom prst="roundRect">
            <a:avLst>
              <a:gd name="adj" fmla="val 2632"/>
            </a:avLst>
          </a:prstGeom>
          <a:solidFill>
            <a:srgbClr val="FCF3E3"/>
          </a:solidFill>
          <a:ln w="12700">
            <a:solidFill>
              <a:srgbClr val="E8A33D"/>
            </a:solidFill>
            <a:prstDash val="solid"/>
          </a:ln>
        </p:spPr>
        <p:txBody>
          <a:bodyPr/>
          <a:lstStyle/>
          <a:p>
            <a:endParaRPr lang="en-US"/>
          </a:p>
        </p:txBody>
      </p:sp>
      <p:sp>
        <p:nvSpPr>
          <p:cNvPr id="39" name="Text 37"/>
          <p:cNvSpPr/>
          <p:nvPr/>
        </p:nvSpPr>
        <p:spPr>
          <a:xfrm>
            <a:off x="777240" y="4206240"/>
            <a:ext cx="2743200" cy="292608"/>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Try it</a:t>
            </a:r>
            <a:endParaRPr lang="en-US" sz="1400" dirty="0"/>
          </a:p>
        </p:txBody>
      </p:sp>
      <p:sp>
        <p:nvSpPr>
          <p:cNvPr id="40" name="Text 38"/>
          <p:cNvSpPr/>
          <p:nvPr/>
        </p:nvSpPr>
        <p:spPr>
          <a:xfrm>
            <a:off x="777240" y="4544568"/>
            <a:ext cx="2743200" cy="109728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Attempt a 3-colouring. Where does it break down — and can you say precisely why?</a:t>
            </a:r>
            <a:endParaRPr lang="en-US" sz="1250" dirty="0"/>
          </a:p>
        </p:txBody>
      </p:sp>
      <p:sp>
        <p:nvSpPr>
          <p:cNvPr id="41" name="Shape 39"/>
          <p:cNvSpPr/>
          <p:nvPr/>
        </p:nvSpPr>
        <p:spPr>
          <a:xfrm>
            <a:off x="8732520" y="1920240"/>
            <a:ext cx="2926080" cy="1600200"/>
          </a:xfrm>
          <a:prstGeom prst="roundRect">
            <a:avLst>
              <a:gd name="adj" fmla="val 2857"/>
            </a:avLst>
          </a:prstGeom>
          <a:solidFill>
            <a:srgbClr val="1E2761"/>
          </a:solidFill>
          <a:ln w="12700">
            <a:solidFill>
              <a:srgbClr val="1E2761"/>
            </a:solidFill>
            <a:prstDash val="solid"/>
          </a:ln>
        </p:spPr>
        <p:txBody>
          <a:bodyPr/>
          <a:lstStyle/>
          <a:p>
            <a:endParaRPr lang="en-US"/>
          </a:p>
        </p:txBody>
      </p:sp>
      <p:sp>
        <p:nvSpPr>
          <p:cNvPr id="42" name="Text 40"/>
          <p:cNvSpPr/>
          <p:nvPr/>
        </p:nvSpPr>
        <p:spPr>
          <a:xfrm>
            <a:off x="8961120" y="2057400"/>
            <a:ext cx="2468880" cy="292608"/>
          </a:xfrm>
          <a:prstGeom prst="rect">
            <a:avLst/>
          </a:prstGeom>
          <a:noFill/>
          <a:ln/>
        </p:spPr>
        <p:txBody>
          <a:bodyPr wrap="square" lIns="0" tIns="0" rIns="0" bIns="0" rtlCol="0" anchor="ctr"/>
          <a:lstStyle/>
          <a:p>
            <a:pPr marL="0" indent="0">
              <a:buNone/>
            </a:pPr>
            <a:r>
              <a:rPr lang="en-US" sz="1400" b="1" dirty="0">
                <a:solidFill>
                  <a:srgbClr val="E8A33D"/>
                </a:solidFill>
                <a:latin typeface="Cambria" pitchFamily="34" charset="0"/>
                <a:ea typeface="Cambria" pitchFamily="34" charset="-122"/>
                <a:cs typeface="Cambria" pitchFamily="34" charset="-120"/>
              </a:rPr>
              <a:t>Don't forget g</a:t>
            </a:r>
            <a:endParaRPr lang="en-US" sz="1400" dirty="0"/>
          </a:p>
        </p:txBody>
      </p:sp>
      <p:sp>
        <p:nvSpPr>
          <p:cNvPr id="43" name="Text 41"/>
          <p:cNvSpPr/>
          <p:nvPr/>
        </p:nvSpPr>
        <p:spPr>
          <a:xfrm>
            <a:off x="8961120" y="2395728"/>
            <a:ext cx="2468880" cy="1005840"/>
          </a:xfrm>
          <a:prstGeom prst="rect">
            <a:avLst/>
          </a:prstGeom>
          <a:noFill/>
          <a:ln/>
        </p:spPr>
        <p:txBody>
          <a:bodyPr wrap="square" lIns="0" tIns="0" rIns="0" bIns="0" rtlCol="0" anchor="t"/>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g is a country too — it wraps around everything else, so it borders almost all of them.</a:t>
            </a:r>
            <a:endParaRPr lang="en-US" sz="1250" dirty="0"/>
          </a:p>
        </p:txBody>
      </p:sp>
      <p:sp>
        <p:nvSpPr>
          <p:cNvPr id="44" name="Text 42"/>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45" name="Text 43"/>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 (b)</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Reduce it to a graph-colouring problem</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The picture stops mattering — only the adjacency does</a:t>
            </a:r>
            <a:endParaRPr lang="en-US" sz="1350" dirty="0"/>
          </a:p>
        </p:txBody>
      </p:sp>
      <p:sp>
        <p:nvSpPr>
          <p:cNvPr id="6" name="Shape 4"/>
          <p:cNvSpPr/>
          <p:nvPr/>
        </p:nvSpPr>
        <p:spPr>
          <a:xfrm>
            <a:off x="548640" y="1371600"/>
            <a:ext cx="3931920" cy="4572000"/>
          </a:xfrm>
          <a:prstGeom prst="roundRect">
            <a:avLst>
              <a:gd name="adj" fmla="val 1163"/>
            </a:avLst>
          </a:prstGeom>
          <a:solidFill>
            <a:srgbClr val="EDF2FC"/>
          </a:solidFill>
          <a:ln w="12700">
            <a:solidFill>
              <a:srgbClr val="D6E1F5"/>
            </a:solidFill>
            <a:prstDash val="solid"/>
          </a:ln>
        </p:spPr>
        <p:txBody>
          <a:bodyPr/>
          <a:lstStyle/>
          <a:p>
            <a:endParaRPr lang="en-US"/>
          </a:p>
        </p:txBody>
      </p:sp>
      <p:sp>
        <p:nvSpPr>
          <p:cNvPr id="7" name="Text 5"/>
          <p:cNvSpPr/>
          <p:nvPr/>
        </p:nvSpPr>
        <p:spPr>
          <a:xfrm>
            <a:off x="822960" y="1536192"/>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The reduction</a:t>
            </a:r>
            <a:endParaRPr lang="en-US" sz="1500" dirty="0"/>
          </a:p>
        </p:txBody>
      </p:sp>
      <p:sp>
        <p:nvSpPr>
          <p:cNvPr id="8" name="Text 6"/>
          <p:cNvSpPr/>
          <p:nvPr/>
        </p:nvSpPr>
        <p:spPr>
          <a:xfrm>
            <a:off x="822960" y="1874520"/>
            <a:ext cx="3383280" cy="1691640"/>
          </a:xfrm>
          <a:prstGeom prst="rect">
            <a:avLst/>
          </a:prstGeom>
          <a:noFill/>
          <a:ln/>
        </p:spPr>
        <p:txBody>
          <a:bodyPr wrap="square" lIns="0" tIns="0" rIns="0" bIns="0" rtlCol="0" anchor="t"/>
          <a:lstStyle/>
          <a:p>
            <a:pPr marL="0" indent="0">
              <a:lnSpc>
                <a:spcPct val="115000"/>
              </a:lnSpc>
              <a:spcAft>
                <a:spcPts val="600"/>
              </a:spcAft>
              <a:buNone/>
            </a:pPr>
            <a:r>
              <a:rPr lang="en-US" sz="1250" dirty="0">
                <a:solidFill>
                  <a:srgbClr val="23293F"/>
                </a:solidFill>
                <a:latin typeface="Calibri" pitchFamily="34" charset="0"/>
                <a:ea typeface="Calibri" pitchFamily="34" charset="-122"/>
                <a:cs typeface="Calibri" pitchFamily="34" charset="-120"/>
              </a:rPr>
              <a:t>One vertex per country. One edge between two vertices exactly when the countries share a border.</a:t>
            </a:r>
            <a:endParaRPr lang="en-US" sz="1250" dirty="0"/>
          </a:p>
          <a:p>
            <a:pPr marL="0" indent="0">
              <a:lnSpc>
                <a:spcPct val="115000"/>
              </a:lnSpc>
              <a:spcAft>
                <a:spcPts val="600"/>
              </a:spcAft>
              <a:buNone/>
            </a:pPr>
            <a:r>
              <a:rPr lang="en-US" sz="1250" dirty="0">
                <a:solidFill>
                  <a:srgbClr val="23293F"/>
                </a:solidFill>
                <a:latin typeface="Calibri" pitchFamily="34" charset="0"/>
                <a:ea typeface="Calibri" pitchFamily="34" charset="-122"/>
                <a:cs typeface="Calibri" pitchFamily="34" charset="-120"/>
              </a:rPr>
              <a:t>Colouring the map = assigning a colour to each vertex so that no edge joins two vertices of the same colour. The fewest colours needed is the graph's chromatic number.</a:t>
            </a:r>
            <a:endParaRPr lang="en-US" sz="1250" dirty="0"/>
          </a:p>
        </p:txBody>
      </p:sp>
      <p:sp>
        <p:nvSpPr>
          <p:cNvPr id="9" name="Text 7"/>
          <p:cNvSpPr/>
          <p:nvPr/>
        </p:nvSpPr>
        <p:spPr>
          <a:xfrm>
            <a:off x="822960" y="3611880"/>
            <a:ext cx="3383280" cy="292608"/>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Adjacencies</a:t>
            </a:r>
            <a:endParaRPr lang="en-US" sz="1500" dirty="0"/>
          </a:p>
        </p:txBody>
      </p:sp>
      <p:sp>
        <p:nvSpPr>
          <p:cNvPr id="10" name="Text 8"/>
          <p:cNvSpPr/>
          <p:nvPr/>
        </p:nvSpPr>
        <p:spPr>
          <a:xfrm>
            <a:off x="822960" y="3950208"/>
            <a:ext cx="3383280" cy="1508760"/>
          </a:xfrm>
          <a:prstGeom prst="rect">
            <a:avLst/>
          </a:prstGeom>
          <a:noFill/>
          <a:ln/>
        </p:spPr>
        <p:txBody>
          <a:bodyPr wrap="square" lIns="0" tIns="0" rIns="0" bIns="0" rtlCol="0" anchor="t"/>
          <a:lstStyle/>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a : b, c, e, g</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b : a, c, d, g</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c : a, b, d, e, f</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d : b, c, f, g</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e : a, c, f, g</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f : c, d, e, g</a:t>
            </a:r>
            <a:endParaRPr lang="en-US" sz="1250" dirty="0"/>
          </a:p>
          <a:p>
            <a:pPr marL="0" indent="0">
              <a:lnSpc>
                <a:spcPct val="114000"/>
              </a:lnSpc>
              <a:buNone/>
            </a:pPr>
            <a:r>
              <a:rPr lang="en-US" sz="1250" dirty="0">
                <a:solidFill>
                  <a:srgbClr val="23293F"/>
                </a:solidFill>
                <a:latin typeface="Courier New" pitchFamily="34" charset="0"/>
                <a:ea typeface="Courier New" pitchFamily="34" charset="-122"/>
                <a:cs typeface="Courier New" pitchFamily="34" charset="-120"/>
              </a:rPr>
              <a:t>g : a, b, d, e, f</a:t>
            </a:r>
            <a:endParaRPr lang="en-US" sz="1250" dirty="0"/>
          </a:p>
        </p:txBody>
      </p:sp>
      <p:sp>
        <p:nvSpPr>
          <p:cNvPr id="11" name="Text 9"/>
          <p:cNvSpPr/>
          <p:nvPr/>
        </p:nvSpPr>
        <p:spPr>
          <a:xfrm>
            <a:off x="822960" y="5559552"/>
            <a:ext cx="3383280" cy="274320"/>
          </a:xfrm>
          <a:prstGeom prst="rect">
            <a:avLst/>
          </a:prstGeom>
          <a:noFill/>
          <a:ln/>
        </p:spPr>
        <p:txBody>
          <a:bodyPr wrap="square" lIns="0" tIns="0" rIns="0" bIns="0" rtlCol="0" anchor="ctr"/>
          <a:lstStyle/>
          <a:p>
            <a:pPr marL="0" indent="0">
              <a:buNone/>
            </a:pPr>
            <a:r>
              <a:rPr lang="en-US" sz="1150" i="1" dirty="0">
                <a:solidFill>
                  <a:srgbClr val="6E7891"/>
                </a:solidFill>
                <a:latin typeface="Calibri" pitchFamily="34" charset="0"/>
                <a:ea typeface="Calibri" pitchFamily="34" charset="-122"/>
                <a:cs typeface="Calibri" pitchFamily="34" charset="-120"/>
              </a:rPr>
              <a:t>7 vertices, 15 edges — and it's planar</a:t>
            </a:r>
            <a:endParaRPr lang="en-US" sz="1150" dirty="0"/>
          </a:p>
        </p:txBody>
      </p:sp>
      <p:sp>
        <p:nvSpPr>
          <p:cNvPr id="12" name="Shape 10"/>
          <p:cNvSpPr/>
          <p:nvPr/>
        </p:nvSpPr>
        <p:spPr>
          <a:xfrm>
            <a:off x="5166360" y="2103120"/>
            <a:ext cx="5943600" cy="0"/>
          </a:xfrm>
          <a:prstGeom prst="line">
            <a:avLst/>
          </a:prstGeom>
          <a:noFill/>
          <a:ln w="28575">
            <a:solidFill>
              <a:srgbClr val="1E2761"/>
            </a:solidFill>
            <a:prstDash val="solid"/>
          </a:ln>
        </p:spPr>
        <p:txBody>
          <a:bodyPr/>
          <a:lstStyle/>
          <a:p>
            <a:endParaRPr lang="en-US"/>
          </a:p>
        </p:txBody>
      </p:sp>
      <p:sp>
        <p:nvSpPr>
          <p:cNvPr id="13" name="Shape 11"/>
          <p:cNvSpPr/>
          <p:nvPr/>
        </p:nvSpPr>
        <p:spPr>
          <a:xfrm flipV="1">
            <a:off x="9326880" y="2103120"/>
            <a:ext cx="1783080" cy="1389888"/>
          </a:xfrm>
          <a:prstGeom prst="line">
            <a:avLst/>
          </a:prstGeom>
          <a:noFill/>
          <a:ln w="28575">
            <a:solidFill>
              <a:srgbClr val="1E2761"/>
            </a:solidFill>
            <a:prstDash val="solid"/>
          </a:ln>
        </p:spPr>
        <p:txBody>
          <a:bodyPr/>
          <a:lstStyle/>
          <a:p>
            <a:endParaRPr lang="en-US"/>
          </a:p>
        </p:txBody>
      </p:sp>
      <p:sp>
        <p:nvSpPr>
          <p:cNvPr id="14" name="Shape 12"/>
          <p:cNvSpPr/>
          <p:nvPr/>
        </p:nvSpPr>
        <p:spPr>
          <a:xfrm flipV="1">
            <a:off x="8138160" y="3493008"/>
            <a:ext cx="1188720" cy="457200"/>
          </a:xfrm>
          <a:prstGeom prst="line">
            <a:avLst/>
          </a:prstGeom>
          <a:noFill/>
          <a:ln w="28575">
            <a:solidFill>
              <a:srgbClr val="1E2761"/>
            </a:solidFill>
            <a:prstDash val="solid"/>
          </a:ln>
        </p:spPr>
        <p:txBody>
          <a:bodyPr/>
          <a:lstStyle/>
          <a:p>
            <a:endParaRPr lang="en-US"/>
          </a:p>
        </p:txBody>
      </p:sp>
      <p:sp>
        <p:nvSpPr>
          <p:cNvPr id="15" name="Shape 13"/>
          <p:cNvSpPr/>
          <p:nvPr/>
        </p:nvSpPr>
        <p:spPr>
          <a:xfrm>
            <a:off x="6949440" y="3493008"/>
            <a:ext cx="1188720" cy="457200"/>
          </a:xfrm>
          <a:prstGeom prst="line">
            <a:avLst/>
          </a:prstGeom>
          <a:noFill/>
          <a:ln w="28575">
            <a:solidFill>
              <a:srgbClr val="1E2761"/>
            </a:solidFill>
            <a:prstDash val="solid"/>
          </a:ln>
        </p:spPr>
        <p:txBody>
          <a:bodyPr/>
          <a:lstStyle/>
          <a:p>
            <a:endParaRPr lang="en-US"/>
          </a:p>
        </p:txBody>
      </p:sp>
      <p:sp>
        <p:nvSpPr>
          <p:cNvPr id="16" name="Shape 14"/>
          <p:cNvSpPr/>
          <p:nvPr/>
        </p:nvSpPr>
        <p:spPr>
          <a:xfrm>
            <a:off x="5166360" y="2103120"/>
            <a:ext cx="1783080" cy="1389888"/>
          </a:xfrm>
          <a:prstGeom prst="line">
            <a:avLst/>
          </a:prstGeom>
          <a:noFill/>
          <a:ln w="28575">
            <a:solidFill>
              <a:srgbClr val="1E2761"/>
            </a:solidFill>
            <a:prstDash val="solid"/>
          </a:ln>
        </p:spPr>
        <p:txBody>
          <a:bodyPr/>
          <a:lstStyle/>
          <a:p>
            <a:endParaRPr lang="en-US"/>
          </a:p>
        </p:txBody>
      </p:sp>
      <p:sp>
        <p:nvSpPr>
          <p:cNvPr id="17" name="Shape 15"/>
          <p:cNvSpPr/>
          <p:nvPr/>
        </p:nvSpPr>
        <p:spPr>
          <a:xfrm>
            <a:off x="5166360" y="2103120"/>
            <a:ext cx="2971800" cy="896112"/>
          </a:xfrm>
          <a:prstGeom prst="line">
            <a:avLst/>
          </a:prstGeom>
          <a:noFill/>
          <a:ln w="19050">
            <a:solidFill>
              <a:srgbClr val="3A5BA0"/>
            </a:solidFill>
            <a:prstDash val="solid"/>
          </a:ln>
        </p:spPr>
        <p:txBody>
          <a:bodyPr/>
          <a:lstStyle/>
          <a:p>
            <a:endParaRPr lang="en-US"/>
          </a:p>
        </p:txBody>
      </p:sp>
      <p:sp>
        <p:nvSpPr>
          <p:cNvPr id="18" name="Shape 16"/>
          <p:cNvSpPr/>
          <p:nvPr/>
        </p:nvSpPr>
        <p:spPr>
          <a:xfrm flipV="1">
            <a:off x="8138160" y="2103120"/>
            <a:ext cx="2971800" cy="896112"/>
          </a:xfrm>
          <a:prstGeom prst="line">
            <a:avLst/>
          </a:prstGeom>
          <a:noFill/>
          <a:ln w="19050">
            <a:solidFill>
              <a:srgbClr val="3A5BA0"/>
            </a:solidFill>
            <a:prstDash val="solid"/>
          </a:ln>
        </p:spPr>
        <p:txBody>
          <a:bodyPr/>
          <a:lstStyle/>
          <a:p>
            <a:endParaRPr lang="en-US"/>
          </a:p>
        </p:txBody>
      </p:sp>
      <p:sp>
        <p:nvSpPr>
          <p:cNvPr id="19" name="Shape 17"/>
          <p:cNvSpPr/>
          <p:nvPr/>
        </p:nvSpPr>
        <p:spPr>
          <a:xfrm>
            <a:off x="8138160" y="2999232"/>
            <a:ext cx="1188720" cy="493776"/>
          </a:xfrm>
          <a:prstGeom prst="line">
            <a:avLst/>
          </a:prstGeom>
          <a:noFill/>
          <a:ln w="19050">
            <a:solidFill>
              <a:srgbClr val="3A5BA0"/>
            </a:solidFill>
            <a:prstDash val="solid"/>
          </a:ln>
        </p:spPr>
        <p:txBody>
          <a:bodyPr/>
          <a:lstStyle/>
          <a:p>
            <a:endParaRPr lang="en-US"/>
          </a:p>
        </p:txBody>
      </p:sp>
      <p:sp>
        <p:nvSpPr>
          <p:cNvPr id="20" name="Shape 18"/>
          <p:cNvSpPr/>
          <p:nvPr/>
        </p:nvSpPr>
        <p:spPr>
          <a:xfrm>
            <a:off x="8138160" y="2999232"/>
            <a:ext cx="0" cy="950976"/>
          </a:xfrm>
          <a:prstGeom prst="line">
            <a:avLst/>
          </a:prstGeom>
          <a:noFill/>
          <a:ln w="19050">
            <a:solidFill>
              <a:srgbClr val="3A5BA0"/>
            </a:solidFill>
            <a:prstDash val="solid"/>
          </a:ln>
        </p:spPr>
        <p:txBody>
          <a:bodyPr/>
          <a:lstStyle/>
          <a:p>
            <a:endParaRPr lang="en-US"/>
          </a:p>
        </p:txBody>
      </p:sp>
      <p:sp>
        <p:nvSpPr>
          <p:cNvPr id="21" name="Shape 19"/>
          <p:cNvSpPr/>
          <p:nvPr/>
        </p:nvSpPr>
        <p:spPr>
          <a:xfrm flipV="1">
            <a:off x="6949440" y="2999232"/>
            <a:ext cx="1188720" cy="493776"/>
          </a:xfrm>
          <a:prstGeom prst="line">
            <a:avLst/>
          </a:prstGeom>
          <a:noFill/>
          <a:ln w="19050">
            <a:solidFill>
              <a:srgbClr val="3A5BA0"/>
            </a:solidFill>
            <a:prstDash val="solid"/>
          </a:ln>
        </p:spPr>
        <p:txBody>
          <a:bodyPr/>
          <a:lstStyle/>
          <a:p>
            <a:endParaRPr lang="en-US"/>
          </a:p>
        </p:txBody>
      </p:sp>
      <p:sp>
        <p:nvSpPr>
          <p:cNvPr id="22" name="Shape 20"/>
          <p:cNvSpPr/>
          <p:nvPr/>
        </p:nvSpPr>
        <p:spPr>
          <a:xfrm>
            <a:off x="5166360" y="2103120"/>
            <a:ext cx="2971800" cy="3337560"/>
          </a:xfrm>
          <a:prstGeom prst="line">
            <a:avLst/>
          </a:prstGeom>
          <a:noFill/>
          <a:ln w="19050">
            <a:solidFill>
              <a:srgbClr val="3A5BA0"/>
            </a:solidFill>
            <a:prstDash val="solid"/>
          </a:ln>
        </p:spPr>
        <p:txBody>
          <a:bodyPr/>
          <a:lstStyle/>
          <a:p>
            <a:endParaRPr lang="en-US"/>
          </a:p>
        </p:txBody>
      </p:sp>
      <p:sp>
        <p:nvSpPr>
          <p:cNvPr id="23" name="Shape 21"/>
          <p:cNvSpPr/>
          <p:nvPr/>
        </p:nvSpPr>
        <p:spPr>
          <a:xfrm flipV="1">
            <a:off x="8138160" y="2103120"/>
            <a:ext cx="2971800" cy="3337560"/>
          </a:xfrm>
          <a:prstGeom prst="line">
            <a:avLst/>
          </a:prstGeom>
          <a:noFill/>
          <a:ln w="19050">
            <a:solidFill>
              <a:srgbClr val="3A5BA0"/>
            </a:solidFill>
            <a:prstDash val="solid"/>
          </a:ln>
        </p:spPr>
        <p:txBody>
          <a:bodyPr/>
          <a:lstStyle/>
          <a:p>
            <a:endParaRPr lang="en-US"/>
          </a:p>
        </p:txBody>
      </p:sp>
      <p:sp>
        <p:nvSpPr>
          <p:cNvPr id="24" name="Shape 22"/>
          <p:cNvSpPr/>
          <p:nvPr/>
        </p:nvSpPr>
        <p:spPr>
          <a:xfrm flipV="1">
            <a:off x="8138160" y="3493008"/>
            <a:ext cx="1188720" cy="1947672"/>
          </a:xfrm>
          <a:prstGeom prst="line">
            <a:avLst/>
          </a:prstGeom>
          <a:noFill/>
          <a:ln w="19050">
            <a:solidFill>
              <a:srgbClr val="3A5BA0"/>
            </a:solidFill>
            <a:prstDash val="solid"/>
          </a:ln>
        </p:spPr>
        <p:txBody>
          <a:bodyPr/>
          <a:lstStyle/>
          <a:p>
            <a:endParaRPr lang="en-US"/>
          </a:p>
        </p:txBody>
      </p:sp>
      <p:sp>
        <p:nvSpPr>
          <p:cNvPr id="25" name="Shape 23"/>
          <p:cNvSpPr/>
          <p:nvPr/>
        </p:nvSpPr>
        <p:spPr>
          <a:xfrm>
            <a:off x="8138160" y="3950208"/>
            <a:ext cx="0" cy="1490472"/>
          </a:xfrm>
          <a:prstGeom prst="line">
            <a:avLst/>
          </a:prstGeom>
          <a:noFill/>
          <a:ln w="19050">
            <a:solidFill>
              <a:srgbClr val="3A5BA0"/>
            </a:solidFill>
            <a:prstDash val="solid"/>
          </a:ln>
        </p:spPr>
        <p:txBody>
          <a:bodyPr/>
          <a:lstStyle/>
          <a:p>
            <a:endParaRPr lang="en-US"/>
          </a:p>
        </p:txBody>
      </p:sp>
      <p:sp>
        <p:nvSpPr>
          <p:cNvPr id="26" name="Shape 24"/>
          <p:cNvSpPr/>
          <p:nvPr/>
        </p:nvSpPr>
        <p:spPr>
          <a:xfrm>
            <a:off x="6949440" y="3493008"/>
            <a:ext cx="1188720" cy="1947672"/>
          </a:xfrm>
          <a:prstGeom prst="line">
            <a:avLst/>
          </a:prstGeom>
          <a:noFill/>
          <a:ln w="19050">
            <a:solidFill>
              <a:srgbClr val="3A5BA0"/>
            </a:solidFill>
            <a:prstDash val="solid"/>
          </a:ln>
        </p:spPr>
        <p:txBody>
          <a:bodyPr/>
          <a:lstStyle/>
          <a:p>
            <a:endParaRPr lang="en-US"/>
          </a:p>
        </p:txBody>
      </p:sp>
      <p:sp>
        <p:nvSpPr>
          <p:cNvPr id="27" name="Shape 25"/>
          <p:cNvSpPr/>
          <p:nvPr/>
        </p:nvSpPr>
        <p:spPr>
          <a:xfrm>
            <a:off x="4892040" y="1828800"/>
            <a:ext cx="548640" cy="548640"/>
          </a:xfrm>
          <a:prstGeom prst="ellipse">
            <a:avLst/>
          </a:prstGeom>
          <a:solidFill>
            <a:srgbClr val="FFFFFF"/>
          </a:solidFill>
          <a:ln w="22225">
            <a:solidFill>
              <a:srgbClr val="1E2761"/>
            </a:solidFill>
            <a:prstDash val="solid"/>
          </a:ln>
        </p:spPr>
        <p:txBody>
          <a:bodyPr/>
          <a:lstStyle/>
          <a:p>
            <a:endParaRPr lang="en-US"/>
          </a:p>
        </p:txBody>
      </p:sp>
      <p:sp>
        <p:nvSpPr>
          <p:cNvPr id="28" name="Text 26"/>
          <p:cNvSpPr/>
          <p:nvPr/>
        </p:nvSpPr>
        <p:spPr>
          <a:xfrm>
            <a:off x="4892040" y="1828800"/>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a</a:t>
            </a:r>
            <a:endParaRPr lang="en-US" sz="1500" dirty="0"/>
          </a:p>
        </p:txBody>
      </p:sp>
      <p:sp>
        <p:nvSpPr>
          <p:cNvPr id="29" name="Shape 27"/>
          <p:cNvSpPr/>
          <p:nvPr/>
        </p:nvSpPr>
        <p:spPr>
          <a:xfrm>
            <a:off x="10835640" y="1828800"/>
            <a:ext cx="548640" cy="548640"/>
          </a:xfrm>
          <a:prstGeom prst="ellipse">
            <a:avLst/>
          </a:prstGeom>
          <a:solidFill>
            <a:srgbClr val="FFFFFF"/>
          </a:solidFill>
          <a:ln w="22225">
            <a:solidFill>
              <a:srgbClr val="1E2761"/>
            </a:solidFill>
            <a:prstDash val="solid"/>
          </a:ln>
        </p:spPr>
        <p:txBody>
          <a:bodyPr/>
          <a:lstStyle/>
          <a:p>
            <a:endParaRPr lang="en-US"/>
          </a:p>
        </p:txBody>
      </p:sp>
      <p:sp>
        <p:nvSpPr>
          <p:cNvPr id="30" name="Text 28"/>
          <p:cNvSpPr/>
          <p:nvPr/>
        </p:nvSpPr>
        <p:spPr>
          <a:xfrm>
            <a:off x="10835640" y="1828800"/>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b</a:t>
            </a:r>
            <a:endParaRPr lang="en-US" sz="1500" dirty="0"/>
          </a:p>
        </p:txBody>
      </p:sp>
      <p:sp>
        <p:nvSpPr>
          <p:cNvPr id="31" name="Shape 29"/>
          <p:cNvSpPr/>
          <p:nvPr/>
        </p:nvSpPr>
        <p:spPr>
          <a:xfrm>
            <a:off x="7863840" y="2724912"/>
            <a:ext cx="548640" cy="548640"/>
          </a:xfrm>
          <a:prstGeom prst="ellipse">
            <a:avLst/>
          </a:prstGeom>
          <a:solidFill>
            <a:srgbClr val="FFFFFF"/>
          </a:solidFill>
          <a:ln w="22225">
            <a:solidFill>
              <a:srgbClr val="1E2761"/>
            </a:solidFill>
            <a:prstDash val="solid"/>
          </a:ln>
        </p:spPr>
        <p:txBody>
          <a:bodyPr/>
          <a:lstStyle/>
          <a:p>
            <a:endParaRPr lang="en-US"/>
          </a:p>
        </p:txBody>
      </p:sp>
      <p:sp>
        <p:nvSpPr>
          <p:cNvPr id="32" name="Text 30"/>
          <p:cNvSpPr/>
          <p:nvPr/>
        </p:nvSpPr>
        <p:spPr>
          <a:xfrm>
            <a:off x="7863840" y="2724912"/>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c</a:t>
            </a:r>
            <a:endParaRPr lang="en-US" sz="1500" dirty="0"/>
          </a:p>
        </p:txBody>
      </p:sp>
      <p:sp>
        <p:nvSpPr>
          <p:cNvPr id="33" name="Shape 31"/>
          <p:cNvSpPr/>
          <p:nvPr/>
        </p:nvSpPr>
        <p:spPr>
          <a:xfrm>
            <a:off x="6675120" y="3218688"/>
            <a:ext cx="548640" cy="548640"/>
          </a:xfrm>
          <a:prstGeom prst="ellipse">
            <a:avLst/>
          </a:prstGeom>
          <a:solidFill>
            <a:srgbClr val="FFFFFF"/>
          </a:solidFill>
          <a:ln w="22225">
            <a:solidFill>
              <a:srgbClr val="1E2761"/>
            </a:solidFill>
            <a:prstDash val="solid"/>
          </a:ln>
        </p:spPr>
        <p:txBody>
          <a:bodyPr/>
          <a:lstStyle/>
          <a:p>
            <a:endParaRPr lang="en-US"/>
          </a:p>
        </p:txBody>
      </p:sp>
      <p:sp>
        <p:nvSpPr>
          <p:cNvPr id="34" name="Text 32"/>
          <p:cNvSpPr/>
          <p:nvPr/>
        </p:nvSpPr>
        <p:spPr>
          <a:xfrm>
            <a:off x="6675120" y="3218688"/>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e</a:t>
            </a:r>
            <a:endParaRPr lang="en-US" sz="1500" dirty="0"/>
          </a:p>
        </p:txBody>
      </p:sp>
      <p:sp>
        <p:nvSpPr>
          <p:cNvPr id="35" name="Shape 33"/>
          <p:cNvSpPr/>
          <p:nvPr/>
        </p:nvSpPr>
        <p:spPr>
          <a:xfrm>
            <a:off x="9052560" y="3218688"/>
            <a:ext cx="548640" cy="548640"/>
          </a:xfrm>
          <a:prstGeom prst="ellipse">
            <a:avLst/>
          </a:prstGeom>
          <a:solidFill>
            <a:srgbClr val="FFFFFF"/>
          </a:solidFill>
          <a:ln w="22225">
            <a:solidFill>
              <a:srgbClr val="1E2761"/>
            </a:solidFill>
            <a:prstDash val="solid"/>
          </a:ln>
        </p:spPr>
        <p:txBody>
          <a:bodyPr/>
          <a:lstStyle/>
          <a:p>
            <a:endParaRPr lang="en-US"/>
          </a:p>
        </p:txBody>
      </p:sp>
      <p:sp>
        <p:nvSpPr>
          <p:cNvPr id="36" name="Text 34"/>
          <p:cNvSpPr/>
          <p:nvPr/>
        </p:nvSpPr>
        <p:spPr>
          <a:xfrm>
            <a:off x="9052560" y="3218688"/>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d</a:t>
            </a:r>
            <a:endParaRPr lang="en-US" sz="1500" dirty="0"/>
          </a:p>
        </p:txBody>
      </p:sp>
      <p:sp>
        <p:nvSpPr>
          <p:cNvPr id="37" name="Shape 35"/>
          <p:cNvSpPr/>
          <p:nvPr/>
        </p:nvSpPr>
        <p:spPr>
          <a:xfrm>
            <a:off x="7863840" y="3675888"/>
            <a:ext cx="548640" cy="548640"/>
          </a:xfrm>
          <a:prstGeom prst="ellipse">
            <a:avLst/>
          </a:prstGeom>
          <a:solidFill>
            <a:srgbClr val="FFFFFF"/>
          </a:solidFill>
          <a:ln w="22225">
            <a:solidFill>
              <a:srgbClr val="1E2761"/>
            </a:solidFill>
            <a:prstDash val="solid"/>
          </a:ln>
        </p:spPr>
        <p:txBody>
          <a:bodyPr/>
          <a:lstStyle/>
          <a:p>
            <a:endParaRPr lang="en-US"/>
          </a:p>
        </p:txBody>
      </p:sp>
      <p:sp>
        <p:nvSpPr>
          <p:cNvPr id="38" name="Text 36"/>
          <p:cNvSpPr/>
          <p:nvPr/>
        </p:nvSpPr>
        <p:spPr>
          <a:xfrm>
            <a:off x="7863840" y="3675888"/>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f</a:t>
            </a:r>
            <a:endParaRPr lang="en-US" sz="1500" dirty="0"/>
          </a:p>
        </p:txBody>
      </p:sp>
      <p:sp>
        <p:nvSpPr>
          <p:cNvPr id="39" name="Shape 37"/>
          <p:cNvSpPr/>
          <p:nvPr/>
        </p:nvSpPr>
        <p:spPr>
          <a:xfrm>
            <a:off x="7863840" y="5166360"/>
            <a:ext cx="548640" cy="548640"/>
          </a:xfrm>
          <a:prstGeom prst="ellipse">
            <a:avLst/>
          </a:prstGeom>
          <a:solidFill>
            <a:srgbClr val="FFFFFF"/>
          </a:solidFill>
          <a:ln w="22225">
            <a:solidFill>
              <a:srgbClr val="1E2761"/>
            </a:solidFill>
            <a:prstDash val="solid"/>
          </a:ln>
        </p:spPr>
        <p:txBody>
          <a:bodyPr/>
          <a:lstStyle/>
          <a:p>
            <a:endParaRPr lang="en-US"/>
          </a:p>
        </p:txBody>
      </p:sp>
      <p:sp>
        <p:nvSpPr>
          <p:cNvPr id="40" name="Text 38"/>
          <p:cNvSpPr/>
          <p:nvPr/>
        </p:nvSpPr>
        <p:spPr>
          <a:xfrm>
            <a:off x="7863840" y="5166360"/>
            <a:ext cx="548640" cy="548640"/>
          </a:xfrm>
          <a:prstGeom prst="rect">
            <a:avLst/>
          </a:prstGeom>
          <a:noFill/>
          <a:ln/>
        </p:spPr>
        <p:txBody>
          <a:bodyPr wrap="square" lIns="0" tIns="0" rIns="0" bIns="0"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g</a:t>
            </a:r>
            <a:endParaRPr lang="en-US" sz="1500" dirty="0"/>
          </a:p>
        </p:txBody>
      </p:sp>
      <p:sp>
        <p:nvSpPr>
          <p:cNvPr id="41" name="Text 39"/>
          <p:cNvSpPr/>
          <p:nvPr/>
        </p:nvSpPr>
        <p:spPr>
          <a:xfrm>
            <a:off x="4754880" y="5870448"/>
            <a:ext cx="6858000" cy="27432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the 5-cycle  a – b – d – f – e – a</a:t>
            </a:r>
            <a:endParaRPr lang="en-US" sz="1200" dirty="0"/>
          </a:p>
        </p:txBody>
      </p:sp>
      <p:sp>
        <p:nvSpPr>
          <p:cNvPr id="42" name="Text 40"/>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43" name="Text 41"/>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02336"/>
            <a:ext cx="1051560" cy="384048"/>
          </a:xfrm>
          <a:prstGeom prst="roundRect">
            <a:avLst>
              <a:gd name="adj" fmla="val 21429"/>
            </a:avLst>
          </a:prstGeom>
          <a:solidFill>
            <a:srgbClr val="1E2761"/>
          </a:solidFill>
          <a:ln/>
        </p:spPr>
        <p:txBody>
          <a:bodyPr/>
          <a:lstStyle/>
          <a:p>
            <a:endParaRPr lang="en-US"/>
          </a:p>
        </p:txBody>
      </p:sp>
      <p:sp>
        <p:nvSpPr>
          <p:cNvPr id="3" name="Text 1"/>
          <p:cNvSpPr/>
          <p:nvPr/>
        </p:nvSpPr>
        <p:spPr>
          <a:xfrm>
            <a:off x="548640" y="402336"/>
            <a:ext cx="105156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Q4</a:t>
            </a:r>
            <a:endParaRPr lang="en-US" sz="1300" dirty="0"/>
          </a:p>
        </p:txBody>
      </p:sp>
      <p:sp>
        <p:nvSpPr>
          <p:cNvPr id="4" name="Text 2"/>
          <p:cNvSpPr/>
          <p:nvPr/>
        </p:nvSpPr>
        <p:spPr>
          <a:xfrm>
            <a:off x="1783080" y="365760"/>
            <a:ext cx="9859975" cy="457200"/>
          </a:xfrm>
          <a:prstGeom prst="rect">
            <a:avLst/>
          </a:prstGeom>
          <a:noFill/>
          <a:ln/>
        </p:spPr>
        <p:txBody>
          <a:bodyPr wrap="square" lIns="0" tIns="0" rIns="0" bIns="0" rtlCol="0" anchor="ctr"/>
          <a:lstStyle/>
          <a:p>
            <a:pPr marL="0" indent="0">
              <a:buNone/>
            </a:pPr>
            <a:r>
              <a:rPr lang="en-US" sz="2900" b="1" dirty="0">
                <a:solidFill>
                  <a:srgbClr val="1E2761"/>
                </a:solidFill>
                <a:latin typeface="Cambria" pitchFamily="34" charset="0"/>
                <a:ea typeface="Cambria" pitchFamily="34" charset="-122"/>
                <a:cs typeface="Cambria" pitchFamily="34" charset="-120"/>
              </a:rPr>
              <a:t>Four colours — and three provably won't do</a:t>
            </a:r>
            <a:endParaRPr lang="en-US" sz="2900" dirty="0"/>
          </a:p>
        </p:txBody>
      </p:sp>
      <p:sp>
        <p:nvSpPr>
          <p:cNvPr id="5" name="Text 3"/>
          <p:cNvSpPr/>
          <p:nvPr/>
        </p:nvSpPr>
        <p:spPr>
          <a:xfrm>
            <a:off x="1783080" y="868680"/>
            <a:ext cx="9859975" cy="310896"/>
          </a:xfrm>
          <a:prstGeom prst="rect">
            <a:avLst/>
          </a:prstGeom>
          <a:noFill/>
          <a:ln/>
        </p:spPr>
        <p:txBody>
          <a:bodyPr wrap="square" lIns="0" tIns="0" rIns="0" bIns="0" rtlCol="0" anchor="ctr"/>
          <a:lstStyle/>
          <a:p>
            <a:pPr marL="0" indent="0">
              <a:buNone/>
            </a:pPr>
            <a:r>
              <a:rPr lang="en-US" sz="1350" i="1" dirty="0">
                <a:solidFill>
                  <a:srgbClr val="6E7891"/>
                </a:solidFill>
                <a:latin typeface="Calibri" pitchFamily="34" charset="0"/>
                <a:ea typeface="Calibri" pitchFamily="34" charset="-122"/>
                <a:cs typeface="Calibri" pitchFamily="34" charset="-120"/>
              </a:rPr>
              <a:t>Finding a colouring is easy; showing none is smaller is the real work</a:t>
            </a:r>
            <a:endParaRPr lang="en-US" sz="1350" dirty="0"/>
          </a:p>
        </p:txBody>
      </p:sp>
      <p:sp>
        <p:nvSpPr>
          <p:cNvPr id="6" name="Shape 4"/>
          <p:cNvSpPr/>
          <p:nvPr/>
        </p:nvSpPr>
        <p:spPr>
          <a:xfrm>
            <a:off x="685800" y="1600200"/>
            <a:ext cx="4060759" cy="3616452"/>
          </a:xfrm>
          <a:prstGeom prst="rect">
            <a:avLst/>
          </a:prstGeom>
          <a:solidFill>
            <a:srgbClr val="1E2761"/>
          </a:solidFill>
          <a:ln w="12700">
            <a:solidFill>
              <a:srgbClr val="1E2761"/>
            </a:solidFill>
            <a:prstDash val="solid"/>
          </a:ln>
        </p:spPr>
        <p:txBody>
          <a:bodyPr/>
          <a:lstStyle/>
          <a:p>
            <a:endParaRPr lang="en-US"/>
          </a:p>
        </p:txBody>
      </p:sp>
      <p:sp>
        <p:nvSpPr>
          <p:cNvPr id="7" name="Shape 5"/>
          <p:cNvSpPr/>
          <p:nvPr/>
        </p:nvSpPr>
        <p:spPr>
          <a:xfrm>
            <a:off x="1078443" y="2013509"/>
            <a:ext cx="774954" cy="1343254"/>
          </a:xfrm>
          <a:prstGeom prst="rect">
            <a:avLst/>
          </a:prstGeom>
          <a:solidFill>
            <a:srgbClr val="CADCFC"/>
          </a:solidFill>
          <a:ln w="12700">
            <a:solidFill>
              <a:srgbClr val="CADCFC"/>
            </a:solidFill>
            <a:prstDash val="solid"/>
          </a:ln>
        </p:spPr>
        <p:txBody>
          <a:bodyPr/>
          <a:lstStyle/>
          <a:p>
            <a:endParaRPr lang="en-US"/>
          </a:p>
        </p:txBody>
      </p:sp>
      <p:sp>
        <p:nvSpPr>
          <p:cNvPr id="8" name="Shape 6"/>
          <p:cNvSpPr/>
          <p:nvPr/>
        </p:nvSpPr>
        <p:spPr>
          <a:xfrm>
            <a:off x="1078443" y="3356762"/>
            <a:ext cx="774954" cy="1446581"/>
          </a:xfrm>
          <a:prstGeom prst="rect">
            <a:avLst/>
          </a:prstGeom>
          <a:solidFill>
            <a:srgbClr val="1F7A72"/>
          </a:solidFill>
          <a:ln w="12700">
            <a:solidFill>
              <a:srgbClr val="1F7A72"/>
            </a:solidFill>
            <a:prstDash val="solid"/>
          </a:ln>
        </p:spPr>
        <p:txBody>
          <a:bodyPr/>
          <a:lstStyle/>
          <a:p>
            <a:endParaRPr lang="en-US"/>
          </a:p>
        </p:txBody>
      </p:sp>
      <p:sp>
        <p:nvSpPr>
          <p:cNvPr id="9" name="Shape 7"/>
          <p:cNvSpPr/>
          <p:nvPr/>
        </p:nvSpPr>
        <p:spPr>
          <a:xfrm>
            <a:off x="1853397" y="2013509"/>
            <a:ext cx="1963217" cy="723290"/>
          </a:xfrm>
          <a:prstGeom prst="rect">
            <a:avLst/>
          </a:prstGeom>
          <a:solidFill>
            <a:srgbClr val="E8A33D"/>
          </a:solidFill>
          <a:ln w="12700">
            <a:solidFill>
              <a:srgbClr val="E8A33D"/>
            </a:solidFill>
            <a:prstDash val="solid"/>
          </a:ln>
        </p:spPr>
        <p:txBody>
          <a:bodyPr/>
          <a:lstStyle/>
          <a:p>
            <a:endParaRPr lang="en-US"/>
          </a:p>
        </p:txBody>
      </p:sp>
      <p:sp>
        <p:nvSpPr>
          <p:cNvPr id="10" name="Shape 8"/>
          <p:cNvSpPr/>
          <p:nvPr/>
        </p:nvSpPr>
        <p:spPr>
          <a:xfrm>
            <a:off x="1853397" y="2736799"/>
            <a:ext cx="619963" cy="1343254"/>
          </a:xfrm>
          <a:prstGeom prst="rect">
            <a:avLst/>
          </a:prstGeom>
          <a:solidFill>
            <a:srgbClr val="1E2761"/>
          </a:solidFill>
          <a:ln w="12700">
            <a:solidFill>
              <a:srgbClr val="1E2761"/>
            </a:solidFill>
            <a:prstDash val="solid"/>
          </a:ln>
        </p:spPr>
        <p:txBody>
          <a:bodyPr/>
          <a:lstStyle/>
          <a:p>
            <a:endParaRPr lang="en-US"/>
          </a:p>
        </p:txBody>
      </p:sp>
      <p:sp>
        <p:nvSpPr>
          <p:cNvPr id="11" name="Shape 9"/>
          <p:cNvSpPr/>
          <p:nvPr/>
        </p:nvSpPr>
        <p:spPr>
          <a:xfrm>
            <a:off x="2473361" y="2736799"/>
            <a:ext cx="1343254" cy="1136599"/>
          </a:xfrm>
          <a:prstGeom prst="rect">
            <a:avLst/>
          </a:prstGeom>
          <a:solidFill>
            <a:srgbClr val="CADCFC"/>
          </a:solidFill>
          <a:ln w="12700">
            <a:solidFill>
              <a:srgbClr val="CADCFC"/>
            </a:solidFill>
            <a:prstDash val="solid"/>
          </a:ln>
        </p:spPr>
        <p:txBody>
          <a:bodyPr/>
          <a:lstStyle/>
          <a:p>
            <a:endParaRPr lang="en-US"/>
          </a:p>
        </p:txBody>
      </p:sp>
      <p:sp>
        <p:nvSpPr>
          <p:cNvPr id="12" name="Shape 10"/>
          <p:cNvSpPr/>
          <p:nvPr/>
        </p:nvSpPr>
        <p:spPr>
          <a:xfrm>
            <a:off x="2473361" y="3873398"/>
            <a:ext cx="1343254" cy="929945"/>
          </a:xfrm>
          <a:prstGeom prst="rect">
            <a:avLst/>
          </a:prstGeom>
          <a:solidFill>
            <a:srgbClr val="E8A33D"/>
          </a:solidFill>
          <a:ln w="12700">
            <a:solidFill>
              <a:srgbClr val="E8A33D"/>
            </a:solidFill>
            <a:prstDash val="solid"/>
          </a:ln>
        </p:spPr>
        <p:txBody>
          <a:bodyPr/>
          <a:lstStyle/>
          <a:p>
            <a:endParaRPr lang="en-US"/>
          </a:p>
        </p:txBody>
      </p:sp>
      <p:sp>
        <p:nvSpPr>
          <p:cNvPr id="13" name="Shape 11"/>
          <p:cNvSpPr/>
          <p:nvPr/>
        </p:nvSpPr>
        <p:spPr>
          <a:xfrm>
            <a:off x="1853397" y="4080053"/>
            <a:ext cx="619963" cy="723290"/>
          </a:xfrm>
          <a:prstGeom prst="rect">
            <a:avLst/>
          </a:prstGeom>
          <a:solidFill>
            <a:srgbClr val="E8A33D"/>
          </a:solidFill>
          <a:ln w="12700">
            <a:solidFill>
              <a:srgbClr val="E8A33D"/>
            </a:solidFill>
            <a:prstDash val="solid"/>
          </a:ln>
        </p:spPr>
        <p:txBody>
          <a:bodyPr/>
          <a:lstStyle/>
          <a:p>
            <a:endParaRPr lang="en-US"/>
          </a:p>
        </p:txBody>
      </p:sp>
      <p:sp>
        <p:nvSpPr>
          <p:cNvPr id="14" name="Shape 12"/>
          <p:cNvSpPr/>
          <p:nvPr/>
        </p:nvSpPr>
        <p:spPr>
          <a:xfrm>
            <a:off x="685800" y="1600200"/>
            <a:ext cx="4060759" cy="0"/>
          </a:xfrm>
          <a:prstGeom prst="line">
            <a:avLst/>
          </a:prstGeom>
          <a:noFill/>
          <a:ln w="15875">
            <a:solidFill>
              <a:srgbClr val="23293F"/>
            </a:solidFill>
            <a:prstDash val="solid"/>
          </a:ln>
        </p:spPr>
        <p:txBody>
          <a:bodyPr/>
          <a:lstStyle/>
          <a:p>
            <a:endParaRPr lang="en-US"/>
          </a:p>
        </p:txBody>
      </p:sp>
      <p:sp>
        <p:nvSpPr>
          <p:cNvPr id="15" name="Shape 13"/>
          <p:cNvSpPr/>
          <p:nvPr/>
        </p:nvSpPr>
        <p:spPr>
          <a:xfrm>
            <a:off x="4746559" y="1600200"/>
            <a:ext cx="0" cy="3616452"/>
          </a:xfrm>
          <a:prstGeom prst="line">
            <a:avLst/>
          </a:prstGeom>
          <a:noFill/>
          <a:ln w="15875">
            <a:solidFill>
              <a:srgbClr val="23293F"/>
            </a:solidFill>
            <a:prstDash val="solid"/>
          </a:ln>
        </p:spPr>
        <p:txBody>
          <a:bodyPr/>
          <a:lstStyle/>
          <a:p>
            <a:endParaRPr lang="en-US"/>
          </a:p>
        </p:txBody>
      </p:sp>
      <p:sp>
        <p:nvSpPr>
          <p:cNvPr id="16" name="Shape 14"/>
          <p:cNvSpPr/>
          <p:nvPr/>
        </p:nvSpPr>
        <p:spPr>
          <a:xfrm>
            <a:off x="685800" y="5216652"/>
            <a:ext cx="4060759" cy="0"/>
          </a:xfrm>
          <a:prstGeom prst="line">
            <a:avLst/>
          </a:prstGeom>
          <a:noFill/>
          <a:ln w="15875">
            <a:solidFill>
              <a:srgbClr val="23293F"/>
            </a:solidFill>
            <a:prstDash val="solid"/>
          </a:ln>
        </p:spPr>
        <p:txBody>
          <a:bodyPr/>
          <a:lstStyle/>
          <a:p>
            <a:endParaRPr lang="en-US"/>
          </a:p>
        </p:txBody>
      </p:sp>
      <p:sp>
        <p:nvSpPr>
          <p:cNvPr id="17" name="Shape 15"/>
          <p:cNvSpPr/>
          <p:nvPr/>
        </p:nvSpPr>
        <p:spPr>
          <a:xfrm>
            <a:off x="685800" y="1600200"/>
            <a:ext cx="0" cy="3616452"/>
          </a:xfrm>
          <a:prstGeom prst="line">
            <a:avLst/>
          </a:prstGeom>
          <a:noFill/>
          <a:ln w="15875">
            <a:solidFill>
              <a:srgbClr val="23293F"/>
            </a:solidFill>
            <a:prstDash val="solid"/>
          </a:ln>
        </p:spPr>
        <p:txBody>
          <a:bodyPr/>
          <a:lstStyle/>
          <a:p>
            <a:endParaRPr lang="en-US"/>
          </a:p>
        </p:txBody>
      </p:sp>
      <p:sp>
        <p:nvSpPr>
          <p:cNvPr id="18" name="Shape 16"/>
          <p:cNvSpPr/>
          <p:nvPr/>
        </p:nvSpPr>
        <p:spPr>
          <a:xfrm>
            <a:off x="1078443" y="2013509"/>
            <a:ext cx="2738171" cy="0"/>
          </a:xfrm>
          <a:prstGeom prst="line">
            <a:avLst/>
          </a:prstGeom>
          <a:noFill/>
          <a:ln w="15875">
            <a:solidFill>
              <a:srgbClr val="23293F"/>
            </a:solidFill>
            <a:prstDash val="solid"/>
          </a:ln>
        </p:spPr>
        <p:txBody>
          <a:bodyPr/>
          <a:lstStyle/>
          <a:p>
            <a:endParaRPr lang="en-US"/>
          </a:p>
        </p:txBody>
      </p:sp>
      <p:sp>
        <p:nvSpPr>
          <p:cNvPr id="19" name="Shape 17"/>
          <p:cNvSpPr/>
          <p:nvPr/>
        </p:nvSpPr>
        <p:spPr>
          <a:xfrm>
            <a:off x="3816614" y="2013509"/>
            <a:ext cx="0" cy="2789834"/>
          </a:xfrm>
          <a:prstGeom prst="line">
            <a:avLst/>
          </a:prstGeom>
          <a:noFill/>
          <a:ln w="15875">
            <a:solidFill>
              <a:srgbClr val="23293F"/>
            </a:solidFill>
            <a:prstDash val="solid"/>
          </a:ln>
        </p:spPr>
        <p:txBody>
          <a:bodyPr/>
          <a:lstStyle/>
          <a:p>
            <a:endParaRPr lang="en-US"/>
          </a:p>
        </p:txBody>
      </p:sp>
      <p:sp>
        <p:nvSpPr>
          <p:cNvPr id="20" name="Shape 18"/>
          <p:cNvSpPr/>
          <p:nvPr/>
        </p:nvSpPr>
        <p:spPr>
          <a:xfrm>
            <a:off x="1078443" y="4803343"/>
            <a:ext cx="2738171" cy="0"/>
          </a:xfrm>
          <a:prstGeom prst="line">
            <a:avLst/>
          </a:prstGeom>
          <a:noFill/>
          <a:ln w="15875">
            <a:solidFill>
              <a:srgbClr val="23293F"/>
            </a:solidFill>
            <a:prstDash val="solid"/>
          </a:ln>
        </p:spPr>
        <p:txBody>
          <a:bodyPr/>
          <a:lstStyle/>
          <a:p>
            <a:endParaRPr lang="en-US"/>
          </a:p>
        </p:txBody>
      </p:sp>
      <p:sp>
        <p:nvSpPr>
          <p:cNvPr id="21" name="Shape 19"/>
          <p:cNvSpPr/>
          <p:nvPr/>
        </p:nvSpPr>
        <p:spPr>
          <a:xfrm>
            <a:off x="1078443" y="2013509"/>
            <a:ext cx="0" cy="2789834"/>
          </a:xfrm>
          <a:prstGeom prst="line">
            <a:avLst/>
          </a:prstGeom>
          <a:noFill/>
          <a:ln w="15875">
            <a:solidFill>
              <a:srgbClr val="23293F"/>
            </a:solidFill>
            <a:prstDash val="solid"/>
          </a:ln>
        </p:spPr>
        <p:txBody>
          <a:bodyPr/>
          <a:lstStyle/>
          <a:p>
            <a:endParaRPr lang="en-US"/>
          </a:p>
        </p:txBody>
      </p:sp>
      <p:sp>
        <p:nvSpPr>
          <p:cNvPr id="22" name="Shape 20"/>
          <p:cNvSpPr/>
          <p:nvPr/>
        </p:nvSpPr>
        <p:spPr>
          <a:xfrm>
            <a:off x="1853397" y="2013509"/>
            <a:ext cx="0" cy="2789834"/>
          </a:xfrm>
          <a:prstGeom prst="line">
            <a:avLst/>
          </a:prstGeom>
          <a:noFill/>
          <a:ln w="15875">
            <a:solidFill>
              <a:srgbClr val="23293F"/>
            </a:solidFill>
            <a:prstDash val="solid"/>
          </a:ln>
        </p:spPr>
        <p:txBody>
          <a:bodyPr/>
          <a:lstStyle/>
          <a:p>
            <a:endParaRPr lang="en-US"/>
          </a:p>
        </p:txBody>
      </p:sp>
      <p:sp>
        <p:nvSpPr>
          <p:cNvPr id="23" name="Shape 21"/>
          <p:cNvSpPr/>
          <p:nvPr/>
        </p:nvSpPr>
        <p:spPr>
          <a:xfrm>
            <a:off x="1078443" y="3356762"/>
            <a:ext cx="774954" cy="0"/>
          </a:xfrm>
          <a:prstGeom prst="line">
            <a:avLst/>
          </a:prstGeom>
          <a:noFill/>
          <a:ln w="15875">
            <a:solidFill>
              <a:srgbClr val="23293F"/>
            </a:solidFill>
            <a:prstDash val="solid"/>
          </a:ln>
        </p:spPr>
        <p:txBody>
          <a:bodyPr/>
          <a:lstStyle/>
          <a:p>
            <a:endParaRPr lang="en-US"/>
          </a:p>
        </p:txBody>
      </p:sp>
      <p:sp>
        <p:nvSpPr>
          <p:cNvPr id="24" name="Shape 22"/>
          <p:cNvSpPr/>
          <p:nvPr/>
        </p:nvSpPr>
        <p:spPr>
          <a:xfrm>
            <a:off x="1853397" y="2736799"/>
            <a:ext cx="1963217" cy="0"/>
          </a:xfrm>
          <a:prstGeom prst="line">
            <a:avLst/>
          </a:prstGeom>
          <a:noFill/>
          <a:ln w="15875">
            <a:solidFill>
              <a:srgbClr val="23293F"/>
            </a:solidFill>
            <a:prstDash val="solid"/>
          </a:ln>
        </p:spPr>
        <p:txBody>
          <a:bodyPr/>
          <a:lstStyle/>
          <a:p>
            <a:endParaRPr lang="en-US"/>
          </a:p>
        </p:txBody>
      </p:sp>
      <p:sp>
        <p:nvSpPr>
          <p:cNvPr id="25" name="Shape 23"/>
          <p:cNvSpPr/>
          <p:nvPr/>
        </p:nvSpPr>
        <p:spPr>
          <a:xfrm>
            <a:off x="2473361" y="2736799"/>
            <a:ext cx="0" cy="1343254"/>
          </a:xfrm>
          <a:prstGeom prst="line">
            <a:avLst/>
          </a:prstGeom>
          <a:noFill/>
          <a:ln w="15875">
            <a:solidFill>
              <a:srgbClr val="23293F"/>
            </a:solidFill>
            <a:prstDash val="solid"/>
          </a:ln>
        </p:spPr>
        <p:txBody>
          <a:bodyPr/>
          <a:lstStyle/>
          <a:p>
            <a:endParaRPr lang="en-US"/>
          </a:p>
        </p:txBody>
      </p:sp>
      <p:sp>
        <p:nvSpPr>
          <p:cNvPr id="26" name="Shape 24"/>
          <p:cNvSpPr/>
          <p:nvPr/>
        </p:nvSpPr>
        <p:spPr>
          <a:xfrm>
            <a:off x="2473361" y="3873398"/>
            <a:ext cx="1343254" cy="0"/>
          </a:xfrm>
          <a:prstGeom prst="line">
            <a:avLst/>
          </a:prstGeom>
          <a:noFill/>
          <a:ln w="15875">
            <a:solidFill>
              <a:srgbClr val="23293F"/>
            </a:solidFill>
            <a:prstDash val="solid"/>
          </a:ln>
        </p:spPr>
        <p:txBody>
          <a:bodyPr/>
          <a:lstStyle/>
          <a:p>
            <a:endParaRPr lang="en-US"/>
          </a:p>
        </p:txBody>
      </p:sp>
      <p:sp>
        <p:nvSpPr>
          <p:cNvPr id="27" name="Shape 25"/>
          <p:cNvSpPr/>
          <p:nvPr/>
        </p:nvSpPr>
        <p:spPr>
          <a:xfrm>
            <a:off x="1853397" y="4080053"/>
            <a:ext cx="619963" cy="0"/>
          </a:xfrm>
          <a:prstGeom prst="line">
            <a:avLst/>
          </a:prstGeom>
          <a:noFill/>
          <a:ln w="15875">
            <a:solidFill>
              <a:srgbClr val="23293F"/>
            </a:solidFill>
            <a:prstDash val="solid"/>
          </a:ln>
        </p:spPr>
        <p:txBody>
          <a:bodyPr/>
          <a:lstStyle/>
          <a:p>
            <a:endParaRPr lang="en-US"/>
          </a:p>
        </p:txBody>
      </p:sp>
      <p:sp>
        <p:nvSpPr>
          <p:cNvPr id="28" name="Text 26"/>
          <p:cNvSpPr/>
          <p:nvPr/>
        </p:nvSpPr>
        <p:spPr>
          <a:xfrm>
            <a:off x="1186434" y="2502256"/>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a</a:t>
            </a:r>
            <a:endParaRPr lang="en-US" sz="1700" dirty="0"/>
          </a:p>
        </p:txBody>
      </p:sp>
      <p:sp>
        <p:nvSpPr>
          <p:cNvPr id="29" name="Text 27"/>
          <p:cNvSpPr/>
          <p:nvPr/>
        </p:nvSpPr>
        <p:spPr>
          <a:xfrm>
            <a:off x="1186434" y="3897173"/>
            <a:ext cx="548640" cy="365760"/>
          </a:xfrm>
          <a:prstGeom prst="rect">
            <a:avLst/>
          </a:prstGeom>
          <a:noFill/>
          <a:ln/>
        </p:spPr>
        <p:txBody>
          <a:bodyPr wrap="square" lIns="0" tIns="0" rIns="0" bIns="0" rtlCol="0" anchor="ctr"/>
          <a:lstStyle/>
          <a:p>
            <a:pPr marL="0" indent="0" algn="ctr">
              <a:buNone/>
            </a:pPr>
            <a:r>
              <a:rPr lang="en-US" sz="1700" b="1" i="1" dirty="0">
                <a:solidFill>
                  <a:srgbClr val="FFFFFF"/>
                </a:solidFill>
                <a:latin typeface="Cambria" pitchFamily="34" charset="0"/>
                <a:ea typeface="Cambria" pitchFamily="34" charset="-122"/>
                <a:cs typeface="Cambria" pitchFamily="34" charset="-120"/>
              </a:rPr>
              <a:t>e</a:t>
            </a:r>
            <a:endParaRPr lang="en-US" sz="1700" dirty="0"/>
          </a:p>
        </p:txBody>
      </p:sp>
      <p:sp>
        <p:nvSpPr>
          <p:cNvPr id="30" name="Text 28"/>
          <p:cNvSpPr/>
          <p:nvPr/>
        </p:nvSpPr>
        <p:spPr>
          <a:xfrm>
            <a:off x="2560686" y="2192274"/>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b</a:t>
            </a:r>
            <a:endParaRPr lang="en-US" sz="1700" dirty="0"/>
          </a:p>
        </p:txBody>
      </p:sp>
      <p:sp>
        <p:nvSpPr>
          <p:cNvPr id="31" name="Text 29"/>
          <p:cNvSpPr/>
          <p:nvPr/>
        </p:nvSpPr>
        <p:spPr>
          <a:xfrm>
            <a:off x="1889059" y="3225546"/>
            <a:ext cx="548640" cy="365760"/>
          </a:xfrm>
          <a:prstGeom prst="rect">
            <a:avLst/>
          </a:prstGeom>
          <a:noFill/>
          <a:ln/>
        </p:spPr>
        <p:txBody>
          <a:bodyPr wrap="square" lIns="0" tIns="0" rIns="0" bIns="0" rtlCol="0" anchor="ctr"/>
          <a:lstStyle/>
          <a:p>
            <a:pPr marL="0" indent="0" algn="ctr">
              <a:buNone/>
            </a:pPr>
            <a:r>
              <a:rPr lang="en-US" sz="1700" b="1" i="1" dirty="0">
                <a:solidFill>
                  <a:srgbClr val="FFFFFF"/>
                </a:solidFill>
                <a:latin typeface="Cambria" pitchFamily="34" charset="0"/>
                <a:ea typeface="Cambria" pitchFamily="34" charset="-122"/>
                <a:cs typeface="Cambria" pitchFamily="34" charset="-120"/>
              </a:rPr>
              <a:t>c</a:t>
            </a:r>
            <a:endParaRPr lang="en-US" sz="1700" dirty="0"/>
          </a:p>
        </p:txBody>
      </p:sp>
      <p:sp>
        <p:nvSpPr>
          <p:cNvPr id="32" name="Text 30"/>
          <p:cNvSpPr/>
          <p:nvPr/>
        </p:nvSpPr>
        <p:spPr>
          <a:xfrm>
            <a:off x="2870667" y="3122219"/>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d</a:t>
            </a:r>
            <a:endParaRPr lang="en-US" sz="1700" dirty="0"/>
          </a:p>
        </p:txBody>
      </p:sp>
      <p:sp>
        <p:nvSpPr>
          <p:cNvPr id="33" name="Text 31"/>
          <p:cNvSpPr/>
          <p:nvPr/>
        </p:nvSpPr>
        <p:spPr>
          <a:xfrm>
            <a:off x="2509022" y="4155491"/>
            <a:ext cx="548640" cy="365760"/>
          </a:xfrm>
          <a:prstGeom prst="rect">
            <a:avLst/>
          </a:prstGeom>
          <a:noFill/>
          <a:ln/>
        </p:spPr>
        <p:txBody>
          <a:bodyPr wrap="square" lIns="0" tIns="0" rIns="0" bIns="0" rtlCol="0" anchor="ctr"/>
          <a:lstStyle/>
          <a:p>
            <a:pPr marL="0" indent="0" algn="ctr">
              <a:buNone/>
            </a:pPr>
            <a:r>
              <a:rPr lang="en-US" sz="1700" b="1" i="1" dirty="0">
                <a:solidFill>
                  <a:srgbClr val="23293F"/>
                </a:solidFill>
                <a:latin typeface="Cambria" pitchFamily="34" charset="0"/>
                <a:ea typeface="Cambria" pitchFamily="34" charset="-122"/>
                <a:cs typeface="Cambria" pitchFamily="34" charset="-120"/>
              </a:rPr>
              <a:t>f</a:t>
            </a:r>
            <a:endParaRPr lang="en-US" sz="1700" dirty="0"/>
          </a:p>
        </p:txBody>
      </p:sp>
      <p:sp>
        <p:nvSpPr>
          <p:cNvPr id="34" name="Text 32"/>
          <p:cNvSpPr/>
          <p:nvPr/>
        </p:nvSpPr>
        <p:spPr>
          <a:xfrm>
            <a:off x="4058930" y="3173882"/>
            <a:ext cx="548640" cy="365760"/>
          </a:xfrm>
          <a:prstGeom prst="rect">
            <a:avLst/>
          </a:prstGeom>
          <a:noFill/>
          <a:ln/>
        </p:spPr>
        <p:txBody>
          <a:bodyPr wrap="square" lIns="0" tIns="0" rIns="0" bIns="0" rtlCol="0" anchor="ctr"/>
          <a:lstStyle/>
          <a:p>
            <a:pPr marL="0" indent="0" algn="ctr">
              <a:buNone/>
            </a:pPr>
            <a:r>
              <a:rPr lang="en-US" sz="1700" b="1" i="1" dirty="0">
                <a:solidFill>
                  <a:srgbClr val="FFFFFF"/>
                </a:solidFill>
                <a:latin typeface="Cambria" pitchFamily="34" charset="0"/>
                <a:ea typeface="Cambria" pitchFamily="34" charset="-122"/>
                <a:cs typeface="Cambria" pitchFamily="34" charset="-120"/>
              </a:rPr>
              <a:t>g</a:t>
            </a:r>
            <a:endParaRPr lang="en-US" sz="1700" dirty="0"/>
          </a:p>
        </p:txBody>
      </p:sp>
      <p:sp>
        <p:nvSpPr>
          <p:cNvPr id="35" name="Shape 33"/>
          <p:cNvSpPr/>
          <p:nvPr/>
        </p:nvSpPr>
        <p:spPr>
          <a:xfrm>
            <a:off x="777240" y="5623560"/>
            <a:ext cx="384048" cy="274320"/>
          </a:xfrm>
          <a:prstGeom prst="roundRect">
            <a:avLst>
              <a:gd name="adj" fmla="val 16667"/>
            </a:avLst>
          </a:prstGeom>
          <a:solidFill>
            <a:srgbClr val="1E2761"/>
          </a:solidFill>
          <a:ln w="9525">
            <a:solidFill>
              <a:srgbClr val="23293F"/>
            </a:solidFill>
            <a:prstDash val="solid"/>
          </a:ln>
        </p:spPr>
        <p:txBody>
          <a:bodyPr/>
          <a:lstStyle/>
          <a:p>
            <a:endParaRPr lang="en-US"/>
          </a:p>
        </p:txBody>
      </p:sp>
      <p:sp>
        <p:nvSpPr>
          <p:cNvPr id="36" name="Text 34"/>
          <p:cNvSpPr/>
          <p:nvPr/>
        </p:nvSpPr>
        <p:spPr>
          <a:xfrm>
            <a:off x="1216152" y="5623560"/>
            <a:ext cx="594360" cy="274320"/>
          </a:xfrm>
          <a:prstGeom prst="rect">
            <a:avLst/>
          </a:prstGeom>
          <a:noFill/>
          <a:ln/>
        </p:spPr>
        <p:txBody>
          <a:bodyPr wrap="square" lIns="0" tIns="0" rIns="0" bIns="0" rtlCol="0" anchor="ctr"/>
          <a:lstStyle/>
          <a:p>
            <a:pPr marL="0" indent="0">
              <a:buNone/>
            </a:pPr>
            <a:r>
              <a:rPr lang="en-US" sz="1150" dirty="0">
                <a:solidFill>
                  <a:srgbClr val="23293F"/>
                </a:solidFill>
                <a:latin typeface="Calibri" pitchFamily="34" charset="0"/>
                <a:ea typeface="Calibri" pitchFamily="34" charset="-122"/>
                <a:cs typeface="Calibri" pitchFamily="34" charset="-120"/>
              </a:rPr>
              <a:t>c, g</a:t>
            </a:r>
            <a:endParaRPr lang="en-US" sz="1150" dirty="0"/>
          </a:p>
        </p:txBody>
      </p:sp>
      <p:sp>
        <p:nvSpPr>
          <p:cNvPr id="37" name="Shape 35"/>
          <p:cNvSpPr/>
          <p:nvPr/>
        </p:nvSpPr>
        <p:spPr>
          <a:xfrm>
            <a:off x="1810512" y="5623560"/>
            <a:ext cx="384048" cy="274320"/>
          </a:xfrm>
          <a:prstGeom prst="roundRect">
            <a:avLst>
              <a:gd name="adj" fmla="val 16667"/>
            </a:avLst>
          </a:prstGeom>
          <a:solidFill>
            <a:srgbClr val="CADCFC"/>
          </a:solidFill>
          <a:ln w="9525">
            <a:solidFill>
              <a:srgbClr val="23293F"/>
            </a:solidFill>
            <a:prstDash val="solid"/>
          </a:ln>
        </p:spPr>
        <p:txBody>
          <a:bodyPr/>
          <a:lstStyle/>
          <a:p>
            <a:endParaRPr lang="en-US"/>
          </a:p>
        </p:txBody>
      </p:sp>
      <p:sp>
        <p:nvSpPr>
          <p:cNvPr id="38" name="Text 36"/>
          <p:cNvSpPr/>
          <p:nvPr/>
        </p:nvSpPr>
        <p:spPr>
          <a:xfrm>
            <a:off x="2249424" y="5623560"/>
            <a:ext cx="594360" cy="274320"/>
          </a:xfrm>
          <a:prstGeom prst="rect">
            <a:avLst/>
          </a:prstGeom>
          <a:noFill/>
          <a:ln/>
        </p:spPr>
        <p:txBody>
          <a:bodyPr wrap="square" lIns="0" tIns="0" rIns="0" bIns="0" rtlCol="0" anchor="ctr"/>
          <a:lstStyle/>
          <a:p>
            <a:pPr marL="0" indent="0">
              <a:buNone/>
            </a:pPr>
            <a:r>
              <a:rPr lang="en-US" sz="1150" dirty="0">
                <a:solidFill>
                  <a:srgbClr val="23293F"/>
                </a:solidFill>
                <a:latin typeface="Calibri" pitchFamily="34" charset="0"/>
                <a:ea typeface="Calibri" pitchFamily="34" charset="-122"/>
                <a:cs typeface="Calibri" pitchFamily="34" charset="-120"/>
              </a:rPr>
              <a:t>a, d</a:t>
            </a:r>
            <a:endParaRPr lang="en-US" sz="1150" dirty="0"/>
          </a:p>
        </p:txBody>
      </p:sp>
      <p:sp>
        <p:nvSpPr>
          <p:cNvPr id="39" name="Shape 37"/>
          <p:cNvSpPr/>
          <p:nvPr/>
        </p:nvSpPr>
        <p:spPr>
          <a:xfrm>
            <a:off x="2843784" y="5623560"/>
            <a:ext cx="384048" cy="274320"/>
          </a:xfrm>
          <a:prstGeom prst="roundRect">
            <a:avLst>
              <a:gd name="adj" fmla="val 16667"/>
            </a:avLst>
          </a:prstGeom>
          <a:solidFill>
            <a:srgbClr val="E8A33D"/>
          </a:solidFill>
          <a:ln w="9525">
            <a:solidFill>
              <a:srgbClr val="23293F"/>
            </a:solidFill>
            <a:prstDash val="solid"/>
          </a:ln>
        </p:spPr>
        <p:txBody>
          <a:bodyPr/>
          <a:lstStyle/>
          <a:p>
            <a:endParaRPr lang="en-US"/>
          </a:p>
        </p:txBody>
      </p:sp>
      <p:sp>
        <p:nvSpPr>
          <p:cNvPr id="40" name="Text 38"/>
          <p:cNvSpPr/>
          <p:nvPr/>
        </p:nvSpPr>
        <p:spPr>
          <a:xfrm>
            <a:off x="3282696" y="5623560"/>
            <a:ext cx="594360" cy="274320"/>
          </a:xfrm>
          <a:prstGeom prst="rect">
            <a:avLst/>
          </a:prstGeom>
          <a:noFill/>
          <a:ln/>
        </p:spPr>
        <p:txBody>
          <a:bodyPr wrap="square" lIns="0" tIns="0" rIns="0" bIns="0" rtlCol="0" anchor="ctr"/>
          <a:lstStyle/>
          <a:p>
            <a:pPr marL="0" indent="0">
              <a:buNone/>
            </a:pPr>
            <a:r>
              <a:rPr lang="en-US" sz="1150" dirty="0">
                <a:solidFill>
                  <a:srgbClr val="23293F"/>
                </a:solidFill>
                <a:latin typeface="Calibri" pitchFamily="34" charset="0"/>
                <a:ea typeface="Calibri" pitchFamily="34" charset="-122"/>
                <a:cs typeface="Calibri" pitchFamily="34" charset="-120"/>
              </a:rPr>
              <a:t>b, f</a:t>
            </a:r>
            <a:endParaRPr lang="en-US" sz="1150" dirty="0"/>
          </a:p>
        </p:txBody>
      </p:sp>
      <p:sp>
        <p:nvSpPr>
          <p:cNvPr id="41" name="Shape 39"/>
          <p:cNvSpPr/>
          <p:nvPr/>
        </p:nvSpPr>
        <p:spPr>
          <a:xfrm>
            <a:off x="3877056" y="5623560"/>
            <a:ext cx="384048" cy="274320"/>
          </a:xfrm>
          <a:prstGeom prst="roundRect">
            <a:avLst>
              <a:gd name="adj" fmla="val 16667"/>
            </a:avLst>
          </a:prstGeom>
          <a:solidFill>
            <a:srgbClr val="1F7A72"/>
          </a:solidFill>
          <a:ln w="9525">
            <a:solidFill>
              <a:srgbClr val="23293F"/>
            </a:solidFill>
            <a:prstDash val="solid"/>
          </a:ln>
        </p:spPr>
        <p:txBody>
          <a:bodyPr/>
          <a:lstStyle/>
          <a:p>
            <a:endParaRPr lang="en-US"/>
          </a:p>
        </p:txBody>
      </p:sp>
      <p:sp>
        <p:nvSpPr>
          <p:cNvPr id="42" name="Text 40"/>
          <p:cNvSpPr/>
          <p:nvPr/>
        </p:nvSpPr>
        <p:spPr>
          <a:xfrm>
            <a:off x="4315968" y="5623560"/>
            <a:ext cx="594360" cy="274320"/>
          </a:xfrm>
          <a:prstGeom prst="rect">
            <a:avLst/>
          </a:prstGeom>
          <a:noFill/>
          <a:ln/>
        </p:spPr>
        <p:txBody>
          <a:bodyPr wrap="square" lIns="0" tIns="0" rIns="0" bIns="0" rtlCol="0" anchor="ctr"/>
          <a:lstStyle/>
          <a:p>
            <a:pPr marL="0" indent="0">
              <a:buNone/>
            </a:pPr>
            <a:r>
              <a:rPr lang="en-US" sz="1150" dirty="0">
                <a:solidFill>
                  <a:srgbClr val="23293F"/>
                </a:solidFill>
                <a:latin typeface="Calibri" pitchFamily="34" charset="0"/>
                <a:ea typeface="Calibri" pitchFamily="34" charset="-122"/>
                <a:cs typeface="Calibri" pitchFamily="34" charset="-120"/>
              </a:rPr>
              <a:t>e</a:t>
            </a:r>
            <a:endParaRPr lang="en-US" sz="1150" dirty="0"/>
          </a:p>
        </p:txBody>
      </p:sp>
      <p:sp>
        <p:nvSpPr>
          <p:cNvPr id="43" name="Shape 41"/>
          <p:cNvSpPr/>
          <p:nvPr/>
        </p:nvSpPr>
        <p:spPr>
          <a:xfrm>
            <a:off x="5394960" y="1463040"/>
            <a:ext cx="6245352" cy="1600200"/>
          </a:xfrm>
          <a:prstGeom prst="roundRect">
            <a:avLst>
              <a:gd name="adj" fmla="val 2857"/>
            </a:avLst>
          </a:prstGeom>
          <a:solidFill>
            <a:srgbClr val="F6E9E7"/>
          </a:solidFill>
          <a:ln w="12700">
            <a:solidFill>
              <a:srgbClr val="B23A34"/>
            </a:solidFill>
            <a:prstDash val="solid"/>
          </a:ln>
        </p:spPr>
        <p:txBody>
          <a:bodyPr/>
          <a:lstStyle/>
          <a:p>
            <a:endParaRPr lang="en-US"/>
          </a:p>
        </p:txBody>
      </p:sp>
      <p:sp>
        <p:nvSpPr>
          <p:cNvPr id="44" name="Text 42"/>
          <p:cNvSpPr/>
          <p:nvPr/>
        </p:nvSpPr>
        <p:spPr>
          <a:xfrm>
            <a:off x="5669280" y="1572768"/>
            <a:ext cx="5669280" cy="292608"/>
          </a:xfrm>
          <a:prstGeom prst="rect">
            <a:avLst/>
          </a:prstGeom>
          <a:noFill/>
          <a:ln/>
        </p:spPr>
        <p:txBody>
          <a:bodyPr wrap="square" lIns="0" tIns="0" rIns="0" bIns="0" rtlCol="0" anchor="ctr"/>
          <a:lstStyle/>
          <a:p>
            <a:pPr marL="0" indent="0">
              <a:buNone/>
            </a:pPr>
            <a:r>
              <a:rPr lang="en-US" sz="1500" b="1" dirty="0">
                <a:solidFill>
                  <a:srgbClr val="B23A34"/>
                </a:solidFill>
                <a:latin typeface="Cambria" pitchFamily="34" charset="0"/>
                <a:ea typeface="Cambria" pitchFamily="34" charset="-122"/>
                <a:cs typeface="Cambria" pitchFamily="34" charset="-120"/>
              </a:rPr>
              <a:t>Why 3 is impossible</a:t>
            </a:r>
            <a:endParaRPr lang="en-US" sz="1500" dirty="0"/>
          </a:p>
        </p:txBody>
      </p:sp>
      <p:sp>
        <p:nvSpPr>
          <p:cNvPr id="45" name="Text 43"/>
          <p:cNvSpPr/>
          <p:nvPr/>
        </p:nvSpPr>
        <p:spPr>
          <a:xfrm>
            <a:off x="5669280" y="1920240"/>
            <a:ext cx="5669280" cy="1051560"/>
          </a:xfrm>
          <a:prstGeom prst="rect">
            <a:avLst/>
          </a:prstGeom>
          <a:noFill/>
          <a:ln/>
        </p:spPr>
        <p:txBody>
          <a:bodyPr wrap="square" lIns="0" tIns="0" rIns="0" bIns="0" rtlCol="0" anchor="t"/>
          <a:lstStyle/>
          <a:p>
            <a:pPr marL="0" indent="0">
              <a:lnSpc>
                <a:spcPct val="115000"/>
              </a:lnSpc>
              <a:spcAft>
                <a:spcPts val="400"/>
              </a:spcAft>
              <a:buNone/>
            </a:pPr>
            <a:r>
              <a:rPr lang="en-US" sz="1250" dirty="0">
                <a:solidFill>
                  <a:srgbClr val="23293F"/>
                </a:solidFill>
                <a:latin typeface="Calibri" pitchFamily="34" charset="0"/>
                <a:ea typeface="Calibri" pitchFamily="34" charset="-122"/>
                <a:cs typeface="Calibri" pitchFamily="34" charset="-120"/>
              </a:rPr>
              <a:t>a – b – d – f – e – a is a cycle of length 5. Odd cycles cannot be 2-coloured, so those five countries already need 3 colours. </a:t>
            </a:r>
            <a:endParaRPr lang="en-US" sz="1250" dirty="0"/>
          </a:p>
          <a:p>
            <a:pPr marL="0" indent="0">
              <a:lnSpc>
                <a:spcPct val="115000"/>
              </a:lnSpc>
              <a:spcAft>
                <a:spcPts val="400"/>
              </a:spcAft>
              <a:buNone/>
            </a:pPr>
            <a:r>
              <a:rPr lang="en-US" sz="1250" dirty="0">
                <a:solidFill>
                  <a:srgbClr val="23293F"/>
                </a:solidFill>
                <a:latin typeface="Calibri" pitchFamily="34" charset="0"/>
                <a:ea typeface="Calibri" pitchFamily="34" charset="-122"/>
                <a:cs typeface="Calibri" pitchFamily="34" charset="-120"/>
              </a:rPr>
              <a:t>And c borders all five of them — so c cannot reuse any of the three. That forces a fourth.</a:t>
            </a:r>
            <a:endParaRPr lang="en-US" sz="1250" dirty="0"/>
          </a:p>
        </p:txBody>
      </p:sp>
      <p:sp>
        <p:nvSpPr>
          <p:cNvPr id="46" name="Shape 44"/>
          <p:cNvSpPr/>
          <p:nvPr/>
        </p:nvSpPr>
        <p:spPr>
          <a:xfrm>
            <a:off x="5394960" y="3200400"/>
            <a:ext cx="6245352" cy="1371600"/>
          </a:xfrm>
          <a:prstGeom prst="roundRect">
            <a:avLst>
              <a:gd name="adj" fmla="val 3333"/>
            </a:avLst>
          </a:prstGeom>
          <a:solidFill>
            <a:srgbClr val="E4F2EF"/>
          </a:solidFill>
          <a:ln w="12700">
            <a:solidFill>
              <a:srgbClr val="1F7A72"/>
            </a:solidFill>
            <a:prstDash val="solid"/>
          </a:ln>
        </p:spPr>
        <p:txBody>
          <a:bodyPr/>
          <a:lstStyle/>
          <a:p>
            <a:endParaRPr lang="en-US"/>
          </a:p>
        </p:txBody>
      </p:sp>
      <p:sp>
        <p:nvSpPr>
          <p:cNvPr id="47" name="Text 45"/>
          <p:cNvSpPr/>
          <p:nvPr/>
        </p:nvSpPr>
        <p:spPr>
          <a:xfrm>
            <a:off x="5669280" y="3310128"/>
            <a:ext cx="5669280" cy="292608"/>
          </a:xfrm>
          <a:prstGeom prst="rect">
            <a:avLst/>
          </a:prstGeom>
          <a:noFill/>
          <a:ln/>
        </p:spPr>
        <p:txBody>
          <a:bodyPr wrap="square" lIns="0" tIns="0" rIns="0" bIns="0" rtlCol="0" anchor="ctr"/>
          <a:lstStyle/>
          <a:p>
            <a:pPr marL="0" indent="0">
              <a:buNone/>
            </a:pPr>
            <a:r>
              <a:rPr lang="en-US" sz="1500" b="1" dirty="0">
                <a:solidFill>
                  <a:srgbClr val="1F7A72"/>
                </a:solidFill>
                <a:latin typeface="Cambria" pitchFamily="34" charset="0"/>
                <a:ea typeface="Cambria" pitchFamily="34" charset="-122"/>
                <a:cs typeface="Cambria" pitchFamily="34" charset="-120"/>
              </a:rPr>
              <a:t>Why 4 is enough</a:t>
            </a:r>
            <a:endParaRPr lang="en-US" sz="1500" dirty="0"/>
          </a:p>
        </p:txBody>
      </p:sp>
      <p:sp>
        <p:nvSpPr>
          <p:cNvPr id="48" name="Text 46"/>
          <p:cNvSpPr/>
          <p:nvPr/>
        </p:nvSpPr>
        <p:spPr>
          <a:xfrm>
            <a:off x="5669280" y="3657600"/>
            <a:ext cx="5669280" cy="822960"/>
          </a:xfrm>
          <a:prstGeom prst="rect">
            <a:avLst/>
          </a:prstGeom>
          <a:noFill/>
          <a:ln/>
        </p:spPr>
        <p:txBody>
          <a:bodyPr wrap="square" lIns="0" tIns="0" rIns="0" bIns="0" rtlCol="0" anchor="t"/>
          <a:lstStyle/>
          <a:p>
            <a:pPr marL="0" indent="0">
              <a:lnSpc>
                <a:spcPct val="115000"/>
              </a:lnSpc>
              <a:buNone/>
            </a:pPr>
            <a:r>
              <a:rPr lang="en-US" sz="1250" dirty="0">
                <a:solidFill>
                  <a:srgbClr val="23293F"/>
                </a:solidFill>
                <a:latin typeface="Calibri" pitchFamily="34" charset="0"/>
                <a:ea typeface="Calibri" pitchFamily="34" charset="-122"/>
                <a:cs typeface="Calibri" pitchFamily="34" charset="-120"/>
              </a:rPr>
              <a:t>Exhibit one — the map on the left. Notice that c and g never touch, and in fact they have exactly the same neighbours {a, b, d, e, f}, so they can safely share a colour.</a:t>
            </a:r>
            <a:endParaRPr lang="en-US" sz="1250" dirty="0"/>
          </a:p>
        </p:txBody>
      </p:sp>
      <p:sp>
        <p:nvSpPr>
          <p:cNvPr id="49" name="Shape 47"/>
          <p:cNvSpPr/>
          <p:nvPr/>
        </p:nvSpPr>
        <p:spPr>
          <a:xfrm>
            <a:off x="5394960" y="4709160"/>
            <a:ext cx="6245352" cy="1417320"/>
          </a:xfrm>
          <a:prstGeom prst="roundRect">
            <a:avLst>
              <a:gd name="adj" fmla="val 3226"/>
            </a:avLst>
          </a:prstGeom>
          <a:solidFill>
            <a:srgbClr val="1E2761"/>
          </a:solidFill>
          <a:ln w="12700">
            <a:solidFill>
              <a:srgbClr val="1E2761"/>
            </a:solidFill>
            <a:prstDash val="solid"/>
          </a:ln>
        </p:spPr>
        <p:txBody>
          <a:bodyPr/>
          <a:lstStyle/>
          <a:p>
            <a:endParaRPr lang="en-US"/>
          </a:p>
        </p:txBody>
      </p:sp>
      <p:sp>
        <p:nvSpPr>
          <p:cNvPr id="50" name="Text 48"/>
          <p:cNvSpPr/>
          <p:nvPr/>
        </p:nvSpPr>
        <p:spPr>
          <a:xfrm>
            <a:off x="5669280" y="4828032"/>
            <a:ext cx="5715000" cy="1234440"/>
          </a:xfrm>
          <a:prstGeom prst="rect">
            <a:avLst/>
          </a:prstGeom>
          <a:noFill/>
          <a:ln/>
        </p:spPr>
        <p:txBody>
          <a:bodyPr wrap="square" lIns="0" tIns="0" rIns="0" bIns="0" rtlCol="0" anchor="t"/>
          <a:lstStyle/>
          <a:p>
            <a:pPr marL="0" indent="0">
              <a:lnSpc>
                <a:spcPct val="112000"/>
              </a:lnSpc>
              <a:spcAft>
                <a:spcPts val="300"/>
              </a:spcAft>
              <a:buNone/>
            </a:pPr>
            <a:r>
              <a:rPr lang="en-US" sz="1200" b="1" dirty="0">
                <a:solidFill>
                  <a:srgbClr val="E8A33D"/>
                </a:solidFill>
                <a:latin typeface="Calibri" pitchFamily="34" charset="0"/>
                <a:ea typeface="Calibri" pitchFamily="34" charset="-122"/>
                <a:cs typeface="Calibri" pitchFamily="34" charset="-120"/>
              </a:rPr>
              <a:t>Two things worth knowing</a:t>
            </a:r>
            <a:endParaRPr lang="en-US" sz="1200" dirty="0"/>
          </a:p>
          <a:p>
            <a:pPr marL="0" indent="0">
              <a:lnSpc>
                <a:spcPct val="112000"/>
              </a:lnSpc>
              <a:spcAft>
                <a:spcPts val="300"/>
              </a:spcAft>
              <a:buNone/>
            </a:pPr>
            <a:r>
              <a:rPr lang="en-US" sz="1200" dirty="0">
                <a:solidFill>
                  <a:srgbClr val="FFFFFF"/>
                </a:solidFill>
                <a:latin typeface="Calibri" pitchFamily="34" charset="0"/>
                <a:ea typeface="Calibri" pitchFamily="34" charset="-122"/>
                <a:cs typeface="Calibri" pitchFamily="34" charset="-120"/>
              </a:rPr>
              <a:t>Four Colour Theorem (Appel &amp; Haken, 1976): every planar map can be coloured with at most 4 colours — so we were never going to need 5. </a:t>
            </a:r>
            <a:endParaRPr lang="en-US" sz="1200" dirty="0"/>
          </a:p>
          <a:p>
            <a:pPr marL="0" indent="0">
              <a:lnSpc>
                <a:spcPct val="112000"/>
              </a:lnSpc>
              <a:spcAft>
                <a:spcPts val="300"/>
              </a:spcAft>
              <a:buNone/>
            </a:pPr>
            <a:r>
              <a:rPr lang="en-US" sz="1200" dirty="0">
                <a:solidFill>
                  <a:srgbClr val="CADCFC"/>
                </a:solidFill>
                <a:latin typeface="Calibri" pitchFamily="34" charset="0"/>
                <a:ea typeface="Calibri" pitchFamily="34" charset="-122"/>
                <a:cs typeface="Calibri" pitchFamily="34" charset="-120"/>
              </a:rPr>
              <a:t>But for graphs in general, deciding whether 3 colours suffice is NP-complete. Easy to check an answer, hard to find one.</a:t>
            </a:r>
            <a:endParaRPr lang="en-US" sz="1200" dirty="0"/>
          </a:p>
        </p:txBody>
      </p:sp>
      <p:sp>
        <p:nvSpPr>
          <p:cNvPr id="51" name="Text 49"/>
          <p:cNvSpPr/>
          <p:nvPr/>
        </p:nvSpPr>
        <p:spPr>
          <a:xfrm>
            <a:off x="548640" y="6382512"/>
            <a:ext cx="7315200" cy="256032"/>
          </a:xfrm>
          <a:prstGeom prst="rect">
            <a:avLst/>
          </a:prstGeom>
          <a:noFill/>
          <a:ln/>
        </p:spPr>
        <p:txBody>
          <a:bodyPr wrap="square" lIns="0" tIns="0" rIns="0" bIns="0" rtlCol="0" anchor="ctr"/>
          <a:lstStyle/>
          <a:p>
            <a:pPr marL="0" indent="0">
              <a:buNone/>
            </a:pPr>
            <a:r>
              <a:rPr lang="en-US" sz="900" dirty="0">
                <a:solidFill>
                  <a:srgbClr val="6E7891"/>
                </a:solidFill>
                <a:latin typeface="Calibri" pitchFamily="34" charset="0"/>
                <a:ea typeface="Calibri" pitchFamily="34" charset="-122"/>
                <a:cs typeface="Calibri" pitchFamily="34" charset="-120"/>
              </a:rPr>
              <a:t>COMP90038 Algorithms &amp; Complexity  ·  Tutorial 1  ·  Week 2</a:t>
            </a:r>
            <a:endParaRPr lang="en-US" sz="900" dirty="0"/>
          </a:p>
        </p:txBody>
      </p:sp>
      <p:sp>
        <p:nvSpPr>
          <p:cNvPr id="52" name="Text 50"/>
          <p:cNvSpPr/>
          <p:nvPr/>
        </p:nvSpPr>
        <p:spPr>
          <a:xfrm>
            <a:off x="10789920" y="6382512"/>
            <a:ext cx="850392" cy="256032"/>
          </a:xfrm>
          <a:prstGeom prst="rect">
            <a:avLst/>
          </a:prstGeom>
          <a:noFill/>
          <a:ln/>
        </p:spPr>
        <p:txBody>
          <a:bodyPr wrap="square" lIns="0" tIns="0" rIns="0" bIns="0" rtlCol="0" anchor="ctr"/>
          <a:lstStyle/>
          <a:p>
            <a:pPr marL="0" indent="0" algn="r">
              <a:buNone/>
            </a:pPr>
            <a:r>
              <a:rPr lang="en-US" sz="900" dirty="0">
                <a:solidFill>
                  <a:srgbClr val="6E789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4754</Words>
  <Application>Microsoft Macintosh PowerPoint</Application>
  <PresentationFormat>Widescreen</PresentationFormat>
  <Paragraphs>510</Paragraphs>
  <Slides>19</Slides>
  <Notes>19</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COMP90038 Tutorial 1 (Week 2)</dc:title>
  <dc:subject>PptxGenJS Presentation</dc:subject>
  <dc:creator>COMP90038 Tutor</dc:creator>
  <cp:lastModifiedBy>Kejian Cui</cp:lastModifiedBy>
  <cp:revision>23</cp:revision>
  <dcterms:created xsi:type="dcterms:W3CDTF">2026-08-04T03:29:20Z</dcterms:created>
  <dcterms:modified xsi:type="dcterms:W3CDTF">2026-08-05T05:08:28Z</dcterms:modified>
</cp:coreProperties>
</file>