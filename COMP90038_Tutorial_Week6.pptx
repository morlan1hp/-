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9" r:id="rId4"/>
    <p:sldId id="260" r:id="rId5"/>
    <p:sldId id="261" r:id="rId6"/>
    <p:sldId id="262" r:id="rId7"/>
    <p:sldId id="263" r:id="rId8"/>
    <p:sldId id="264" r:id="rId9"/>
    <p:sldId id="265" r:id="rId10"/>
    <p:sldId id="266" r:id="rId11"/>
    <p:sldId id="267" r:id="rId12"/>
    <p:sldId id="269" r:id="rId13"/>
    <p:sldId id="270" r:id="rId14"/>
    <p:sldId id="271" r:id="rId15"/>
    <p:sldId id="273"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p:restoredTop sz="94610"/>
  </p:normalViewPr>
  <p:slideViewPr>
    <p:cSldViewPr snapToGrid="0" snapToObjects="1">
      <p:cViewPr varScale="1">
        <p:scale>
          <a:sx n="125" d="100"/>
          <a:sy n="125" d="100"/>
        </p:scale>
        <p:origin x="16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896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housekeeping (30 seconds).
Say the shape of the hour up front: we owe Q30 from last week, so we start there, then Q33-Q36 as one block, then a quick pass over Q37, Q38 and Q40.
Worth naming early: Q33-Q36 are the same algorithm four times. If students hear that at the start they stop treating them as four separate things to memorise.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Set the coverage expectation before anyone panics about the size of the sheet.
Timing targets to hold yourself to: Q30 finished by the 10-minute mark, Q36 finished by the 45-minute mark, which leaves 15 minutes for Part 2.
If the room is struggling with Q33/Q34, take the time out of Q35 - reduce it to the one-line cross-edge fact - rather than out of Q36, which is the more examinable of the two.
If the room is quick, the appendix has the in-degree topological sort and Q41.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This is a recap - if the room did see it last week, give it 30 seconds and move to the counterexample.
Do NOT reveal the answer. Give 90 seconds with the three hints and let someone find it; it is very findable.
The unlocking question if they are stuck: in an adjacency list, how many times does the single edge between a and b appear? Twice - once in each list.
The count variable is a red herring. It is never used for anything except being greater than zero.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Walk the six steps slowly; step 5 is the entire answer and students should be able to say it in their own words afterwards.
One-sentence version to leave them with: the algorithm mistakes the edge it came in on for a cycle.
Worth adding: the bug fires on ANY graph with at least one edge, so Cyclic always returns True. It is useless rather than occasionally wrong.
Exam technique point: one counterexample is a complete answer to "show this is wrong". You do not have to characterise every graph on which it fails.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Ask the room for the fix before you show it - someone will say "remember where you came from". Then show why that is safe: in an undirected DFS, non-tree edges only ever go to ancestors, and exactly one ancestor is harmless.
The dark bar at the bottom is your transition into Q33. Say it out loud rather than reading it: we are about to give those two kinds of edge names, and then Q34 becomes a one-liner.
If someone raises multigraphs: two parallel a-b edges genuinely are a cycle, and the plain parent test would miss it. Not examinable - acknowledge and move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Definitions first, then the "no third case" argument, which is the only real content in the question. Do that argument on the whiteboard, not off the slide.
For weaker students the picture is enough: tree edges are the ones you walked along, everything else joins you to one of your own ancestors.
Deliberately avoid the words "forward edge" and "cross edge" here except to say they cannot occur in an undirected DFS - they belong to directed graphs and they confuse people at this point.
Sanity check with the room: 3 tree edges + 1 back edge = 4 = |E|, and tree edges = |V| - 1 per component.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and this is the slide to slow down on - it is exactly the "follow the pseudocode" practice the cohort needs.
Run the eight rows out loud with a finger on the code. The rows where nothing happens are the point: every undirected edge is examined twice, once from each end, and the second look must not overwrite the first.
Common confusion: why are the marks only 0 and 1 here, when Q28 used a counter? Because we are labelling edges, not ordering nodes.
Complexity if asked: O(|V| + |E|) with adjacency lists, same as plain DFS.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Before showing the code, ask what has to change in the Q33 algorithm. Give 60 seconds. Answer: only the return values.
Then do the "iff" in both directions. The forward direction is the one solutions usually skip and it is worth a quick whiteboard sketch: take a cycle, take the first of its nodes DFS reaches, and follow it round.
Tie back to Q30 explicitly - the tint box is the moment the correlated questions click for people. Say it, do not just show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Lead with the cross-edge fact: in an undirected BFS there are no back edges to distant ancestors, only cross edges within a level or between adjacent levels.
Both graphs are four nodes - run both traces on the whiteboard, it takes a minute each.
The examinable point is that neither traversal dominates. The question says "if there is no clear winner, give an example each way", and that IS the answer; students who commit to "DFS is faster" lose the marks.
If you are behind schedule: show the left graph only, state that the right one exists, and move on to Q36.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Ask for the connection first: which graphs are 2-colourable? Bipartite ones - equivalently, no odd cycle. Someone usually knows the word bipartite.
Colour the 4-cycle and the triangle live with two marker colours; it takes 30 seconds and it lands better than the slide.
The third card is the subtle one and is the reason this question sits next to Q34: here you do NOT need to track the parent, because the parent always carries the opposite colour. Give that contrast half a minute.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Trace the code on the triangle from the previous slide so they see where False comes from.
Point out that colour[] is doing double duty - 0 means unvisited, so there is no separate mark array. Students often add one.
Also worth saying: the algorithm as written returns a boolean, but the colour array is the actual 2-colouring, so it answers the constructive version for free.
If a student writes the BFS version - colour by level parity - it is equally correct. Accept it and say so publicly.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10 seconds. Name the three bite sizes. The taxonomy itself is examinable in the "which design paradigm is this?" style of question, so it is worth 10 seconds even when rushing.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Give them 2 minutes to run the DFS themselves before you show the stack; then use the stack picture only to check.
Two traps to name: (1) we start at a even though a has in-degree 3, and that is fine - the reversal is what fixes it; (2) the subscript pair is pushed,popped, so read the pop order off the second number: a c b f g e d.
The notation matches the official sample answers, so students can map the slide onto the LMS solution.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and cut this slide entirely if you are behind - Q37's answer is already on the previous slide.
The crimson box is the single most common exam error on this question: reporting the popping order instead of its reverse.
The third box matters for marking: the answer is not unique, so students comparing with a neighbour and getting a different order have not necessarily made a mistake. The test is the nine arrows.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Compute the probe with them on the board rather than reading it off the slide.
The teaching point is the second half: interpolation search is only meaningful while A[lo] &lt;= k &lt;= A[hi], so checking the extremes is part of the algorithm, not an optimisation. It is also what stops a division by zero when A[hi] = A[lo].
If asked about cost: O(log log n) probes on average for uniformly distributed keys, but O(n) in the worst case when the distribution is badly skewed. Binary search's O(log n) is the safer guarantee.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4"/>
        </a:solidFill>
        <a:effectLst/>
      </p:bgPr>
    </p:bg>
    <p:spTree>
      <p:nvGrpSpPr>
        <p:cNvPr id="1" name=""/>
        <p:cNvGrpSpPr/>
        <p:nvPr/>
      </p:nvGrpSpPr>
      <p:grpSpPr>
        <a:xfrm>
          <a:off x="0" y="0"/>
          <a:ext cx="0" cy="0"/>
          <a:chOff x="0" y="0"/>
          <a:chExt cx="0" cy="0"/>
        </a:xfrm>
      </p:grpSpPr>
      <p:sp>
        <p:nvSpPr>
          <p:cNvPr id="2" name="Text 0"/>
          <p:cNvSpPr txBox="1"/>
          <p:nvPr/>
        </p:nvSpPr>
        <p:spPr>
          <a:xfrm>
            <a:off x="640080" y="2084832"/>
            <a:ext cx="4572000" cy="310896"/>
          </a:xfrm>
          <a:prstGeom prst="rect">
            <a:avLst/>
          </a:prstGeom>
          <a:noFill/>
          <a:ln/>
        </p:spPr>
        <p:txBody>
          <a:bodyPr wrap="square" lIns="0" tIns="0" rIns="0" bIns="0" rtlCol="0" anchor="ctr"/>
          <a:lstStyle/>
          <a:p>
            <a:pPr marL="0" indent="0">
              <a:buNone/>
            </a:pPr>
            <a:r>
              <a:rPr lang="en-US" sz="1250" b="1" kern="0" spc="240" dirty="0">
                <a:solidFill>
                  <a:srgbClr val="E8A33D"/>
                </a:solidFill>
                <a:latin typeface="Calibri" pitchFamily="34" charset="0"/>
                <a:ea typeface="Calibri" pitchFamily="34" charset="-122"/>
                <a:cs typeface="Calibri" pitchFamily="34" charset="-120"/>
              </a:rPr>
              <a:t>TUTORIAL 6</a:t>
            </a:r>
            <a:endParaRPr lang="en-US" sz="1250" dirty="0"/>
          </a:p>
        </p:txBody>
      </p:sp>
      <p:sp>
        <p:nvSpPr>
          <p:cNvPr id="3" name="Text 1"/>
          <p:cNvSpPr txBox="1"/>
          <p:nvPr/>
        </p:nvSpPr>
        <p:spPr>
          <a:xfrm>
            <a:off x="640080" y="2487168"/>
            <a:ext cx="6949440" cy="1554480"/>
          </a:xfrm>
          <a:prstGeom prst="rect">
            <a:avLst/>
          </a:prstGeom>
          <a:noFill/>
          <a:ln/>
        </p:spPr>
        <p:txBody>
          <a:bodyPr wrap="square" lIns="0" tIns="0" rIns="0" bIns="0" rtlCol="0" anchor="t"/>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Traversal, Adapted</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&amp; Decrease-and-Conquer</a:t>
            </a:r>
            <a:endParaRPr lang="en-US" sz="4000" dirty="0"/>
          </a:p>
        </p:txBody>
      </p:sp>
      <p:sp>
        <p:nvSpPr>
          <p:cNvPr id="4" name="Text 2"/>
          <p:cNvSpPr txBox="1"/>
          <p:nvPr/>
        </p:nvSpPr>
        <p:spPr>
          <a:xfrm>
            <a:off x="640080" y="4315968"/>
            <a:ext cx="6949440" cy="310896"/>
          </a:xfrm>
          <a:prstGeom prst="rect">
            <a:avLst/>
          </a:prstGeom>
          <a:noFill/>
          <a:ln/>
        </p:spPr>
        <p:txBody>
          <a:bodyPr wrap="square" lIns="0" tIns="0" rIns="0" bIns="0" rtlCol="0" anchor="ctr"/>
          <a:lstStyle/>
          <a:p>
            <a:pPr marL="0" indent="0">
              <a:buNone/>
            </a:pPr>
            <a:r>
              <a:rPr lang="en-US" sz="1350" dirty="0">
                <a:solidFill>
                  <a:srgbClr val="D3E0DD"/>
                </a:solidFill>
                <a:latin typeface="Calibri" pitchFamily="34" charset="0"/>
                <a:ea typeface="Calibri" pitchFamily="34" charset="-122"/>
                <a:cs typeface="Calibri" pitchFamily="34" charset="-120"/>
              </a:rPr>
              <a:t>COMP90038 Algorithms and Complexity  ·  31 August – 4 September 2026</a:t>
            </a:r>
            <a:endParaRPr lang="en-US" sz="1350" dirty="0"/>
          </a:p>
        </p:txBody>
      </p:sp>
      <p:sp>
        <p:nvSpPr>
          <p:cNvPr id="5" name="Text 3"/>
          <p:cNvSpPr txBox="1"/>
          <p:nvPr/>
        </p:nvSpPr>
        <p:spPr>
          <a:xfrm>
            <a:off x="640080" y="4700016"/>
            <a:ext cx="6949440" cy="310896"/>
          </a:xfrm>
          <a:prstGeom prst="rect">
            <a:avLst/>
          </a:prstGeom>
          <a:noFill/>
          <a:ln/>
        </p:spPr>
        <p:txBody>
          <a:bodyPr wrap="square" lIns="0" tIns="0" rIns="0" bIns="0" rtlCol="0" anchor="ctr"/>
          <a:lstStyle/>
          <a:p>
            <a:pPr marL="0" indent="0">
              <a:buNone/>
            </a:pPr>
            <a:r>
              <a:rPr lang="en-US" sz="1200" dirty="0">
                <a:solidFill>
                  <a:srgbClr val="7FA5AB"/>
                </a:solidFill>
                <a:latin typeface="Calibri" pitchFamily="34" charset="0"/>
                <a:ea typeface="Calibri" pitchFamily="34" charset="-122"/>
                <a:cs typeface="Calibri" pitchFamily="34" charset="-120"/>
              </a:rPr>
              <a:t>Exercises 30 (carried over), 33, 34, 35, 36, 37, 38, 40</a:t>
            </a:r>
            <a:endParaRPr lang="en-US" sz="1200" dirty="0"/>
          </a:p>
        </p:txBody>
      </p:sp>
      <p:sp>
        <p:nvSpPr>
          <p:cNvPr id="6" name="Shape 4"/>
          <p:cNvSpPr/>
          <p:nvPr/>
        </p:nvSpPr>
        <p:spPr>
          <a:xfrm flipH="1">
            <a:off x="8769096" y="1783080"/>
            <a:ext cx="841248" cy="0"/>
          </a:xfrm>
          <a:prstGeom prst="line">
            <a:avLst/>
          </a:prstGeom>
          <a:noFill/>
          <a:ln w="19050">
            <a:solidFill>
              <a:srgbClr val="4A7C86"/>
            </a:solidFill>
            <a:prstDash val="solid"/>
            <a:tailEnd type="triangle"/>
          </a:ln>
        </p:spPr>
        <p:txBody>
          <a:bodyPr/>
          <a:lstStyle/>
          <a:p>
            <a:endParaRPr lang="en-US"/>
          </a:p>
        </p:txBody>
      </p:sp>
      <p:sp>
        <p:nvSpPr>
          <p:cNvPr id="7" name="Shape 5"/>
          <p:cNvSpPr/>
          <p:nvPr/>
        </p:nvSpPr>
        <p:spPr>
          <a:xfrm>
            <a:off x="10049256" y="1783080"/>
            <a:ext cx="841248" cy="0"/>
          </a:xfrm>
          <a:prstGeom prst="line">
            <a:avLst/>
          </a:prstGeom>
          <a:noFill/>
          <a:ln w="19050">
            <a:solidFill>
              <a:srgbClr val="4A7C86"/>
            </a:solidFill>
            <a:prstDash val="solid"/>
            <a:tailEnd type="triangle"/>
          </a:ln>
        </p:spPr>
        <p:txBody>
          <a:bodyPr/>
          <a:lstStyle/>
          <a:p>
            <a:endParaRPr lang="en-US"/>
          </a:p>
        </p:txBody>
      </p:sp>
      <p:sp>
        <p:nvSpPr>
          <p:cNvPr id="8" name="Shape 6"/>
          <p:cNvSpPr/>
          <p:nvPr/>
        </p:nvSpPr>
        <p:spPr>
          <a:xfrm flipH="1" flipV="1">
            <a:off x="8716263" y="1925900"/>
            <a:ext cx="946913" cy="811640"/>
          </a:xfrm>
          <a:prstGeom prst="line">
            <a:avLst/>
          </a:prstGeom>
          <a:noFill/>
          <a:ln w="19050">
            <a:solidFill>
              <a:srgbClr val="4A7C86"/>
            </a:solidFill>
            <a:prstDash val="solid"/>
            <a:tailEnd type="triangle"/>
          </a:ln>
        </p:spPr>
        <p:txBody>
          <a:bodyPr/>
          <a:lstStyle/>
          <a:p>
            <a:endParaRPr lang="en-US"/>
          </a:p>
        </p:txBody>
      </p:sp>
      <p:sp>
        <p:nvSpPr>
          <p:cNvPr id="9" name="Shape 7"/>
          <p:cNvSpPr/>
          <p:nvPr/>
        </p:nvSpPr>
        <p:spPr>
          <a:xfrm flipV="1">
            <a:off x="9996423" y="1925900"/>
            <a:ext cx="946913" cy="811640"/>
          </a:xfrm>
          <a:prstGeom prst="line">
            <a:avLst/>
          </a:prstGeom>
          <a:noFill/>
          <a:ln w="19050">
            <a:solidFill>
              <a:srgbClr val="4A7C86"/>
            </a:solidFill>
            <a:prstDash val="solid"/>
            <a:tailEnd type="triangle"/>
          </a:ln>
        </p:spPr>
        <p:txBody>
          <a:bodyPr/>
          <a:lstStyle/>
          <a:p>
            <a:endParaRPr lang="en-US"/>
          </a:p>
        </p:txBody>
      </p:sp>
      <p:sp>
        <p:nvSpPr>
          <p:cNvPr id="10" name="Shape 8"/>
          <p:cNvSpPr/>
          <p:nvPr/>
        </p:nvSpPr>
        <p:spPr>
          <a:xfrm flipV="1">
            <a:off x="8549640" y="2002536"/>
            <a:ext cx="0" cy="658368"/>
          </a:xfrm>
          <a:prstGeom prst="line">
            <a:avLst/>
          </a:prstGeom>
          <a:noFill/>
          <a:ln w="19050">
            <a:solidFill>
              <a:srgbClr val="4A7C86"/>
            </a:solidFill>
            <a:prstDash val="solid"/>
            <a:tailEnd type="triangle"/>
          </a:ln>
        </p:spPr>
        <p:txBody>
          <a:bodyPr/>
          <a:lstStyle/>
          <a:p>
            <a:endParaRPr lang="en-US"/>
          </a:p>
        </p:txBody>
      </p:sp>
      <p:sp>
        <p:nvSpPr>
          <p:cNvPr id="11" name="Shape 9"/>
          <p:cNvSpPr/>
          <p:nvPr/>
        </p:nvSpPr>
        <p:spPr>
          <a:xfrm>
            <a:off x="8769096" y="2880360"/>
            <a:ext cx="841248" cy="0"/>
          </a:xfrm>
          <a:prstGeom prst="line">
            <a:avLst/>
          </a:prstGeom>
          <a:noFill/>
          <a:ln w="19050">
            <a:solidFill>
              <a:srgbClr val="4A7C86"/>
            </a:solidFill>
            <a:prstDash val="solid"/>
            <a:tailEnd type="triangle"/>
          </a:ln>
        </p:spPr>
        <p:txBody>
          <a:bodyPr/>
          <a:lstStyle/>
          <a:p>
            <a:endParaRPr lang="en-US"/>
          </a:p>
        </p:txBody>
      </p:sp>
      <p:sp>
        <p:nvSpPr>
          <p:cNvPr id="12" name="Shape 10"/>
          <p:cNvSpPr/>
          <p:nvPr/>
        </p:nvSpPr>
        <p:spPr>
          <a:xfrm>
            <a:off x="8549640" y="3099816"/>
            <a:ext cx="0" cy="658368"/>
          </a:xfrm>
          <a:prstGeom prst="line">
            <a:avLst/>
          </a:prstGeom>
          <a:noFill/>
          <a:ln w="19050">
            <a:solidFill>
              <a:srgbClr val="4A7C86"/>
            </a:solidFill>
            <a:prstDash val="solid"/>
            <a:tailEnd type="triangle"/>
          </a:ln>
        </p:spPr>
        <p:txBody>
          <a:bodyPr/>
          <a:lstStyle/>
          <a:p>
            <a:endParaRPr lang="en-US"/>
          </a:p>
        </p:txBody>
      </p:sp>
      <p:sp>
        <p:nvSpPr>
          <p:cNvPr id="13" name="Shape 11"/>
          <p:cNvSpPr/>
          <p:nvPr/>
        </p:nvSpPr>
        <p:spPr>
          <a:xfrm>
            <a:off x="9829800" y="3099816"/>
            <a:ext cx="0" cy="658368"/>
          </a:xfrm>
          <a:prstGeom prst="line">
            <a:avLst/>
          </a:prstGeom>
          <a:noFill/>
          <a:ln w="19050">
            <a:solidFill>
              <a:srgbClr val="4A7C86"/>
            </a:solidFill>
            <a:prstDash val="solid"/>
            <a:tailEnd type="triangle"/>
          </a:ln>
        </p:spPr>
        <p:txBody>
          <a:bodyPr/>
          <a:lstStyle/>
          <a:p>
            <a:endParaRPr lang="en-US"/>
          </a:p>
        </p:txBody>
      </p:sp>
      <p:sp>
        <p:nvSpPr>
          <p:cNvPr id="14" name="Shape 12"/>
          <p:cNvSpPr/>
          <p:nvPr/>
        </p:nvSpPr>
        <p:spPr>
          <a:xfrm flipH="1">
            <a:off x="8769096" y="3977640"/>
            <a:ext cx="841248" cy="0"/>
          </a:xfrm>
          <a:prstGeom prst="line">
            <a:avLst/>
          </a:prstGeom>
          <a:noFill/>
          <a:ln w="19050">
            <a:solidFill>
              <a:srgbClr val="4A7C86"/>
            </a:solidFill>
            <a:prstDash val="solid"/>
            <a:tailEnd type="triangle"/>
          </a:ln>
        </p:spPr>
        <p:txBody>
          <a:bodyPr/>
          <a:lstStyle/>
          <a:p>
            <a:endParaRPr lang="en-US"/>
          </a:p>
        </p:txBody>
      </p:sp>
      <p:sp>
        <p:nvSpPr>
          <p:cNvPr id="15" name="Shape 13"/>
          <p:cNvSpPr/>
          <p:nvPr/>
        </p:nvSpPr>
        <p:spPr>
          <a:xfrm>
            <a:off x="8330184" y="1563624"/>
            <a:ext cx="438912" cy="438912"/>
          </a:xfrm>
          <a:prstGeom prst="ellipse">
            <a:avLst/>
          </a:prstGeom>
          <a:solidFill>
            <a:srgbClr val="1C5D69"/>
          </a:solidFill>
          <a:ln w="15875">
            <a:solidFill>
              <a:srgbClr val="3E7A85"/>
            </a:solidFill>
            <a:prstDash val="solid"/>
          </a:ln>
        </p:spPr>
        <p:txBody>
          <a:bodyPr/>
          <a:lstStyle/>
          <a:p>
            <a:endParaRPr lang="en-US"/>
          </a:p>
        </p:txBody>
      </p:sp>
      <p:sp>
        <p:nvSpPr>
          <p:cNvPr id="16" name="Text 14"/>
          <p:cNvSpPr txBox="1"/>
          <p:nvPr/>
        </p:nvSpPr>
        <p:spPr>
          <a:xfrm>
            <a:off x="8330184" y="1563624"/>
            <a:ext cx="438912" cy="438912"/>
          </a:xfrm>
          <a:prstGeom prst="rect">
            <a:avLst/>
          </a:prstGeom>
          <a:noFill/>
          <a:ln/>
        </p:spPr>
        <p:txBody>
          <a:bodyPr wrap="square" lIns="0" tIns="0" rIns="0" bIns="0" rtlCol="0" anchor="ctr"/>
          <a:lstStyle/>
          <a:p>
            <a:pPr marL="0" indent="0" algn="ctr">
              <a:buNone/>
            </a:pPr>
            <a:endParaRPr lang="en-US" sz="1350" dirty="0"/>
          </a:p>
        </p:txBody>
      </p:sp>
      <p:sp>
        <p:nvSpPr>
          <p:cNvPr id="17" name="Shape 15"/>
          <p:cNvSpPr/>
          <p:nvPr/>
        </p:nvSpPr>
        <p:spPr>
          <a:xfrm>
            <a:off x="9610344" y="1563624"/>
            <a:ext cx="438912" cy="438912"/>
          </a:xfrm>
          <a:prstGeom prst="ellipse">
            <a:avLst/>
          </a:prstGeom>
          <a:solidFill>
            <a:srgbClr val="2A9D8F"/>
          </a:solidFill>
          <a:ln w="15875">
            <a:solidFill>
              <a:srgbClr val="2A9D8F"/>
            </a:solidFill>
            <a:prstDash val="solid"/>
          </a:ln>
        </p:spPr>
        <p:txBody>
          <a:bodyPr/>
          <a:lstStyle/>
          <a:p>
            <a:endParaRPr lang="en-US"/>
          </a:p>
        </p:txBody>
      </p:sp>
      <p:sp>
        <p:nvSpPr>
          <p:cNvPr id="18" name="Text 16"/>
          <p:cNvSpPr txBox="1"/>
          <p:nvPr/>
        </p:nvSpPr>
        <p:spPr>
          <a:xfrm>
            <a:off x="9610344" y="1563624"/>
            <a:ext cx="438912" cy="438912"/>
          </a:xfrm>
          <a:prstGeom prst="rect">
            <a:avLst/>
          </a:prstGeom>
          <a:noFill/>
          <a:ln/>
        </p:spPr>
        <p:txBody>
          <a:bodyPr wrap="square" lIns="0" tIns="0" rIns="0" bIns="0" rtlCol="0" anchor="ctr"/>
          <a:lstStyle/>
          <a:p>
            <a:pPr marL="0" indent="0" algn="ctr">
              <a:buNone/>
            </a:pPr>
            <a:endParaRPr lang="en-US" sz="1350" dirty="0"/>
          </a:p>
        </p:txBody>
      </p:sp>
      <p:sp>
        <p:nvSpPr>
          <p:cNvPr id="19" name="Shape 17"/>
          <p:cNvSpPr/>
          <p:nvPr/>
        </p:nvSpPr>
        <p:spPr>
          <a:xfrm>
            <a:off x="10890504" y="1563624"/>
            <a:ext cx="438912" cy="438912"/>
          </a:xfrm>
          <a:prstGeom prst="ellipse">
            <a:avLst/>
          </a:prstGeom>
          <a:solidFill>
            <a:srgbClr val="1C5D69"/>
          </a:solidFill>
          <a:ln w="15875">
            <a:solidFill>
              <a:srgbClr val="3E7A85"/>
            </a:solidFill>
            <a:prstDash val="solid"/>
          </a:ln>
        </p:spPr>
        <p:txBody>
          <a:bodyPr/>
          <a:lstStyle/>
          <a:p>
            <a:endParaRPr lang="en-US"/>
          </a:p>
        </p:txBody>
      </p:sp>
      <p:sp>
        <p:nvSpPr>
          <p:cNvPr id="20" name="Text 18"/>
          <p:cNvSpPr txBox="1"/>
          <p:nvPr/>
        </p:nvSpPr>
        <p:spPr>
          <a:xfrm>
            <a:off x="10890504" y="1563624"/>
            <a:ext cx="438912" cy="438912"/>
          </a:xfrm>
          <a:prstGeom prst="rect">
            <a:avLst/>
          </a:prstGeom>
          <a:noFill/>
          <a:ln/>
        </p:spPr>
        <p:txBody>
          <a:bodyPr wrap="square" lIns="0" tIns="0" rIns="0" bIns="0" rtlCol="0" anchor="ctr"/>
          <a:lstStyle/>
          <a:p>
            <a:pPr marL="0" indent="0" algn="ctr">
              <a:buNone/>
            </a:pPr>
            <a:endParaRPr lang="en-US" sz="1350" dirty="0"/>
          </a:p>
        </p:txBody>
      </p:sp>
      <p:sp>
        <p:nvSpPr>
          <p:cNvPr id="21" name="Shape 19"/>
          <p:cNvSpPr/>
          <p:nvPr/>
        </p:nvSpPr>
        <p:spPr>
          <a:xfrm>
            <a:off x="8330184" y="2660904"/>
            <a:ext cx="438912" cy="438912"/>
          </a:xfrm>
          <a:prstGeom prst="ellipse">
            <a:avLst/>
          </a:prstGeom>
          <a:solidFill>
            <a:srgbClr val="E8A33D"/>
          </a:solidFill>
          <a:ln w="15875">
            <a:solidFill>
              <a:srgbClr val="E8A33D"/>
            </a:solidFill>
            <a:prstDash val="solid"/>
          </a:ln>
        </p:spPr>
        <p:txBody>
          <a:bodyPr/>
          <a:lstStyle/>
          <a:p>
            <a:endParaRPr lang="en-US"/>
          </a:p>
        </p:txBody>
      </p:sp>
      <p:sp>
        <p:nvSpPr>
          <p:cNvPr id="22" name="Text 20"/>
          <p:cNvSpPr txBox="1"/>
          <p:nvPr/>
        </p:nvSpPr>
        <p:spPr>
          <a:xfrm>
            <a:off x="8330184" y="2660904"/>
            <a:ext cx="438912" cy="438912"/>
          </a:xfrm>
          <a:prstGeom prst="rect">
            <a:avLst/>
          </a:prstGeom>
          <a:noFill/>
          <a:ln/>
        </p:spPr>
        <p:txBody>
          <a:bodyPr wrap="square" lIns="0" tIns="0" rIns="0" bIns="0" rtlCol="0" anchor="ctr"/>
          <a:lstStyle/>
          <a:p>
            <a:pPr marL="0" indent="0" algn="ctr">
              <a:buNone/>
            </a:pPr>
            <a:endParaRPr lang="en-US" sz="1350" dirty="0"/>
          </a:p>
        </p:txBody>
      </p:sp>
      <p:sp>
        <p:nvSpPr>
          <p:cNvPr id="23" name="Shape 21"/>
          <p:cNvSpPr/>
          <p:nvPr/>
        </p:nvSpPr>
        <p:spPr>
          <a:xfrm>
            <a:off x="9610344" y="2660904"/>
            <a:ext cx="438912" cy="438912"/>
          </a:xfrm>
          <a:prstGeom prst="ellipse">
            <a:avLst/>
          </a:prstGeom>
          <a:solidFill>
            <a:srgbClr val="2A9D8F"/>
          </a:solidFill>
          <a:ln w="15875">
            <a:solidFill>
              <a:srgbClr val="2A9D8F"/>
            </a:solidFill>
            <a:prstDash val="solid"/>
          </a:ln>
        </p:spPr>
        <p:txBody>
          <a:bodyPr/>
          <a:lstStyle/>
          <a:p>
            <a:endParaRPr lang="en-US"/>
          </a:p>
        </p:txBody>
      </p:sp>
      <p:sp>
        <p:nvSpPr>
          <p:cNvPr id="24" name="Text 22"/>
          <p:cNvSpPr txBox="1"/>
          <p:nvPr/>
        </p:nvSpPr>
        <p:spPr>
          <a:xfrm>
            <a:off x="9610344" y="2660904"/>
            <a:ext cx="438912" cy="438912"/>
          </a:xfrm>
          <a:prstGeom prst="rect">
            <a:avLst/>
          </a:prstGeom>
          <a:noFill/>
          <a:ln/>
        </p:spPr>
        <p:txBody>
          <a:bodyPr wrap="square" lIns="0" tIns="0" rIns="0" bIns="0" rtlCol="0" anchor="ctr"/>
          <a:lstStyle/>
          <a:p>
            <a:pPr marL="0" indent="0" algn="ctr">
              <a:buNone/>
            </a:pPr>
            <a:endParaRPr lang="en-US" sz="1350" dirty="0"/>
          </a:p>
        </p:txBody>
      </p:sp>
      <p:sp>
        <p:nvSpPr>
          <p:cNvPr id="25" name="Shape 23"/>
          <p:cNvSpPr/>
          <p:nvPr/>
        </p:nvSpPr>
        <p:spPr>
          <a:xfrm>
            <a:off x="8330184" y="3758184"/>
            <a:ext cx="438912" cy="438912"/>
          </a:xfrm>
          <a:prstGeom prst="ellipse">
            <a:avLst/>
          </a:prstGeom>
          <a:solidFill>
            <a:srgbClr val="1C5D69"/>
          </a:solidFill>
          <a:ln w="15875">
            <a:solidFill>
              <a:srgbClr val="3E7A85"/>
            </a:solidFill>
            <a:prstDash val="solid"/>
          </a:ln>
        </p:spPr>
        <p:txBody>
          <a:bodyPr/>
          <a:lstStyle/>
          <a:p>
            <a:endParaRPr lang="en-US"/>
          </a:p>
        </p:txBody>
      </p:sp>
      <p:sp>
        <p:nvSpPr>
          <p:cNvPr id="26" name="Text 24"/>
          <p:cNvSpPr txBox="1"/>
          <p:nvPr/>
        </p:nvSpPr>
        <p:spPr>
          <a:xfrm>
            <a:off x="8330184" y="3758184"/>
            <a:ext cx="438912" cy="438912"/>
          </a:xfrm>
          <a:prstGeom prst="rect">
            <a:avLst/>
          </a:prstGeom>
          <a:noFill/>
          <a:ln/>
        </p:spPr>
        <p:txBody>
          <a:bodyPr wrap="square" lIns="0" tIns="0" rIns="0" bIns="0" rtlCol="0" anchor="ctr"/>
          <a:lstStyle/>
          <a:p>
            <a:pPr marL="0" indent="0" algn="ctr">
              <a:buNone/>
            </a:pPr>
            <a:endParaRPr lang="en-US" sz="1350" dirty="0"/>
          </a:p>
        </p:txBody>
      </p:sp>
      <p:sp>
        <p:nvSpPr>
          <p:cNvPr id="27" name="Shape 25"/>
          <p:cNvSpPr/>
          <p:nvPr/>
        </p:nvSpPr>
        <p:spPr>
          <a:xfrm>
            <a:off x="9610344" y="3758184"/>
            <a:ext cx="438912" cy="438912"/>
          </a:xfrm>
          <a:prstGeom prst="ellipse">
            <a:avLst/>
          </a:prstGeom>
          <a:solidFill>
            <a:srgbClr val="1C5D69"/>
          </a:solidFill>
          <a:ln w="15875">
            <a:solidFill>
              <a:srgbClr val="3E7A85"/>
            </a:solidFill>
            <a:prstDash val="solid"/>
          </a:ln>
        </p:spPr>
        <p:txBody>
          <a:bodyPr/>
          <a:lstStyle/>
          <a:p>
            <a:endParaRPr lang="en-US"/>
          </a:p>
        </p:txBody>
      </p:sp>
      <p:sp>
        <p:nvSpPr>
          <p:cNvPr id="28" name="Text 26"/>
          <p:cNvSpPr txBox="1"/>
          <p:nvPr/>
        </p:nvSpPr>
        <p:spPr>
          <a:xfrm>
            <a:off x="9610344" y="3758184"/>
            <a:ext cx="438912" cy="438912"/>
          </a:xfrm>
          <a:prstGeom prst="rect">
            <a:avLst/>
          </a:prstGeom>
          <a:noFill/>
          <a:ln/>
        </p:spPr>
        <p:txBody>
          <a:bodyPr wrap="square" lIns="0" tIns="0" rIns="0" bIns="0" rtlCol="0" anchor="ctr"/>
          <a:lstStyle/>
          <a:p>
            <a:pPr marL="0" indent="0" algn="ctr">
              <a:buNone/>
            </a:pPr>
            <a:endParaRPr lang="en-US" sz="1350" dirty="0"/>
          </a:p>
        </p:txBody>
      </p:sp>
      <p:sp>
        <p:nvSpPr>
          <p:cNvPr id="30" name="Text 27"/>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7FA5AB"/>
                </a:solidFill>
                <a:latin typeface="Calibri" pitchFamily="34" charset="0"/>
                <a:ea typeface="Calibri" pitchFamily="34" charset="-122"/>
                <a:cs typeface="Calibri" pitchFamily="34" charset="-120"/>
              </a:rPr>
              <a:t>COMP90038  ·  Algorithms and Complexity  ·  Week 6</a:t>
            </a:r>
            <a:endParaRPr lang="en-US" sz="900" dirty="0"/>
          </a:p>
        </p:txBody>
      </p:sp>
      <p:sp>
        <p:nvSpPr>
          <p:cNvPr id="31" name="Text 28"/>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7FA5A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W6</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Plan for today</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Two questions are carried over from last week — we finish what we started before opening the new sheet.</a:t>
            </a:r>
            <a:endParaRPr lang="en-US" sz="1300" dirty="0"/>
          </a:p>
        </p:txBody>
      </p:sp>
      <p:sp>
        <p:nvSpPr>
          <p:cNvPr id="6" name="Shape 4"/>
          <p:cNvSpPr/>
          <p:nvPr/>
        </p:nvSpPr>
        <p:spPr>
          <a:xfrm>
            <a:off x="640080" y="1600200"/>
            <a:ext cx="3337560" cy="2834640"/>
          </a:xfrm>
          <a:prstGeom prst="roundRect">
            <a:avLst>
              <a:gd name="adj" fmla="val 1935"/>
            </a:avLst>
          </a:prstGeom>
          <a:solidFill>
            <a:srgbClr val="F6F9F8"/>
          </a:solidFill>
          <a:ln w="9525">
            <a:solidFill>
              <a:srgbClr val="D3E0DD"/>
            </a:solidFill>
            <a:prstDash val="solid"/>
          </a:ln>
        </p:spPr>
        <p:txBody>
          <a:bodyPr/>
          <a:lstStyle/>
          <a:p>
            <a:endParaRPr lang="en-US"/>
          </a:p>
        </p:txBody>
      </p:sp>
      <p:sp>
        <p:nvSpPr>
          <p:cNvPr id="7" name="Shape 5"/>
          <p:cNvSpPr/>
          <p:nvPr/>
        </p:nvSpPr>
        <p:spPr>
          <a:xfrm>
            <a:off x="932688" y="1874520"/>
            <a:ext cx="384048" cy="384048"/>
          </a:xfrm>
          <a:prstGeom prst="ellipse">
            <a:avLst/>
          </a:prstGeom>
          <a:solidFill>
            <a:srgbClr val="E8A33D"/>
          </a:solidFill>
          <a:ln w="12700">
            <a:solidFill>
              <a:srgbClr val="E8A33D"/>
            </a:solidFill>
            <a:prstDash val="solid"/>
          </a:ln>
        </p:spPr>
        <p:txBody>
          <a:bodyPr/>
          <a:lstStyle/>
          <a:p>
            <a:endParaRPr lang="en-US"/>
          </a:p>
        </p:txBody>
      </p:sp>
      <p:sp>
        <p:nvSpPr>
          <p:cNvPr id="8" name="Text 6"/>
          <p:cNvSpPr txBox="1"/>
          <p:nvPr/>
        </p:nvSpPr>
        <p:spPr>
          <a:xfrm>
            <a:off x="932688" y="18745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481328" y="1847088"/>
            <a:ext cx="2377440" cy="438912"/>
          </a:xfrm>
          <a:prstGeom prst="rect">
            <a:avLst/>
          </a:prstGeom>
          <a:noFill/>
          <a:ln/>
        </p:spPr>
        <p:txBody>
          <a:bodyPr wrap="square" lIns="0" tIns="0" rIns="0" bIns="0" rtlCol="0" anchor="ctr"/>
          <a:lstStyle/>
          <a:p>
            <a:pPr marL="0" indent="0" algn="l">
              <a:lnSpc>
                <a:spcPct val="115000"/>
              </a:lnSpc>
              <a:buNone/>
            </a:pPr>
            <a:r>
              <a:rPr lang="en-US" sz="1650" b="1" dirty="0">
                <a:solidFill>
                  <a:srgbClr val="13232B"/>
                </a:solidFill>
                <a:latin typeface="Cambria" pitchFamily="34" charset="0"/>
                <a:ea typeface="Cambria" pitchFamily="34" charset="-122"/>
                <a:cs typeface="Cambria" pitchFamily="34" charset="-120"/>
              </a:rPr>
              <a:t>Finish Q30</a:t>
            </a:r>
            <a:endParaRPr lang="en-US" sz="1650" dirty="0"/>
          </a:p>
        </p:txBody>
      </p:sp>
      <p:sp>
        <p:nvSpPr>
          <p:cNvPr id="10" name="Text 8"/>
          <p:cNvSpPr txBox="1"/>
          <p:nvPr/>
        </p:nvSpPr>
        <p:spPr>
          <a:xfrm>
            <a:off x="932688" y="2432304"/>
            <a:ext cx="2788920" cy="274320"/>
          </a:xfrm>
          <a:prstGeom prst="rect">
            <a:avLst/>
          </a:prstGeom>
          <a:noFill/>
          <a:ln/>
        </p:spPr>
        <p:txBody>
          <a:bodyPr wrap="square" lIns="0" tIns="0" rIns="0" bIns="0" rtlCol="0" anchor="t"/>
          <a:lstStyle/>
          <a:p>
            <a:pPr marL="0" indent="0" algn="l">
              <a:lnSpc>
                <a:spcPct val="115000"/>
              </a:lnSpc>
              <a:buNone/>
            </a:pPr>
            <a:r>
              <a:rPr lang="en-US" sz="1250" b="1" dirty="0">
                <a:solidFill>
                  <a:srgbClr val="E8A33D"/>
                </a:solidFill>
                <a:latin typeface="Calibri" pitchFamily="34" charset="0"/>
                <a:ea typeface="Calibri" pitchFamily="34" charset="-122"/>
                <a:cs typeface="Calibri" pitchFamily="34" charset="-120"/>
              </a:rPr>
              <a:t>Q30  ·  from Week 5</a:t>
            </a:r>
            <a:endParaRPr lang="en-US" sz="1250" dirty="0"/>
          </a:p>
        </p:txBody>
      </p:sp>
      <p:sp>
        <p:nvSpPr>
          <p:cNvPr id="11" name="Text 9"/>
          <p:cNvSpPr txBox="1"/>
          <p:nvPr/>
        </p:nvSpPr>
        <p:spPr>
          <a:xfrm>
            <a:off x="932688" y="2798064"/>
            <a:ext cx="2788920" cy="914400"/>
          </a:xfrm>
          <a:prstGeom prst="rect">
            <a:avLst/>
          </a:prstGeom>
          <a:noFill/>
          <a:ln/>
        </p:spPr>
        <p:txBody>
          <a:bodyPr wrap="square" lIns="0" tIns="0" rIns="0" bIns="0" rtlCol="0" anchor="t"/>
          <a:lstStyle/>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The cycle test that answers True for</a:t>
            </a:r>
            <a:endParaRPr lang="en-US" sz="1250" dirty="0"/>
          </a:p>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a two-node tree. We stopped before</a:t>
            </a:r>
            <a:endParaRPr lang="en-US" sz="1250" dirty="0"/>
          </a:p>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the repair.</a:t>
            </a:r>
            <a:endParaRPr lang="en-US" sz="1250" dirty="0"/>
          </a:p>
        </p:txBody>
      </p:sp>
      <p:sp>
        <p:nvSpPr>
          <p:cNvPr id="12" name="Text 10"/>
          <p:cNvSpPr txBox="1"/>
          <p:nvPr/>
        </p:nvSpPr>
        <p:spPr>
          <a:xfrm>
            <a:off x="932688" y="3840480"/>
            <a:ext cx="2743200" cy="292608"/>
          </a:xfrm>
          <a:prstGeom prst="rect">
            <a:avLst/>
          </a:prstGeom>
          <a:noFill/>
          <a:ln/>
        </p:spPr>
        <p:txBody>
          <a:bodyPr wrap="square" lIns="0" tIns="0" rIns="0" bIns="0" rtlCol="0" anchor="t"/>
          <a:lstStyle/>
          <a:p>
            <a:pPr marL="0" indent="0" algn="l">
              <a:lnSpc>
                <a:spcPct val="115000"/>
              </a:lnSpc>
              <a:buNone/>
            </a:pPr>
            <a:r>
              <a:rPr lang="en-US" sz="1150" i="1" dirty="0">
                <a:solidFill>
                  <a:srgbClr val="63797F"/>
                </a:solidFill>
                <a:latin typeface="Calibri" pitchFamily="34" charset="0"/>
                <a:ea typeface="Calibri" pitchFamily="34" charset="-122"/>
                <a:cs typeface="Calibri" pitchFamily="34" charset="-120"/>
              </a:rPr>
              <a:t>~8 min</a:t>
            </a:r>
            <a:endParaRPr lang="en-US" sz="1150" dirty="0"/>
          </a:p>
        </p:txBody>
      </p:sp>
      <p:sp>
        <p:nvSpPr>
          <p:cNvPr id="13" name="Shape 11"/>
          <p:cNvSpPr/>
          <p:nvPr/>
        </p:nvSpPr>
        <p:spPr>
          <a:xfrm>
            <a:off x="4343400" y="1600200"/>
            <a:ext cx="3337560" cy="2834640"/>
          </a:xfrm>
          <a:prstGeom prst="roundRect">
            <a:avLst>
              <a:gd name="adj" fmla="val 1935"/>
            </a:avLst>
          </a:prstGeom>
          <a:solidFill>
            <a:srgbClr val="F6F9F8"/>
          </a:solidFill>
          <a:ln w="9525">
            <a:solidFill>
              <a:srgbClr val="D3E0DD"/>
            </a:solidFill>
            <a:prstDash val="solid"/>
          </a:ln>
        </p:spPr>
        <p:txBody>
          <a:bodyPr/>
          <a:lstStyle/>
          <a:p>
            <a:endParaRPr lang="en-US"/>
          </a:p>
        </p:txBody>
      </p:sp>
      <p:sp>
        <p:nvSpPr>
          <p:cNvPr id="14" name="Shape 12"/>
          <p:cNvSpPr/>
          <p:nvPr/>
        </p:nvSpPr>
        <p:spPr>
          <a:xfrm>
            <a:off x="4636008" y="1874520"/>
            <a:ext cx="384048" cy="384048"/>
          </a:xfrm>
          <a:prstGeom prst="ellipse">
            <a:avLst/>
          </a:prstGeom>
          <a:solidFill>
            <a:srgbClr val="2A9D8F"/>
          </a:solidFill>
          <a:ln w="12700">
            <a:solidFill>
              <a:srgbClr val="2A9D8F"/>
            </a:solidFill>
            <a:prstDash val="solid"/>
          </a:ln>
        </p:spPr>
        <p:txBody>
          <a:bodyPr/>
          <a:lstStyle/>
          <a:p>
            <a:endParaRPr lang="en-US"/>
          </a:p>
        </p:txBody>
      </p:sp>
      <p:sp>
        <p:nvSpPr>
          <p:cNvPr id="15" name="Text 13"/>
          <p:cNvSpPr txBox="1"/>
          <p:nvPr/>
        </p:nvSpPr>
        <p:spPr>
          <a:xfrm>
            <a:off x="4636008" y="18745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5184648" y="1847088"/>
            <a:ext cx="2377440" cy="438912"/>
          </a:xfrm>
          <a:prstGeom prst="rect">
            <a:avLst/>
          </a:prstGeom>
          <a:noFill/>
          <a:ln/>
        </p:spPr>
        <p:txBody>
          <a:bodyPr wrap="square" lIns="0" tIns="0" rIns="0" bIns="0" rtlCol="0" anchor="ctr"/>
          <a:lstStyle/>
          <a:p>
            <a:pPr marL="0" indent="0" algn="l">
              <a:lnSpc>
                <a:spcPct val="115000"/>
              </a:lnSpc>
              <a:buNone/>
            </a:pPr>
            <a:r>
              <a:rPr lang="en-US" sz="1650" b="1" dirty="0">
                <a:solidFill>
                  <a:srgbClr val="13232B"/>
                </a:solidFill>
                <a:latin typeface="Cambria" pitchFamily="34" charset="0"/>
                <a:ea typeface="Cambria" pitchFamily="34" charset="-122"/>
                <a:cs typeface="Cambria" pitchFamily="34" charset="-120"/>
              </a:rPr>
              <a:t>One DFS, four answers</a:t>
            </a:r>
            <a:endParaRPr lang="en-US" sz="1650" dirty="0"/>
          </a:p>
        </p:txBody>
      </p:sp>
      <p:sp>
        <p:nvSpPr>
          <p:cNvPr id="17" name="Text 15"/>
          <p:cNvSpPr txBox="1"/>
          <p:nvPr/>
        </p:nvSpPr>
        <p:spPr>
          <a:xfrm>
            <a:off x="4636008" y="2432304"/>
            <a:ext cx="2788920" cy="274320"/>
          </a:xfrm>
          <a:prstGeom prst="rect">
            <a:avLst/>
          </a:prstGeom>
          <a:noFill/>
          <a:ln/>
        </p:spPr>
        <p:txBody>
          <a:bodyPr wrap="square" lIns="0" tIns="0" rIns="0" bIns="0" rtlCol="0" anchor="t"/>
          <a:lstStyle/>
          <a:p>
            <a:pPr marL="0" indent="0" algn="l">
              <a:lnSpc>
                <a:spcPct val="115000"/>
              </a:lnSpc>
              <a:buNone/>
            </a:pPr>
            <a:r>
              <a:rPr lang="en-US" sz="1250" b="1" dirty="0">
                <a:solidFill>
                  <a:srgbClr val="2A9D8F"/>
                </a:solidFill>
                <a:latin typeface="Calibri" pitchFamily="34" charset="0"/>
                <a:ea typeface="Calibri" pitchFamily="34" charset="-122"/>
                <a:cs typeface="Calibri" pitchFamily="34" charset="-120"/>
              </a:rPr>
              <a:t>Q33  ·  Q34  ·  Q35  ·  Q36</a:t>
            </a:r>
            <a:endParaRPr lang="en-US" sz="1250" dirty="0"/>
          </a:p>
        </p:txBody>
      </p:sp>
      <p:sp>
        <p:nvSpPr>
          <p:cNvPr id="18" name="Text 16"/>
          <p:cNvSpPr txBox="1"/>
          <p:nvPr/>
        </p:nvSpPr>
        <p:spPr>
          <a:xfrm>
            <a:off x="4636008" y="2798064"/>
            <a:ext cx="2788920" cy="914400"/>
          </a:xfrm>
          <a:prstGeom prst="rect">
            <a:avLst/>
          </a:prstGeom>
          <a:noFill/>
          <a:ln/>
        </p:spPr>
        <p:txBody>
          <a:bodyPr wrap="square" lIns="0" tIns="0" rIns="0" bIns="0" rtlCol="0" anchor="t"/>
          <a:lstStyle/>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Classify edges, detect cycles with DFS</a:t>
            </a:r>
            <a:endParaRPr lang="en-US" sz="1250" dirty="0"/>
          </a:p>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and with BFS, then two-colour a graph.</a:t>
            </a:r>
            <a:endParaRPr lang="en-US" sz="1250" dirty="0"/>
          </a:p>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All the same traversal.</a:t>
            </a:r>
            <a:endParaRPr lang="en-US" sz="1250" dirty="0"/>
          </a:p>
        </p:txBody>
      </p:sp>
      <p:sp>
        <p:nvSpPr>
          <p:cNvPr id="19" name="Text 17"/>
          <p:cNvSpPr txBox="1"/>
          <p:nvPr/>
        </p:nvSpPr>
        <p:spPr>
          <a:xfrm>
            <a:off x="4636008" y="3840480"/>
            <a:ext cx="2743200" cy="292608"/>
          </a:xfrm>
          <a:prstGeom prst="rect">
            <a:avLst/>
          </a:prstGeom>
          <a:noFill/>
          <a:ln/>
        </p:spPr>
        <p:txBody>
          <a:bodyPr wrap="square" lIns="0" tIns="0" rIns="0" bIns="0" rtlCol="0" anchor="t"/>
          <a:lstStyle/>
          <a:p>
            <a:pPr marL="0" indent="0" algn="l">
              <a:lnSpc>
                <a:spcPct val="115000"/>
              </a:lnSpc>
              <a:buNone/>
            </a:pPr>
            <a:r>
              <a:rPr lang="en-US" sz="1150" i="1" dirty="0">
                <a:solidFill>
                  <a:srgbClr val="63797F"/>
                </a:solidFill>
                <a:latin typeface="Calibri" pitchFamily="34" charset="0"/>
                <a:ea typeface="Calibri" pitchFamily="34" charset="-122"/>
                <a:cs typeface="Calibri" pitchFamily="34" charset="-120"/>
              </a:rPr>
              <a:t>~35 min</a:t>
            </a:r>
            <a:endParaRPr lang="en-US" sz="1150" dirty="0"/>
          </a:p>
        </p:txBody>
      </p:sp>
      <p:sp>
        <p:nvSpPr>
          <p:cNvPr id="20" name="Shape 18"/>
          <p:cNvSpPr/>
          <p:nvPr/>
        </p:nvSpPr>
        <p:spPr>
          <a:xfrm>
            <a:off x="8046720" y="1600200"/>
            <a:ext cx="3337560" cy="2834640"/>
          </a:xfrm>
          <a:prstGeom prst="roundRect">
            <a:avLst>
              <a:gd name="adj" fmla="val 1935"/>
            </a:avLst>
          </a:prstGeom>
          <a:solidFill>
            <a:srgbClr val="F6F9F8"/>
          </a:solidFill>
          <a:ln w="9525">
            <a:solidFill>
              <a:srgbClr val="D3E0DD"/>
            </a:solidFill>
            <a:prstDash val="solid"/>
          </a:ln>
        </p:spPr>
        <p:txBody>
          <a:bodyPr/>
          <a:lstStyle/>
          <a:p>
            <a:endParaRPr lang="en-US"/>
          </a:p>
        </p:txBody>
      </p:sp>
      <p:sp>
        <p:nvSpPr>
          <p:cNvPr id="21" name="Shape 19"/>
          <p:cNvSpPr/>
          <p:nvPr/>
        </p:nvSpPr>
        <p:spPr>
          <a:xfrm>
            <a:off x="8339328" y="1874520"/>
            <a:ext cx="384048" cy="384048"/>
          </a:xfrm>
          <a:prstGeom prst="ellipse">
            <a:avLst/>
          </a:prstGeom>
          <a:solidFill>
            <a:srgbClr val="0B3B44"/>
          </a:solidFill>
          <a:ln w="12700">
            <a:solidFill>
              <a:srgbClr val="0B3B44"/>
            </a:solidFill>
            <a:prstDash val="solid"/>
          </a:ln>
        </p:spPr>
        <p:txBody>
          <a:bodyPr/>
          <a:lstStyle/>
          <a:p>
            <a:endParaRPr lang="en-US"/>
          </a:p>
        </p:txBody>
      </p:sp>
      <p:sp>
        <p:nvSpPr>
          <p:cNvPr id="22" name="Text 20"/>
          <p:cNvSpPr txBox="1"/>
          <p:nvPr/>
        </p:nvSpPr>
        <p:spPr>
          <a:xfrm>
            <a:off x="8339328" y="18745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8887968" y="1847088"/>
            <a:ext cx="2377440" cy="438912"/>
          </a:xfrm>
          <a:prstGeom prst="rect">
            <a:avLst/>
          </a:prstGeom>
          <a:noFill/>
          <a:ln/>
        </p:spPr>
        <p:txBody>
          <a:bodyPr wrap="square" lIns="0" tIns="0" rIns="0" bIns="0" rtlCol="0" anchor="ctr"/>
          <a:lstStyle/>
          <a:p>
            <a:pPr marL="0" indent="0" algn="l">
              <a:lnSpc>
                <a:spcPct val="115000"/>
              </a:lnSpc>
              <a:buNone/>
            </a:pPr>
            <a:r>
              <a:rPr lang="en-US" sz="1650" b="1" dirty="0">
                <a:solidFill>
                  <a:srgbClr val="13232B"/>
                </a:solidFill>
                <a:latin typeface="Cambria" pitchFamily="34" charset="0"/>
                <a:ea typeface="Cambria" pitchFamily="34" charset="-122"/>
                <a:cs typeface="Cambria" pitchFamily="34" charset="-120"/>
              </a:rPr>
              <a:t>Decrease and conquer</a:t>
            </a:r>
            <a:endParaRPr lang="en-US" sz="1650" dirty="0"/>
          </a:p>
        </p:txBody>
      </p:sp>
      <p:sp>
        <p:nvSpPr>
          <p:cNvPr id="24" name="Text 22"/>
          <p:cNvSpPr txBox="1"/>
          <p:nvPr/>
        </p:nvSpPr>
        <p:spPr>
          <a:xfrm>
            <a:off x="8339328" y="2432304"/>
            <a:ext cx="2788920" cy="274320"/>
          </a:xfrm>
          <a:prstGeom prst="rect">
            <a:avLst/>
          </a:prstGeom>
          <a:noFill/>
          <a:ln/>
        </p:spPr>
        <p:txBody>
          <a:bodyPr wrap="square" lIns="0" tIns="0" rIns="0" bIns="0" rtlCol="0" anchor="t"/>
          <a:lstStyle/>
          <a:p>
            <a:pPr marL="0" indent="0" algn="l">
              <a:lnSpc>
                <a:spcPct val="115000"/>
              </a:lnSpc>
              <a:buNone/>
            </a:pPr>
            <a:r>
              <a:rPr lang="en-US" sz="1250" b="1" dirty="0">
                <a:solidFill>
                  <a:srgbClr val="0B3B44"/>
                </a:solidFill>
                <a:latin typeface="Calibri" pitchFamily="34" charset="0"/>
                <a:ea typeface="Calibri" pitchFamily="34" charset="-122"/>
                <a:cs typeface="Calibri" pitchFamily="34" charset="-120"/>
              </a:rPr>
              <a:t>Q37  ·  Q40</a:t>
            </a:r>
            <a:endParaRPr lang="en-US" sz="1250" dirty="0"/>
          </a:p>
        </p:txBody>
      </p:sp>
      <p:sp>
        <p:nvSpPr>
          <p:cNvPr id="25" name="Text 23"/>
          <p:cNvSpPr txBox="1"/>
          <p:nvPr/>
        </p:nvSpPr>
        <p:spPr>
          <a:xfrm>
            <a:off x="8339328" y="2798064"/>
            <a:ext cx="2788920" cy="914400"/>
          </a:xfrm>
          <a:prstGeom prst="rect">
            <a:avLst/>
          </a:prstGeom>
          <a:noFill/>
          <a:ln/>
        </p:spPr>
        <p:txBody>
          <a:bodyPr wrap="square" lIns="0" tIns="0" rIns="0" bIns="0" rtlCol="0" anchor="t"/>
          <a:lstStyle/>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Topological sort by DFS, insertion sort</a:t>
            </a:r>
            <a:endParaRPr lang="en-US" sz="1250" dirty="0"/>
          </a:p>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by hand, and one probe of interpolation</a:t>
            </a:r>
            <a:endParaRPr lang="en-US" sz="1250" dirty="0"/>
          </a:p>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search.</a:t>
            </a:r>
            <a:endParaRPr lang="en-US" sz="1250" dirty="0"/>
          </a:p>
        </p:txBody>
      </p:sp>
      <p:sp>
        <p:nvSpPr>
          <p:cNvPr id="26" name="Text 24"/>
          <p:cNvSpPr txBox="1"/>
          <p:nvPr/>
        </p:nvSpPr>
        <p:spPr>
          <a:xfrm>
            <a:off x="8339328" y="3840480"/>
            <a:ext cx="2743200" cy="292608"/>
          </a:xfrm>
          <a:prstGeom prst="rect">
            <a:avLst/>
          </a:prstGeom>
          <a:noFill/>
          <a:ln/>
        </p:spPr>
        <p:txBody>
          <a:bodyPr wrap="square" lIns="0" tIns="0" rIns="0" bIns="0" rtlCol="0" anchor="t"/>
          <a:lstStyle/>
          <a:p>
            <a:pPr marL="0" indent="0" algn="l">
              <a:lnSpc>
                <a:spcPct val="115000"/>
              </a:lnSpc>
              <a:buNone/>
            </a:pPr>
            <a:r>
              <a:rPr lang="en-US" sz="1150" i="1" dirty="0">
                <a:solidFill>
                  <a:srgbClr val="63797F"/>
                </a:solidFill>
                <a:latin typeface="Calibri" pitchFamily="34" charset="0"/>
                <a:ea typeface="Calibri" pitchFamily="34" charset="-122"/>
                <a:cs typeface="Calibri" pitchFamily="34" charset="-120"/>
              </a:rPr>
              <a:t>~15 min</a:t>
            </a:r>
            <a:endParaRPr lang="en-US" sz="1150" dirty="0"/>
          </a:p>
        </p:txBody>
      </p:sp>
      <p:sp>
        <p:nvSpPr>
          <p:cNvPr id="27" name="Shape 25"/>
          <p:cNvSpPr/>
          <p:nvPr/>
        </p:nvSpPr>
        <p:spPr>
          <a:xfrm>
            <a:off x="640080" y="4709160"/>
            <a:ext cx="10927080" cy="960120"/>
          </a:xfrm>
          <a:prstGeom prst="roundRect">
            <a:avLst>
              <a:gd name="adj" fmla="val 5714"/>
            </a:avLst>
          </a:prstGeom>
          <a:solidFill>
            <a:srgbClr val="EDF4F3"/>
          </a:solidFill>
          <a:ln w="12700">
            <a:solidFill>
              <a:srgbClr val="EDF4F3"/>
            </a:solidFill>
            <a:prstDash val="solid"/>
          </a:ln>
        </p:spPr>
        <p:txBody>
          <a:bodyPr/>
          <a:lstStyle/>
          <a:p>
            <a:endParaRPr lang="en-US"/>
          </a:p>
        </p:txBody>
      </p:sp>
      <p:sp>
        <p:nvSpPr>
          <p:cNvPr id="28" name="Text 26"/>
          <p:cNvSpPr txBox="1"/>
          <p:nvPr/>
        </p:nvSpPr>
        <p:spPr>
          <a:xfrm>
            <a:off x="914400" y="4709160"/>
            <a:ext cx="10378440" cy="960120"/>
          </a:xfrm>
          <a:prstGeom prst="rect">
            <a:avLst/>
          </a:prstGeom>
          <a:noFill/>
          <a:ln/>
        </p:spPr>
        <p:txBody>
          <a:bodyPr wrap="square" lIns="0" tIns="0" rIns="0" bIns="0" rtlCol="0" anchor="ctr"/>
          <a:lstStyle/>
          <a:p>
            <a:pPr marL="0" indent="0">
              <a:lnSpc>
                <a:spcPct val="120000"/>
              </a:lnSpc>
              <a:buNone/>
            </a:pPr>
            <a:r>
              <a:rPr lang="en-US" sz="1300" b="1" dirty="0">
                <a:solidFill>
                  <a:srgbClr val="13232B"/>
                </a:solidFill>
                <a:latin typeface="Calibri" pitchFamily="34" charset="0"/>
                <a:ea typeface="Calibri" pitchFamily="34" charset="-122"/>
                <a:cs typeface="Calibri" pitchFamily="34" charset="-120"/>
              </a:rPr>
              <a:t>Not covered live:  </a:t>
            </a:r>
            <a:r>
              <a:rPr lang="en-US" sz="1300" dirty="0">
                <a:solidFill>
                  <a:srgbClr val="13232B"/>
                </a:solidFill>
                <a:latin typeface="Calibri" pitchFamily="34" charset="0"/>
                <a:ea typeface="Calibri" pitchFamily="34" charset="-122"/>
                <a:cs typeface="Calibri" pitchFamily="34" charset="-120"/>
              </a:rPr>
              <a:t>Q39 is one sentence and it is answered on the Q38 slide — we count inversions properly with a modified Mergesort next week. Q41 is optional and sits in the appendix, together with the in-degree version of topological sort. Worked solutions for everything are on the LMS.</a:t>
            </a:r>
            <a:endParaRPr lang="en-US" sz="1300" dirty="0"/>
          </a:p>
        </p:txBody>
      </p:sp>
      <p:sp>
        <p:nvSpPr>
          <p:cNvPr id="30" name="Text 27"/>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31" name="Text 28"/>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Where we stopped: a cycle test that does not work</a:t>
            </a:r>
            <a:endParaRPr lang="en-US" sz="2700" dirty="0"/>
          </a:p>
        </p:txBody>
      </p:sp>
      <p:sp>
        <p:nvSpPr>
          <p:cNvPr id="6" name="Shape 4"/>
          <p:cNvSpPr/>
          <p:nvPr/>
        </p:nvSpPr>
        <p:spPr>
          <a:xfrm>
            <a:off x="640080" y="1600200"/>
            <a:ext cx="5852160" cy="4069080"/>
          </a:xfrm>
          <a:prstGeom prst="roundRect">
            <a:avLst>
              <a:gd name="adj" fmla="val 1348"/>
            </a:avLst>
          </a:prstGeom>
          <a:solidFill>
            <a:srgbClr val="F6F9F8"/>
          </a:solidFill>
          <a:ln w="9525">
            <a:solidFill>
              <a:srgbClr val="D3E0DD"/>
            </a:solidFill>
            <a:prstDash val="solid"/>
          </a:ln>
        </p:spPr>
        <p:txBody>
          <a:bodyPr/>
          <a:lstStyle/>
          <a:p>
            <a:endParaRPr lang="en-US"/>
          </a:p>
        </p:txBody>
      </p:sp>
      <p:sp>
        <p:nvSpPr>
          <p:cNvPr id="7" name="Text 5"/>
          <p:cNvSpPr txBox="1"/>
          <p:nvPr/>
        </p:nvSpPr>
        <p:spPr>
          <a:xfrm>
            <a:off x="914400" y="1810512"/>
            <a:ext cx="5303520" cy="237744"/>
          </a:xfrm>
          <a:prstGeom prst="rect">
            <a:avLst/>
          </a:prstGeom>
          <a:noFill/>
          <a:ln/>
        </p:spPr>
        <p:txBody>
          <a:bodyPr wrap="square" lIns="0" tIns="0" rIns="0" bIns="0" rtlCol="0" anchor="ctr"/>
          <a:lstStyle/>
          <a:p>
            <a:pPr marL="0" indent="0">
              <a:buNone/>
            </a:pPr>
            <a:r>
              <a:rPr lang="en-US" sz="950" b="1" kern="0" spc="120" dirty="0">
                <a:solidFill>
                  <a:srgbClr val="2A9D8F"/>
                </a:solidFill>
                <a:latin typeface="Calibri" pitchFamily="34" charset="0"/>
                <a:ea typeface="Calibri" pitchFamily="34" charset="-122"/>
                <a:cs typeface="Calibri" pitchFamily="34" charset="-120"/>
              </a:rPr>
              <a:t>AS GIVEN IN THE WORKSHEET</a:t>
            </a:r>
            <a:endParaRPr lang="en-US" sz="950" dirty="0"/>
          </a:p>
        </p:txBody>
      </p:sp>
      <p:sp>
        <p:nvSpPr>
          <p:cNvPr id="8" name="Text 6"/>
          <p:cNvSpPr txBox="1"/>
          <p:nvPr/>
        </p:nvSpPr>
        <p:spPr>
          <a:xfrm>
            <a:off x="914400" y="2139696"/>
            <a:ext cx="5394960" cy="3291840"/>
          </a:xfrm>
          <a:prstGeom prst="rect">
            <a:avLst/>
          </a:prstGeom>
          <a:noFill/>
          <a:ln/>
        </p:spPr>
        <p:txBody>
          <a:bodyPr wrap="square" lIns="0" tIns="0" rIns="0" bIns="0" rtlCol="0" anchor="t"/>
          <a:lstStyle/>
          <a:p>
            <a:pPr marL="0" indent="0">
              <a:lnSpc>
                <a:spcPct val="115000"/>
              </a:lnSpc>
              <a:buNone/>
            </a:pPr>
            <a:r>
              <a:rPr lang="en-US" sz="1050" dirty="0">
                <a:solidFill>
                  <a:srgbClr val="13232B"/>
                </a:solidFill>
                <a:latin typeface="Courier New" pitchFamily="34" charset="0"/>
                <a:ea typeface="Courier New" pitchFamily="34" charset="-122"/>
                <a:cs typeface="Courier New" pitchFamily="34" charset="-120"/>
              </a:rPr>
              <a:t>function Cyclic(&lt;V, E&gt;)
    mark each node in V with 0
    count ← 0
    for each v in V do
        if v is marked with 0 then
            cyclic ← HasCycles(v)
            if cyclic then return True
    return False
function HasCycles(v)
    count ← count + 1
    mark v with count
    for each edge (v, w) do
</a:t>
            </a:r>
            <a:r>
              <a:rPr lang="en-US" sz="1050" dirty="0">
                <a:solidFill>
                  <a:srgbClr val="C1465A"/>
                </a:solidFill>
                <a:latin typeface="Courier New" pitchFamily="34" charset="0"/>
                <a:ea typeface="Courier New" pitchFamily="34" charset="-122"/>
                <a:cs typeface="Courier New" pitchFamily="34" charset="-120"/>
              </a:rPr>
              <a:t>        if w's mark is greater than 0 then
            return True</a:t>
            </a:r>
            <a:r>
              <a:rPr lang="en-US" sz="1050" dirty="0">
                <a:solidFill>
                  <a:srgbClr val="63797F"/>
                </a:solidFill>
                <a:latin typeface="Courier New" pitchFamily="34" charset="0"/>
                <a:ea typeface="Courier New" pitchFamily="34" charset="-122"/>
                <a:cs typeface="Courier New" pitchFamily="34" charset="-120"/>
              </a:rPr>
              <a:t>   ▹ seen before
</a:t>
            </a:r>
            <a:r>
              <a:rPr lang="en-US" sz="1050" dirty="0">
                <a:solidFill>
                  <a:srgbClr val="13232B"/>
                </a:solidFill>
                <a:latin typeface="Courier New" pitchFamily="34" charset="0"/>
                <a:ea typeface="Courier New" pitchFamily="34" charset="-122"/>
                <a:cs typeface="Courier New" pitchFamily="34" charset="-120"/>
              </a:rPr>
              <a:t>        if HasCycles(w) then</a:t>
            </a:r>
            <a:endParaRPr lang="en-US" sz="1050" dirty="0"/>
          </a:p>
          <a:p>
            <a:pPr marL="0" indent="0">
              <a:lnSpc>
                <a:spcPct val="115000"/>
              </a:lnSpc>
              <a:buNone/>
            </a:pPr>
            <a:r>
              <a:rPr lang="en-US" sz="1050" dirty="0">
                <a:solidFill>
                  <a:srgbClr val="13232B"/>
                </a:solidFill>
                <a:latin typeface="Courier New" pitchFamily="34" charset="0"/>
                <a:ea typeface="Courier New" pitchFamily="34" charset="-122"/>
                <a:cs typeface="Courier New" pitchFamily="34" charset="-120"/>
              </a:rPr>
              <a:t>            return True</a:t>
            </a:r>
            <a:endParaRPr lang="en-US" sz="1050" dirty="0"/>
          </a:p>
          <a:p>
            <a:pPr marL="0" indent="0">
              <a:lnSpc>
                <a:spcPct val="115000"/>
              </a:lnSpc>
              <a:buNone/>
            </a:pPr>
            <a:r>
              <a:rPr lang="en-US" sz="1050" dirty="0">
                <a:solidFill>
                  <a:srgbClr val="13232B"/>
                </a:solidFill>
                <a:latin typeface="Courier New" pitchFamily="34" charset="0"/>
                <a:ea typeface="Courier New" pitchFamily="34" charset="-122"/>
                <a:cs typeface="Courier New" pitchFamily="34" charset="-120"/>
              </a:rPr>
              <a:t>    return False</a:t>
            </a:r>
            <a:endParaRPr lang="en-US" sz="1050" dirty="0"/>
          </a:p>
        </p:txBody>
      </p:sp>
      <p:sp>
        <p:nvSpPr>
          <p:cNvPr id="9" name="Text 7"/>
          <p:cNvSpPr txBox="1"/>
          <p:nvPr/>
        </p:nvSpPr>
        <p:spPr>
          <a:xfrm>
            <a:off x="6903720" y="1664208"/>
            <a:ext cx="4663440" cy="274320"/>
          </a:xfrm>
          <a:prstGeom prst="rect">
            <a:avLst/>
          </a:prstGeom>
          <a:noFill/>
          <a:ln/>
        </p:spPr>
        <p:txBody>
          <a:bodyPr wrap="square" lIns="0" tIns="0" rIns="0" bIns="0" rtlCol="0" anchor="t"/>
          <a:lstStyle/>
          <a:p>
            <a:pPr marL="0" indent="0" algn="l">
              <a:lnSpc>
                <a:spcPct val="115000"/>
              </a:lnSpc>
              <a:buNone/>
            </a:pPr>
            <a:r>
              <a:rPr lang="en-US" sz="1300" b="1" dirty="0">
                <a:solidFill>
                  <a:srgbClr val="0B3B44"/>
                </a:solidFill>
                <a:latin typeface="Calibri" pitchFamily="34" charset="0"/>
                <a:ea typeface="Calibri" pitchFamily="34" charset="-122"/>
                <a:cs typeface="Calibri" pitchFamily="34" charset="-120"/>
              </a:rPr>
              <a:t>What it is trying to do</a:t>
            </a:r>
            <a:endParaRPr lang="en-US" sz="1300" dirty="0"/>
          </a:p>
        </p:txBody>
      </p:sp>
      <p:sp>
        <p:nvSpPr>
          <p:cNvPr id="10" name="Text 8"/>
          <p:cNvSpPr txBox="1"/>
          <p:nvPr/>
        </p:nvSpPr>
        <p:spPr>
          <a:xfrm>
            <a:off x="6903720" y="2011680"/>
            <a:ext cx="4663440" cy="914400"/>
          </a:xfrm>
          <a:prstGeom prst="rect">
            <a:avLst/>
          </a:prstGeom>
          <a:noFill/>
          <a:ln/>
        </p:spPr>
        <p:txBody>
          <a:bodyPr wrap="square" lIns="0" tIns="0" rIns="0" bIns="0" rtlCol="0" anchor="t"/>
          <a:lstStyle/>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Walk the graph depth-first. If you ever reach a node that is already marked, you must have arrived there by a second route — so there is a cycle.</a:t>
            </a:r>
            <a:endParaRPr lang="en-US" sz="1250" dirty="0"/>
          </a:p>
        </p:txBody>
      </p:sp>
      <p:sp>
        <p:nvSpPr>
          <p:cNvPr id="11" name="Shape 9"/>
          <p:cNvSpPr/>
          <p:nvPr/>
        </p:nvSpPr>
        <p:spPr>
          <a:xfrm>
            <a:off x="6903720" y="3063240"/>
            <a:ext cx="4663440" cy="1371600"/>
          </a:xfrm>
          <a:prstGeom prst="roundRect">
            <a:avLst>
              <a:gd name="adj" fmla="val 4000"/>
            </a:avLst>
          </a:prstGeom>
          <a:solidFill>
            <a:srgbClr val="EDF4F3"/>
          </a:solidFill>
          <a:ln w="12700">
            <a:solidFill>
              <a:srgbClr val="EDF4F3"/>
            </a:solidFill>
            <a:prstDash val="solid"/>
          </a:ln>
        </p:spPr>
        <p:txBody>
          <a:bodyPr/>
          <a:lstStyle/>
          <a:p>
            <a:endParaRPr lang="en-US"/>
          </a:p>
        </p:txBody>
      </p:sp>
      <p:sp>
        <p:nvSpPr>
          <p:cNvPr id="12" name="Text 10"/>
          <p:cNvSpPr txBox="1"/>
          <p:nvPr/>
        </p:nvSpPr>
        <p:spPr>
          <a:xfrm>
            <a:off x="7178040" y="3246120"/>
            <a:ext cx="4160520" cy="1005840"/>
          </a:xfrm>
          <a:prstGeom prst="rect">
            <a:avLst/>
          </a:prstGeom>
          <a:noFill/>
          <a:ln/>
        </p:spPr>
        <p:txBody>
          <a:bodyPr wrap="square" lIns="0" tIns="0" rIns="0" bIns="0" rtlCol="0" anchor="t"/>
          <a:lstStyle/>
          <a:p>
            <a:pPr marL="0" indent="0" algn="l">
              <a:lnSpc>
                <a:spcPct val="115000"/>
              </a:lnSpc>
              <a:buNone/>
            </a:pPr>
            <a:r>
              <a:rPr lang="en-US" sz="1250" i="1" dirty="0">
                <a:solidFill>
                  <a:srgbClr val="0B3B44"/>
                </a:solidFill>
                <a:latin typeface="Calibri" pitchFamily="34" charset="0"/>
                <a:ea typeface="Calibri" pitchFamily="34" charset="-122"/>
                <a:cs typeface="Calibri" pitchFamily="34" charset="-120"/>
              </a:rPr>
              <a:t>The intuition is right. The implementation is not — and it fails on the smallest interesting graph there is.</a:t>
            </a:r>
            <a:endParaRPr lang="en-US" sz="1250" dirty="0"/>
          </a:p>
        </p:txBody>
      </p:sp>
      <p:sp>
        <p:nvSpPr>
          <p:cNvPr id="13" name="Text 11"/>
          <p:cNvSpPr txBox="1"/>
          <p:nvPr/>
        </p:nvSpPr>
        <p:spPr>
          <a:xfrm>
            <a:off x="6903720" y="4617720"/>
            <a:ext cx="4663440" cy="274320"/>
          </a:xfrm>
          <a:prstGeom prst="rect">
            <a:avLst/>
          </a:prstGeom>
          <a:noFill/>
          <a:ln/>
        </p:spPr>
        <p:txBody>
          <a:bodyPr wrap="square" lIns="0" tIns="0" rIns="0" bIns="0" rtlCol="0" anchor="t"/>
          <a:lstStyle/>
          <a:p>
            <a:pPr marL="0" indent="0" algn="l">
              <a:lnSpc>
                <a:spcPct val="115000"/>
              </a:lnSpc>
              <a:buNone/>
            </a:pPr>
            <a:r>
              <a:rPr lang="en-US" sz="1250" b="1" dirty="0">
                <a:solidFill>
                  <a:srgbClr val="E8A33D"/>
                </a:solidFill>
                <a:latin typeface="Calibri" pitchFamily="34" charset="0"/>
                <a:ea typeface="Calibri" pitchFamily="34" charset="-122"/>
                <a:cs typeface="Calibri" pitchFamily="34" charset="-120"/>
              </a:rPr>
              <a:t>Three hints before the next slide</a:t>
            </a:r>
            <a:endParaRPr lang="en-US" sz="1250" dirty="0"/>
          </a:p>
        </p:txBody>
      </p:sp>
      <p:sp>
        <p:nvSpPr>
          <p:cNvPr id="14" name="Text 12"/>
          <p:cNvSpPr txBox="1"/>
          <p:nvPr/>
        </p:nvSpPr>
        <p:spPr>
          <a:xfrm>
            <a:off x="7059168" y="4956048"/>
            <a:ext cx="4507992" cy="82296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13232B"/>
                </a:solidFill>
                <a:latin typeface="Calibri" pitchFamily="34" charset="0"/>
                <a:ea typeface="Calibri" pitchFamily="34" charset="-122"/>
                <a:cs typeface="Calibri" pitchFamily="34" charset="-120"/>
              </a:rPr>
              <a:t>How is a single undirected edge actually stored?</a:t>
            </a:r>
            <a:endParaRPr lang="en-US" sz="1250" dirty="0"/>
          </a:p>
          <a:p>
            <a:pPr marL="342900" indent="-342900">
              <a:spcAft>
                <a:spcPts val="400"/>
              </a:spcAft>
              <a:buSzPct val="100000"/>
              <a:buChar char="•"/>
            </a:pPr>
            <a:r>
              <a:rPr lang="en-US" sz="1250" dirty="0">
                <a:solidFill>
                  <a:srgbClr val="13232B"/>
                </a:solidFill>
                <a:latin typeface="Calibri" pitchFamily="34" charset="0"/>
                <a:ea typeface="Calibri" pitchFamily="34" charset="-122"/>
                <a:cs typeface="Calibri" pitchFamily="34" charset="-120"/>
              </a:rPr>
              <a:t>What is the smallest acyclic graph that has at least one edge?</a:t>
            </a:r>
            <a:endParaRPr lang="en-US" sz="1250" dirty="0"/>
          </a:p>
          <a:p>
            <a:pPr marL="342900" indent="-342900">
              <a:spcAft>
                <a:spcPts val="400"/>
              </a:spcAft>
              <a:buSzPct val="100000"/>
              <a:buChar char="•"/>
            </a:pPr>
            <a:r>
              <a:rPr lang="en-US" sz="1250" dirty="0">
                <a:solidFill>
                  <a:srgbClr val="13232B"/>
                </a:solidFill>
                <a:latin typeface="Calibri" pitchFamily="34" charset="0"/>
                <a:ea typeface="Calibri" pitchFamily="34" charset="-122"/>
                <a:cs typeface="Calibri" pitchFamily="34" charset="-120"/>
              </a:rPr>
              <a:t>Run the algorithm on it, line by line.</a:t>
            </a:r>
            <a:endParaRPr lang="en-US" sz="1250" dirty="0"/>
          </a:p>
        </p:txBody>
      </p:sp>
      <p:sp>
        <p:nvSpPr>
          <p:cNvPr id="16" name="Text 13"/>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17" name="Text 14"/>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C1465A"/>
          </a:solidFill>
          <a:ln w="12700">
            <a:solidFill>
              <a:srgbClr val="C1465A"/>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The counterexample: two nodes, one edge</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This graph is a tree. Cyclic reports True.</a:t>
            </a:r>
            <a:endParaRPr lang="en-US" sz="1300" dirty="0"/>
          </a:p>
        </p:txBody>
      </p:sp>
      <p:sp>
        <p:nvSpPr>
          <p:cNvPr id="6" name="Shape 4"/>
          <p:cNvSpPr/>
          <p:nvPr/>
        </p:nvSpPr>
        <p:spPr>
          <a:xfrm>
            <a:off x="640080" y="1600200"/>
            <a:ext cx="3291840" cy="4069080"/>
          </a:xfrm>
          <a:prstGeom prst="roundRect">
            <a:avLst>
              <a:gd name="adj" fmla="val 1667"/>
            </a:avLst>
          </a:prstGeom>
          <a:solidFill>
            <a:srgbClr val="F6F9F8"/>
          </a:solidFill>
          <a:ln w="9525">
            <a:solidFill>
              <a:srgbClr val="D3E0DD"/>
            </a:solidFill>
            <a:prstDash val="solid"/>
          </a:ln>
        </p:spPr>
        <p:txBody>
          <a:bodyPr/>
          <a:lstStyle/>
          <a:p>
            <a:endParaRPr lang="en-US"/>
          </a:p>
        </p:txBody>
      </p:sp>
      <p:sp>
        <p:nvSpPr>
          <p:cNvPr id="7" name="Shape 5"/>
          <p:cNvSpPr/>
          <p:nvPr/>
        </p:nvSpPr>
        <p:spPr>
          <a:xfrm>
            <a:off x="2011680" y="2331720"/>
            <a:ext cx="548640" cy="548640"/>
          </a:xfrm>
          <a:prstGeom prst="ellipse">
            <a:avLst/>
          </a:prstGeom>
          <a:solidFill>
            <a:srgbClr val="FFFFFF"/>
          </a:solidFill>
          <a:ln w="15875">
            <a:solidFill>
              <a:srgbClr val="16505C"/>
            </a:solidFill>
            <a:prstDash val="solid"/>
          </a:ln>
        </p:spPr>
        <p:txBody>
          <a:bodyPr/>
          <a:lstStyle/>
          <a:p>
            <a:endParaRPr lang="en-US"/>
          </a:p>
        </p:txBody>
      </p:sp>
      <p:sp>
        <p:nvSpPr>
          <p:cNvPr id="8" name="Text 6"/>
          <p:cNvSpPr txBox="1"/>
          <p:nvPr/>
        </p:nvSpPr>
        <p:spPr>
          <a:xfrm>
            <a:off x="2011680" y="2331720"/>
            <a:ext cx="548640" cy="54864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a</a:t>
            </a:r>
            <a:endParaRPr lang="en-US" sz="1350" dirty="0"/>
          </a:p>
        </p:txBody>
      </p:sp>
      <p:sp>
        <p:nvSpPr>
          <p:cNvPr id="9" name="Shape 7"/>
          <p:cNvSpPr/>
          <p:nvPr/>
        </p:nvSpPr>
        <p:spPr>
          <a:xfrm>
            <a:off x="2011680" y="3703320"/>
            <a:ext cx="548640" cy="548640"/>
          </a:xfrm>
          <a:prstGeom prst="ellipse">
            <a:avLst/>
          </a:prstGeom>
          <a:solidFill>
            <a:srgbClr val="FFFFFF"/>
          </a:solidFill>
          <a:ln w="15875">
            <a:solidFill>
              <a:srgbClr val="16505C"/>
            </a:solidFill>
            <a:prstDash val="solid"/>
          </a:ln>
        </p:spPr>
        <p:txBody>
          <a:bodyPr/>
          <a:lstStyle/>
          <a:p>
            <a:endParaRPr lang="en-US"/>
          </a:p>
        </p:txBody>
      </p:sp>
      <p:sp>
        <p:nvSpPr>
          <p:cNvPr id="10" name="Text 8"/>
          <p:cNvSpPr txBox="1"/>
          <p:nvPr/>
        </p:nvSpPr>
        <p:spPr>
          <a:xfrm>
            <a:off x="2011680" y="3703320"/>
            <a:ext cx="548640" cy="54864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b</a:t>
            </a:r>
            <a:endParaRPr lang="en-US" sz="1350" dirty="0"/>
          </a:p>
        </p:txBody>
      </p:sp>
      <p:sp>
        <p:nvSpPr>
          <p:cNvPr id="11" name="Shape 9"/>
          <p:cNvSpPr/>
          <p:nvPr/>
        </p:nvSpPr>
        <p:spPr>
          <a:xfrm>
            <a:off x="2286000" y="2880360"/>
            <a:ext cx="0" cy="822960"/>
          </a:xfrm>
          <a:prstGeom prst="line">
            <a:avLst/>
          </a:prstGeom>
          <a:noFill/>
          <a:ln w="25400">
            <a:solidFill>
              <a:srgbClr val="16505C"/>
            </a:solidFill>
            <a:prstDash val="solid"/>
          </a:ln>
        </p:spPr>
        <p:txBody>
          <a:bodyPr/>
          <a:lstStyle/>
          <a:p>
            <a:endParaRPr lang="en-US"/>
          </a:p>
        </p:txBody>
      </p:sp>
      <p:sp>
        <p:nvSpPr>
          <p:cNvPr id="12" name="Text 10"/>
          <p:cNvSpPr txBox="1"/>
          <p:nvPr/>
        </p:nvSpPr>
        <p:spPr>
          <a:xfrm>
            <a:off x="868680" y="4663440"/>
            <a:ext cx="2834640" cy="292608"/>
          </a:xfrm>
          <a:prstGeom prst="rect">
            <a:avLst/>
          </a:prstGeom>
          <a:noFill/>
          <a:ln/>
        </p:spPr>
        <p:txBody>
          <a:bodyPr wrap="square" lIns="0" tIns="0" rIns="0" bIns="0" rtlCol="0" anchor="t"/>
          <a:lstStyle/>
          <a:p>
            <a:pPr marL="0" indent="0" algn="ctr">
              <a:lnSpc>
                <a:spcPct val="115000"/>
              </a:lnSpc>
              <a:buNone/>
            </a:pPr>
            <a:r>
              <a:rPr lang="en-US" sz="1200" dirty="0">
                <a:solidFill>
                  <a:srgbClr val="13232B"/>
                </a:solidFill>
                <a:latin typeface="Courier New" pitchFamily="34" charset="0"/>
                <a:ea typeface="Courier New" pitchFamily="34" charset="-122"/>
                <a:cs typeface="Courier New" pitchFamily="34" charset="-120"/>
              </a:rPr>
              <a:t>E = { (a,b), (b,a) }</a:t>
            </a:r>
            <a:endParaRPr lang="en-US" sz="1200" dirty="0"/>
          </a:p>
        </p:txBody>
      </p:sp>
      <p:sp>
        <p:nvSpPr>
          <p:cNvPr id="13" name="Text 11"/>
          <p:cNvSpPr txBox="1"/>
          <p:nvPr/>
        </p:nvSpPr>
        <p:spPr>
          <a:xfrm>
            <a:off x="868680" y="5029200"/>
            <a:ext cx="2834640" cy="640080"/>
          </a:xfrm>
          <a:prstGeom prst="rect">
            <a:avLst/>
          </a:prstGeom>
          <a:noFill/>
          <a:ln/>
        </p:spPr>
        <p:txBody>
          <a:bodyPr wrap="square" lIns="0" tIns="0" rIns="0" bIns="0" rtlCol="0" anchor="t"/>
          <a:lstStyle/>
          <a:p>
            <a:pPr marL="0" indent="0" algn="ctr">
              <a:lnSpc>
                <a:spcPct val="115000"/>
              </a:lnSpc>
              <a:buNone/>
            </a:pPr>
            <a:r>
              <a:rPr lang="en-US" sz="1150" i="1" dirty="0">
                <a:solidFill>
                  <a:srgbClr val="63797F"/>
                </a:solidFill>
                <a:latin typeface="Calibri" pitchFamily="34" charset="0"/>
                <a:ea typeface="Calibri" pitchFamily="34" charset="-122"/>
                <a:cs typeface="Calibri" pitchFamily="34" charset="-120"/>
              </a:rPr>
              <a:t>An undirected edge is stored in both directions — in a matrix and in a list alike.</a:t>
            </a:r>
            <a:endParaRPr lang="en-US" sz="1150" dirty="0"/>
          </a:p>
        </p:txBody>
      </p:sp>
      <p:sp>
        <p:nvSpPr>
          <p:cNvPr id="14" name="Shape 12"/>
          <p:cNvSpPr/>
          <p:nvPr/>
        </p:nvSpPr>
        <p:spPr>
          <a:xfrm>
            <a:off x="4206240" y="1600200"/>
            <a:ext cx="7360920" cy="630936"/>
          </a:xfrm>
          <a:prstGeom prst="roundRect">
            <a:avLst>
              <a:gd name="adj" fmla="val 8696"/>
            </a:avLst>
          </a:prstGeom>
          <a:solidFill>
            <a:srgbClr val="F6F9F8"/>
          </a:solidFill>
          <a:ln w="12700">
            <a:solidFill>
              <a:srgbClr val="F6F9F8"/>
            </a:solidFill>
            <a:prstDash val="solid"/>
          </a:ln>
        </p:spPr>
        <p:txBody>
          <a:bodyPr/>
          <a:lstStyle/>
          <a:p>
            <a:endParaRPr lang="en-US"/>
          </a:p>
        </p:txBody>
      </p:sp>
      <p:sp>
        <p:nvSpPr>
          <p:cNvPr id="15" name="Shape 13"/>
          <p:cNvSpPr/>
          <p:nvPr/>
        </p:nvSpPr>
        <p:spPr>
          <a:xfrm>
            <a:off x="4370832" y="1746504"/>
            <a:ext cx="365760" cy="365760"/>
          </a:xfrm>
          <a:prstGeom prst="ellipse">
            <a:avLst/>
          </a:prstGeom>
          <a:solidFill>
            <a:srgbClr val="0B3B44"/>
          </a:solidFill>
          <a:ln w="12700">
            <a:solidFill>
              <a:srgbClr val="0B3B44"/>
            </a:solidFill>
            <a:prstDash val="solid"/>
          </a:ln>
        </p:spPr>
        <p:txBody>
          <a:bodyPr/>
          <a:lstStyle/>
          <a:p>
            <a:endParaRPr lang="en-US"/>
          </a:p>
        </p:txBody>
      </p:sp>
      <p:sp>
        <p:nvSpPr>
          <p:cNvPr id="16" name="Text 14"/>
          <p:cNvSpPr txBox="1"/>
          <p:nvPr/>
        </p:nvSpPr>
        <p:spPr>
          <a:xfrm>
            <a:off x="4370832" y="174650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5"/>
          <p:cNvSpPr txBox="1"/>
          <p:nvPr/>
        </p:nvSpPr>
        <p:spPr>
          <a:xfrm>
            <a:off x="4892040" y="1655064"/>
            <a:ext cx="4754880" cy="292608"/>
          </a:xfrm>
          <a:prstGeom prst="rect">
            <a:avLst/>
          </a:prstGeom>
          <a:noFill/>
          <a:ln/>
        </p:spPr>
        <p:txBody>
          <a:bodyPr wrap="square" lIns="0" tIns="0" rIns="0" bIns="0" rtlCol="0" anchor="t"/>
          <a:lstStyle/>
          <a:p>
            <a:pPr marL="0" indent="0" algn="l">
              <a:lnSpc>
                <a:spcPct val="115000"/>
              </a:lnSpc>
              <a:buNone/>
            </a:pPr>
            <a:r>
              <a:rPr lang="en-US" sz="1150" b="1" dirty="0">
                <a:solidFill>
                  <a:srgbClr val="13232B"/>
                </a:solidFill>
                <a:latin typeface="Courier New" pitchFamily="34" charset="0"/>
                <a:ea typeface="Courier New" pitchFamily="34" charset="-122"/>
                <a:cs typeface="Courier New" pitchFamily="34" charset="-120"/>
              </a:rPr>
              <a:t>Cyclic calls HasCycles(a)</a:t>
            </a:r>
            <a:endParaRPr lang="en-US" sz="1150" dirty="0"/>
          </a:p>
        </p:txBody>
      </p:sp>
      <p:sp>
        <p:nvSpPr>
          <p:cNvPr id="18" name="Text 16"/>
          <p:cNvSpPr txBox="1"/>
          <p:nvPr/>
        </p:nvSpPr>
        <p:spPr>
          <a:xfrm>
            <a:off x="4892040" y="1947672"/>
            <a:ext cx="6492240" cy="27432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a is unmarked, so we start there.</a:t>
            </a:r>
            <a:endParaRPr lang="en-US" sz="1150" dirty="0"/>
          </a:p>
        </p:txBody>
      </p:sp>
      <p:sp>
        <p:nvSpPr>
          <p:cNvPr id="19" name="Shape 17"/>
          <p:cNvSpPr/>
          <p:nvPr/>
        </p:nvSpPr>
        <p:spPr>
          <a:xfrm>
            <a:off x="4370832" y="2418588"/>
            <a:ext cx="365760" cy="365760"/>
          </a:xfrm>
          <a:prstGeom prst="ellipse">
            <a:avLst/>
          </a:prstGeom>
          <a:solidFill>
            <a:srgbClr val="0B3B44"/>
          </a:solidFill>
          <a:ln w="12700">
            <a:solidFill>
              <a:srgbClr val="0B3B44"/>
            </a:solidFill>
            <a:prstDash val="solid"/>
          </a:ln>
        </p:spPr>
        <p:txBody>
          <a:bodyPr/>
          <a:lstStyle/>
          <a:p>
            <a:endParaRPr lang="en-US"/>
          </a:p>
        </p:txBody>
      </p:sp>
      <p:sp>
        <p:nvSpPr>
          <p:cNvPr id="20" name="Text 18"/>
          <p:cNvSpPr txBox="1"/>
          <p:nvPr/>
        </p:nvSpPr>
        <p:spPr>
          <a:xfrm>
            <a:off x="4370832" y="24185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txBox="1"/>
          <p:nvPr/>
        </p:nvSpPr>
        <p:spPr>
          <a:xfrm>
            <a:off x="4892040" y="2327148"/>
            <a:ext cx="4754880" cy="292608"/>
          </a:xfrm>
          <a:prstGeom prst="rect">
            <a:avLst/>
          </a:prstGeom>
          <a:noFill/>
          <a:ln/>
        </p:spPr>
        <p:txBody>
          <a:bodyPr wrap="square" lIns="0" tIns="0" rIns="0" bIns="0" rtlCol="0" anchor="t"/>
          <a:lstStyle/>
          <a:p>
            <a:pPr marL="0" indent="0" algn="l">
              <a:lnSpc>
                <a:spcPct val="115000"/>
              </a:lnSpc>
              <a:buNone/>
            </a:pPr>
            <a:r>
              <a:rPr lang="en-US" sz="1150" b="1" dirty="0">
                <a:solidFill>
                  <a:srgbClr val="13232B"/>
                </a:solidFill>
                <a:latin typeface="Courier New" pitchFamily="34" charset="0"/>
                <a:ea typeface="Courier New" pitchFamily="34" charset="-122"/>
                <a:cs typeface="Courier New" pitchFamily="34" charset="-120"/>
              </a:rPr>
              <a:t>mark a with 1</a:t>
            </a:r>
            <a:endParaRPr lang="en-US" sz="1150" dirty="0"/>
          </a:p>
        </p:txBody>
      </p:sp>
      <p:sp>
        <p:nvSpPr>
          <p:cNvPr id="22" name="Text 20"/>
          <p:cNvSpPr txBox="1"/>
          <p:nvPr/>
        </p:nvSpPr>
        <p:spPr>
          <a:xfrm>
            <a:off x="4892040" y="2619756"/>
            <a:ext cx="6492240" cy="27432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count = 1.</a:t>
            </a:r>
            <a:endParaRPr lang="en-US" sz="1150" dirty="0"/>
          </a:p>
        </p:txBody>
      </p:sp>
      <p:sp>
        <p:nvSpPr>
          <p:cNvPr id="23" name="Shape 21"/>
          <p:cNvSpPr/>
          <p:nvPr/>
        </p:nvSpPr>
        <p:spPr>
          <a:xfrm>
            <a:off x="4206240" y="2944368"/>
            <a:ext cx="7360920" cy="630936"/>
          </a:xfrm>
          <a:prstGeom prst="roundRect">
            <a:avLst>
              <a:gd name="adj" fmla="val 8696"/>
            </a:avLst>
          </a:prstGeom>
          <a:solidFill>
            <a:srgbClr val="F6F9F8"/>
          </a:solidFill>
          <a:ln w="12700">
            <a:solidFill>
              <a:srgbClr val="F6F9F8"/>
            </a:solidFill>
            <a:prstDash val="solid"/>
          </a:ln>
        </p:spPr>
        <p:txBody>
          <a:bodyPr/>
          <a:lstStyle/>
          <a:p>
            <a:endParaRPr lang="en-US"/>
          </a:p>
        </p:txBody>
      </p:sp>
      <p:sp>
        <p:nvSpPr>
          <p:cNvPr id="24" name="Shape 22"/>
          <p:cNvSpPr/>
          <p:nvPr/>
        </p:nvSpPr>
        <p:spPr>
          <a:xfrm>
            <a:off x="4370832" y="3090672"/>
            <a:ext cx="365760" cy="365760"/>
          </a:xfrm>
          <a:prstGeom prst="ellipse">
            <a:avLst/>
          </a:prstGeom>
          <a:solidFill>
            <a:srgbClr val="0B3B44"/>
          </a:solidFill>
          <a:ln w="12700">
            <a:solidFill>
              <a:srgbClr val="0B3B44"/>
            </a:solidFill>
            <a:prstDash val="solid"/>
          </a:ln>
        </p:spPr>
        <p:txBody>
          <a:bodyPr/>
          <a:lstStyle/>
          <a:p>
            <a:endParaRPr lang="en-US"/>
          </a:p>
        </p:txBody>
      </p:sp>
      <p:sp>
        <p:nvSpPr>
          <p:cNvPr id="25" name="Text 23"/>
          <p:cNvSpPr txBox="1"/>
          <p:nvPr/>
        </p:nvSpPr>
        <p:spPr>
          <a:xfrm>
            <a:off x="4370832" y="3090672"/>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txBox="1"/>
          <p:nvPr/>
        </p:nvSpPr>
        <p:spPr>
          <a:xfrm>
            <a:off x="4892040" y="2999232"/>
            <a:ext cx="4754880" cy="292608"/>
          </a:xfrm>
          <a:prstGeom prst="rect">
            <a:avLst/>
          </a:prstGeom>
          <a:noFill/>
          <a:ln/>
        </p:spPr>
        <p:txBody>
          <a:bodyPr wrap="square" lIns="0" tIns="0" rIns="0" bIns="0" rtlCol="0" anchor="t"/>
          <a:lstStyle/>
          <a:p>
            <a:pPr marL="0" indent="0" algn="l">
              <a:lnSpc>
                <a:spcPct val="115000"/>
              </a:lnSpc>
              <a:buNone/>
            </a:pPr>
            <a:r>
              <a:rPr lang="en-US" sz="1150" b="1" dirty="0">
                <a:solidFill>
                  <a:srgbClr val="13232B"/>
                </a:solidFill>
                <a:latin typeface="Courier New" pitchFamily="34" charset="0"/>
                <a:ea typeface="Courier New" pitchFamily="34" charset="-122"/>
                <a:cs typeface="Courier New" pitchFamily="34" charset="-120"/>
              </a:rPr>
              <a:t>edge (a, b): b's mark is 0</a:t>
            </a:r>
            <a:endParaRPr lang="en-US" sz="1150" dirty="0"/>
          </a:p>
        </p:txBody>
      </p:sp>
      <p:sp>
        <p:nvSpPr>
          <p:cNvPr id="27" name="Text 25"/>
          <p:cNvSpPr txBox="1"/>
          <p:nvPr/>
        </p:nvSpPr>
        <p:spPr>
          <a:xfrm>
            <a:off x="4892040" y="3291840"/>
            <a:ext cx="6492240" cy="27432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Not seen yet — so recurse.</a:t>
            </a:r>
            <a:endParaRPr lang="en-US" sz="1150" dirty="0"/>
          </a:p>
        </p:txBody>
      </p:sp>
      <p:sp>
        <p:nvSpPr>
          <p:cNvPr id="28" name="Shape 26"/>
          <p:cNvSpPr/>
          <p:nvPr/>
        </p:nvSpPr>
        <p:spPr>
          <a:xfrm>
            <a:off x="4370832" y="3762756"/>
            <a:ext cx="365760" cy="365760"/>
          </a:xfrm>
          <a:prstGeom prst="ellipse">
            <a:avLst/>
          </a:prstGeom>
          <a:solidFill>
            <a:srgbClr val="0B3B44"/>
          </a:solidFill>
          <a:ln w="12700">
            <a:solidFill>
              <a:srgbClr val="0B3B44"/>
            </a:solidFill>
            <a:prstDash val="solid"/>
          </a:ln>
        </p:spPr>
        <p:txBody>
          <a:bodyPr/>
          <a:lstStyle/>
          <a:p>
            <a:endParaRPr lang="en-US"/>
          </a:p>
        </p:txBody>
      </p:sp>
      <p:sp>
        <p:nvSpPr>
          <p:cNvPr id="29" name="Text 27"/>
          <p:cNvSpPr txBox="1"/>
          <p:nvPr/>
        </p:nvSpPr>
        <p:spPr>
          <a:xfrm>
            <a:off x="4370832" y="376275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txBox="1"/>
          <p:nvPr/>
        </p:nvSpPr>
        <p:spPr>
          <a:xfrm>
            <a:off x="4892040" y="3671316"/>
            <a:ext cx="4754880" cy="292608"/>
          </a:xfrm>
          <a:prstGeom prst="rect">
            <a:avLst/>
          </a:prstGeom>
          <a:noFill/>
          <a:ln/>
        </p:spPr>
        <p:txBody>
          <a:bodyPr wrap="square" lIns="0" tIns="0" rIns="0" bIns="0" rtlCol="0" anchor="t"/>
          <a:lstStyle/>
          <a:p>
            <a:pPr marL="0" indent="0" algn="l">
              <a:lnSpc>
                <a:spcPct val="115000"/>
              </a:lnSpc>
              <a:buNone/>
            </a:pPr>
            <a:r>
              <a:rPr lang="en-US" sz="1150" b="1" dirty="0">
                <a:solidFill>
                  <a:srgbClr val="13232B"/>
                </a:solidFill>
                <a:latin typeface="Courier New" pitchFamily="34" charset="0"/>
                <a:ea typeface="Courier New" pitchFamily="34" charset="-122"/>
                <a:cs typeface="Courier New" pitchFamily="34" charset="-120"/>
              </a:rPr>
              <a:t>HasCycles(b): mark b with 2</a:t>
            </a:r>
            <a:endParaRPr lang="en-US" sz="1150" dirty="0"/>
          </a:p>
        </p:txBody>
      </p:sp>
      <p:sp>
        <p:nvSpPr>
          <p:cNvPr id="31" name="Text 29"/>
          <p:cNvSpPr txBox="1"/>
          <p:nvPr/>
        </p:nvSpPr>
        <p:spPr>
          <a:xfrm>
            <a:off x="4892040" y="3963924"/>
            <a:ext cx="6492240" cy="27432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count = 2.</a:t>
            </a:r>
            <a:endParaRPr lang="en-US" sz="1150" dirty="0"/>
          </a:p>
        </p:txBody>
      </p:sp>
      <p:sp>
        <p:nvSpPr>
          <p:cNvPr id="32" name="Shape 30"/>
          <p:cNvSpPr/>
          <p:nvPr/>
        </p:nvSpPr>
        <p:spPr>
          <a:xfrm>
            <a:off x="4206240" y="4288536"/>
            <a:ext cx="7360920" cy="630936"/>
          </a:xfrm>
          <a:prstGeom prst="roundRect">
            <a:avLst>
              <a:gd name="adj" fmla="val 8696"/>
            </a:avLst>
          </a:prstGeom>
          <a:solidFill>
            <a:srgbClr val="F6F9F8"/>
          </a:solidFill>
          <a:ln w="12700">
            <a:solidFill>
              <a:srgbClr val="F6F9F8"/>
            </a:solidFill>
            <a:prstDash val="solid"/>
          </a:ln>
        </p:spPr>
        <p:txBody>
          <a:bodyPr/>
          <a:lstStyle/>
          <a:p>
            <a:endParaRPr lang="en-US"/>
          </a:p>
        </p:txBody>
      </p:sp>
      <p:sp>
        <p:nvSpPr>
          <p:cNvPr id="33" name="Shape 31"/>
          <p:cNvSpPr/>
          <p:nvPr/>
        </p:nvSpPr>
        <p:spPr>
          <a:xfrm>
            <a:off x="4370832" y="4434840"/>
            <a:ext cx="365760" cy="365760"/>
          </a:xfrm>
          <a:prstGeom prst="ellipse">
            <a:avLst/>
          </a:prstGeom>
          <a:solidFill>
            <a:srgbClr val="C1465A"/>
          </a:solidFill>
          <a:ln w="12700">
            <a:solidFill>
              <a:srgbClr val="C1465A"/>
            </a:solidFill>
            <a:prstDash val="solid"/>
          </a:ln>
        </p:spPr>
        <p:txBody>
          <a:bodyPr/>
          <a:lstStyle/>
          <a:p>
            <a:endParaRPr lang="en-US"/>
          </a:p>
        </p:txBody>
      </p:sp>
      <p:sp>
        <p:nvSpPr>
          <p:cNvPr id="34" name="Text 32"/>
          <p:cNvSpPr txBox="1"/>
          <p:nvPr/>
        </p:nvSpPr>
        <p:spPr>
          <a:xfrm>
            <a:off x="4370832" y="443484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5" name="Text 33"/>
          <p:cNvSpPr txBox="1"/>
          <p:nvPr/>
        </p:nvSpPr>
        <p:spPr>
          <a:xfrm>
            <a:off x="4892040" y="4343400"/>
            <a:ext cx="4754880" cy="292608"/>
          </a:xfrm>
          <a:prstGeom prst="rect">
            <a:avLst/>
          </a:prstGeom>
          <a:noFill/>
          <a:ln/>
        </p:spPr>
        <p:txBody>
          <a:bodyPr wrap="square" lIns="0" tIns="0" rIns="0" bIns="0" rtlCol="0" anchor="t"/>
          <a:lstStyle/>
          <a:p>
            <a:pPr marL="0" indent="0" algn="l">
              <a:lnSpc>
                <a:spcPct val="115000"/>
              </a:lnSpc>
              <a:buNone/>
            </a:pPr>
            <a:r>
              <a:rPr lang="en-US" sz="1150" b="1" dirty="0">
                <a:solidFill>
                  <a:srgbClr val="C1465A"/>
                </a:solidFill>
                <a:latin typeface="Courier New" pitchFamily="34" charset="0"/>
                <a:ea typeface="Courier New" pitchFamily="34" charset="-122"/>
                <a:cs typeface="Courier New" pitchFamily="34" charset="-120"/>
              </a:rPr>
              <a:t>edge (b, a): a's mark is 1 &gt; 0</a:t>
            </a:r>
            <a:endParaRPr lang="en-US" sz="1150" dirty="0"/>
          </a:p>
        </p:txBody>
      </p:sp>
      <p:sp>
        <p:nvSpPr>
          <p:cNvPr id="36" name="Text 34"/>
          <p:cNvSpPr txBox="1"/>
          <p:nvPr/>
        </p:nvSpPr>
        <p:spPr>
          <a:xfrm>
            <a:off x="4892040" y="4636008"/>
            <a:ext cx="6492240" cy="27432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“a has been visited before” → return True.</a:t>
            </a:r>
            <a:endParaRPr lang="en-US" sz="1150" dirty="0"/>
          </a:p>
        </p:txBody>
      </p:sp>
      <p:sp>
        <p:nvSpPr>
          <p:cNvPr id="37" name="Shape 35"/>
          <p:cNvSpPr/>
          <p:nvPr/>
        </p:nvSpPr>
        <p:spPr>
          <a:xfrm>
            <a:off x="4370832" y="5106924"/>
            <a:ext cx="365760" cy="365760"/>
          </a:xfrm>
          <a:prstGeom prst="ellipse">
            <a:avLst/>
          </a:prstGeom>
          <a:solidFill>
            <a:srgbClr val="C1465A"/>
          </a:solidFill>
          <a:ln w="12700">
            <a:solidFill>
              <a:srgbClr val="C1465A"/>
            </a:solidFill>
            <a:prstDash val="solid"/>
          </a:ln>
        </p:spPr>
        <p:txBody>
          <a:bodyPr/>
          <a:lstStyle/>
          <a:p>
            <a:endParaRPr lang="en-US"/>
          </a:p>
        </p:txBody>
      </p:sp>
      <p:sp>
        <p:nvSpPr>
          <p:cNvPr id="38" name="Text 36"/>
          <p:cNvSpPr txBox="1"/>
          <p:nvPr/>
        </p:nvSpPr>
        <p:spPr>
          <a:xfrm>
            <a:off x="4370832" y="510692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7"/>
          <p:cNvSpPr txBox="1"/>
          <p:nvPr/>
        </p:nvSpPr>
        <p:spPr>
          <a:xfrm>
            <a:off x="4892040" y="5015484"/>
            <a:ext cx="4754880" cy="292608"/>
          </a:xfrm>
          <a:prstGeom prst="rect">
            <a:avLst/>
          </a:prstGeom>
          <a:noFill/>
          <a:ln/>
        </p:spPr>
        <p:txBody>
          <a:bodyPr wrap="square" lIns="0" tIns="0" rIns="0" bIns="0" rtlCol="0" anchor="t"/>
          <a:lstStyle/>
          <a:p>
            <a:pPr marL="0" indent="0" algn="l">
              <a:lnSpc>
                <a:spcPct val="115000"/>
              </a:lnSpc>
              <a:buNone/>
            </a:pPr>
            <a:r>
              <a:rPr lang="en-US" sz="1150" b="1" dirty="0">
                <a:solidFill>
                  <a:srgbClr val="C1465A"/>
                </a:solidFill>
                <a:latin typeface="Courier New" pitchFamily="34" charset="0"/>
                <a:ea typeface="Courier New" pitchFamily="34" charset="-122"/>
                <a:cs typeface="Courier New" pitchFamily="34" charset="-120"/>
              </a:rPr>
              <a:t>Cyclic returns True</a:t>
            </a:r>
            <a:endParaRPr lang="en-US" sz="1150" dirty="0"/>
          </a:p>
        </p:txBody>
      </p:sp>
      <p:sp>
        <p:nvSpPr>
          <p:cNvPr id="40" name="Text 38"/>
          <p:cNvSpPr txBox="1"/>
          <p:nvPr/>
        </p:nvSpPr>
        <p:spPr>
          <a:xfrm>
            <a:off x="4892040" y="5308092"/>
            <a:ext cx="6492240" cy="27432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But a — b is a tree. Wrong answer.</a:t>
            </a:r>
            <a:endParaRPr lang="en-US" sz="1150" dirty="0"/>
          </a:p>
        </p:txBody>
      </p:sp>
      <p:sp>
        <p:nvSpPr>
          <p:cNvPr id="41" name="Text 39"/>
          <p:cNvSpPr txBox="1"/>
          <p:nvPr/>
        </p:nvSpPr>
        <p:spPr>
          <a:xfrm>
            <a:off x="4206240" y="5742432"/>
            <a:ext cx="7360920" cy="365760"/>
          </a:xfrm>
          <a:prstGeom prst="rect">
            <a:avLst/>
          </a:prstGeom>
          <a:noFill/>
          <a:ln/>
        </p:spPr>
        <p:txBody>
          <a:bodyPr wrap="square" lIns="0" tIns="0" rIns="0" bIns="0" rtlCol="0" anchor="t"/>
          <a:lstStyle/>
          <a:p>
            <a:pPr marL="0" indent="0" algn="l">
              <a:lnSpc>
                <a:spcPct val="115000"/>
              </a:lnSpc>
              <a:buNone/>
            </a:pPr>
            <a:r>
              <a:rPr lang="en-US" sz="1300" b="1" i="1" dirty="0">
                <a:solidFill>
                  <a:srgbClr val="C1465A"/>
                </a:solidFill>
                <a:latin typeface="Calibri" pitchFamily="34" charset="0"/>
                <a:ea typeface="Calibri" pitchFamily="34" charset="-122"/>
                <a:cs typeface="Calibri" pitchFamily="34" charset="-120"/>
              </a:rPr>
              <a:t>The algorithm cannot tell a genuine loop from walking back up the edge it arrived on.</a:t>
            </a:r>
            <a:endParaRPr lang="en-US" sz="1300" dirty="0"/>
          </a:p>
        </p:txBody>
      </p:sp>
      <p:sp>
        <p:nvSpPr>
          <p:cNvPr id="43" name="Text 40"/>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44" name="Text 41"/>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The repair: remember where you came from</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One extra parameter is enough — and it is the idea the next four questions are built on.</a:t>
            </a:r>
            <a:endParaRPr lang="en-US" sz="1300" dirty="0"/>
          </a:p>
        </p:txBody>
      </p:sp>
      <p:sp>
        <p:nvSpPr>
          <p:cNvPr id="6" name="Shape 4"/>
          <p:cNvSpPr/>
          <p:nvPr/>
        </p:nvSpPr>
        <p:spPr>
          <a:xfrm>
            <a:off x="640080" y="1600200"/>
            <a:ext cx="5852160" cy="3703320"/>
          </a:xfrm>
          <a:prstGeom prst="roundRect">
            <a:avLst>
              <a:gd name="adj" fmla="val 1481"/>
            </a:avLst>
          </a:prstGeom>
          <a:solidFill>
            <a:srgbClr val="F6F9F8"/>
          </a:solidFill>
          <a:ln w="9525">
            <a:solidFill>
              <a:srgbClr val="D3E0DD"/>
            </a:solidFill>
            <a:prstDash val="solid"/>
          </a:ln>
        </p:spPr>
        <p:txBody>
          <a:bodyPr/>
          <a:lstStyle/>
          <a:p>
            <a:endParaRPr lang="en-US"/>
          </a:p>
        </p:txBody>
      </p:sp>
      <p:sp>
        <p:nvSpPr>
          <p:cNvPr id="7" name="Text 5"/>
          <p:cNvSpPr txBox="1"/>
          <p:nvPr/>
        </p:nvSpPr>
        <p:spPr>
          <a:xfrm>
            <a:off x="914400" y="1792224"/>
            <a:ext cx="5303520" cy="237744"/>
          </a:xfrm>
          <a:prstGeom prst="rect">
            <a:avLst/>
          </a:prstGeom>
          <a:noFill/>
          <a:ln/>
        </p:spPr>
        <p:txBody>
          <a:bodyPr wrap="square" lIns="0" tIns="0" rIns="0" bIns="0" rtlCol="0" anchor="ctr"/>
          <a:lstStyle/>
          <a:p>
            <a:pPr marL="0" indent="0">
              <a:buNone/>
            </a:pPr>
            <a:r>
              <a:rPr lang="en-US" sz="950" b="1" kern="0" spc="120" dirty="0">
                <a:solidFill>
                  <a:srgbClr val="2A9D8F"/>
                </a:solidFill>
                <a:latin typeface="Calibri" pitchFamily="34" charset="0"/>
                <a:ea typeface="Calibri" pitchFamily="34" charset="-122"/>
                <a:cs typeface="Calibri" pitchFamily="34" charset="-120"/>
              </a:rPr>
              <a:t>CORRECTED</a:t>
            </a:r>
            <a:endParaRPr lang="en-US" sz="950" dirty="0"/>
          </a:p>
        </p:txBody>
      </p:sp>
      <p:sp>
        <p:nvSpPr>
          <p:cNvPr id="8" name="Text 6"/>
          <p:cNvSpPr txBox="1"/>
          <p:nvPr/>
        </p:nvSpPr>
        <p:spPr>
          <a:xfrm>
            <a:off x="914400" y="2103120"/>
            <a:ext cx="5394960" cy="3017520"/>
          </a:xfrm>
          <a:prstGeom prst="rect">
            <a:avLst/>
          </a:prstGeom>
          <a:noFill/>
          <a:ln/>
        </p:spPr>
        <p:txBody>
          <a:bodyPr wrap="square" lIns="0" tIns="0" rIns="0" bIns="0" rtlCol="0" anchor="t"/>
          <a:lstStyle/>
          <a:p>
            <a:pPr marL="0" indent="0">
              <a:lnSpc>
                <a:spcPct val="115000"/>
              </a:lnSpc>
              <a:buNone/>
            </a:pPr>
            <a:r>
              <a:rPr lang="en-US" sz="1050" dirty="0">
                <a:solidFill>
                  <a:srgbClr val="13232B"/>
                </a:solidFill>
                <a:latin typeface="Courier New" pitchFamily="34" charset="0"/>
                <a:ea typeface="Courier New" pitchFamily="34" charset="-122"/>
                <a:cs typeface="Courier New" pitchFamily="34" charset="-120"/>
              </a:rPr>
              <a:t>function Cyclic(&lt;V, E&gt;)
    mark each node in V with 0
    for each v in V do
        if v is marked with 0 then
            if HasCycles(v, none) then
                return True
    return False
function HasCycles(v, </a:t>
            </a:r>
            <a:r>
              <a:rPr lang="en-US" sz="1050" b="1" dirty="0">
                <a:solidFill>
                  <a:srgbClr val="2A9D8F"/>
                </a:solidFill>
                <a:latin typeface="Courier New" pitchFamily="34" charset="0"/>
                <a:ea typeface="Courier New" pitchFamily="34" charset="-122"/>
                <a:cs typeface="Courier New" pitchFamily="34" charset="-120"/>
              </a:rPr>
              <a:t>parent</a:t>
            </a:r>
            <a:r>
              <a:rPr lang="en-US" sz="1050" dirty="0">
                <a:solidFill>
                  <a:srgbClr val="13232B"/>
                </a:solidFill>
                <a:latin typeface="Courier New" pitchFamily="34" charset="0"/>
                <a:ea typeface="Courier New" pitchFamily="34" charset="-122"/>
                <a:cs typeface="Courier New" pitchFamily="34" charset="-120"/>
              </a:rPr>
              <a:t>)
    mark v with 1
    for each edge (v, w) do
        if w is marked with 0 then
            if HasCycles(w, </a:t>
            </a:r>
            <a:r>
              <a:rPr lang="en-US" sz="1050" b="1" dirty="0">
                <a:solidFill>
                  <a:srgbClr val="2A9D8F"/>
                </a:solidFill>
                <a:latin typeface="Courier New" pitchFamily="34" charset="0"/>
                <a:ea typeface="Courier New" pitchFamily="34" charset="-122"/>
                <a:cs typeface="Courier New" pitchFamily="34" charset="-120"/>
              </a:rPr>
              <a:t>v</a:t>
            </a:r>
            <a:r>
              <a:rPr lang="en-US" sz="1050" dirty="0">
                <a:solidFill>
                  <a:srgbClr val="13232B"/>
                </a:solidFill>
                <a:latin typeface="Courier New" pitchFamily="34" charset="0"/>
                <a:ea typeface="Courier New" pitchFamily="34" charset="-122"/>
                <a:cs typeface="Courier New" pitchFamily="34" charset="-120"/>
              </a:rPr>
              <a:t>) then return True
</a:t>
            </a:r>
            <a:r>
              <a:rPr lang="en-US" sz="1050" dirty="0">
                <a:solidFill>
                  <a:srgbClr val="2A9D8F"/>
                </a:solidFill>
                <a:latin typeface="Courier New" pitchFamily="34" charset="0"/>
                <a:ea typeface="Courier New" pitchFamily="34" charset="-122"/>
                <a:cs typeface="Courier New" pitchFamily="34" charset="-120"/>
              </a:rPr>
              <a:t>        else if w ≠ parent then
            return True</a:t>
            </a:r>
            <a:r>
              <a:rPr lang="en-US" sz="1050" dirty="0">
                <a:solidFill>
                  <a:srgbClr val="63797F"/>
                </a:solidFill>
                <a:latin typeface="Courier New" pitchFamily="34" charset="0"/>
                <a:ea typeface="Courier New" pitchFamily="34" charset="-122"/>
                <a:cs typeface="Courier New" pitchFamily="34" charset="-120"/>
              </a:rPr>
              <a:t>   ▹ real cycle
</a:t>
            </a:r>
            <a:r>
              <a:rPr lang="en-US" sz="1050" dirty="0">
                <a:solidFill>
                  <a:srgbClr val="13232B"/>
                </a:solidFill>
                <a:latin typeface="Courier New" pitchFamily="34" charset="0"/>
                <a:ea typeface="Courier New" pitchFamily="34" charset="-122"/>
                <a:cs typeface="Courier New" pitchFamily="34" charset="-120"/>
              </a:rPr>
              <a:t>    return False</a:t>
            </a:r>
            <a:endParaRPr lang="en-US" sz="1050" dirty="0"/>
          </a:p>
        </p:txBody>
      </p:sp>
      <p:sp>
        <p:nvSpPr>
          <p:cNvPr id="9" name="Text 7"/>
          <p:cNvSpPr txBox="1"/>
          <p:nvPr/>
        </p:nvSpPr>
        <p:spPr>
          <a:xfrm>
            <a:off x="6903720" y="1645920"/>
            <a:ext cx="4663440" cy="274320"/>
          </a:xfrm>
          <a:prstGeom prst="rect">
            <a:avLst/>
          </a:prstGeom>
          <a:noFill/>
          <a:ln/>
        </p:spPr>
        <p:txBody>
          <a:bodyPr wrap="square" lIns="0" tIns="0" rIns="0" bIns="0" rtlCol="0" anchor="t"/>
          <a:lstStyle/>
          <a:p>
            <a:pPr marL="0" indent="0" algn="l">
              <a:lnSpc>
                <a:spcPct val="115000"/>
              </a:lnSpc>
              <a:buNone/>
            </a:pPr>
            <a:r>
              <a:rPr lang="en-US" sz="1300" b="1" dirty="0">
                <a:solidFill>
                  <a:srgbClr val="0B3B44"/>
                </a:solidFill>
                <a:latin typeface="Calibri" pitchFamily="34" charset="0"/>
                <a:ea typeface="Calibri" pitchFamily="34" charset="-122"/>
                <a:cs typeface="Calibri" pitchFamily="34" charset="-120"/>
              </a:rPr>
              <a:t>Why one parameter fixes it</a:t>
            </a:r>
            <a:endParaRPr lang="en-US" sz="1300" dirty="0"/>
          </a:p>
        </p:txBody>
      </p:sp>
      <p:sp>
        <p:nvSpPr>
          <p:cNvPr id="10" name="Text 8"/>
          <p:cNvSpPr txBox="1"/>
          <p:nvPr/>
        </p:nvSpPr>
        <p:spPr>
          <a:xfrm>
            <a:off x="6903720" y="1993392"/>
            <a:ext cx="4663440" cy="1143000"/>
          </a:xfrm>
          <a:prstGeom prst="rect">
            <a:avLst/>
          </a:prstGeom>
          <a:noFill/>
          <a:ln/>
        </p:spPr>
        <p:txBody>
          <a:bodyPr wrap="square" lIns="0" tIns="0" rIns="0" bIns="0" rtlCol="0" anchor="t"/>
          <a:lstStyle/>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In an undirected DFS, every edge that is not a tree edge joins a node to one of its own ancestors — never to a cousin. Exactly one of those ancestors is harmless: your immediate parent, reached by re-reading the edge you came in on.</a:t>
            </a:r>
            <a:endParaRPr lang="en-US" sz="1250" dirty="0"/>
          </a:p>
        </p:txBody>
      </p:sp>
      <p:sp>
        <p:nvSpPr>
          <p:cNvPr id="11" name="Shape 9"/>
          <p:cNvSpPr/>
          <p:nvPr/>
        </p:nvSpPr>
        <p:spPr>
          <a:xfrm>
            <a:off x="6903720" y="3291840"/>
            <a:ext cx="4663440" cy="2011680"/>
          </a:xfrm>
          <a:prstGeom prst="roundRect">
            <a:avLst>
              <a:gd name="adj" fmla="val 2727"/>
            </a:avLst>
          </a:prstGeom>
          <a:solidFill>
            <a:srgbClr val="EDF4F3"/>
          </a:solidFill>
          <a:ln w="12700">
            <a:solidFill>
              <a:srgbClr val="EDF4F3"/>
            </a:solidFill>
            <a:prstDash val="solid"/>
          </a:ln>
        </p:spPr>
        <p:txBody>
          <a:bodyPr/>
          <a:lstStyle/>
          <a:p>
            <a:endParaRPr lang="en-US"/>
          </a:p>
        </p:txBody>
      </p:sp>
      <p:sp>
        <p:nvSpPr>
          <p:cNvPr id="12" name="Shape 10"/>
          <p:cNvSpPr/>
          <p:nvPr/>
        </p:nvSpPr>
        <p:spPr>
          <a:xfrm>
            <a:off x="7580376" y="3648456"/>
            <a:ext cx="475488" cy="475488"/>
          </a:xfrm>
          <a:prstGeom prst="ellipse">
            <a:avLst/>
          </a:prstGeom>
          <a:solidFill>
            <a:srgbClr val="FFFFFF"/>
          </a:solidFill>
          <a:ln w="15875">
            <a:solidFill>
              <a:srgbClr val="16505C"/>
            </a:solidFill>
            <a:prstDash val="solid"/>
          </a:ln>
        </p:spPr>
        <p:txBody>
          <a:bodyPr/>
          <a:lstStyle/>
          <a:p>
            <a:endParaRPr lang="en-US"/>
          </a:p>
        </p:txBody>
      </p:sp>
      <p:sp>
        <p:nvSpPr>
          <p:cNvPr id="13" name="Text 11"/>
          <p:cNvSpPr txBox="1"/>
          <p:nvPr/>
        </p:nvSpPr>
        <p:spPr>
          <a:xfrm>
            <a:off x="7580376" y="3648456"/>
            <a:ext cx="475488" cy="475488"/>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a</a:t>
            </a:r>
            <a:endParaRPr lang="en-US" sz="1350" dirty="0"/>
          </a:p>
        </p:txBody>
      </p:sp>
      <p:sp>
        <p:nvSpPr>
          <p:cNvPr id="14" name="Shape 12"/>
          <p:cNvSpPr/>
          <p:nvPr/>
        </p:nvSpPr>
        <p:spPr>
          <a:xfrm>
            <a:off x="7580376" y="4562856"/>
            <a:ext cx="475488" cy="475488"/>
          </a:xfrm>
          <a:prstGeom prst="ellipse">
            <a:avLst/>
          </a:prstGeom>
          <a:solidFill>
            <a:srgbClr val="FFFFFF"/>
          </a:solidFill>
          <a:ln w="15875">
            <a:solidFill>
              <a:srgbClr val="16505C"/>
            </a:solidFill>
            <a:prstDash val="solid"/>
          </a:ln>
        </p:spPr>
        <p:txBody>
          <a:bodyPr/>
          <a:lstStyle/>
          <a:p>
            <a:endParaRPr lang="en-US"/>
          </a:p>
        </p:txBody>
      </p:sp>
      <p:sp>
        <p:nvSpPr>
          <p:cNvPr id="15" name="Text 13"/>
          <p:cNvSpPr txBox="1"/>
          <p:nvPr/>
        </p:nvSpPr>
        <p:spPr>
          <a:xfrm>
            <a:off x="7580376" y="4562856"/>
            <a:ext cx="475488" cy="475488"/>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b</a:t>
            </a:r>
            <a:endParaRPr lang="en-US" sz="1350" dirty="0"/>
          </a:p>
        </p:txBody>
      </p:sp>
      <p:sp>
        <p:nvSpPr>
          <p:cNvPr id="16" name="Shape 14"/>
          <p:cNvSpPr/>
          <p:nvPr/>
        </p:nvSpPr>
        <p:spPr>
          <a:xfrm>
            <a:off x="8997696" y="4105656"/>
            <a:ext cx="475488" cy="475488"/>
          </a:xfrm>
          <a:prstGeom prst="ellipse">
            <a:avLst/>
          </a:prstGeom>
          <a:solidFill>
            <a:srgbClr val="FFFFFF"/>
          </a:solidFill>
          <a:ln w="15875">
            <a:solidFill>
              <a:srgbClr val="16505C"/>
            </a:solidFill>
            <a:prstDash val="solid"/>
          </a:ln>
        </p:spPr>
        <p:txBody>
          <a:bodyPr/>
          <a:lstStyle/>
          <a:p>
            <a:endParaRPr lang="en-US"/>
          </a:p>
        </p:txBody>
      </p:sp>
      <p:sp>
        <p:nvSpPr>
          <p:cNvPr id="17" name="Text 15"/>
          <p:cNvSpPr txBox="1"/>
          <p:nvPr/>
        </p:nvSpPr>
        <p:spPr>
          <a:xfrm>
            <a:off x="8997696" y="4105656"/>
            <a:ext cx="475488" cy="475488"/>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c</a:t>
            </a:r>
            <a:endParaRPr lang="en-US" sz="1350" dirty="0"/>
          </a:p>
        </p:txBody>
      </p:sp>
      <p:sp>
        <p:nvSpPr>
          <p:cNvPr id="18" name="Shape 16"/>
          <p:cNvSpPr/>
          <p:nvPr/>
        </p:nvSpPr>
        <p:spPr>
          <a:xfrm>
            <a:off x="7818120" y="4123944"/>
            <a:ext cx="0" cy="438912"/>
          </a:xfrm>
          <a:prstGeom prst="line">
            <a:avLst/>
          </a:prstGeom>
          <a:noFill/>
          <a:ln w="25400">
            <a:solidFill>
              <a:srgbClr val="16505C"/>
            </a:solidFill>
            <a:prstDash val="solid"/>
          </a:ln>
        </p:spPr>
        <p:txBody>
          <a:bodyPr/>
          <a:lstStyle/>
          <a:p>
            <a:endParaRPr lang="en-US"/>
          </a:p>
        </p:txBody>
      </p:sp>
      <p:sp>
        <p:nvSpPr>
          <p:cNvPr id="19" name="Shape 17"/>
          <p:cNvSpPr/>
          <p:nvPr/>
        </p:nvSpPr>
        <p:spPr>
          <a:xfrm flipV="1">
            <a:off x="8044383" y="4416388"/>
            <a:ext cx="964794" cy="311224"/>
          </a:xfrm>
          <a:prstGeom prst="line">
            <a:avLst/>
          </a:prstGeom>
          <a:noFill/>
          <a:ln w="25400">
            <a:solidFill>
              <a:srgbClr val="16505C"/>
            </a:solidFill>
            <a:prstDash val="solid"/>
          </a:ln>
        </p:spPr>
        <p:txBody>
          <a:bodyPr/>
          <a:lstStyle/>
          <a:p>
            <a:endParaRPr lang="en-US"/>
          </a:p>
        </p:txBody>
      </p:sp>
      <p:sp>
        <p:nvSpPr>
          <p:cNvPr id="20" name="Shape 18"/>
          <p:cNvSpPr/>
          <p:nvPr/>
        </p:nvSpPr>
        <p:spPr>
          <a:xfrm flipH="1" flipV="1">
            <a:off x="8044383" y="3959188"/>
            <a:ext cx="964794" cy="311224"/>
          </a:xfrm>
          <a:prstGeom prst="line">
            <a:avLst/>
          </a:prstGeom>
          <a:noFill/>
          <a:ln w="25400">
            <a:solidFill>
              <a:srgbClr val="C1465A"/>
            </a:solidFill>
            <a:prstDash val="dash"/>
          </a:ln>
        </p:spPr>
        <p:txBody>
          <a:bodyPr/>
          <a:lstStyle/>
          <a:p>
            <a:endParaRPr lang="en-US"/>
          </a:p>
        </p:txBody>
      </p:sp>
      <p:sp>
        <p:nvSpPr>
          <p:cNvPr id="21" name="Text 19"/>
          <p:cNvSpPr txBox="1"/>
          <p:nvPr/>
        </p:nvSpPr>
        <p:spPr>
          <a:xfrm>
            <a:off x="9784080" y="3703320"/>
            <a:ext cx="1600200" cy="548640"/>
          </a:xfrm>
          <a:prstGeom prst="rect">
            <a:avLst/>
          </a:prstGeom>
          <a:noFill/>
          <a:ln/>
        </p:spPr>
        <p:txBody>
          <a:bodyPr wrap="square" lIns="0" tIns="0" rIns="0" bIns="0" rtlCol="0" anchor="t"/>
          <a:lstStyle/>
          <a:p>
            <a:pPr marL="0" indent="0" algn="l">
              <a:lnSpc>
                <a:spcPct val="115000"/>
              </a:lnSpc>
              <a:buNone/>
            </a:pPr>
            <a:r>
              <a:rPr lang="en-US" sz="1100" i="1" dirty="0">
                <a:solidFill>
                  <a:srgbClr val="63797F"/>
                </a:solidFill>
                <a:latin typeface="Calibri" pitchFamily="34" charset="0"/>
                <a:ea typeface="Calibri" pitchFamily="34" charset="-122"/>
                <a:cs typeface="Calibri" pitchFamily="34" charset="-120"/>
              </a:rPr>
              <a:t>solid = tree</a:t>
            </a:r>
            <a:endParaRPr lang="en-US" sz="1100" dirty="0"/>
          </a:p>
          <a:p>
            <a:pPr marL="0" indent="0" algn="l">
              <a:lnSpc>
                <a:spcPct val="115000"/>
              </a:lnSpc>
              <a:buNone/>
            </a:pPr>
            <a:r>
              <a:rPr lang="en-US" sz="1100" i="1" dirty="0">
                <a:solidFill>
                  <a:srgbClr val="63797F"/>
                </a:solidFill>
                <a:latin typeface="Calibri" pitchFamily="34" charset="0"/>
                <a:ea typeface="Calibri" pitchFamily="34" charset="-122"/>
                <a:cs typeface="Calibri" pitchFamily="34" charset="-120"/>
              </a:rPr>
              <a:t>dashed = a real cycle</a:t>
            </a:r>
            <a:endParaRPr lang="en-US" sz="1100" dirty="0"/>
          </a:p>
        </p:txBody>
      </p:sp>
      <p:sp>
        <p:nvSpPr>
          <p:cNvPr id="22" name="Text 20"/>
          <p:cNvSpPr txBox="1"/>
          <p:nvPr/>
        </p:nvSpPr>
        <p:spPr>
          <a:xfrm>
            <a:off x="9784080" y="4434840"/>
            <a:ext cx="1600200" cy="731520"/>
          </a:xfrm>
          <a:prstGeom prst="rect">
            <a:avLst/>
          </a:prstGeom>
          <a:noFill/>
          <a:ln/>
        </p:spPr>
        <p:txBody>
          <a:bodyPr wrap="square" lIns="0" tIns="0" rIns="0" bIns="0" rtlCol="0" anchor="t"/>
          <a:lstStyle/>
          <a:p>
            <a:pPr marL="0" indent="0" algn="l">
              <a:lnSpc>
                <a:spcPct val="115000"/>
              </a:lnSpc>
              <a:buNone/>
            </a:pPr>
            <a:r>
              <a:rPr lang="en-US" sz="1100" i="1" dirty="0">
                <a:solidFill>
                  <a:srgbClr val="63797F"/>
                </a:solidFill>
                <a:latin typeface="Calibri" pitchFamily="34" charset="0"/>
                <a:ea typeface="Calibri" pitchFamily="34" charset="-122"/>
                <a:cs typeface="Calibri" pitchFamily="34" charset="-120"/>
              </a:rPr>
              <a:t>b → a is only the parent edge, so it is ignored.</a:t>
            </a:r>
            <a:endParaRPr lang="en-US" sz="1100" dirty="0"/>
          </a:p>
        </p:txBody>
      </p:sp>
      <p:sp>
        <p:nvSpPr>
          <p:cNvPr id="23" name="Shape 21"/>
          <p:cNvSpPr/>
          <p:nvPr/>
        </p:nvSpPr>
        <p:spPr>
          <a:xfrm>
            <a:off x="640080" y="5440680"/>
            <a:ext cx="10927080" cy="658368"/>
          </a:xfrm>
          <a:prstGeom prst="roundRect">
            <a:avLst>
              <a:gd name="adj" fmla="val 8333"/>
            </a:avLst>
          </a:prstGeom>
          <a:solidFill>
            <a:srgbClr val="0B3B44"/>
          </a:solidFill>
          <a:ln w="12700">
            <a:solidFill>
              <a:srgbClr val="0B3B44"/>
            </a:solidFill>
            <a:prstDash val="solid"/>
          </a:ln>
        </p:spPr>
        <p:txBody>
          <a:bodyPr/>
          <a:lstStyle/>
          <a:p>
            <a:endParaRPr lang="en-US"/>
          </a:p>
        </p:txBody>
      </p:sp>
      <p:sp>
        <p:nvSpPr>
          <p:cNvPr id="24" name="Text 22"/>
          <p:cNvSpPr txBox="1"/>
          <p:nvPr/>
        </p:nvSpPr>
        <p:spPr>
          <a:xfrm>
            <a:off x="914400" y="5440680"/>
            <a:ext cx="10378440" cy="658368"/>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Q33 and Q34 do this properly:  </a:t>
            </a:r>
            <a:r>
              <a:rPr lang="en-US" sz="1300" dirty="0">
                <a:solidFill>
                  <a:srgbClr val="D3E0DD"/>
                </a:solidFill>
                <a:latin typeface="Calibri" pitchFamily="34" charset="0"/>
                <a:ea typeface="Calibri" pitchFamily="34" charset="-122"/>
                <a:cs typeface="Calibri" pitchFamily="34" charset="-120"/>
              </a:rPr>
              <a:t>first give the two kinds of edge names, then answer the question in terms of the names.</a:t>
            </a:r>
            <a:endParaRPr lang="en-US" sz="1300" dirty="0"/>
          </a:p>
        </p:txBody>
      </p:sp>
      <p:sp>
        <p:nvSpPr>
          <p:cNvPr id="26" name="Text 23"/>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27" name="Text 24"/>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33</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Naming the edges</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Write an algorithm to classify all edges of an undirected graph, so that depth-first tree edges can be distinguished from back edges.</a:t>
            </a:r>
            <a:endParaRPr lang="en-US" sz="1300" dirty="0"/>
          </a:p>
        </p:txBody>
      </p:sp>
      <p:sp>
        <p:nvSpPr>
          <p:cNvPr id="6" name="Shape 4"/>
          <p:cNvSpPr/>
          <p:nvPr/>
        </p:nvSpPr>
        <p:spPr>
          <a:xfrm>
            <a:off x="640080" y="1691640"/>
            <a:ext cx="5852160" cy="3749040"/>
          </a:xfrm>
          <a:prstGeom prst="roundRect">
            <a:avLst>
              <a:gd name="adj" fmla="val 1463"/>
            </a:avLst>
          </a:prstGeom>
          <a:solidFill>
            <a:srgbClr val="F6F9F8"/>
          </a:solidFill>
          <a:ln w="9525">
            <a:solidFill>
              <a:srgbClr val="D3E0DD"/>
            </a:solidFill>
            <a:prstDash val="solid"/>
          </a:ln>
        </p:spPr>
        <p:txBody>
          <a:bodyPr/>
          <a:lstStyle/>
          <a:p>
            <a:endParaRPr lang="en-US"/>
          </a:p>
        </p:txBody>
      </p:sp>
      <p:sp>
        <p:nvSpPr>
          <p:cNvPr id="7" name="Text 5"/>
          <p:cNvSpPr txBox="1"/>
          <p:nvPr/>
        </p:nvSpPr>
        <p:spPr>
          <a:xfrm>
            <a:off x="914400" y="1901952"/>
            <a:ext cx="5303520" cy="237744"/>
          </a:xfrm>
          <a:prstGeom prst="rect">
            <a:avLst/>
          </a:prstGeom>
          <a:noFill/>
          <a:ln/>
        </p:spPr>
        <p:txBody>
          <a:bodyPr wrap="square" lIns="0" tIns="0" rIns="0" bIns="0" rtlCol="0" anchor="ctr"/>
          <a:lstStyle/>
          <a:p>
            <a:pPr marL="0" indent="0">
              <a:buNone/>
            </a:pPr>
            <a:r>
              <a:rPr lang="en-US" sz="950" b="1" kern="0" spc="120" dirty="0">
                <a:solidFill>
                  <a:srgbClr val="2A9D8F"/>
                </a:solidFill>
                <a:latin typeface="Calibri" pitchFamily="34" charset="0"/>
                <a:ea typeface="Calibri" pitchFamily="34" charset="-122"/>
                <a:cs typeface="Calibri" pitchFamily="34" charset="-120"/>
              </a:rPr>
              <a:t>ONE DFS FROM a, NEIGHBOURS IN ALPHABETICAL ORDER</a:t>
            </a:r>
            <a:endParaRPr lang="en-US" sz="950" dirty="0"/>
          </a:p>
        </p:txBody>
      </p:sp>
      <p:sp>
        <p:nvSpPr>
          <p:cNvPr id="8" name="Shape 6"/>
          <p:cNvSpPr/>
          <p:nvPr/>
        </p:nvSpPr>
        <p:spPr>
          <a:xfrm>
            <a:off x="1883664" y="2615184"/>
            <a:ext cx="530352" cy="530352"/>
          </a:xfrm>
          <a:prstGeom prst="ellipse">
            <a:avLst/>
          </a:prstGeom>
          <a:solidFill>
            <a:srgbClr val="FFFFFF"/>
          </a:solidFill>
          <a:ln w="15875">
            <a:solidFill>
              <a:srgbClr val="16505C"/>
            </a:solidFill>
            <a:prstDash val="solid"/>
          </a:ln>
        </p:spPr>
        <p:txBody>
          <a:bodyPr/>
          <a:lstStyle/>
          <a:p>
            <a:endParaRPr lang="en-US"/>
          </a:p>
        </p:txBody>
      </p:sp>
      <p:sp>
        <p:nvSpPr>
          <p:cNvPr id="9" name="Text 7"/>
          <p:cNvSpPr txBox="1"/>
          <p:nvPr/>
        </p:nvSpPr>
        <p:spPr>
          <a:xfrm>
            <a:off x="1883664" y="261518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a</a:t>
            </a:r>
            <a:endParaRPr lang="en-US" sz="1350" dirty="0"/>
          </a:p>
        </p:txBody>
      </p:sp>
      <p:sp>
        <p:nvSpPr>
          <p:cNvPr id="10" name="Shape 8"/>
          <p:cNvSpPr/>
          <p:nvPr/>
        </p:nvSpPr>
        <p:spPr>
          <a:xfrm>
            <a:off x="3621024" y="2615184"/>
            <a:ext cx="530352" cy="530352"/>
          </a:xfrm>
          <a:prstGeom prst="ellipse">
            <a:avLst/>
          </a:prstGeom>
          <a:solidFill>
            <a:srgbClr val="FFFFFF"/>
          </a:solidFill>
          <a:ln w="15875">
            <a:solidFill>
              <a:srgbClr val="16505C"/>
            </a:solidFill>
            <a:prstDash val="solid"/>
          </a:ln>
        </p:spPr>
        <p:txBody>
          <a:bodyPr/>
          <a:lstStyle/>
          <a:p>
            <a:endParaRPr lang="en-US"/>
          </a:p>
        </p:txBody>
      </p:sp>
      <p:sp>
        <p:nvSpPr>
          <p:cNvPr id="11" name="Text 9"/>
          <p:cNvSpPr txBox="1"/>
          <p:nvPr/>
        </p:nvSpPr>
        <p:spPr>
          <a:xfrm>
            <a:off x="3621024" y="261518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b</a:t>
            </a:r>
            <a:endParaRPr lang="en-US" sz="1350" dirty="0"/>
          </a:p>
        </p:txBody>
      </p:sp>
      <p:sp>
        <p:nvSpPr>
          <p:cNvPr id="12" name="Shape 10"/>
          <p:cNvSpPr/>
          <p:nvPr/>
        </p:nvSpPr>
        <p:spPr>
          <a:xfrm>
            <a:off x="3621024" y="4169664"/>
            <a:ext cx="530352" cy="530352"/>
          </a:xfrm>
          <a:prstGeom prst="ellipse">
            <a:avLst/>
          </a:prstGeom>
          <a:solidFill>
            <a:srgbClr val="FFFFFF"/>
          </a:solidFill>
          <a:ln w="15875">
            <a:solidFill>
              <a:srgbClr val="16505C"/>
            </a:solidFill>
            <a:prstDash val="solid"/>
          </a:ln>
        </p:spPr>
        <p:txBody>
          <a:bodyPr/>
          <a:lstStyle/>
          <a:p>
            <a:endParaRPr lang="en-US"/>
          </a:p>
        </p:txBody>
      </p:sp>
      <p:sp>
        <p:nvSpPr>
          <p:cNvPr id="13" name="Text 11"/>
          <p:cNvSpPr txBox="1"/>
          <p:nvPr/>
        </p:nvSpPr>
        <p:spPr>
          <a:xfrm>
            <a:off x="3621024" y="416966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c</a:t>
            </a:r>
            <a:endParaRPr lang="en-US" sz="1350" dirty="0"/>
          </a:p>
        </p:txBody>
      </p:sp>
      <p:sp>
        <p:nvSpPr>
          <p:cNvPr id="14" name="Shape 12"/>
          <p:cNvSpPr/>
          <p:nvPr/>
        </p:nvSpPr>
        <p:spPr>
          <a:xfrm>
            <a:off x="1883664" y="4169664"/>
            <a:ext cx="530352" cy="530352"/>
          </a:xfrm>
          <a:prstGeom prst="ellipse">
            <a:avLst/>
          </a:prstGeom>
          <a:solidFill>
            <a:srgbClr val="FFFFFF"/>
          </a:solidFill>
          <a:ln w="15875">
            <a:solidFill>
              <a:srgbClr val="16505C"/>
            </a:solidFill>
            <a:prstDash val="solid"/>
          </a:ln>
        </p:spPr>
        <p:txBody>
          <a:bodyPr/>
          <a:lstStyle/>
          <a:p>
            <a:endParaRPr lang="en-US"/>
          </a:p>
        </p:txBody>
      </p:sp>
      <p:sp>
        <p:nvSpPr>
          <p:cNvPr id="15" name="Text 13"/>
          <p:cNvSpPr txBox="1"/>
          <p:nvPr/>
        </p:nvSpPr>
        <p:spPr>
          <a:xfrm>
            <a:off x="1883664" y="416966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d</a:t>
            </a:r>
            <a:endParaRPr lang="en-US" sz="1350" dirty="0"/>
          </a:p>
        </p:txBody>
      </p:sp>
      <p:sp>
        <p:nvSpPr>
          <p:cNvPr id="16" name="Shape 14"/>
          <p:cNvSpPr/>
          <p:nvPr/>
        </p:nvSpPr>
        <p:spPr>
          <a:xfrm>
            <a:off x="2414016" y="2880360"/>
            <a:ext cx="1207008" cy="0"/>
          </a:xfrm>
          <a:prstGeom prst="line">
            <a:avLst/>
          </a:prstGeom>
          <a:noFill/>
          <a:ln w="28575">
            <a:solidFill>
              <a:srgbClr val="2A9D8F"/>
            </a:solidFill>
            <a:prstDash val="solid"/>
          </a:ln>
        </p:spPr>
        <p:txBody>
          <a:bodyPr/>
          <a:lstStyle/>
          <a:p>
            <a:endParaRPr lang="en-US"/>
          </a:p>
        </p:txBody>
      </p:sp>
      <p:sp>
        <p:nvSpPr>
          <p:cNvPr id="17" name="Shape 15"/>
          <p:cNvSpPr/>
          <p:nvPr/>
        </p:nvSpPr>
        <p:spPr>
          <a:xfrm>
            <a:off x="3886200" y="3145536"/>
            <a:ext cx="0" cy="1024128"/>
          </a:xfrm>
          <a:prstGeom prst="line">
            <a:avLst/>
          </a:prstGeom>
          <a:noFill/>
          <a:ln w="28575">
            <a:solidFill>
              <a:srgbClr val="2A9D8F"/>
            </a:solidFill>
            <a:prstDash val="solid"/>
          </a:ln>
        </p:spPr>
        <p:txBody>
          <a:bodyPr/>
          <a:lstStyle/>
          <a:p>
            <a:endParaRPr lang="en-US"/>
          </a:p>
        </p:txBody>
      </p:sp>
      <p:sp>
        <p:nvSpPr>
          <p:cNvPr id="18" name="Shape 16"/>
          <p:cNvSpPr/>
          <p:nvPr/>
        </p:nvSpPr>
        <p:spPr>
          <a:xfrm>
            <a:off x="2148840" y="3145536"/>
            <a:ext cx="0" cy="1024128"/>
          </a:xfrm>
          <a:prstGeom prst="line">
            <a:avLst/>
          </a:prstGeom>
          <a:noFill/>
          <a:ln w="28575">
            <a:solidFill>
              <a:srgbClr val="2A9D8F"/>
            </a:solidFill>
            <a:prstDash val="solid"/>
          </a:ln>
        </p:spPr>
        <p:txBody>
          <a:bodyPr/>
          <a:lstStyle/>
          <a:p>
            <a:endParaRPr lang="en-US"/>
          </a:p>
        </p:txBody>
      </p:sp>
      <p:sp>
        <p:nvSpPr>
          <p:cNvPr id="19" name="Shape 17"/>
          <p:cNvSpPr/>
          <p:nvPr/>
        </p:nvSpPr>
        <p:spPr>
          <a:xfrm>
            <a:off x="2346460" y="3057178"/>
            <a:ext cx="1342120" cy="1200844"/>
          </a:xfrm>
          <a:prstGeom prst="line">
            <a:avLst/>
          </a:prstGeom>
          <a:noFill/>
          <a:ln w="25400">
            <a:solidFill>
              <a:srgbClr val="C1465A"/>
            </a:solidFill>
            <a:prstDash val="dash"/>
          </a:ln>
        </p:spPr>
        <p:txBody>
          <a:bodyPr/>
          <a:lstStyle/>
          <a:p>
            <a:endParaRPr lang="en-US"/>
          </a:p>
        </p:txBody>
      </p:sp>
      <p:sp>
        <p:nvSpPr>
          <p:cNvPr id="20" name="Text 18"/>
          <p:cNvSpPr txBox="1"/>
          <p:nvPr/>
        </p:nvSpPr>
        <p:spPr>
          <a:xfrm>
            <a:off x="4709160" y="2743200"/>
            <a:ext cx="1600200" cy="457200"/>
          </a:xfrm>
          <a:prstGeom prst="rect">
            <a:avLst/>
          </a:prstGeom>
          <a:noFill/>
          <a:ln/>
        </p:spPr>
        <p:txBody>
          <a:bodyPr wrap="square" lIns="0" tIns="0" rIns="0" bIns="0" rtlCol="0" anchor="t"/>
          <a:lstStyle/>
          <a:p>
            <a:pPr marL="0" indent="0" algn="l">
              <a:lnSpc>
                <a:spcPct val="115000"/>
              </a:lnSpc>
              <a:buNone/>
            </a:pPr>
            <a:r>
              <a:rPr lang="en-US" sz="1150" b="1" dirty="0">
                <a:solidFill>
                  <a:srgbClr val="2A9D8F"/>
                </a:solidFill>
                <a:latin typeface="Calibri" pitchFamily="34" charset="0"/>
                <a:ea typeface="Calibri" pitchFamily="34" charset="-122"/>
                <a:cs typeface="Calibri" pitchFamily="34" charset="-120"/>
              </a:rPr>
              <a:t>tree edges</a:t>
            </a:r>
            <a:endParaRPr lang="en-US" sz="1150" dirty="0"/>
          </a:p>
          <a:p>
            <a:pPr marL="0" indent="0" algn="l">
              <a:lnSpc>
                <a:spcPct val="115000"/>
              </a:lnSpc>
              <a:buNone/>
            </a:pPr>
            <a:r>
              <a:rPr lang="en-US" sz="1150" b="1" dirty="0">
                <a:solidFill>
                  <a:srgbClr val="2A9D8F"/>
                </a:solidFill>
                <a:latin typeface="Calibri" pitchFamily="34" charset="0"/>
                <a:ea typeface="Calibri" pitchFamily="34" charset="-122"/>
                <a:cs typeface="Calibri" pitchFamily="34" charset="-120"/>
              </a:rPr>
              <a:t>(3 = |V| − 1)</a:t>
            </a:r>
            <a:endParaRPr lang="en-US" sz="1150" dirty="0"/>
          </a:p>
        </p:txBody>
      </p:sp>
      <p:sp>
        <p:nvSpPr>
          <p:cNvPr id="21" name="Text 19"/>
          <p:cNvSpPr txBox="1"/>
          <p:nvPr/>
        </p:nvSpPr>
        <p:spPr>
          <a:xfrm>
            <a:off x="4709160" y="3429000"/>
            <a:ext cx="1600200" cy="457200"/>
          </a:xfrm>
          <a:prstGeom prst="rect">
            <a:avLst/>
          </a:prstGeom>
          <a:noFill/>
          <a:ln/>
        </p:spPr>
        <p:txBody>
          <a:bodyPr wrap="square" lIns="0" tIns="0" rIns="0" bIns="0" rtlCol="0" anchor="t"/>
          <a:lstStyle/>
          <a:p>
            <a:pPr marL="0" indent="0" algn="l">
              <a:lnSpc>
                <a:spcPct val="115000"/>
              </a:lnSpc>
              <a:buNone/>
            </a:pPr>
            <a:r>
              <a:rPr lang="en-US" sz="1150" b="1" dirty="0">
                <a:solidFill>
                  <a:srgbClr val="C1465A"/>
                </a:solidFill>
                <a:latin typeface="Calibri" pitchFamily="34" charset="0"/>
                <a:ea typeface="Calibri" pitchFamily="34" charset="-122"/>
                <a:cs typeface="Calibri" pitchFamily="34" charset="-120"/>
              </a:rPr>
              <a:t>back edge</a:t>
            </a:r>
            <a:endParaRPr lang="en-US" sz="1150" dirty="0"/>
          </a:p>
          <a:p>
            <a:pPr marL="0" indent="0" algn="l">
              <a:lnSpc>
                <a:spcPct val="115000"/>
              </a:lnSpc>
              <a:buNone/>
            </a:pPr>
            <a:r>
              <a:rPr lang="en-US" sz="1150" b="1" dirty="0">
                <a:solidFill>
                  <a:srgbClr val="C1465A"/>
                </a:solidFill>
                <a:latin typeface="Calibri" pitchFamily="34" charset="0"/>
                <a:ea typeface="Calibri" pitchFamily="34" charset="-122"/>
                <a:cs typeface="Calibri" pitchFamily="34" charset="-120"/>
              </a:rPr>
              <a:t>a — c</a:t>
            </a:r>
            <a:endParaRPr lang="en-US" sz="1150" dirty="0"/>
          </a:p>
        </p:txBody>
      </p:sp>
      <p:sp>
        <p:nvSpPr>
          <p:cNvPr id="22" name="Text 20"/>
          <p:cNvSpPr txBox="1"/>
          <p:nvPr/>
        </p:nvSpPr>
        <p:spPr>
          <a:xfrm>
            <a:off x="4709160" y="4160520"/>
            <a:ext cx="1691640" cy="822960"/>
          </a:xfrm>
          <a:prstGeom prst="rect">
            <a:avLst/>
          </a:prstGeom>
          <a:noFill/>
          <a:ln/>
        </p:spPr>
        <p:txBody>
          <a:bodyPr wrap="square" lIns="0" tIns="0" rIns="0" bIns="0" rtlCol="0" anchor="t"/>
          <a:lstStyle/>
          <a:p>
            <a:pPr marL="0" indent="0" algn="l">
              <a:lnSpc>
                <a:spcPct val="115000"/>
              </a:lnSpc>
              <a:buNone/>
            </a:pPr>
            <a:r>
              <a:rPr lang="en-US" sz="1150" i="1" dirty="0">
                <a:solidFill>
                  <a:srgbClr val="63797F"/>
                </a:solidFill>
                <a:latin typeface="Calibri" pitchFamily="34" charset="0"/>
                <a:ea typeface="Calibri" pitchFamily="34" charset="-122"/>
                <a:cs typeface="Calibri" pitchFamily="34" charset="-120"/>
              </a:rPr>
              <a:t>3 + 1 = 4 = |E|.</a:t>
            </a:r>
            <a:endParaRPr lang="en-US" sz="1150" dirty="0"/>
          </a:p>
          <a:p>
            <a:pPr marL="0" indent="0" algn="l">
              <a:lnSpc>
                <a:spcPct val="115000"/>
              </a:lnSpc>
              <a:buNone/>
            </a:pPr>
            <a:r>
              <a:rPr lang="en-US" sz="1150" i="1" dirty="0">
                <a:solidFill>
                  <a:srgbClr val="63797F"/>
                </a:solidFill>
                <a:latin typeface="Calibri" pitchFamily="34" charset="0"/>
                <a:ea typeface="Calibri" pitchFamily="34" charset="-122"/>
                <a:cs typeface="Calibri" pitchFamily="34" charset="-120"/>
              </a:rPr>
              <a:t>Nothing else is possible.</a:t>
            </a:r>
            <a:endParaRPr lang="en-US" sz="1150" dirty="0"/>
          </a:p>
        </p:txBody>
      </p:sp>
      <p:sp>
        <p:nvSpPr>
          <p:cNvPr id="23" name="Text 21"/>
          <p:cNvSpPr txBox="1"/>
          <p:nvPr/>
        </p:nvSpPr>
        <p:spPr>
          <a:xfrm>
            <a:off x="914400" y="4983480"/>
            <a:ext cx="5394960" cy="32004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visit order  a, b, c, d      DFS tree:  a – b – c  and  a – d</a:t>
            </a:r>
            <a:endParaRPr lang="en-US" sz="1100" dirty="0"/>
          </a:p>
        </p:txBody>
      </p:sp>
      <p:sp>
        <p:nvSpPr>
          <p:cNvPr id="24" name="Text 22"/>
          <p:cNvSpPr txBox="1"/>
          <p:nvPr/>
        </p:nvSpPr>
        <p:spPr>
          <a:xfrm>
            <a:off x="6903720" y="1755648"/>
            <a:ext cx="4663440" cy="274320"/>
          </a:xfrm>
          <a:prstGeom prst="rect">
            <a:avLst/>
          </a:prstGeom>
          <a:noFill/>
          <a:ln/>
        </p:spPr>
        <p:txBody>
          <a:bodyPr wrap="square" lIns="0" tIns="0" rIns="0" bIns="0" rtlCol="0" anchor="t"/>
          <a:lstStyle/>
          <a:p>
            <a:pPr marL="0" indent="0" algn="l">
              <a:lnSpc>
                <a:spcPct val="115000"/>
              </a:lnSpc>
              <a:buNone/>
            </a:pPr>
            <a:r>
              <a:rPr lang="en-US" sz="1350" b="1" dirty="0">
                <a:solidFill>
                  <a:srgbClr val="2A9D8F"/>
                </a:solidFill>
                <a:latin typeface="Calibri" pitchFamily="34" charset="0"/>
                <a:ea typeface="Calibri" pitchFamily="34" charset="-122"/>
                <a:cs typeface="Calibri" pitchFamily="34" charset="-120"/>
              </a:rPr>
              <a:t>Tree edge</a:t>
            </a:r>
            <a:endParaRPr lang="en-US" sz="1350" dirty="0"/>
          </a:p>
        </p:txBody>
      </p:sp>
      <p:sp>
        <p:nvSpPr>
          <p:cNvPr id="25" name="Text 23"/>
          <p:cNvSpPr txBox="1"/>
          <p:nvPr/>
        </p:nvSpPr>
        <p:spPr>
          <a:xfrm>
            <a:off x="6903720" y="2084832"/>
            <a:ext cx="4663440" cy="685800"/>
          </a:xfrm>
          <a:prstGeom prst="rect">
            <a:avLst/>
          </a:prstGeom>
          <a:noFill/>
          <a:ln/>
        </p:spPr>
        <p:txBody>
          <a:bodyPr wrap="square" lIns="0" tIns="0" rIns="0" bIns="0" rtlCol="0" anchor="t"/>
          <a:lstStyle/>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(v, w) where w was still unmarked when we looked at it. This is an edge the traversal actually travelled along.</a:t>
            </a:r>
            <a:endParaRPr lang="en-US" sz="1250" dirty="0"/>
          </a:p>
        </p:txBody>
      </p:sp>
      <p:sp>
        <p:nvSpPr>
          <p:cNvPr id="26" name="Text 24"/>
          <p:cNvSpPr txBox="1"/>
          <p:nvPr/>
        </p:nvSpPr>
        <p:spPr>
          <a:xfrm>
            <a:off x="6903720" y="2852928"/>
            <a:ext cx="4663440" cy="274320"/>
          </a:xfrm>
          <a:prstGeom prst="rect">
            <a:avLst/>
          </a:prstGeom>
          <a:noFill/>
          <a:ln/>
        </p:spPr>
        <p:txBody>
          <a:bodyPr wrap="square" lIns="0" tIns="0" rIns="0" bIns="0" rtlCol="0" anchor="t"/>
          <a:lstStyle/>
          <a:p>
            <a:pPr marL="0" indent="0" algn="l">
              <a:lnSpc>
                <a:spcPct val="115000"/>
              </a:lnSpc>
              <a:buNone/>
            </a:pPr>
            <a:r>
              <a:rPr lang="en-US" sz="1350" b="1" dirty="0">
                <a:solidFill>
                  <a:srgbClr val="C1465A"/>
                </a:solidFill>
                <a:latin typeface="Calibri" pitchFamily="34" charset="0"/>
                <a:ea typeface="Calibri" pitchFamily="34" charset="-122"/>
                <a:cs typeface="Calibri" pitchFamily="34" charset="-120"/>
              </a:rPr>
              <a:t>Back edge</a:t>
            </a:r>
            <a:endParaRPr lang="en-US" sz="1350" dirty="0"/>
          </a:p>
        </p:txBody>
      </p:sp>
      <p:sp>
        <p:nvSpPr>
          <p:cNvPr id="27" name="Text 25"/>
          <p:cNvSpPr txBox="1"/>
          <p:nvPr/>
        </p:nvSpPr>
        <p:spPr>
          <a:xfrm>
            <a:off x="6903720" y="3182112"/>
            <a:ext cx="4663440" cy="685800"/>
          </a:xfrm>
          <a:prstGeom prst="rect">
            <a:avLst/>
          </a:prstGeom>
          <a:noFill/>
          <a:ln/>
        </p:spPr>
        <p:txBody>
          <a:bodyPr wrap="square" lIns="0" tIns="0" rIns="0" bIns="0" rtlCol="0" anchor="t"/>
          <a:lstStyle/>
          <a:p>
            <a:pPr marL="0" indent="0" algn="l">
              <a:lnSpc>
                <a:spcPct val="115000"/>
              </a:lnSpc>
              <a:buNone/>
            </a:pPr>
            <a:r>
              <a:rPr lang="en-US" sz="1250" dirty="0">
                <a:solidFill>
                  <a:srgbClr val="13232B"/>
                </a:solidFill>
                <a:latin typeface="Calibri" pitchFamily="34" charset="0"/>
                <a:ea typeface="Calibri" pitchFamily="34" charset="-122"/>
                <a:cs typeface="Calibri" pitchFamily="34" charset="-120"/>
              </a:rPr>
              <a:t>(v, w) where w is already marked. In an undirected DFS, w is then always an ancestor of v.</a:t>
            </a:r>
            <a:endParaRPr lang="en-US" sz="1250" dirty="0"/>
          </a:p>
        </p:txBody>
      </p:sp>
      <p:sp>
        <p:nvSpPr>
          <p:cNvPr id="28" name="Shape 26"/>
          <p:cNvSpPr/>
          <p:nvPr/>
        </p:nvSpPr>
        <p:spPr>
          <a:xfrm>
            <a:off x="6903720" y="4023360"/>
            <a:ext cx="4663440" cy="1417320"/>
          </a:xfrm>
          <a:prstGeom prst="roundRect">
            <a:avLst>
              <a:gd name="adj" fmla="val 3871"/>
            </a:avLst>
          </a:prstGeom>
          <a:solidFill>
            <a:srgbClr val="EDF4F3"/>
          </a:solidFill>
          <a:ln w="12700">
            <a:solidFill>
              <a:srgbClr val="EDF4F3"/>
            </a:solidFill>
            <a:prstDash val="solid"/>
          </a:ln>
        </p:spPr>
        <p:txBody>
          <a:bodyPr/>
          <a:lstStyle/>
          <a:p>
            <a:endParaRPr lang="en-US"/>
          </a:p>
        </p:txBody>
      </p:sp>
      <p:sp>
        <p:nvSpPr>
          <p:cNvPr id="29" name="Text 27"/>
          <p:cNvSpPr txBox="1"/>
          <p:nvPr/>
        </p:nvSpPr>
        <p:spPr>
          <a:xfrm>
            <a:off x="7178040" y="4187952"/>
            <a:ext cx="4160520" cy="256032"/>
          </a:xfrm>
          <a:prstGeom prst="rect">
            <a:avLst/>
          </a:prstGeom>
          <a:noFill/>
          <a:ln/>
        </p:spPr>
        <p:txBody>
          <a:bodyPr wrap="square" lIns="0" tIns="0" rIns="0" bIns="0" rtlCol="0" anchor="t"/>
          <a:lstStyle/>
          <a:p>
            <a:pPr marL="0" indent="0" algn="l">
              <a:lnSpc>
                <a:spcPct val="115000"/>
              </a:lnSpc>
              <a:buNone/>
            </a:pPr>
            <a:r>
              <a:rPr lang="en-US" sz="1250" b="1" dirty="0">
                <a:solidFill>
                  <a:srgbClr val="0B3B44"/>
                </a:solidFill>
                <a:latin typeface="Calibri" pitchFamily="34" charset="0"/>
                <a:ea typeface="Calibri" pitchFamily="34" charset="-122"/>
                <a:cs typeface="Calibri" pitchFamily="34" charset="-120"/>
              </a:rPr>
              <a:t>There is no third case</a:t>
            </a:r>
            <a:endParaRPr lang="en-US" sz="1250" dirty="0"/>
          </a:p>
        </p:txBody>
      </p:sp>
      <p:sp>
        <p:nvSpPr>
          <p:cNvPr id="30" name="Text 28"/>
          <p:cNvSpPr txBox="1"/>
          <p:nvPr/>
        </p:nvSpPr>
        <p:spPr>
          <a:xfrm>
            <a:off x="7178040" y="4480560"/>
            <a:ext cx="4160520" cy="868680"/>
          </a:xfrm>
          <a:prstGeom prst="rect">
            <a:avLst/>
          </a:prstGeom>
          <a:noFill/>
          <a:ln/>
        </p:spPr>
        <p:txBody>
          <a:bodyPr wrap="square" lIns="0" tIns="0" rIns="0" bIns="0" rtlCol="0" anchor="t"/>
          <a:lstStyle/>
          <a:p>
            <a:pPr marL="0" indent="0" algn="l">
              <a:lnSpc>
                <a:spcPct val="115000"/>
              </a:lnSpc>
              <a:buNone/>
            </a:pPr>
            <a:r>
              <a:rPr lang="en-US" sz="1150" dirty="0">
                <a:solidFill>
                  <a:srgbClr val="2E6470"/>
                </a:solidFill>
                <a:latin typeface="Calibri" pitchFamily="34" charset="0"/>
                <a:ea typeface="Calibri" pitchFamily="34" charset="-122"/>
                <a:cs typeface="Calibri" pitchFamily="34" charset="-120"/>
              </a:rPr>
              <a:t>If w were visited but not an ancestor, DfsExplore(w) had already finished — and it scanned edge (w, v), so it would have visited v itself. Then w is an ancestor of v after all.</a:t>
            </a:r>
            <a:endParaRPr lang="en-US" sz="1150" dirty="0"/>
          </a:p>
        </p:txBody>
      </p:sp>
      <p:sp>
        <p:nvSpPr>
          <p:cNvPr id="32" name="Text 29"/>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33" name="Text 30"/>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33</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The algorithm: DFS with one extra line</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Marks are only 0 and 1 — no counter is needed, because we are labelling edges rather than nodes.</a:t>
            </a:r>
            <a:endParaRPr lang="en-US" sz="1300" dirty="0"/>
          </a:p>
        </p:txBody>
      </p:sp>
      <p:sp>
        <p:nvSpPr>
          <p:cNvPr id="6" name="Shape 4"/>
          <p:cNvSpPr/>
          <p:nvPr/>
        </p:nvSpPr>
        <p:spPr>
          <a:xfrm>
            <a:off x="640080" y="1691640"/>
            <a:ext cx="5852160" cy="3977640"/>
          </a:xfrm>
          <a:prstGeom prst="roundRect">
            <a:avLst>
              <a:gd name="adj" fmla="val 1379"/>
            </a:avLst>
          </a:prstGeom>
          <a:solidFill>
            <a:srgbClr val="F6F9F8"/>
          </a:solidFill>
          <a:ln w="9525">
            <a:solidFill>
              <a:srgbClr val="D3E0DD"/>
            </a:solidFill>
            <a:prstDash val="solid"/>
          </a:ln>
        </p:spPr>
        <p:txBody>
          <a:bodyPr/>
          <a:lstStyle/>
          <a:p>
            <a:endParaRPr lang="en-US"/>
          </a:p>
        </p:txBody>
      </p:sp>
      <p:sp>
        <p:nvSpPr>
          <p:cNvPr id="7" name="Text 5"/>
          <p:cNvSpPr txBox="1"/>
          <p:nvPr/>
        </p:nvSpPr>
        <p:spPr>
          <a:xfrm>
            <a:off x="914400" y="1883664"/>
            <a:ext cx="5303520" cy="237744"/>
          </a:xfrm>
          <a:prstGeom prst="rect">
            <a:avLst/>
          </a:prstGeom>
          <a:noFill/>
          <a:ln/>
        </p:spPr>
        <p:txBody>
          <a:bodyPr wrap="square" lIns="0" tIns="0" rIns="0" bIns="0" rtlCol="0" anchor="ctr"/>
          <a:lstStyle/>
          <a:p>
            <a:pPr marL="0" indent="0">
              <a:buNone/>
            </a:pPr>
            <a:r>
              <a:rPr lang="en-US" sz="950" b="1" kern="0" spc="120" dirty="0">
                <a:solidFill>
                  <a:srgbClr val="2A9D8F"/>
                </a:solidFill>
                <a:latin typeface="Calibri" pitchFamily="34" charset="0"/>
                <a:ea typeface="Calibri" pitchFamily="34" charset="-122"/>
                <a:cs typeface="Calibri" pitchFamily="34" charset="-120"/>
              </a:rPr>
              <a:t>CLASSIFYEDGES</a:t>
            </a:r>
            <a:endParaRPr lang="en-US" sz="950" dirty="0"/>
          </a:p>
        </p:txBody>
      </p:sp>
      <p:sp>
        <p:nvSpPr>
          <p:cNvPr id="8" name="Text 6"/>
          <p:cNvSpPr txBox="1"/>
          <p:nvPr/>
        </p:nvSpPr>
        <p:spPr>
          <a:xfrm>
            <a:off x="914400" y="2212848"/>
            <a:ext cx="5394960" cy="3291840"/>
          </a:xfrm>
          <a:prstGeom prst="rect">
            <a:avLst/>
          </a:prstGeom>
          <a:noFill/>
          <a:ln/>
        </p:spPr>
        <p:txBody>
          <a:bodyPr wrap="square" lIns="0" tIns="0" rIns="0" bIns="0" rtlCol="0" anchor="t"/>
          <a:lstStyle/>
          <a:p>
            <a:pPr marL="0" indent="0">
              <a:lnSpc>
                <a:spcPct val="115000"/>
              </a:lnSpc>
              <a:buNone/>
            </a:pPr>
            <a:r>
              <a:rPr lang="en-US" sz="1050" dirty="0">
                <a:solidFill>
                  <a:srgbClr val="13232B"/>
                </a:solidFill>
                <a:latin typeface="Courier New" pitchFamily="34" charset="0"/>
                <a:ea typeface="Courier New" pitchFamily="34" charset="-122"/>
                <a:cs typeface="Courier New" pitchFamily="34" charset="-120"/>
              </a:rPr>
              <a:t>function ClassifyEdges(&lt;V, E&gt;)
    mark each node in V with 0
    for each v in V do
        if v is marked 0 then
            DfsExplore(v)
function DfsExplore(v)
    mark v with 1
    for each edge (v, w) do
        if w is marked with 0 then
</a:t>
            </a:r>
            <a:r>
              <a:rPr lang="en-US" sz="1050" dirty="0">
                <a:solidFill>
                  <a:srgbClr val="2A9D8F"/>
                </a:solidFill>
                <a:latin typeface="Courier New" pitchFamily="34" charset="0"/>
                <a:ea typeface="Courier New" pitchFamily="34" charset="-122"/>
                <a:cs typeface="Courier New" pitchFamily="34" charset="-120"/>
              </a:rPr>
              <a:t>            classify (v, w) (and (w, v))
                as “tree edge”
</a:t>
            </a:r>
            <a:r>
              <a:rPr lang="en-US" sz="1050" dirty="0">
                <a:solidFill>
                  <a:srgbClr val="13232B"/>
                </a:solidFill>
                <a:latin typeface="Courier New" pitchFamily="34" charset="0"/>
                <a:ea typeface="Courier New" pitchFamily="34" charset="-122"/>
                <a:cs typeface="Courier New" pitchFamily="34" charset="-120"/>
              </a:rPr>
              <a:t>            DfsExplore(w)
        else
</a:t>
            </a:r>
            <a:r>
              <a:rPr lang="en-US" sz="1050" dirty="0">
                <a:solidFill>
                  <a:srgbClr val="C1465A"/>
                </a:solidFill>
                <a:latin typeface="Courier New" pitchFamily="34" charset="0"/>
                <a:ea typeface="Courier New" pitchFamily="34" charset="-122"/>
                <a:cs typeface="Courier New" pitchFamily="34" charset="-120"/>
              </a:rPr>
              <a:t>            if (v, w) is not a tree edge then</a:t>
            </a:r>
            <a:endParaRPr lang="en-US" sz="1050" dirty="0"/>
          </a:p>
          <a:p>
            <a:pPr marL="0" indent="0">
              <a:lnSpc>
                <a:spcPct val="115000"/>
              </a:lnSpc>
              <a:buNone/>
            </a:pPr>
            <a:r>
              <a:rPr lang="en-US" sz="1050" dirty="0">
                <a:solidFill>
                  <a:srgbClr val="C1465A"/>
                </a:solidFill>
                <a:latin typeface="Courier New" pitchFamily="34" charset="0"/>
                <a:ea typeface="Courier New" pitchFamily="34" charset="-122"/>
                <a:cs typeface="Courier New" pitchFamily="34" charset="-120"/>
              </a:rPr>
              <a:t>                classify (v, w) (and (w, v))</a:t>
            </a:r>
            <a:endParaRPr lang="en-US" sz="1050" dirty="0"/>
          </a:p>
          <a:p>
            <a:pPr marL="0" indent="0">
              <a:lnSpc>
                <a:spcPct val="115000"/>
              </a:lnSpc>
              <a:buNone/>
            </a:pPr>
            <a:r>
              <a:rPr lang="en-US" sz="1050" dirty="0">
                <a:solidFill>
                  <a:srgbClr val="C1465A"/>
                </a:solidFill>
                <a:latin typeface="Courier New" pitchFamily="34" charset="0"/>
                <a:ea typeface="Courier New" pitchFamily="34" charset="-122"/>
                <a:cs typeface="Courier New" pitchFamily="34" charset="-120"/>
              </a:rPr>
              <a:t>                    as “back edge”</a:t>
            </a:r>
            <a:endParaRPr lang="en-US" sz="1050" dirty="0"/>
          </a:p>
        </p:txBody>
      </p:sp>
      <p:sp>
        <p:nvSpPr>
          <p:cNvPr id="9" name="Text 7"/>
          <p:cNvSpPr txBox="1"/>
          <p:nvPr/>
        </p:nvSpPr>
        <p:spPr>
          <a:xfrm>
            <a:off x="6903720" y="1755648"/>
            <a:ext cx="4663440" cy="237744"/>
          </a:xfrm>
          <a:prstGeom prst="rect">
            <a:avLst/>
          </a:prstGeom>
          <a:noFill/>
          <a:ln/>
        </p:spPr>
        <p:txBody>
          <a:bodyPr wrap="square" lIns="0" tIns="0" rIns="0" bIns="0" rtlCol="0" anchor="ctr"/>
          <a:lstStyle/>
          <a:p>
            <a:pPr marL="0" indent="0">
              <a:buNone/>
            </a:pPr>
            <a:r>
              <a:rPr lang="en-US" sz="950" b="1" kern="0" spc="120" dirty="0">
                <a:solidFill>
                  <a:srgbClr val="63797F"/>
                </a:solidFill>
                <a:latin typeface="Calibri" pitchFamily="34" charset="0"/>
                <a:ea typeface="Calibri" pitchFamily="34" charset="-122"/>
                <a:cs typeface="Calibri" pitchFamily="34" charset="-120"/>
              </a:rPr>
              <a:t>EVERY EDGE IS MET TWICE — ONCE FROM EACH END</a:t>
            </a:r>
            <a:endParaRPr lang="en-US" sz="950" dirty="0"/>
          </a:p>
        </p:txBody>
      </p:sp>
      <p:sp>
        <p:nvSpPr>
          <p:cNvPr id="10" name="Shape 8"/>
          <p:cNvSpPr/>
          <p:nvPr/>
        </p:nvSpPr>
        <p:spPr>
          <a:xfrm>
            <a:off x="6903720" y="2121408"/>
            <a:ext cx="4663440" cy="384048"/>
          </a:xfrm>
          <a:prstGeom prst="roundRect">
            <a:avLst>
              <a:gd name="adj" fmla="val 14286"/>
            </a:avLst>
          </a:prstGeom>
          <a:solidFill>
            <a:srgbClr val="F6F9F8"/>
          </a:solidFill>
          <a:ln w="12700">
            <a:solidFill>
              <a:srgbClr val="F6F9F8"/>
            </a:solidFill>
            <a:prstDash val="solid"/>
          </a:ln>
        </p:spPr>
        <p:txBody>
          <a:bodyPr/>
          <a:lstStyle/>
          <a:p>
            <a:endParaRPr lang="en-US"/>
          </a:p>
        </p:txBody>
      </p:sp>
      <p:sp>
        <p:nvSpPr>
          <p:cNvPr id="11" name="Text 9"/>
          <p:cNvSpPr txBox="1"/>
          <p:nvPr/>
        </p:nvSpPr>
        <p:spPr>
          <a:xfrm>
            <a:off x="7059168" y="2194560"/>
            <a:ext cx="1371600" cy="256032"/>
          </a:xfrm>
          <a:prstGeom prst="rect">
            <a:avLst/>
          </a:prstGeom>
          <a:noFill/>
          <a:ln/>
        </p:spPr>
        <p:txBody>
          <a:bodyPr wrap="square" lIns="0" tIns="0" rIns="0" bIns="0" rtlCol="0" anchor="t"/>
          <a:lstStyle/>
          <a:p>
            <a:pPr marL="0" indent="0" algn="l">
              <a:lnSpc>
                <a:spcPct val="115000"/>
              </a:lnSpc>
              <a:buNone/>
            </a:pPr>
            <a:r>
              <a:rPr lang="en-US" sz="1050" dirty="0">
                <a:solidFill>
                  <a:srgbClr val="13232B"/>
                </a:solidFill>
                <a:latin typeface="Courier New" pitchFamily="34" charset="0"/>
                <a:ea typeface="Courier New" pitchFamily="34" charset="-122"/>
                <a:cs typeface="Courier New" pitchFamily="34" charset="-120"/>
              </a:rPr>
              <a:t>at a: (a,b)</a:t>
            </a:r>
            <a:endParaRPr lang="en-US" sz="1050" dirty="0"/>
          </a:p>
        </p:txBody>
      </p:sp>
      <p:sp>
        <p:nvSpPr>
          <p:cNvPr id="12" name="Text 10"/>
          <p:cNvSpPr txBox="1"/>
          <p:nvPr/>
        </p:nvSpPr>
        <p:spPr>
          <a:xfrm>
            <a:off x="8458200" y="2203704"/>
            <a:ext cx="1965960" cy="256032"/>
          </a:xfrm>
          <a:prstGeom prst="rect">
            <a:avLst/>
          </a:prstGeom>
          <a:noFill/>
          <a:ln/>
        </p:spPr>
        <p:txBody>
          <a:bodyPr wrap="square" lIns="0" tIns="0" rIns="0" bIns="0" rtlCol="0" anchor="t"/>
          <a:lstStyle/>
          <a:p>
            <a:pPr marL="0" indent="0" algn="l">
              <a:lnSpc>
                <a:spcPct val="115000"/>
              </a:lnSpc>
              <a:buNone/>
            </a:pPr>
            <a:r>
              <a:rPr lang="en-US" sz="1050" dirty="0">
                <a:solidFill>
                  <a:srgbClr val="63797F"/>
                </a:solidFill>
                <a:latin typeface="Calibri" pitchFamily="34" charset="0"/>
                <a:ea typeface="Calibri" pitchFamily="34" charset="-122"/>
                <a:cs typeface="Calibri" pitchFamily="34" charset="-120"/>
              </a:rPr>
              <a:t>b unmarked</a:t>
            </a:r>
            <a:endParaRPr lang="en-US" sz="1050" dirty="0"/>
          </a:p>
        </p:txBody>
      </p:sp>
      <p:sp>
        <p:nvSpPr>
          <p:cNvPr id="13" name="Text 11"/>
          <p:cNvSpPr txBox="1"/>
          <p:nvPr/>
        </p:nvSpPr>
        <p:spPr>
          <a:xfrm>
            <a:off x="10424160" y="2203704"/>
            <a:ext cx="1051560" cy="256032"/>
          </a:xfrm>
          <a:prstGeom prst="rect">
            <a:avLst/>
          </a:prstGeom>
          <a:noFill/>
          <a:ln/>
        </p:spPr>
        <p:txBody>
          <a:bodyPr wrap="square" lIns="0" tIns="0" rIns="0" bIns="0" rtlCol="0" anchor="t"/>
          <a:lstStyle/>
          <a:p>
            <a:pPr marL="0" indent="0" algn="l">
              <a:lnSpc>
                <a:spcPct val="115000"/>
              </a:lnSpc>
              <a:buNone/>
            </a:pPr>
            <a:r>
              <a:rPr lang="en-US" sz="1050" b="1" dirty="0">
                <a:solidFill>
                  <a:srgbClr val="2A9D8F"/>
                </a:solidFill>
                <a:latin typeface="Calibri" pitchFamily="34" charset="0"/>
                <a:ea typeface="Calibri" pitchFamily="34" charset="-122"/>
                <a:cs typeface="Calibri" pitchFamily="34" charset="-120"/>
              </a:rPr>
              <a:t>tree  a–b</a:t>
            </a:r>
            <a:endParaRPr lang="en-US" sz="1050" dirty="0"/>
          </a:p>
        </p:txBody>
      </p:sp>
      <p:sp>
        <p:nvSpPr>
          <p:cNvPr id="14" name="Text 12"/>
          <p:cNvSpPr txBox="1"/>
          <p:nvPr/>
        </p:nvSpPr>
        <p:spPr>
          <a:xfrm>
            <a:off x="7059168" y="2578608"/>
            <a:ext cx="1371600" cy="256032"/>
          </a:xfrm>
          <a:prstGeom prst="rect">
            <a:avLst/>
          </a:prstGeom>
          <a:noFill/>
          <a:ln/>
        </p:spPr>
        <p:txBody>
          <a:bodyPr wrap="square" lIns="0" tIns="0" rIns="0" bIns="0" rtlCol="0" anchor="t"/>
          <a:lstStyle/>
          <a:p>
            <a:pPr marL="0" indent="0" algn="l">
              <a:lnSpc>
                <a:spcPct val="115000"/>
              </a:lnSpc>
              <a:buNone/>
            </a:pPr>
            <a:r>
              <a:rPr lang="en-US" sz="1050" dirty="0">
                <a:solidFill>
                  <a:srgbClr val="13232B"/>
                </a:solidFill>
                <a:latin typeface="Courier New" pitchFamily="34" charset="0"/>
                <a:ea typeface="Courier New" pitchFamily="34" charset="-122"/>
                <a:cs typeface="Courier New" pitchFamily="34" charset="-120"/>
              </a:rPr>
              <a:t>at b: (b,a)</a:t>
            </a:r>
            <a:endParaRPr lang="en-US" sz="1050" dirty="0"/>
          </a:p>
        </p:txBody>
      </p:sp>
      <p:sp>
        <p:nvSpPr>
          <p:cNvPr id="15" name="Text 13"/>
          <p:cNvSpPr txBox="1"/>
          <p:nvPr/>
        </p:nvSpPr>
        <p:spPr>
          <a:xfrm>
            <a:off x="8458200" y="2587752"/>
            <a:ext cx="1965960" cy="256032"/>
          </a:xfrm>
          <a:prstGeom prst="rect">
            <a:avLst/>
          </a:prstGeom>
          <a:noFill/>
          <a:ln/>
        </p:spPr>
        <p:txBody>
          <a:bodyPr wrap="square" lIns="0" tIns="0" rIns="0" bIns="0" rtlCol="0" anchor="t"/>
          <a:lstStyle/>
          <a:p>
            <a:pPr marL="0" indent="0" algn="l">
              <a:lnSpc>
                <a:spcPct val="115000"/>
              </a:lnSpc>
              <a:buNone/>
            </a:pPr>
            <a:r>
              <a:rPr lang="en-US" sz="1050" dirty="0">
                <a:solidFill>
                  <a:srgbClr val="63797F"/>
                </a:solidFill>
                <a:latin typeface="Calibri" pitchFamily="34" charset="0"/>
                <a:ea typeface="Calibri" pitchFamily="34" charset="-122"/>
                <a:cs typeface="Calibri" pitchFamily="34" charset="-120"/>
              </a:rPr>
              <a:t>already a tree edge</a:t>
            </a:r>
            <a:endParaRPr lang="en-US" sz="1050" dirty="0"/>
          </a:p>
        </p:txBody>
      </p:sp>
      <p:sp>
        <p:nvSpPr>
          <p:cNvPr id="16" name="Text 14"/>
          <p:cNvSpPr txBox="1"/>
          <p:nvPr/>
        </p:nvSpPr>
        <p:spPr>
          <a:xfrm>
            <a:off x="10424160" y="2587752"/>
            <a:ext cx="1051560" cy="256032"/>
          </a:xfrm>
          <a:prstGeom prst="rect">
            <a:avLst/>
          </a:prstGeom>
          <a:noFill/>
          <a:ln/>
        </p:spPr>
        <p:txBody>
          <a:bodyPr wrap="square" lIns="0" tIns="0" rIns="0" bIns="0" rtlCol="0" anchor="t"/>
          <a:lstStyle/>
          <a:p>
            <a:pPr marL="0" indent="0" algn="l">
              <a:lnSpc>
                <a:spcPct val="115000"/>
              </a:lnSpc>
              <a:buNone/>
            </a:pPr>
            <a:r>
              <a:rPr lang="en-US" sz="1050" dirty="0">
                <a:solidFill>
                  <a:srgbClr val="9DB3B7"/>
                </a:solidFill>
                <a:latin typeface="Calibri" pitchFamily="34" charset="0"/>
                <a:ea typeface="Calibri" pitchFamily="34" charset="-122"/>
                <a:cs typeface="Calibri" pitchFamily="34" charset="-120"/>
              </a:rPr>
              <a:t>leave it</a:t>
            </a:r>
            <a:endParaRPr lang="en-US" sz="1050" dirty="0"/>
          </a:p>
        </p:txBody>
      </p:sp>
      <p:sp>
        <p:nvSpPr>
          <p:cNvPr id="17" name="Shape 15"/>
          <p:cNvSpPr/>
          <p:nvPr/>
        </p:nvSpPr>
        <p:spPr>
          <a:xfrm>
            <a:off x="6903720" y="2889504"/>
            <a:ext cx="4663440" cy="384048"/>
          </a:xfrm>
          <a:prstGeom prst="roundRect">
            <a:avLst>
              <a:gd name="adj" fmla="val 14286"/>
            </a:avLst>
          </a:prstGeom>
          <a:solidFill>
            <a:srgbClr val="F6F9F8"/>
          </a:solidFill>
          <a:ln w="12700">
            <a:solidFill>
              <a:srgbClr val="F6F9F8"/>
            </a:solidFill>
            <a:prstDash val="solid"/>
          </a:ln>
        </p:spPr>
        <p:txBody>
          <a:bodyPr/>
          <a:lstStyle/>
          <a:p>
            <a:endParaRPr lang="en-US"/>
          </a:p>
        </p:txBody>
      </p:sp>
      <p:sp>
        <p:nvSpPr>
          <p:cNvPr id="18" name="Text 16"/>
          <p:cNvSpPr txBox="1"/>
          <p:nvPr/>
        </p:nvSpPr>
        <p:spPr>
          <a:xfrm>
            <a:off x="7059168" y="2962656"/>
            <a:ext cx="1371600" cy="256032"/>
          </a:xfrm>
          <a:prstGeom prst="rect">
            <a:avLst/>
          </a:prstGeom>
          <a:noFill/>
          <a:ln/>
        </p:spPr>
        <p:txBody>
          <a:bodyPr wrap="square" lIns="0" tIns="0" rIns="0" bIns="0" rtlCol="0" anchor="t"/>
          <a:lstStyle/>
          <a:p>
            <a:pPr marL="0" indent="0" algn="l">
              <a:lnSpc>
                <a:spcPct val="115000"/>
              </a:lnSpc>
              <a:buNone/>
            </a:pPr>
            <a:r>
              <a:rPr lang="en-US" sz="1050" dirty="0">
                <a:solidFill>
                  <a:srgbClr val="13232B"/>
                </a:solidFill>
                <a:latin typeface="Courier New" pitchFamily="34" charset="0"/>
                <a:ea typeface="Courier New" pitchFamily="34" charset="-122"/>
                <a:cs typeface="Courier New" pitchFamily="34" charset="-120"/>
              </a:rPr>
              <a:t>at b: (b,c)</a:t>
            </a:r>
            <a:endParaRPr lang="en-US" sz="1050" dirty="0"/>
          </a:p>
        </p:txBody>
      </p:sp>
      <p:sp>
        <p:nvSpPr>
          <p:cNvPr id="19" name="Text 17"/>
          <p:cNvSpPr txBox="1"/>
          <p:nvPr/>
        </p:nvSpPr>
        <p:spPr>
          <a:xfrm>
            <a:off x="8458200" y="2971800"/>
            <a:ext cx="1965960" cy="256032"/>
          </a:xfrm>
          <a:prstGeom prst="rect">
            <a:avLst/>
          </a:prstGeom>
          <a:noFill/>
          <a:ln/>
        </p:spPr>
        <p:txBody>
          <a:bodyPr wrap="square" lIns="0" tIns="0" rIns="0" bIns="0" rtlCol="0" anchor="t"/>
          <a:lstStyle/>
          <a:p>
            <a:pPr marL="0" indent="0" algn="l">
              <a:lnSpc>
                <a:spcPct val="115000"/>
              </a:lnSpc>
              <a:buNone/>
            </a:pPr>
            <a:r>
              <a:rPr lang="en-US" sz="1050" dirty="0">
                <a:solidFill>
                  <a:srgbClr val="63797F"/>
                </a:solidFill>
                <a:latin typeface="Calibri" pitchFamily="34" charset="0"/>
                <a:ea typeface="Calibri" pitchFamily="34" charset="-122"/>
                <a:cs typeface="Calibri" pitchFamily="34" charset="-120"/>
              </a:rPr>
              <a:t>c unmarked</a:t>
            </a:r>
            <a:endParaRPr lang="en-US" sz="1050" dirty="0"/>
          </a:p>
        </p:txBody>
      </p:sp>
      <p:sp>
        <p:nvSpPr>
          <p:cNvPr id="20" name="Text 18"/>
          <p:cNvSpPr txBox="1"/>
          <p:nvPr/>
        </p:nvSpPr>
        <p:spPr>
          <a:xfrm>
            <a:off x="10424160" y="2971800"/>
            <a:ext cx="1051560" cy="256032"/>
          </a:xfrm>
          <a:prstGeom prst="rect">
            <a:avLst/>
          </a:prstGeom>
          <a:noFill/>
          <a:ln/>
        </p:spPr>
        <p:txBody>
          <a:bodyPr wrap="square" lIns="0" tIns="0" rIns="0" bIns="0" rtlCol="0" anchor="t"/>
          <a:lstStyle/>
          <a:p>
            <a:pPr marL="0" indent="0" algn="l">
              <a:lnSpc>
                <a:spcPct val="115000"/>
              </a:lnSpc>
              <a:buNone/>
            </a:pPr>
            <a:r>
              <a:rPr lang="en-US" sz="1050" b="1" dirty="0">
                <a:solidFill>
                  <a:srgbClr val="2A9D8F"/>
                </a:solidFill>
                <a:latin typeface="Calibri" pitchFamily="34" charset="0"/>
                <a:ea typeface="Calibri" pitchFamily="34" charset="-122"/>
                <a:cs typeface="Calibri" pitchFamily="34" charset="-120"/>
              </a:rPr>
              <a:t>tree  b–c</a:t>
            </a:r>
            <a:endParaRPr lang="en-US" sz="1050" dirty="0"/>
          </a:p>
        </p:txBody>
      </p:sp>
      <p:sp>
        <p:nvSpPr>
          <p:cNvPr id="21" name="Text 19"/>
          <p:cNvSpPr txBox="1"/>
          <p:nvPr/>
        </p:nvSpPr>
        <p:spPr>
          <a:xfrm>
            <a:off x="7059168" y="3346704"/>
            <a:ext cx="1371600" cy="256032"/>
          </a:xfrm>
          <a:prstGeom prst="rect">
            <a:avLst/>
          </a:prstGeom>
          <a:noFill/>
          <a:ln/>
        </p:spPr>
        <p:txBody>
          <a:bodyPr wrap="square" lIns="0" tIns="0" rIns="0" bIns="0" rtlCol="0" anchor="t"/>
          <a:lstStyle/>
          <a:p>
            <a:pPr marL="0" indent="0" algn="l">
              <a:lnSpc>
                <a:spcPct val="115000"/>
              </a:lnSpc>
              <a:buNone/>
            </a:pPr>
            <a:r>
              <a:rPr lang="en-US" sz="1050" dirty="0">
                <a:solidFill>
                  <a:srgbClr val="13232B"/>
                </a:solidFill>
                <a:latin typeface="Courier New" pitchFamily="34" charset="0"/>
                <a:ea typeface="Courier New" pitchFamily="34" charset="-122"/>
                <a:cs typeface="Courier New" pitchFamily="34" charset="-120"/>
              </a:rPr>
              <a:t>at c: (c,a)</a:t>
            </a:r>
            <a:endParaRPr lang="en-US" sz="1050" dirty="0"/>
          </a:p>
        </p:txBody>
      </p:sp>
      <p:sp>
        <p:nvSpPr>
          <p:cNvPr id="22" name="Text 20"/>
          <p:cNvSpPr txBox="1"/>
          <p:nvPr/>
        </p:nvSpPr>
        <p:spPr>
          <a:xfrm>
            <a:off x="8458200" y="3355848"/>
            <a:ext cx="1965960" cy="256032"/>
          </a:xfrm>
          <a:prstGeom prst="rect">
            <a:avLst/>
          </a:prstGeom>
          <a:noFill/>
          <a:ln/>
        </p:spPr>
        <p:txBody>
          <a:bodyPr wrap="square" lIns="0" tIns="0" rIns="0" bIns="0" rtlCol="0" anchor="t"/>
          <a:lstStyle/>
          <a:p>
            <a:pPr marL="0" indent="0" algn="l">
              <a:lnSpc>
                <a:spcPct val="115000"/>
              </a:lnSpc>
              <a:buNone/>
            </a:pPr>
            <a:r>
              <a:rPr lang="en-US" sz="1050" dirty="0">
                <a:solidFill>
                  <a:srgbClr val="63797F"/>
                </a:solidFill>
                <a:latin typeface="Calibri" pitchFamily="34" charset="0"/>
                <a:ea typeface="Calibri" pitchFamily="34" charset="-122"/>
                <a:cs typeface="Calibri" pitchFamily="34" charset="-120"/>
              </a:rPr>
              <a:t>a marked, not a tree edge</a:t>
            </a:r>
            <a:endParaRPr lang="en-US" sz="1050" dirty="0"/>
          </a:p>
        </p:txBody>
      </p:sp>
      <p:sp>
        <p:nvSpPr>
          <p:cNvPr id="23" name="Text 21"/>
          <p:cNvSpPr txBox="1"/>
          <p:nvPr/>
        </p:nvSpPr>
        <p:spPr>
          <a:xfrm>
            <a:off x="10424160" y="3355848"/>
            <a:ext cx="1051560" cy="256032"/>
          </a:xfrm>
          <a:prstGeom prst="rect">
            <a:avLst/>
          </a:prstGeom>
          <a:noFill/>
          <a:ln/>
        </p:spPr>
        <p:txBody>
          <a:bodyPr wrap="square" lIns="0" tIns="0" rIns="0" bIns="0" rtlCol="0" anchor="t"/>
          <a:lstStyle/>
          <a:p>
            <a:pPr marL="0" indent="0" algn="l">
              <a:lnSpc>
                <a:spcPct val="115000"/>
              </a:lnSpc>
              <a:buNone/>
            </a:pPr>
            <a:r>
              <a:rPr lang="en-US" sz="1050" b="1" dirty="0">
                <a:solidFill>
                  <a:srgbClr val="C1465A"/>
                </a:solidFill>
                <a:latin typeface="Calibri" pitchFamily="34" charset="0"/>
                <a:ea typeface="Calibri" pitchFamily="34" charset="-122"/>
                <a:cs typeface="Calibri" pitchFamily="34" charset="-120"/>
              </a:rPr>
              <a:t>back  a–c</a:t>
            </a:r>
            <a:endParaRPr lang="en-US" sz="1050" dirty="0"/>
          </a:p>
        </p:txBody>
      </p:sp>
      <p:sp>
        <p:nvSpPr>
          <p:cNvPr id="24" name="Shape 22"/>
          <p:cNvSpPr/>
          <p:nvPr/>
        </p:nvSpPr>
        <p:spPr>
          <a:xfrm>
            <a:off x="6903720" y="3657600"/>
            <a:ext cx="4663440" cy="384048"/>
          </a:xfrm>
          <a:prstGeom prst="roundRect">
            <a:avLst>
              <a:gd name="adj" fmla="val 14286"/>
            </a:avLst>
          </a:prstGeom>
          <a:solidFill>
            <a:srgbClr val="F6F9F8"/>
          </a:solidFill>
          <a:ln w="12700">
            <a:solidFill>
              <a:srgbClr val="F6F9F8"/>
            </a:solidFill>
            <a:prstDash val="solid"/>
          </a:ln>
        </p:spPr>
        <p:txBody>
          <a:bodyPr/>
          <a:lstStyle/>
          <a:p>
            <a:endParaRPr lang="en-US"/>
          </a:p>
        </p:txBody>
      </p:sp>
      <p:sp>
        <p:nvSpPr>
          <p:cNvPr id="25" name="Text 23"/>
          <p:cNvSpPr txBox="1"/>
          <p:nvPr/>
        </p:nvSpPr>
        <p:spPr>
          <a:xfrm>
            <a:off x="7059168" y="3730752"/>
            <a:ext cx="1371600" cy="256032"/>
          </a:xfrm>
          <a:prstGeom prst="rect">
            <a:avLst/>
          </a:prstGeom>
          <a:noFill/>
          <a:ln/>
        </p:spPr>
        <p:txBody>
          <a:bodyPr wrap="square" lIns="0" tIns="0" rIns="0" bIns="0" rtlCol="0" anchor="t"/>
          <a:lstStyle/>
          <a:p>
            <a:pPr marL="0" indent="0" algn="l">
              <a:lnSpc>
                <a:spcPct val="115000"/>
              </a:lnSpc>
              <a:buNone/>
            </a:pPr>
            <a:r>
              <a:rPr lang="en-US" sz="1050" dirty="0">
                <a:solidFill>
                  <a:srgbClr val="13232B"/>
                </a:solidFill>
                <a:latin typeface="Courier New" pitchFamily="34" charset="0"/>
                <a:ea typeface="Courier New" pitchFamily="34" charset="-122"/>
                <a:cs typeface="Courier New" pitchFamily="34" charset="-120"/>
              </a:rPr>
              <a:t>at c: (c,b)</a:t>
            </a:r>
            <a:endParaRPr lang="en-US" sz="1050" dirty="0"/>
          </a:p>
        </p:txBody>
      </p:sp>
      <p:sp>
        <p:nvSpPr>
          <p:cNvPr id="26" name="Text 24"/>
          <p:cNvSpPr txBox="1"/>
          <p:nvPr/>
        </p:nvSpPr>
        <p:spPr>
          <a:xfrm>
            <a:off x="8458200" y="3739896"/>
            <a:ext cx="1965960" cy="256032"/>
          </a:xfrm>
          <a:prstGeom prst="rect">
            <a:avLst/>
          </a:prstGeom>
          <a:noFill/>
          <a:ln/>
        </p:spPr>
        <p:txBody>
          <a:bodyPr wrap="square" lIns="0" tIns="0" rIns="0" bIns="0" rtlCol="0" anchor="t"/>
          <a:lstStyle/>
          <a:p>
            <a:pPr marL="0" indent="0" algn="l">
              <a:lnSpc>
                <a:spcPct val="115000"/>
              </a:lnSpc>
              <a:buNone/>
            </a:pPr>
            <a:r>
              <a:rPr lang="en-US" sz="1050" dirty="0">
                <a:solidFill>
                  <a:srgbClr val="63797F"/>
                </a:solidFill>
                <a:latin typeface="Calibri" pitchFamily="34" charset="0"/>
                <a:ea typeface="Calibri" pitchFamily="34" charset="-122"/>
                <a:cs typeface="Calibri" pitchFamily="34" charset="-120"/>
              </a:rPr>
              <a:t>already a tree edge</a:t>
            </a:r>
            <a:endParaRPr lang="en-US" sz="1050" dirty="0"/>
          </a:p>
        </p:txBody>
      </p:sp>
      <p:sp>
        <p:nvSpPr>
          <p:cNvPr id="27" name="Text 25"/>
          <p:cNvSpPr txBox="1"/>
          <p:nvPr/>
        </p:nvSpPr>
        <p:spPr>
          <a:xfrm>
            <a:off x="10424160" y="3739896"/>
            <a:ext cx="1051560" cy="256032"/>
          </a:xfrm>
          <a:prstGeom prst="rect">
            <a:avLst/>
          </a:prstGeom>
          <a:noFill/>
          <a:ln/>
        </p:spPr>
        <p:txBody>
          <a:bodyPr wrap="square" lIns="0" tIns="0" rIns="0" bIns="0" rtlCol="0" anchor="t"/>
          <a:lstStyle/>
          <a:p>
            <a:pPr marL="0" indent="0" algn="l">
              <a:lnSpc>
                <a:spcPct val="115000"/>
              </a:lnSpc>
              <a:buNone/>
            </a:pPr>
            <a:r>
              <a:rPr lang="en-US" sz="1050" dirty="0">
                <a:solidFill>
                  <a:srgbClr val="9DB3B7"/>
                </a:solidFill>
                <a:latin typeface="Calibri" pitchFamily="34" charset="0"/>
                <a:ea typeface="Calibri" pitchFamily="34" charset="-122"/>
                <a:cs typeface="Calibri" pitchFamily="34" charset="-120"/>
              </a:rPr>
              <a:t>leave it</a:t>
            </a:r>
            <a:endParaRPr lang="en-US" sz="1050" dirty="0"/>
          </a:p>
        </p:txBody>
      </p:sp>
      <p:sp>
        <p:nvSpPr>
          <p:cNvPr id="28" name="Text 26"/>
          <p:cNvSpPr txBox="1"/>
          <p:nvPr/>
        </p:nvSpPr>
        <p:spPr>
          <a:xfrm>
            <a:off x="7059168" y="4114800"/>
            <a:ext cx="1371600" cy="256032"/>
          </a:xfrm>
          <a:prstGeom prst="rect">
            <a:avLst/>
          </a:prstGeom>
          <a:noFill/>
          <a:ln/>
        </p:spPr>
        <p:txBody>
          <a:bodyPr wrap="square" lIns="0" tIns="0" rIns="0" bIns="0" rtlCol="0" anchor="t"/>
          <a:lstStyle/>
          <a:p>
            <a:pPr marL="0" indent="0" algn="l">
              <a:lnSpc>
                <a:spcPct val="115000"/>
              </a:lnSpc>
              <a:buNone/>
            </a:pPr>
            <a:r>
              <a:rPr lang="en-US" sz="1050" dirty="0">
                <a:solidFill>
                  <a:srgbClr val="13232B"/>
                </a:solidFill>
                <a:latin typeface="Courier New" pitchFamily="34" charset="0"/>
                <a:ea typeface="Courier New" pitchFamily="34" charset="-122"/>
                <a:cs typeface="Courier New" pitchFamily="34" charset="-120"/>
              </a:rPr>
              <a:t>at a: (a,c)</a:t>
            </a:r>
            <a:endParaRPr lang="en-US" sz="1050" dirty="0"/>
          </a:p>
        </p:txBody>
      </p:sp>
      <p:sp>
        <p:nvSpPr>
          <p:cNvPr id="29" name="Text 27"/>
          <p:cNvSpPr txBox="1"/>
          <p:nvPr/>
        </p:nvSpPr>
        <p:spPr>
          <a:xfrm>
            <a:off x="8458200" y="4123944"/>
            <a:ext cx="1965960" cy="256032"/>
          </a:xfrm>
          <a:prstGeom prst="rect">
            <a:avLst/>
          </a:prstGeom>
          <a:noFill/>
          <a:ln/>
        </p:spPr>
        <p:txBody>
          <a:bodyPr wrap="square" lIns="0" tIns="0" rIns="0" bIns="0" rtlCol="0" anchor="t"/>
          <a:lstStyle/>
          <a:p>
            <a:pPr marL="0" indent="0" algn="l">
              <a:lnSpc>
                <a:spcPct val="115000"/>
              </a:lnSpc>
              <a:buNone/>
            </a:pPr>
            <a:r>
              <a:rPr lang="en-US" sz="1050" dirty="0">
                <a:solidFill>
                  <a:srgbClr val="63797F"/>
                </a:solidFill>
                <a:latin typeface="Calibri" pitchFamily="34" charset="0"/>
                <a:ea typeface="Calibri" pitchFamily="34" charset="-122"/>
                <a:cs typeface="Calibri" pitchFamily="34" charset="-120"/>
              </a:rPr>
              <a:t>already a back edge</a:t>
            </a:r>
            <a:endParaRPr lang="en-US" sz="1050" dirty="0"/>
          </a:p>
        </p:txBody>
      </p:sp>
      <p:sp>
        <p:nvSpPr>
          <p:cNvPr id="30" name="Text 28"/>
          <p:cNvSpPr txBox="1"/>
          <p:nvPr/>
        </p:nvSpPr>
        <p:spPr>
          <a:xfrm>
            <a:off x="10424160" y="4123944"/>
            <a:ext cx="1051560" cy="256032"/>
          </a:xfrm>
          <a:prstGeom prst="rect">
            <a:avLst/>
          </a:prstGeom>
          <a:noFill/>
          <a:ln/>
        </p:spPr>
        <p:txBody>
          <a:bodyPr wrap="square" lIns="0" tIns="0" rIns="0" bIns="0" rtlCol="0" anchor="t"/>
          <a:lstStyle/>
          <a:p>
            <a:pPr marL="0" indent="0" algn="l">
              <a:lnSpc>
                <a:spcPct val="115000"/>
              </a:lnSpc>
              <a:buNone/>
            </a:pPr>
            <a:r>
              <a:rPr lang="en-US" sz="1050" dirty="0">
                <a:solidFill>
                  <a:srgbClr val="9DB3B7"/>
                </a:solidFill>
                <a:latin typeface="Calibri" pitchFamily="34" charset="0"/>
                <a:ea typeface="Calibri" pitchFamily="34" charset="-122"/>
                <a:cs typeface="Calibri" pitchFamily="34" charset="-120"/>
              </a:rPr>
              <a:t>leave it</a:t>
            </a:r>
            <a:endParaRPr lang="en-US" sz="1050" dirty="0"/>
          </a:p>
        </p:txBody>
      </p:sp>
      <p:sp>
        <p:nvSpPr>
          <p:cNvPr id="31" name="Shape 29"/>
          <p:cNvSpPr/>
          <p:nvPr/>
        </p:nvSpPr>
        <p:spPr>
          <a:xfrm>
            <a:off x="6903720" y="4425696"/>
            <a:ext cx="4663440" cy="384048"/>
          </a:xfrm>
          <a:prstGeom prst="roundRect">
            <a:avLst>
              <a:gd name="adj" fmla="val 14286"/>
            </a:avLst>
          </a:prstGeom>
          <a:solidFill>
            <a:srgbClr val="F6F9F8"/>
          </a:solidFill>
          <a:ln w="12700">
            <a:solidFill>
              <a:srgbClr val="F6F9F8"/>
            </a:solidFill>
            <a:prstDash val="solid"/>
          </a:ln>
        </p:spPr>
        <p:txBody>
          <a:bodyPr/>
          <a:lstStyle/>
          <a:p>
            <a:endParaRPr lang="en-US"/>
          </a:p>
        </p:txBody>
      </p:sp>
      <p:sp>
        <p:nvSpPr>
          <p:cNvPr id="32" name="Text 30"/>
          <p:cNvSpPr txBox="1"/>
          <p:nvPr/>
        </p:nvSpPr>
        <p:spPr>
          <a:xfrm>
            <a:off x="7059168" y="4498848"/>
            <a:ext cx="1371600" cy="256032"/>
          </a:xfrm>
          <a:prstGeom prst="rect">
            <a:avLst/>
          </a:prstGeom>
          <a:noFill/>
          <a:ln/>
        </p:spPr>
        <p:txBody>
          <a:bodyPr wrap="square" lIns="0" tIns="0" rIns="0" bIns="0" rtlCol="0" anchor="t"/>
          <a:lstStyle/>
          <a:p>
            <a:pPr marL="0" indent="0" algn="l">
              <a:lnSpc>
                <a:spcPct val="115000"/>
              </a:lnSpc>
              <a:buNone/>
            </a:pPr>
            <a:r>
              <a:rPr lang="en-US" sz="1050" dirty="0">
                <a:solidFill>
                  <a:srgbClr val="13232B"/>
                </a:solidFill>
                <a:latin typeface="Courier New" pitchFamily="34" charset="0"/>
                <a:ea typeface="Courier New" pitchFamily="34" charset="-122"/>
                <a:cs typeface="Courier New" pitchFamily="34" charset="-120"/>
              </a:rPr>
              <a:t>at a: (a,d)</a:t>
            </a:r>
            <a:endParaRPr lang="en-US" sz="1050" dirty="0"/>
          </a:p>
        </p:txBody>
      </p:sp>
      <p:sp>
        <p:nvSpPr>
          <p:cNvPr id="33" name="Text 31"/>
          <p:cNvSpPr txBox="1"/>
          <p:nvPr/>
        </p:nvSpPr>
        <p:spPr>
          <a:xfrm>
            <a:off x="8458200" y="4507992"/>
            <a:ext cx="1965960" cy="256032"/>
          </a:xfrm>
          <a:prstGeom prst="rect">
            <a:avLst/>
          </a:prstGeom>
          <a:noFill/>
          <a:ln/>
        </p:spPr>
        <p:txBody>
          <a:bodyPr wrap="square" lIns="0" tIns="0" rIns="0" bIns="0" rtlCol="0" anchor="t"/>
          <a:lstStyle/>
          <a:p>
            <a:pPr marL="0" indent="0" algn="l">
              <a:lnSpc>
                <a:spcPct val="115000"/>
              </a:lnSpc>
              <a:buNone/>
            </a:pPr>
            <a:r>
              <a:rPr lang="en-US" sz="1050" dirty="0">
                <a:solidFill>
                  <a:srgbClr val="63797F"/>
                </a:solidFill>
                <a:latin typeface="Calibri" pitchFamily="34" charset="0"/>
                <a:ea typeface="Calibri" pitchFamily="34" charset="-122"/>
                <a:cs typeface="Calibri" pitchFamily="34" charset="-120"/>
              </a:rPr>
              <a:t>d unmarked</a:t>
            </a:r>
            <a:endParaRPr lang="en-US" sz="1050" dirty="0"/>
          </a:p>
        </p:txBody>
      </p:sp>
      <p:sp>
        <p:nvSpPr>
          <p:cNvPr id="34" name="Text 32"/>
          <p:cNvSpPr txBox="1"/>
          <p:nvPr/>
        </p:nvSpPr>
        <p:spPr>
          <a:xfrm>
            <a:off x="10424160" y="4507992"/>
            <a:ext cx="1051560" cy="256032"/>
          </a:xfrm>
          <a:prstGeom prst="rect">
            <a:avLst/>
          </a:prstGeom>
          <a:noFill/>
          <a:ln/>
        </p:spPr>
        <p:txBody>
          <a:bodyPr wrap="square" lIns="0" tIns="0" rIns="0" bIns="0" rtlCol="0" anchor="t"/>
          <a:lstStyle/>
          <a:p>
            <a:pPr marL="0" indent="0" algn="l">
              <a:lnSpc>
                <a:spcPct val="115000"/>
              </a:lnSpc>
              <a:buNone/>
            </a:pPr>
            <a:r>
              <a:rPr lang="en-US" sz="1050" b="1" dirty="0">
                <a:solidFill>
                  <a:srgbClr val="2A9D8F"/>
                </a:solidFill>
                <a:latin typeface="Calibri" pitchFamily="34" charset="0"/>
                <a:ea typeface="Calibri" pitchFamily="34" charset="-122"/>
                <a:cs typeface="Calibri" pitchFamily="34" charset="-120"/>
              </a:rPr>
              <a:t>tree  a–d</a:t>
            </a:r>
            <a:endParaRPr lang="en-US" sz="1050" dirty="0"/>
          </a:p>
        </p:txBody>
      </p:sp>
      <p:sp>
        <p:nvSpPr>
          <p:cNvPr id="35" name="Text 33"/>
          <p:cNvSpPr txBox="1"/>
          <p:nvPr/>
        </p:nvSpPr>
        <p:spPr>
          <a:xfrm>
            <a:off x="7059168" y="4882896"/>
            <a:ext cx="1371600" cy="256032"/>
          </a:xfrm>
          <a:prstGeom prst="rect">
            <a:avLst/>
          </a:prstGeom>
          <a:noFill/>
          <a:ln/>
        </p:spPr>
        <p:txBody>
          <a:bodyPr wrap="square" lIns="0" tIns="0" rIns="0" bIns="0" rtlCol="0" anchor="t"/>
          <a:lstStyle/>
          <a:p>
            <a:pPr marL="0" indent="0" algn="l">
              <a:lnSpc>
                <a:spcPct val="115000"/>
              </a:lnSpc>
              <a:buNone/>
            </a:pPr>
            <a:r>
              <a:rPr lang="en-US" sz="1050" dirty="0">
                <a:solidFill>
                  <a:srgbClr val="13232B"/>
                </a:solidFill>
                <a:latin typeface="Courier New" pitchFamily="34" charset="0"/>
                <a:ea typeface="Courier New" pitchFamily="34" charset="-122"/>
                <a:cs typeface="Courier New" pitchFamily="34" charset="-120"/>
              </a:rPr>
              <a:t>at d: (d,a)</a:t>
            </a:r>
            <a:endParaRPr lang="en-US" sz="1050" dirty="0"/>
          </a:p>
        </p:txBody>
      </p:sp>
      <p:sp>
        <p:nvSpPr>
          <p:cNvPr id="36" name="Text 34"/>
          <p:cNvSpPr txBox="1"/>
          <p:nvPr/>
        </p:nvSpPr>
        <p:spPr>
          <a:xfrm>
            <a:off x="8458200" y="4892040"/>
            <a:ext cx="1965960" cy="256032"/>
          </a:xfrm>
          <a:prstGeom prst="rect">
            <a:avLst/>
          </a:prstGeom>
          <a:noFill/>
          <a:ln/>
        </p:spPr>
        <p:txBody>
          <a:bodyPr wrap="square" lIns="0" tIns="0" rIns="0" bIns="0" rtlCol="0" anchor="t"/>
          <a:lstStyle/>
          <a:p>
            <a:pPr marL="0" indent="0" algn="l">
              <a:lnSpc>
                <a:spcPct val="115000"/>
              </a:lnSpc>
              <a:buNone/>
            </a:pPr>
            <a:r>
              <a:rPr lang="en-US" sz="1050" dirty="0">
                <a:solidFill>
                  <a:srgbClr val="63797F"/>
                </a:solidFill>
                <a:latin typeface="Calibri" pitchFamily="34" charset="0"/>
                <a:ea typeface="Calibri" pitchFamily="34" charset="-122"/>
                <a:cs typeface="Calibri" pitchFamily="34" charset="-120"/>
              </a:rPr>
              <a:t>already a tree edge</a:t>
            </a:r>
            <a:endParaRPr lang="en-US" sz="1050" dirty="0"/>
          </a:p>
        </p:txBody>
      </p:sp>
      <p:sp>
        <p:nvSpPr>
          <p:cNvPr id="37" name="Text 35"/>
          <p:cNvSpPr txBox="1"/>
          <p:nvPr/>
        </p:nvSpPr>
        <p:spPr>
          <a:xfrm>
            <a:off x="10424160" y="4892040"/>
            <a:ext cx="1051560" cy="256032"/>
          </a:xfrm>
          <a:prstGeom prst="rect">
            <a:avLst/>
          </a:prstGeom>
          <a:noFill/>
          <a:ln/>
        </p:spPr>
        <p:txBody>
          <a:bodyPr wrap="square" lIns="0" tIns="0" rIns="0" bIns="0" rtlCol="0" anchor="t"/>
          <a:lstStyle/>
          <a:p>
            <a:pPr marL="0" indent="0" algn="l">
              <a:lnSpc>
                <a:spcPct val="115000"/>
              </a:lnSpc>
              <a:buNone/>
            </a:pPr>
            <a:r>
              <a:rPr lang="en-US" sz="1050" dirty="0">
                <a:solidFill>
                  <a:srgbClr val="9DB3B7"/>
                </a:solidFill>
                <a:latin typeface="Calibri" pitchFamily="34" charset="0"/>
                <a:ea typeface="Calibri" pitchFamily="34" charset="-122"/>
                <a:cs typeface="Calibri" pitchFamily="34" charset="-120"/>
              </a:rPr>
              <a:t>leave it</a:t>
            </a:r>
            <a:endParaRPr lang="en-US" sz="1050" dirty="0"/>
          </a:p>
        </p:txBody>
      </p:sp>
      <p:sp>
        <p:nvSpPr>
          <p:cNvPr id="38" name="Shape 36"/>
          <p:cNvSpPr/>
          <p:nvPr/>
        </p:nvSpPr>
        <p:spPr>
          <a:xfrm>
            <a:off x="6903720" y="5321808"/>
            <a:ext cx="4663440" cy="347472"/>
          </a:xfrm>
          <a:prstGeom prst="roundRect">
            <a:avLst>
              <a:gd name="adj" fmla="val 15789"/>
            </a:avLst>
          </a:prstGeom>
          <a:solidFill>
            <a:srgbClr val="EDF4F3"/>
          </a:solidFill>
          <a:ln w="12700">
            <a:solidFill>
              <a:srgbClr val="EDF4F3"/>
            </a:solidFill>
            <a:prstDash val="solid"/>
          </a:ln>
        </p:spPr>
        <p:txBody>
          <a:bodyPr/>
          <a:lstStyle/>
          <a:p>
            <a:endParaRPr lang="en-US"/>
          </a:p>
        </p:txBody>
      </p:sp>
      <p:sp>
        <p:nvSpPr>
          <p:cNvPr id="39" name="Text 37"/>
          <p:cNvSpPr txBox="1"/>
          <p:nvPr/>
        </p:nvSpPr>
        <p:spPr>
          <a:xfrm>
            <a:off x="7059168" y="5394960"/>
            <a:ext cx="4389120" cy="274320"/>
          </a:xfrm>
          <a:prstGeom prst="rect">
            <a:avLst/>
          </a:prstGeom>
          <a:noFill/>
          <a:ln/>
        </p:spPr>
        <p:txBody>
          <a:bodyPr wrap="square" lIns="0" tIns="0" rIns="0" bIns="0" rtlCol="0" anchor="ctr"/>
          <a:lstStyle/>
          <a:p>
            <a:pPr marL="0" indent="0" algn="l">
              <a:lnSpc>
                <a:spcPct val="115000"/>
              </a:lnSpc>
              <a:buNone/>
            </a:pPr>
            <a:r>
              <a:rPr lang="en-US" sz="1150" i="1" dirty="0">
                <a:solidFill>
                  <a:srgbClr val="0B3B44"/>
                </a:solidFill>
                <a:latin typeface="Calibri" pitchFamily="34" charset="0"/>
                <a:ea typeface="Calibri" pitchFamily="34" charset="-122"/>
                <a:cs typeface="Calibri" pitchFamily="34" charset="-120"/>
              </a:rPr>
              <a:t>The “not already a tree edge” guard is the whole trick.</a:t>
            </a:r>
            <a:endParaRPr lang="en-US" sz="1150" dirty="0"/>
          </a:p>
        </p:txBody>
      </p:sp>
      <p:sp>
        <p:nvSpPr>
          <p:cNvPr id="41" name="Text 38"/>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42" name="Text 39"/>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34</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Cycles, for free</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Show how the previous algorithm decides whether an undirected graph is cyclic.</a:t>
            </a:r>
            <a:endParaRPr lang="en-US" sz="1300" dirty="0"/>
          </a:p>
        </p:txBody>
      </p:sp>
      <p:sp>
        <p:nvSpPr>
          <p:cNvPr id="6" name="Shape 4"/>
          <p:cNvSpPr/>
          <p:nvPr/>
        </p:nvSpPr>
        <p:spPr>
          <a:xfrm>
            <a:off x="640080" y="1691640"/>
            <a:ext cx="5852160" cy="3977640"/>
          </a:xfrm>
          <a:prstGeom prst="roundRect">
            <a:avLst>
              <a:gd name="adj" fmla="val 1379"/>
            </a:avLst>
          </a:prstGeom>
          <a:solidFill>
            <a:srgbClr val="F6F9F8"/>
          </a:solidFill>
          <a:ln w="9525">
            <a:solidFill>
              <a:srgbClr val="D3E0DD"/>
            </a:solidFill>
            <a:prstDash val="solid"/>
          </a:ln>
        </p:spPr>
        <p:txBody>
          <a:bodyPr/>
          <a:lstStyle/>
          <a:p>
            <a:endParaRPr lang="en-US"/>
          </a:p>
        </p:txBody>
      </p:sp>
      <p:sp>
        <p:nvSpPr>
          <p:cNvPr id="7" name="Text 5"/>
          <p:cNvSpPr txBox="1"/>
          <p:nvPr/>
        </p:nvSpPr>
        <p:spPr>
          <a:xfrm>
            <a:off x="914400" y="1883664"/>
            <a:ext cx="5303520" cy="237744"/>
          </a:xfrm>
          <a:prstGeom prst="rect">
            <a:avLst/>
          </a:prstGeom>
          <a:noFill/>
          <a:ln/>
        </p:spPr>
        <p:txBody>
          <a:bodyPr wrap="square" lIns="0" tIns="0" rIns="0" bIns="0" rtlCol="0" anchor="ctr"/>
          <a:lstStyle/>
          <a:p>
            <a:pPr marL="0" indent="0">
              <a:buNone/>
            </a:pPr>
            <a:r>
              <a:rPr lang="en-US" sz="950" b="1" kern="0" spc="120" dirty="0">
                <a:solidFill>
                  <a:srgbClr val="2A9D8F"/>
                </a:solidFill>
                <a:latin typeface="Calibri" pitchFamily="34" charset="0"/>
                <a:ea typeface="Calibri" pitchFamily="34" charset="-122"/>
                <a:cs typeface="Calibri" pitchFamily="34" charset="-120"/>
              </a:rPr>
              <a:t>SAME TRAVERSAL, NOW RETURNING A BOOLEAN</a:t>
            </a:r>
            <a:endParaRPr lang="en-US" sz="950" dirty="0"/>
          </a:p>
        </p:txBody>
      </p:sp>
      <p:sp>
        <p:nvSpPr>
          <p:cNvPr id="8" name="Text 6"/>
          <p:cNvSpPr txBox="1"/>
          <p:nvPr/>
        </p:nvSpPr>
        <p:spPr>
          <a:xfrm>
            <a:off x="914400" y="2212848"/>
            <a:ext cx="5394960" cy="3291840"/>
          </a:xfrm>
          <a:prstGeom prst="rect">
            <a:avLst/>
          </a:prstGeom>
          <a:noFill/>
          <a:ln/>
        </p:spPr>
        <p:txBody>
          <a:bodyPr wrap="square" lIns="0" tIns="0" rIns="0" bIns="0" rtlCol="0" anchor="t"/>
          <a:lstStyle/>
          <a:p>
            <a:pPr marL="0" indent="0">
              <a:lnSpc>
                <a:spcPct val="115000"/>
              </a:lnSpc>
              <a:buNone/>
            </a:pPr>
            <a:r>
              <a:rPr lang="en-US" sz="1050" dirty="0">
                <a:solidFill>
                  <a:srgbClr val="13232B"/>
                </a:solidFill>
                <a:latin typeface="Courier New" pitchFamily="34" charset="0"/>
                <a:ea typeface="Courier New" pitchFamily="34" charset="-122"/>
                <a:cs typeface="Courier New" pitchFamily="34" charset="-120"/>
              </a:rPr>
              <a:t>function Cyclic(&lt;V, E&gt;)
    mark each node in V with 0
    for each v in V do
        if v is marked 0 then
            if DfsExplore(v) then
                return True
    return False
function DfsExplore(v)
    mark v with 1
    for each edge (v, w) do
        if w is marked with 0 then
            if DfsExplore(w) then
                return True
        else
</a:t>
            </a:r>
            <a:r>
              <a:rPr lang="en-US" sz="1050" dirty="0">
                <a:solidFill>
                  <a:srgbClr val="C1465A"/>
                </a:solidFill>
                <a:latin typeface="Courier New" pitchFamily="34" charset="0"/>
                <a:ea typeface="Courier New" pitchFamily="34" charset="-122"/>
                <a:cs typeface="Courier New" pitchFamily="34" charset="-120"/>
              </a:rPr>
              <a:t>            if (v, w) is a back edge then
                return True
</a:t>
            </a:r>
            <a:r>
              <a:rPr lang="en-US" sz="1050" dirty="0">
                <a:solidFill>
                  <a:srgbClr val="13232B"/>
                </a:solidFill>
                <a:latin typeface="Courier New" pitchFamily="34" charset="0"/>
                <a:ea typeface="Courier New" pitchFamily="34" charset="-122"/>
                <a:cs typeface="Courier New" pitchFamily="34" charset="-120"/>
              </a:rPr>
              <a:t>    return False</a:t>
            </a:r>
            <a:endParaRPr lang="en-US" sz="1050" dirty="0"/>
          </a:p>
        </p:txBody>
      </p:sp>
      <p:sp>
        <p:nvSpPr>
          <p:cNvPr id="9" name="Text 7"/>
          <p:cNvSpPr txBox="1"/>
          <p:nvPr/>
        </p:nvSpPr>
        <p:spPr>
          <a:xfrm>
            <a:off x="6903720" y="1755648"/>
            <a:ext cx="4663440" cy="274320"/>
          </a:xfrm>
          <a:prstGeom prst="rect">
            <a:avLst/>
          </a:prstGeom>
          <a:noFill/>
          <a:ln/>
        </p:spPr>
        <p:txBody>
          <a:bodyPr wrap="square" lIns="0" tIns="0" rIns="0" bIns="0" rtlCol="0" anchor="t"/>
          <a:lstStyle/>
          <a:p>
            <a:pPr marL="0" indent="0" algn="l">
              <a:lnSpc>
                <a:spcPct val="115000"/>
              </a:lnSpc>
              <a:buNone/>
            </a:pPr>
            <a:r>
              <a:rPr lang="en-US" sz="1300" b="1" dirty="0">
                <a:solidFill>
                  <a:srgbClr val="0B3B44"/>
                </a:solidFill>
                <a:latin typeface="Calibri" pitchFamily="34" charset="0"/>
                <a:ea typeface="Calibri" pitchFamily="34" charset="-122"/>
                <a:cs typeface="Calibri" pitchFamily="34" charset="-120"/>
              </a:rPr>
              <a:t>A graph is cyclic if its DFS forest has a back edge</a:t>
            </a:r>
            <a:endParaRPr lang="en-US" sz="1300" dirty="0"/>
          </a:p>
        </p:txBody>
      </p:sp>
      <p:sp>
        <p:nvSpPr>
          <p:cNvPr id="10" name="Text 8"/>
          <p:cNvSpPr txBox="1"/>
          <p:nvPr/>
        </p:nvSpPr>
        <p:spPr>
          <a:xfrm>
            <a:off x="6903720" y="2139696"/>
            <a:ext cx="4663440" cy="502920"/>
          </a:xfrm>
          <a:prstGeom prst="rect">
            <a:avLst/>
          </a:prstGeom>
          <a:noFill/>
          <a:ln/>
        </p:spPr>
        <p:txBody>
          <a:bodyPr wrap="square" lIns="0" tIns="0" rIns="0" bIns="0" rtlCol="0" anchor="ctr"/>
          <a:lstStyle/>
          <a:p>
            <a:pPr marL="0" indent="0">
              <a:lnSpc>
                <a:spcPct val="115000"/>
              </a:lnSpc>
              <a:buNone/>
            </a:pPr>
            <a:r>
              <a:rPr lang="en-US" sz="1250" b="1" dirty="0">
                <a:solidFill>
                  <a:srgbClr val="2A9D8F"/>
                </a:solidFill>
                <a:latin typeface="Calibri" pitchFamily="34" charset="0"/>
                <a:ea typeface="Calibri" pitchFamily="34" charset="-122"/>
                <a:cs typeface="Calibri" pitchFamily="34" charset="-120"/>
              </a:rPr>
              <a:t>⇐  </a:t>
            </a:r>
            <a:r>
              <a:rPr lang="en-US" sz="1250" dirty="0">
                <a:solidFill>
                  <a:srgbClr val="13232B"/>
                </a:solidFill>
                <a:latin typeface="Calibri" pitchFamily="34" charset="0"/>
                <a:ea typeface="Calibri" pitchFamily="34" charset="-122"/>
                <a:cs typeface="Calibri" pitchFamily="34" charset="-120"/>
              </a:rPr>
              <a:t>a back edge (v, w) plus the tree path from w down to v is a cycle.</a:t>
            </a:r>
            <a:endParaRPr lang="en-US" sz="1250" dirty="0"/>
          </a:p>
        </p:txBody>
      </p:sp>
      <p:sp>
        <p:nvSpPr>
          <p:cNvPr id="11" name="Text 9"/>
          <p:cNvSpPr txBox="1"/>
          <p:nvPr/>
        </p:nvSpPr>
        <p:spPr>
          <a:xfrm>
            <a:off x="6903720" y="2670048"/>
            <a:ext cx="4663440" cy="1005840"/>
          </a:xfrm>
          <a:prstGeom prst="rect">
            <a:avLst/>
          </a:prstGeom>
          <a:noFill/>
          <a:ln/>
        </p:spPr>
        <p:txBody>
          <a:bodyPr wrap="square" lIns="0" tIns="0" rIns="0" bIns="0" rtlCol="0" anchor="ctr"/>
          <a:lstStyle/>
          <a:p>
            <a:pPr marL="0" indent="0">
              <a:lnSpc>
                <a:spcPct val="115000"/>
              </a:lnSpc>
              <a:buNone/>
            </a:pPr>
            <a:r>
              <a:rPr lang="en-US" sz="1250" b="1" dirty="0">
                <a:solidFill>
                  <a:srgbClr val="2A9D8F"/>
                </a:solidFill>
                <a:latin typeface="Calibri" pitchFamily="34" charset="0"/>
                <a:ea typeface="Calibri" pitchFamily="34" charset="-122"/>
                <a:cs typeface="Calibri" pitchFamily="34" charset="-120"/>
              </a:rPr>
              <a:t>⇒  </a:t>
            </a:r>
            <a:r>
              <a:rPr lang="en-US" sz="1250" dirty="0">
                <a:solidFill>
                  <a:srgbClr val="13232B"/>
                </a:solidFill>
                <a:latin typeface="Calibri" pitchFamily="34" charset="0"/>
                <a:ea typeface="Calibri" pitchFamily="34" charset="-122"/>
                <a:cs typeface="Calibri" pitchFamily="34" charset="-120"/>
              </a:rPr>
              <a:t>take a cycle and the first of its nodes that DFS reaches. The traversal walks the rest of the cycle from there, and the edge that closes it lands on a node still on the stack — a back edge.</a:t>
            </a:r>
            <a:endParaRPr lang="en-US" sz="1250" dirty="0"/>
          </a:p>
        </p:txBody>
      </p:sp>
      <p:sp>
        <p:nvSpPr>
          <p:cNvPr id="12" name="Shape 10"/>
          <p:cNvSpPr/>
          <p:nvPr/>
        </p:nvSpPr>
        <p:spPr>
          <a:xfrm>
            <a:off x="6903720" y="3767328"/>
            <a:ext cx="4663440" cy="1051560"/>
          </a:xfrm>
          <a:prstGeom prst="roundRect">
            <a:avLst>
              <a:gd name="adj" fmla="val 5217"/>
            </a:avLst>
          </a:prstGeom>
          <a:solidFill>
            <a:srgbClr val="EDF4F3"/>
          </a:solidFill>
          <a:ln w="12700">
            <a:solidFill>
              <a:srgbClr val="EDF4F3"/>
            </a:solidFill>
            <a:prstDash val="solid"/>
          </a:ln>
        </p:spPr>
        <p:txBody>
          <a:bodyPr/>
          <a:lstStyle/>
          <a:p>
            <a:endParaRPr lang="en-US"/>
          </a:p>
        </p:txBody>
      </p:sp>
      <p:sp>
        <p:nvSpPr>
          <p:cNvPr id="13" name="Text 11"/>
          <p:cNvSpPr txBox="1"/>
          <p:nvPr/>
        </p:nvSpPr>
        <p:spPr>
          <a:xfrm>
            <a:off x="7178040" y="3931920"/>
            <a:ext cx="4160520" cy="777240"/>
          </a:xfrm>
          <a:prstGeom prst="rect">
            <a:avLst/>
          </a:prstGeom>
          <a:noFill/>
          <a:ln/>
        </p:spPr>
        <p:txBody>
          <a:bodyPr wrap="square" lIns="0" tIns="0" rIns="0" bIns="0" rtlCol="0" anchor="t"/>
          <a:lstStyle/>
          <a:p>
            <a:pPr marL="0" indent="0" algn="l">
              <a:lnSpc>
                <a:spcPct val="115000"/>
              </a:lnSpc>
              <a:buNone/>
            </a:pPr>
            <a:r>
              <a:rPr lang="en-US" sz="1200" i="1" dirty="0">
                <a:solidFill>
                  <a:srgbClr val="0B3B44"/>
                </a:solidFill>
                <a:latin typeface="Calibri" pitchFamily="34" charset="0"/>
                <a:ea typeface="Calibri" pitchFamily="34" charset="-122"/>
                <a:cs typeface="Calibri" pitchFamily="34" charset="-120"/>
              </a:rPr>
              <a:t>This is the Q30 repair, said carefully: </a:t>
            </a:r>
            <a:r>
              <a:rPr lang="en-US" sz="1200" b="1" i="1" dirty="0">
                <a:solidFill>
                  <a:srgbClr val="0B3B44"/>
                </a:solidFill>
                <a:latin typeface="Calibri" pitchFamily="34" charset="0"/>
                <a:ea typeface="Calibri" pitchFamily="34" charset="-122"/>
                <a:cs typeface="Calibri" pitchFamily="34" charset="-120"/>
              </a:rPr>
              <a:t>“is (v, w) a back edge?” is the disciplined version of “is w something other than my parent?”</a:t>
            </a:r>
            <a:endParaRPr lang="en-US" sz="1200" b="1" dirty="0"/>
          </a:p>
        </p:txBody>
      </p:sp>
      <p:sp>
        <p:nvSpPr>
          <p:cNvPr id="14" name="Text 12"/>
          <p:cNvSpPr txBox="1"/>
          <p:nvPr/>
        </p:nvSpPr>
        <p:spPr>
          <a:xfrm>
            <a:off x="6903720" y="4983480"/>
            <a:ext cx="4663440" cy="685800"/>
          </a:xfrm>
          <a:prstGeom prst="rect">
            <a:avLst/>
          </a:prstGeom>
          <a:noFill/>
          <a:ln/>
        </p:spPr>
        <p:txBody>
          <a:bodyPr wrap="square" lIns="0" tIns="0" rIns="0" bIns="0" rtlCol="0" anchor="t"/>
          <a:lstStyle/>
          <a:p>
            <a:pPr marL="0" indent="0" algn="l">
              <a:lnSpc>
                <a:spcPct val="115000"/>
              </a:lnSpc>
              <a:buNone/>
            </a:pPr>
            <a:r>
              <a:rPr lang="en-US" sz="1200" dirty="0">
                <a:solidFill>
                  <a:srgbClr val="63797F"/>
                </a:solidFill>
                <a:latin typeface="Calibri" pitchFamily="34" charset="0"/>
                <a:ea typeface="Calibri" pitchFamily="34" charset="-122"/>
                <a:cs typeface="Calibri" pitchFamily="34" charset="-120"/>
              </a:rPr>
              <a:t>Cost is unchanged: O(|V| + |E|) with adjacency lists — and in practice much less, because we stop at the first back edge.</a:t>
            </a:r>
            <a:endParaRPr lang="en-US" sz="1200" dirty="0"/>
          </a:p>
        </p:txBody>
      </p:sp>
      <p:sp>
        <p:nvSpPr>
          <p:cNvPr id="16" name="Text 13"/>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17" name="Text 14"/>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35</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The same question, breadth-first</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Which traversal finds a cycle faster? If there is no clear winner, give an example each way.</a:t>
            </a:r>
            <a:endParaRPr lang="en-US" sz="1300" dirty="0"/>
          </a:p>
        </p:txBody>
      </p:sp>
      <p:sp>
        <p:nvSpPr>
          <p:cNvPr id="6" name="Shape 4"/>
          <p:cNvSpPr/>
          <p:nvPr/>
        </p:nvSpPr>
        <p:spPr>
          <a:xfrm>
            <a:off x="640080" y="1645920"/>
            <a:ext cx="10927080" cy="713232"/>
          </a:xfrm>
          <a:prstGeom prst="roundRect">
            <a:avLst>
              <a:gd name="adj" fmla="val 7692"/>
            </a:avLst>
          </a:prstGeom>
          <a:solidFill>
            <a:srgbClr val="0B3B44"/>
          </a:solidFill>
          <a:ln w="12700">
            <a:solidFill>
              <a:srgbClr val="0B3B44"/>
            </a:solidFill>
            <a:prstDash val="solid"/>
          </a:ln>
        </p:spPr>
        <p:txBody>
          <a:bodyPr/>
          <a:lstStyle/>
          <a:p>
            <a:endParaRPr lang="en-US"/>
          </a:p>
        </p:txBody>
      </p:sp>
      <p:sp>
        <p:nvSpPr>
          <p:cNvPr id="7" name="Text 5"/>
          <p:cNvSpPr txBox="1"/>
          <p:nvPr/>
        </p:nvSpPr>
        <p:spPr>
          <a:xfrm>
            <a:off x="914400" y="1645920"/>
            <a:ext cx="10378440" cy="713232"/>
          </a:xfrm>
          <a:prstGeom prst="rect">
            <a:avLst/>
          </a:prstGeom>
          <a:noFill/>
          <a:ln/>
        </p:spPr>
        <p:txBody>
          <a:bodyPr wrap="square" lIns="0" tIns="0" rIns="0" bIns="0" rtlCol="0" anchor="ctr"/>
          <a:lstStyle/>
          <a:p>
            <a:pPr marL="0" indent="0">
              <a:lnSpc>
                <a:spcPct val="110000"/>
              </a:lnSpc>
              <a:buNone/>
            </a:pPr>
            <a:r>
              <a:rPr lang="en-US" sz="1250" b="1" dirty="0">
                <a:solidFill>
                  <a:srgbClr val="E8A33D"/>
                </a:solidFill>
                <a:latin typeface="Calibri" pitchFamily="34" charset="0"/>
                <a:ea typeface="Calibri" pitchFamily="34" charset="-122"/>
                <a:cs typeface="Calibri" pitchFamily="34" charset="-120"/>
              </a:rPr>
              <a:t>A graph has a cycle if and only if its breadth-first forest contains a cross edge.</a:t>
            </a:r>
            <a:r>
              <a:rPr lang="en-US" sz="1250" dirty="0">
                <a:solidFill>
                  <a:srgbClr val="D3E0DD"/>
                </a:solidFill>
                <a:latin typeface="Calibri" pitchFamily="34" charset="0"/>
                <a:ea typeface="Calibri" pitchFamily="34" charset="-122"/>
                <a:cs typeface="Calibri" pitchFamily="34" charset="-120"/>
              </a:rPr>
              <a:t>   BFS never produces a back edge to a distant ancestor: any non-tree edge joins two nodes on the same level or on adjacent levels.</a:t>
            </a:r>
            <a:endParaRPr lang="en-US" sz="1250" dirty="0"/>
          </a:p>
        </p:txBody>
      </p:sp>
      <p:sp>
        <p:nvSpPr>
          <p:cNvPr id="8" name="Shape 6"/>
          <p:cNvSpPr/>
          <p:nvPr/>
        </p:nvSpPr>
        <p:spPr>
          <a:xfrm>
            <a:off x="640080" y="2542032"/>
            <a:ext cx="5257800" cy="3063240"/>
          </a:xfrm>
          <a:prstGeom prst="roundRect">
            <a:avLst>
              <a:gd name="adj" fmla="val 1791"/>
            </a:avLst>
          </a:prstGeom>
          <a:solidFill>
            <a:srgbClr val="F6F9F8"/>
          </a:solidFill>
          <a:ln w="9525">
            <a:solidFill>
              <a:srgbClr val="D3E0DD"/>
            </a:solidFill>
            <a:prstDash val="solid"/>
          </a:ln>
        </p:spPr>
        <p:txBody>
          <a:bodyPr/>
          <a:lstStyle/>
          <a:p>
            <a:endParaRPr lang="en-US"/>
          </a:p>
        </p:txBody>
      </p:sp>
      <p:sp>
        <p:nvSpPr>
          <p:cNvPr id="9" name="Text 7"/>
          <p:cNvSpPr txBox="1"/>
          <p:nvPr/>
        </p:nvSpPr>
        <p:spPr>
          <a:xfrm>
            <a:off x="914400" y="2724912"/>
            <a:ext cx="4709160" cy="292608"/>
          </a:xfrm>
          <a:prstGeom prst="rect">
            <a:avLst/>
          </a:prstGeom>
          <a:noFill/>
          <a:ln/>
        </p:spPr>
        <p:txBody>
          <a:bodyPr wrap="square" lIns="0" tIns="0" rIns="0" bIns="0" rtlCol="0" anchor="t"/>
          <a:lstStyle/>
          <a:p>
            <a:pPr marL="0" indent="0" algn="l">
              <a:lnSpc>
                <a:spcPct val="115000"/>
              </a:lnSpc>
              <a:buNone/>
            </a:pPr>
            <a:r>
              <a:rPr lang="en-US" sz="1500" b="1" dirty="0">
                <a:solidFill>
                  <a:srgbClr val="2A9D8F"/>
                </a:solidFill>
                <a:latin typeface="Cambria" pitchFamily="34" charset="0"/>
                <a:ea typeface="Cambria" pitchFamily="34" charset="-122"/>
                <a:cs typeface="Cambria" pitchFamily="34" charset="-120"/>
              </a:rPr>
              <a:t>Depth-first finds it first</a:t>
            </a:r>
            <a:endParaRPr lang="en-US" sz="1500" dirty="0"/>
          </a:p>
        </p:txBody>
      </p:sp>
      <p:sp>
        <p:nvSpPr>
          <p:cNvPr id="10" name="Shape 8"/>
          <p:cNvSpPr/>
          <p:nvPr/>
        </p:nvSpPr>
        <p:spPr>
          <a:xfrm>
            <a:off x="1600200" y="3291840"/>
            <a:ext cx="457200" cy="457200"/>
          </a:xfrm>
          <a:prstGeom prst="ellipse">
            <a:avLst/>
          </a:prstGeom>
          <a:solidFill>
            <a:srgbClr val="FFFFFF"/>
          </a:solidFill>
          <a:ln w="15875">
            <a:solidFill>
              <a:srgbClr val="16505C"/>
            </a:solidFill>
            <a:prstDash val="solid"/>
          </a:ln>
        </p:spPr>
        <p:txBody>
          <a:bodyPr/>
          <a:lstStyle/>
          <a:p>
            <a:endParaRPr lang="en-US"/>
          </a:p>
        </p:txBody>
      </p:sp>
      <p:sp>
        <p:nvSpPr>
          <p:cNvPr id="11" name="Text 9"/>
          <p:cNvSpPr txBox="1"/>
          <p:nvPr/>
        </p:nvSpPr>
        <p:spPr>
          <a:xfrm>
            <a:off x="1600200" y="3291840"/>
            <a:ext cx="457200" cy="45720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a</a:t>
            </a:r>
            <a:endParaRPr lang="en-US" sz="1350" dirty="0"/>
          </a:p>
        </p:txBody>
      </p:sp>
      <p:sp>
        <p:nvSpPr>
          <p:cNvPr id="12" name="Shape 10"/>
          <p:cNvSpPr/>
          <p:nvPr/>
        </p:nvSpPr>
        <p:spPr>
          <a:xfrm>
            <a:off x="2788920" y="3291840"/>
            <a:ext cx="457200" cy="457200"/>
          </a:xfrm>
          <a:prstGeom prst="ellipse">
            <a:avLst/>
          </a:prstGeom>
          <a:solidFill>
            <a:srgbClr val="FFFFFF"/>
          </a:solidFill>
          <a:ln w="15875">
            <a:solidFill>
              <a:srgbClr val="16505C"/>
            </a:solidFill>
            <a:prstDash val="solid"/>
          </a:ln>
        </p:spPr>
        <p:txBody>
          <a:bodyPr/>
          <a:lstStyle/>
          <a:p>
            <a:endParaRPr lang="en-US"/>
          </a:p>
        </p:txBody>
      </p:sp>
      <p:sp>
        <p:nvSpPr>
          <p:cNvPr id="13" name="Text 11"/>
          <p:cNvSpPr txBox="1"/>
          <p:nvPr/>
        </p:nvSpPr>
        <p:spPr>
          <a:xfrm>
            <a:off x="2788920" y="3291840"/>
            <a:ext cx="457200" cy="45720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b</a:t>
            </a:r>
            <a:endParaRPr lang="en-US" sz="1350" dirty="0"/>
          </a:p>
        </p:txBody>
      </p:sp>
      <p:sp>
        <p:nvSpPr>
          <p:cNvPr id="14" name="Shape 12"/>
          <p:cNvSpPr/>
          <p:nvPr/>
        </p:nvSpPr>
        <p:spPr>
          <a:xfrm>
            <a:off x="2788920" y="4297680"/>
            <a:ext cx="457200" cy="457200"/>
          </a:xfrm>
          <a:prstGeom prst="ellipse">
            <a:avLst/>
          </a:prstGeom>
          <a:solidFill>
            <a:srgbClr val="FFFFFF"/>
          </a:solidFill>
          <a:ln w="15875">
            <a:solidFill>
              <a:srgbClr val="16505C"/>
            </a:solidFill>
            <a:prstDash val="solid"/>
          </a:ln>
        </p:spPr>
        <p:txBody>
          <a:bodyPr/>
          <a:lstStyle/>
          <a:p>
            <a:endParaRPr lang="en-US"/>
          </a:p>
        </p:txBody>
      </p:sp>
      <p:sp>
        <p:nvSpPr>
          <p:cNvPr id="15" name="Text 13"/>
          <p:cNvSpPr txBox="1"/>
          <p:nvPr/>
        </p:nvSpPr>
        <p:spPr>
          <a:xfrm>
            <a:off x="2788920" y="4297680"/>
            <a:ext cx="457200" cy="45720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c</a:t>
            </a:r>
            <a:endParaRPr lang="en-US" sz="1350" dirty="0"/>
          </a:p>
        </p:txBody>
      </p:sp>
      <p:sp>
        <p:nvSpPr>
          <p:cNvPr id="16" name="Shape 14"/>
          <p:cNvSpPr/>
          <p:nvPr/>
        </p:nvSpPr>
        <p:spPr>
          <a:xfrm>
            <a:off x="1600200" y="4297680"/>
            <a:ext cx="457200" cy="457200"/>
          </a:xfrm>
          <a:prstGeom prst="ellipse">
            <a:avLst/>
          </a:prstGeom>
          <a:solidFill>
            <a:srgbClr val="FFFFFF"/>
          </a:solidFill>
          <a:ln w="15875">
            <a:solidFill>
              <a:srgbClr val="16505C"/>
            </a:solidFill>
            <a:prstDash val="solid"/>
          </a:ln>
        </p:spPr>
        <p:txBody>
          <a:bodyPr/>
          <a:lstStyle/>
          <a:p>
            <a:endParaRPr lang="en-US"/>
          </a:p>
        </p:txBody>
      </p:sp>
      <p:sp>
        <p:nvSpPr>
          <p:cNvPr id="17" name="Text 15"/>
          <p:cNvSpPr txBox="1"/>
          <p:nvPr/>
        </p:nvSpPr>
        <p:spPr>
          <a:xfrm>
            <a:off x="1600200" y="4297680"/>
            <a:ext cx="457200" cy="45720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d</a:t>
            </a:r>
            <a:endParaRPr lang="en-US" sz="1350" dirty="0"/>
          </a:p>
        </p:txBody>
      </p:sp>
      <p:sp>
        <p:nvSpPr>
          <p:cNvPr id="18" name="Shape 16"/>
          <p:cNvSpPr/>
          <p:nvPr/>
        </p:nvSpPr>
        <p:spPr>
          <a:xfrm>
            <a:off x="2057400" y="3520440"/>
            <a:ext cx="731520" cy="0"/>
          </a:xfrm>
          <a:prstGeom prst="line">
            <a:avLst/>
          </a:prstGeom>
          <a:noFill/>
          <a:ln w="22225">
            <a:solidFill>
              <a:srgbClr val="16505C"/>
            </a:solidFill>
            <a:prstDash val="solid"/>
          </a:ln>
        </p:spPr>
        <p:txBody>
          <a:bodyPr/>
          <a:lstStyle/>
          <a:p>
            <a:endParaRPr lang="en-US"/>
          </a:p>
        </p:txBody>
      </p:sp>
      <p:sp>
        <p:nvSpPr>
          <p:cNvPr id="19" name="Shape 17"/>
          <p:cNvSpPr/>
          <p:nvPr/>
        </p:nvSpPr>
        <p:spPr>
          <a:xfrm>
            <a:off x="1828800" y="3749040"/>
            <a:ext cx="0" cy="548640"/>
          </a:xfrm>
          <a:prstGeom prst="line">
            <a:avLst/>
          </a:prstGeom>
          <a:noFill/>
          <a:ln w="22225">
            <a:solidFill>
              <a:srgbClr val="16505C"/>
            </a:solidFill>
            <a:prstDash val="solid"/>
          </a:ln>
        </p:spPr>
        <p:txBody>
          <a:bodyPr/>
          <a:lstStyle/>
          <a:p>
            <a:endParaRPr lang="en-US"/>
          </a:p>
        </p:txBody>
      </p:sp>
      <p:sp>
        <p:nvSpPr>
          <p:cNvPr id="20" name="Shape 18"/>
          <p:cNvSpPr/>
          <p:nvPr/>
        </p:nvSpPr>
        <p:spPr>
          <a:xfrm>
            <a:off x="3017520" y="3749040"/>
            <a:ext cx="0" cy="548640"/>
          </a:xfrm>
          <a:prstGeom prst="line">
            <a:avLst/>
          </a:prstGeom>
          <a:noFill/>
          <a:ln w="22225">
            <a:solidFill>
              <a:srgbClr val="16505C"/>
            </a:solidFill>
            <a:prstDash val="solid"/>
          </a:ln>
        </p:spPr>
        <p:txBody>
          <a:bodyPr/>
          <a:lstStyle/>
          <a:p>
            <a:endParaRPr lang="en-US"/>
          </a:p>
        </p:txBody>
      </p:sp>
      <p:sp>
        <p:nvSpPr>
          <p:cNvPr id="21" name="Shape 19"/>
          <p:cNvSpPr/>
          <p:nvPr/>
        </p:nvSpPr>
        <p:spPr>
          <a:xfrm>
            <a:off x="2003310" y="3668102"/>
            <a:ext cx="839700" cy="710515"/>
          </a:xfrm>
          <a:prstGeom prst="line">
            <a:avLst/>
          </a:prstGeom>
          <a:noFill/>
          <a:ln w="22225">
            <a:solidFill>
              <a:srgbClr val="16505C"/>
            </a:solidFill>
            <a:prstDash val="solid"/>
          </a:ln>
        </p:spPr>
        <p:txBody>
          <a:bodyPr/>
          <a:lstStyle/>
          <a:p>
            <a:endParaRPr lang="en-US"/>
          </a:p>
        </p:txBody>
      </p:sp>
      <p:sp>
        <p:nvSpPr>
          <p:cNvPr id="22" name="Text 20"/>
          <p:cNvSpPr txBox="1"/>
          <p:nvPr/>
        </p:nvSpPr>
        <p:spPr>
          <a:xfrm>
            <a:off x="3703320" y="3310128"/>
            <a:ext cx="502920" cy="256032"/>
          </a:xfrm>
          <a:prstGeom prst="rect">
            <a:avLst/>
          </a:prstGeom>
          <a:noFill/>
          <a:ln/>
        </p:spPr>
        <p:txBody>
          <a:bodyPr wrap="square" lIns="0" tIns="0" rIns="0" bIns="0" rtlCol="0" anchor="t"/>
          <a:lstStyle/>
          <a:p>
            <a:pPr marL="0" indent="0" algn="l">
              <a:lnSpc>
                <a:spcPct val="115000"/>
              </a:lnSpc>
              <a:buNone/>
            </a:pPr>
            <a:r>
              <a:rPr lang="en-US" sz="1150" b="1" dirty="0">
                <a:solidFill>
                  <a:srgbClr val="0B3B44"/>
                </a:solidFill>
                <a:latin typeface="Calibri" pitchFamily="34" charset="0"/>
                <a:ea typeface="Calibri" pitchFamily="34" charset="-122"/>
                <a:cs typeface="Calibri" pitchFamily="34" charset="-120"/>
              </a:rPr>
              <a:t>DFS</a:t>
            </a:r>
            <a:endParaRPr lang="en-US" sz="1150" dirty="0"/>
          </a:p>
        </p:txBody>
      </p:sp>
      <p:sp>
        <p:nvSpPr>
          <p:cNvPr id="23" name="Text 21"/>
          <p:cNvSpPr txBox="1"/>
          <p:nvPr/>
        </p:nvSpPr>
        <p:spPr>
          <a:xfrm>
            <a:off x="3703320" y="3584448"/>
            <a:ext cx="1965960" cy="77724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alibri" pitchFamily="34" charset="0"/>
                <a:ea typeface="Calibri" pitchFamily="34" charset="-122"/>
                <a:cs typeface="Calibri" pitchFamily="34" charset="-120"/>
              </a:rPr>
              <a:t>a → b → c, and c—a is a back edge. Done after 3 of the 4 nodes; d is never visited.</a:t>
            </a:r>
            <a:endParaRPr lang="en-US" sz="1100" dirty="0"/>
          </a:p>
        </p:txBody>
      </p:sp>
      <p:sp>
        <p:nvSpPr>
          <p:cNvPr id="24" name="Text 22"/>
          <p:cNvSpPr txBox="1"/>
          <p:nvPr/>
        </p:nvSpPr>
        <p:spPr>
          <a:xfrm>
            <a:off x="3703320" y="4270248"/>
            <a:ext cx="502920" cy="256032"/>
          </a:xfrm>
          <a:prstGeom prst="rect">
            <a:avLst/>
          </a:prstGeom>
          <a:noFill/>
          <a:ln/>
        </p:spPr>
        <p:txBody>
          <a:bodyPr wrap="square" lIns="0" tIns="0" rIns="0" bIns="0" rtlCol="0" anchor="t"/>
          <a:lstStyle/>
          <a:p>
            <a:pPr marL="0" indent="0" algn="l">
              <a:lnSpc>
                <a:spcPct val="115000"/>
              </a:lnSpc>
              <a:buNone/>
            </a:pPr>
            <a:r>
              <a:rPr lang="en-US" sz="1150" b="1" dirty="0">
                <a:solidFill>
                  <a:srgbClr val="0B3B44"/>
                </a:solidFill>
                <a:latin typeface="Calibri" pitchFamily="34" charset="0"/>
                <a:ea typeface="Calibri" pitchFamily="34" charset="-122"/>
                <a:cs typeface="Calibri" pitchFamily="34" charset="-120"/>
              </a:rPr>
              <a:t>BFS</a:t>
            </a:r>
            <a:endParaRPr lang="en-US" sz="1150" dirty="0"/>
          </a:p>
        </p:txBody>
      </p:sp>
      <p:sp>
        <p:nvSpPr>
          <p:cNvPr id="25" name="Text 23"/>
          <p:cNvSpPr txBox="1"/>
          <p:nvPr/>
        </p:nvSpPr>
        <p:spPr>
          <a:xfrm>
            <a:off x="3703320" y="4544568"/>
            <a:ext cx="1965960" cy="77724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alibri" pitchFamily="34" charset="0"/>
                <a:ea typeface="Calibri" pitchFamily="34" charset="-122"/>
                <a:cs typeface="Calibri" pitchFamily="34" charset="-120"/>
              </a:rPr>
              <a:t>a enqueues b, c and d — all four nodes — before b ever meets c again.</a:t>
            </a:r>
            <a:endParaRPr lang="en-US" sz="1100" dirty="0"/>
          </a:p>
        </p:txBody>
      </p:sp>
      <p:sp>
        <p:nvSpPr>
          <p:cNvPr id="26" name="Text 24"/>
          <p:cNvSpPr txBox="1"/>
          <p:nvPr/>
        </p:nvSpPr>
        <p:spPr>
          <a:xfrm>
            <a:off x="914400" y="5138928"/>
            <a:ext cx="4709160" cy="320040"/>
          </a:xfrm>
          <a:prstGeom prst="rect">
            <a:avLst/>
          </a:prstGeom>
          <a:noFill/>
          <a:ln/>
        </p:spPr>
        <p:txBody>
          <a:bodyPr wrap="square" lIns="0" tIns="0" rIns="0" bIns="0" rtlCol="0" anchor="t"/>
          <a:lstStyle/>
          <a:p>
            <a:pPr marL="0" indent="0" algn="l">
              <a:lnSpc>
                <a:spcPct val="115000"/>
              </a:lnSpc>
              <a:buNone/>
            </a:pPr>
            <a:r>
              <a:rPr lang="en-US" sz="1050" dirty="0">
                <a:solidFill>
                  <a:srgbClr val="9DB3B7"/>
                </a:solidFill>
                <a:latin typeface="Courier New" pitchFamily="34" charset="0"/>
                <a:ea typeface="Courier New" pitchFamily="34" charset="-122"/>
                <a:cs typeface="Courier New" pitchFamily="34" charset="-120"/>
              </a:rPr>
              <a:t>cycle a–b–c, with d hanging off a</a:t>
            </a:r>
            <a:endParaRPr lang="en-US" sz="1050" dirty="0"/>
          </a:p>
        </p:txBody>
      </p:sp>
      <p:sp>
        <p:nvSpPr>
          <p:cNvPr id="27" name="Shape 25"/>
          <p:cNvSpPr/>
          <p:nvPr/>
        </p:nvSpPr>
        <p:spPr>
          <a:xfrm>
            <a:off x="6309360" y="2542032"/>
            <a:ext cx="5257800" cy="3063240"/>
          </a:xfrm>
          <a:prstGeom prst="roundRect">
            <a:avLst>
              <a:gd name="adj" fmla="val 1791"/>
            </a:avLst>
          </a:prstGeom>
          <a:solidFill>
            <a:srgbClr val="F6F9F8"/>
          </a:solidFill>
          <a:ln w="9525">
            <a:solidFill>
              <a:srgbClr val="D3E0DD"/>
            </a:solidFill>
            <a:prstDash val="solid"/>
          </a:ln>
        </p:spPr>
        <p:txBody>
          <a:bodyPr/>
          <a:lstStyle/>
          <a:p>
            <a:endParaRPr lang="en-US"/>
          </a:p>
        </p:txBody>
      </p:sp>
      <p:sp>
        <p:nvSpPr>
          <p:cNvPr id="28" name="Text 26"/>
          <p:cNvSpPr txBox="1"/>
          <p:nvPr/>
        </p:nvSpPr>
        <p:spPr>
          <a:xfrm>
            <a:off x="6583680" y="2724912"/>
            <a:ext cx="4709160" cy="292608"/>
          </a:xfrm>
          <a:prstGeom prst="rect">
            <a:avLst/>
          </a:prstGeom>
          <a:noFill/>
          <a:ln/>
        </p:spPr>
        <p:txBody>
          <a:bodyPr wrap="square" lIns="0" tIns="0" rIns="0" bIns="0" rtlCol="0" anchor="t"/>
          <a:lstStyle/>
          <a:p>
            <a:pPr marL="0" indent="0" algn="l">
              <a:lnSpc>
                <a:spcPct val="115000"/>
              </a:lnSpc>
              <a:buNone/>
            </a:pPr>
            <a:r>
              <a:rPr lang="en-US" sz="1500" b="1" dirty="0">
                <a:solidFill>
                  <a:srgbClr val="E8A33D"/>
                </a:solidFill>
                <a:latin typeface="Cambria" pitchFamily="34" charset="0"/>
                <a:ea typeface="Cambria" pitchFamily="34" charset="-122"/>
                <a:cs typeface="Cambria" pitchFamily="34" charset="-120"/>
              </a:rPr>
              <a:t>Breadth-first finds it first</a:t>
            </a:r>
            <a:endParaRPr lang="en-US" sz="1500" dirty="0"/>
          </a:p>
        </p:txBody>
      </p:sp>
      <p:sp>
        <p:nvSpPr>
          <p:cNvPr id="29" name="Shape 27"/>
          <p:cNvSpPr/>
          <p:nvPr/>
        </p:nvSpPr>
        <p:spPr>
          <a:xfrm>
            <a:off x="7269480" y="3291840"/>
            <a:ext cx="457200" cy="457200"/>
          </a:xfrm>
          <a:prstGeom prst="ellipse">
            <a:avLst/>
          </a:prstGeom>
          <a:solidFill>
            <a:srgbClr val="FFFFFF"/>
          </a:solidFill>
          <a:ln w="15875">
            <a:solidFill>
              <a:srgbClr val="16505C"/>
            </a:solidFill>
            <a:prstDash val="solid"/>
          </a:ln>
        </p:spPr>
        <p:txBody>
          <a:bodyPr/>
          <a:lstStyle/>
          <a:p>
            <a:endParaRPr lang="en-US"/>
          </a:p>
        </p:txBody>
      </p:sp>
      <p:sp>
        <p:nvSpPr>
          <p:cNvPr id="30" name="Text 28"/>
          <p:cNvSpPr txBox="1"/>
          <p:nvPr/>
        </p:nvSpPr>
        <p:spPr>
          <a:xfrm>
            <a:off x="7269480" y="3291840"/>
            <a:ext cx="457200" cy="45720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a</a:t>
            </a:r>
            <a:endParaRPr lang="en-US" sz="1350" dirty="0"/>
          </a:p>
        </p:txBody>
      </p:sp>
      <p:sp>
        <p:nvSpPr>
          <p:cNvPr id="31" name="Shape 29"/>
          <p:cNvSpPr/>
          <p:nvPr/>
        </p:nvSpPr>
        <p:spPr>
          <a:xfrm>
            <a:off x="8458200" y="3291840"/>
            <a:ext cx="457200" cy="457200"/>
          </a:xfrm>
          <a:prstGeom prst="ellipse">
            <a:avLst/>
          </a:prstGeom>
          <a:solidFill>
            <a:srgbClr val="FFFFFF"/>
          </a:solidFill>
          <a:ln w="15875">
            <a:solidFill>
              <a:srgbClr val="16505C"/>
            </a:solidFill>
            <a:prstDash val="solid"/>
          </a:ln>
        </p:spPr>
        <p:txBody>
          <a:bodyPr/>
          <a:lstStyle/>
          <a:p>
            <a:endParaRPr lang="en-US"/>
          </a:p>
        </p:txBody>
      </p:sp>
      <p:sp>
        <p:nvSpPr>
          <p:cNvPr id="32" name="Text 30"/>
          <p:cNvSpPr txBox="1"/>
          <p:nvPr/>
        </p:nvSpPr>
        <p:spPr>
          <a:xfrm>
            <a:off x="8458200" y="3291840"/>
            <a:ext cx="457200" cy="45720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b</a:t>
            </a:r>
            <a:endParaRPr lang="en-US" sz="1350" dirty="0"/>
          </a:p>
        </p:txBody>
      </p:sp>
      <p:sp>
        <p:nvSpPr>
          <p:cNvPr id="33" name="Shape 31"/>
          <p:cNvSpPr/>
          <p:nvPr/>
        </p:nvSpPr>
        <p:spPr>
          <a:xfrm>
            <a:off x="8458200" y="4297680"/>
            <a:ext cx="457200" cy="457200"/>
          </a:xfrm>
          <a:prstGeom prst="ellipse">
            <a:avLst/>
          </a:prstGeom>
          <a:solidFill>
            <a:srgbClr val="FFFFFF"/>
          </a:solidFill>
          <a:ln w="15875">
            <a:solidFill>
              <a:srgbClr val="16505C"/>
            </a:solidFill>
            <a:prstDash val="solid"/>
          </a:ln>
        </p:spPr>
        <p:txBody>
          <a:bodyPr/>
          <a:lstStyle/>
          <a:p>
            <a:endParaRPr lang="en-US"/>
          </a:p>
        </p:txBody>
      </p:sp>
      <p:sp>
        <p:nvSpPr>
          <p:cNvPr id="34" name="Text 32"/>
          <p:cNvSpPr txBox="1"/>
          <p:nvPr/>
        </p:nvSpPr>
        <p:spPr>
          <a:xfrm>
            <a:off x="8458200" y="4297680"/>
            <a:ext cx="457200" cy="45720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c</a:t>
            </a:r>
            <a:endParaRPr lang="en-US" sz="1350" dirty="0"/>
          </a:p>
        </p:txBody>
      </p:sp>
      <p:sp>
        <p:nvSpPr>
          <p:cNvPr id="35" name="Shape 33"/>
          <p:cNvSpPr/>
          <p:nvPr/>
        </p:nvSpPr>
        <p:spPr>
          <a:xfrm>
            <a:off x="7269480" y="4297680"/>
            <a:ext cx="457200" cy="457200"/>
          </a:xfrm>
          <a:prstGeom prst="ellipse">
            <a:avLst/>
          </a:prstGeom>
          <a:solidFill>
            <a:srgbClr val="FFFFFF"/>
          </a:solidFill>
          <a:ln w="15875">
            <a:solidFill>
              <a:srgbClr val="16505C"/>
            </a:solidFill>
            <a:prstDash val="solid"/>
          </a:ln>
        </p:spPr>
        <p:txBody>
          <a:bodyPr/>
          <a:lstStyle/>
          <a:p>
            <a:endParaRPr lang="en-US"/>
          </a:p>
        </p:txBody>
      </p:sp>
      <p:sp>
        <p:nvSpPr>
          <p:cNvPr id="36" name="Text 34"/>
          <p:cNvSpPr txBox="1"/>
          <p:nvPr/>
        </p:nvSpPr>
        <p:spPr>
          <a:xfrm>
            <a:off x="7269480" y="4297680"/>
            <a:ext cx="457200" cy="457200"/>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d</a:t>
            </a:r>
            <a:endParaRPr lang="en-US" sz="1350" dirty="0"/>
          </a:p>
        </p:txBody>
      </p:sp>
      <p:sp>
        <p:nvSpPr>
          <p:cNvPr id="37" name="Shape 35"/>
          <p:cNvSpPr/>
          <p:nvPr/>
        </p:nvSpPr>
        <p:spPr>
          <a:xfrm>
            <a:off x="7726680" y="3520440"/>
            <a:ext cx="731520" cy="0"/>
          </a:xfrm>
          <a:prstGeom prst="line">
            <a:avLst/>
          </a:prstGeom>
          <a:noFill/>
          <a:ln w="22225">
            <a:solidFill>
              <a:srgbClr val="16505C"/>
            </a:solidFill>
            <a:prstDash val="solid"/>
          </a:ln>
        </p:spPr>
        <p:txBody>
          <a:bodyPr/>
          <a:lstStyle/>
          <a:p>
            <a:endParaRPr lang="en-US"/>
          </a:p>
        </p:txBody>
      </p:sp>
      <p:sp>
        <p:nvSpPr>
          <p:cNvPr id="38" name="Shape 36"/>
          <p:cNvSpPr/>
          <p:nvPr/>
        </p:nvSpPr>
        <p:spPr>
          <a:xfrm>
            <a:off x="7498080" y="3749040"/>
            <a:ext cx="0" cy="548640"/>
          </a:xfrm>
          <a:prstGeom prst="line">
            <a:avLst/>
          </a:prstGeom>
          <a:noFill/>
          <a:ln w="22225">
            <a:solidFill>
              <a:srgbClr val="16505C"/>
            </a:solidFill>
            <a:prstDash val="solid"/>
          </a:ln>
        </p:spPr>
        <p:txBody>
          <a:bodyPr/>
          <a:lstStyle/>
          <a:p>
            <a:endParaRPr lang="en-US"/>
          </a:p>
        </p:txBody>
      </p:sp>
      <p:sp>
        <p:nvSpPr>
          <p:cNvPr id="39" name="Shape 37"/>
          <p:cNvSpPr/>
          <p:nvPr/>
        </p:nvSpPr>
        <p:spPr>
          <a:xfrm>
            <a:off x="8686800" y="3749040"/>
            <a:ext cx="0" cy="548640"/>
          </a:xfrm>
          <a:prstGeom prst="line">
            <a:avLst/>
          </a:prstGeom>
          <a:noFill/>
          <a:ln w="22225">
            <a:solidFill>
              <a:srgbClr val="16505C"/>
            </a:solidFill>
            <a:prstDash val="solid"/>
          </a:ln>
        </p:spPr>
        <p:txBody>
          <a:bodyPr/>
          <a:lstStyle/>
          <a:p>
            <a:endParaRPr lang="en-US"/>
          </a:p>
        </p:txBody>
      </p:sp>
      <p:sp>
        <p:nvSpPr>
          <p:cNvPr id="40" name="Shape 38"/>
          <p:cNvSpPr/>
          <p:nvPr/>
        </p:nvSpPr>
        <p:spPr>
          <a:xfrm flipH="1">
            <a:off x="7672590" y="3668102"/>
            <a:ext cx="839700" cy="710515"/>
          </a:xfrm>
          <a:prstGeom prst="line">
            <a:avLst/>
          </a:prstGeom>
          <a:noFill/>
          <a:ln w="22225">
            <a:solidFill>
              <a:srgbClr val="16505C"/>
            </a:solidFill>
            <a:prstDash val="solid"/>
          </a:ln>
        </p:spPr>
        <p:txBody>
          <a:bodyPr/>
          <a:lstStyle/>
          <a:p>
            <a:endParaRPr lang="en-US"/>
          </a:p>
        </p:txBody>
      </p:sp>
      <p:sp>
        <p:nvSpPr>
          <p:cNvPr id="41" name="Text 39"/>
          <p:cNvSpPr txBox="1"/>
          <p:nvPr/>
        </p:nvSpPr>
        <p:spPr>
          <a:xfrm>
            <a:off x="9372600" y="3310128"/>
            <a:ext cx="502920" cy="256032"/>
          </a:xfrm>
          <a:prstGeom prst="rect">
            <a:avLst/>
          </a:prstGeom>
          <a:noFill/>
          <a:ln/>
        </p:spPr>
        <p:txBody>
          <a:bodyPr wrap="square" lIns="0" tIns="0" rIns="0" bIns="0" rtlCol="0" anchor="t"/>
          <a:lstStyle/>
          <a:p>
            <a:pPr marL="0" indent="0" algn="l">
              <a:lnSpc>
                <a:spcPct val="115000"/>
              </a:lnSpc>
              <a:buNone/>
            </a:pPr>
            <a:r>
              <a:rPr lang="en-US" sz="1150" b="1" dirty="0">
                <a:solidFill>
                  <a:srgbClr val="0B3B44"/>
                </a:solidFill>
                <a:latin typeface="Calibri" pitchFamily="34" charset="0"/>
                <a:ea typeface="Calibri" pitchFamily="34" charset="-122"/>
                <a:cs typeface="Calibri" pitchFamily="34" charset="-120"/>
              </a:rPr>
              <a:t>DFS</a:t>
            </a:r>
            <a:endParaRPr lang="en-US" sz="1150" dirty="0"/>
          </a:p>
        </p:txBody>
      </p:sp>
      <p:sp>
        <p:nvSpPr>
          <p:cNvPr id="42" name="Text 40"/>
          <p:cNvSpPr txBox="1"/>
          <p:nvPr/>
        </p:nvSpPr>
        <p:spPr>
          <a:xfrm>
            <a:off x="9372600" y="3584448"/>
            <a:ext cx="1965960" cy="77724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alibri" pitchFamily="34" charset="0"/>
                <a:ea typeface="Calibri" pitchFamily="34" charset="-122"/>
                <a:cs typeface="Calibri" pitchFamily="34" charset="-120"/>
              </a:rPr>
              <a:t>a → b → c is a dead end, so we back up and take d; only then is d—a a back edge.</a:t>
            </a:r>
            <a:endParaRPr lang="en-US" sz="1100" dirty="0"/>
          </a:p>
        </p:txBody>
      </p:sp>
      <p:sp>
        <p:nvSpPr>
          <p:cNvPr id="43" name="Text 41"/>
          <p:cNvSpPr txBox="1"/>
          <p:nvPr/>
        </p:nvSpPr>
        <p:spPr>
          <a:xfrm>
            <a:off x="9372600" y="4270248"/>
            <a:ext cx="502920" cy="256032"/>
          </a:xfrm>
          <a:prstGeom prst="rect">
            <a:avLst/>
          </a:prstGeom>
          <a:noFill/>
          <a:ln/>
        </p:spPr>
        <p:txBody>
          <a:bodyPr wrap="square" lIns="0" tIns="0" rIns="0" bIns="0" rtlCol="0" anchor="t"/>
          <a:lstStyle/>
          <a:p>
            <a:pPr marL="0" indent="0" algn="l">
              <a:lnSpc>
                <a:spcPct val="115000"/>
              </a:lnSpc>
              <a:buNone/>
            </a:pPr>
            <a:r>
              <a:rPr lang="en-US" sz="1150" b="1" dirty="0">
                <a:solidFill>
                  <a:srgbClr val="0B3B44"/>
                </a:solidFill>
                <a:latin typeface="Calibri" pitchFamily="34" charset="0"/>
                <a:ea typeface="Calibri" pitchFamily="34" charset="-122"/>
                <a:cs typeface="Calibri" pitchFamily="34" charset="-120"/>
              </a:rPr>
              <a:t>BFS</a:t>
            </a:r>
            <a:endParaRPr lang="en-US" sz="1150" dirty="0"/>
          </a:p>
        </p:txBody>
      </p:sp>
      <p:sp>
        <p:nvSpPr>
          <p:cNvPr id="44" name="Text 42"/>
          <p:cNvSpPr txBox="1"/>
          <p:nvPr/>
        </p:nvSpPr>
        <p:spPr>
          <a:xfrm>
            <a:off x="9372600" y="4544568"/>
            <a:ext cx="1965960" cy="77724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alibri" pitchFamily="34" charset="0"/>
                <a:ea typeface="Calibri" pitchFamily="34" charset="-122"/>
                <a:cs typeface="Calibri" pitchFamily="34" charset="-120"/>
              </a:rPr>
              <a:t>a enqueues b and d. Still processing b, edge b—d meets a visited non-parent: a cross edge.</a:t>
            </a:r>
            <a:endParaRPr lang="en-US" sz="1100" dirty="0"/>
          </a:p>
        </p:txBody>
      </p:sp>
      <p:sp>
        <p:nvSpPr>
          <p:cNvPr id="45" name="Text 43"/>
          <p:cNvSpPr txBox="1"/>
          <p:nvPr/>
        </p:nvSpPr>
        <p:spPr>
          <a:xfrm>
            <a:off x="6583680" y="5138928"/>
            <a:ext cx="4709160" cy="320040"/>
          </a:xfrm>
          <a:prstGeom prst="rect">
            <a:avLst/>
          </a:prstGeom>
          <a:noFill/>
          <a:ln/>
        </p:spPr>
        <p:txBody>
          <a:bodyPr wrap="square" lIns="0" tIns="0" rIns="0" bIns="0" rtlCol="0" anchor="t"/>
          <a:lstStyle/>
          <a:p>
            <a:pPr marL="0" indent="0" algn="l">
              <a:lnSpc>
                <a:spcPct val="115000"/>
              </a:lnSpc>
              <a:buNone/>
            </a:pPr>
            <a:r>
              <a:rPr lang="en-US" sz="1050" dirty="0">
                <a:solidFill>
                  <a:srgbClr val="9DB3B7"/>
                </a:solidFill>
                <a:latin typeface="Courier New" pitchFamily="34" charset="0"/>
                <a:ea typeface="Courier New" pitchFamily="34" charset="-122"/>
                <a:cs typeface="Courier New" pitchFamily="34" charset="-120"/>
              </a:rPr>
              <a:t>cycle a–b–d, with c hanging off b</a:t>
            </a:r>
            <a:endParaRPr lang="en-US" sz="1050" dirty="0"/>
          </a:p>
        </p:txBody>
      </p:sp>
      <p:sp>
        <p:nvSpPr>
          <p:cNvPr id="46" name="Text 44"/>
          <p:cNvSpPr txBox="1"/>
          <p:nvPr/>
        </p:nvSpPr>
        <p:spPr>
          <a:xfrm>
            <a:off x="640080" y="5760720"/>
            <a:ext cx="10927080" cy="365760"/>
          </a:xfrm>
          <a:prstGeom prst="rect">
            <a:avLst/>
          </a:prstGeom>
          <a:noFill/>
          <a:ln/>
        </p:spPr>
        <p:txBody>
          <a:bodyPr wrap="square" lIns="0" tIns="0" rIns="0" bIns="0" rtlCol="0" anchor="t"/>
          <a:lstStyle/>
          <a:p>
            <a:pPr marL="0" indent="0" algn="l">
              <a:lnSpc>
                <a:spcPct val="115000"/>
              </a:lnSpc>
              <a:buNone/>
            </a:pPr>
            <a:r>
              <a:rPr lang="en-US" sz="1200" i="1" dirty="0">
                <a:solidFill>
                  <a:srgbClr val="63797F"/>
                </a:solidFill>
                <a:latin typeface="Calibri" pitchFamily="34" charset="0"/>
                <a:ea typeface="Calibri" pitchFamily="34" charset="-122"/>
                <a:cs typeface="Calibri" pitchFamily="34" charset="-120"/>
              </a:rPr>
              <a:t>Neither wins in general — both are Θ(|V| + |E|) in the worst case. Lengthen either pendant branch and that gap grows as much as you like.</a:t>
            </a:r>
            <a:endParaRPr lang="en-US" sz="1200" dirty="0"/>
          </a:p>
        </p:txBody>
      </p:sp>
      <p:sp>
        <p:nvSpPr>
          <p:cNvPr id="48" name="Text 45"/>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49" name="Text 46"/>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36</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Two colours</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Can the nodes be coloured with two colours so that no edge joins two nodes of the same colour? Hint: adapt a traversal.</a:t>
            </a:r>
            <a:endParaRPr lang="en-US" sz="1300" dirty="0"/>
          </a:p>
        </p:txBody>
      </p:sp>
      <p:sp>
        <p:nvSpPr>
          <p:cNvPr id="6" name="Shape 4"/>
          <p:cNvSpPr/>
          <p:nvPr/>
        </p:nvSpPr>
        <p:spPr>
          <a:xfrm>
            <a:off x="640080" y="1691640"/>
            <a:ext cx="5852160" cy="3977640"/>
          </a:xfrm>
          <a:prstGeom prst="roundRect">
            <a:avLst>
              <a:gd name="adj" fmla="val 1379"/>
            </a:avLst>
          </a:prstGeom>
          <a:solidFill>
            <a:srgbClr val="F6F9F8"/>
          </a:solidFill>
          <a:ln w="9525">
            <a:solidFill>
              <a:srgbClr val="D3E0DD"/>
            </a:solidFill>
            <a:prstDash val="solid"/>
          </a:ln>
        </p:spPr>
        <p:txBody>
          <a:bodyPr/>
          <a:lstStyle/>
          <a:p>
            <a:endParaRPr lang="en-US"/>
          </a:p>
        </p:txBody>
      </p:sp>
      <p:sp>
        <p:nvSpPr>
          <p:cNvPr id="7" name="Text 5"/>
          <p:cNvSpPr txBox="1"/>
          <p:nvPr/>
        </p:nvSpPr>
        <p:spPr>
          <a:xfrm>
            <a:off x="914400" y="1874520"/>
            <a:ext cx="5303520" cy="274320"/>
          </a:xfrm>
          <a:prstGeom prst="rect">
            <a:avLst/>
          </a:prstGeom>
          <a:noFill/>
          <a:ln/>
        </p:spPr>
        <p:txBody>
          <a:bodyPr wrap="square" lIns="0" tIns="0" rIns="0" bIns="0" rtlCol="0" anchor="t"/>
          <a:lstStyle/>
          <a:p>
            <a:pPr marL="0" indent="0" algn="l">
              <a:lnSpc>
                <a:spcPct val="115000"/>
              </a:lnSpc>
              <a:buNone/>
            </a:pPr>
            <a:r>
              <a:rPr lang="en-US" sz="1250" b="1" dirty="0">
                <a:solidFill>
                  <a:srgbClr val="0B3B44"/>
                </a:solidFill>
                <a:latin typeface="Calibri" pitchFamily="34" charset="0"/>
                <a:ea typeface="Calibri" pitchFamily="34" charset="-122"/>
                <a:cs typeface="Calibri" pitchFamily="34" charset="-120"/>
              </a:rPr>
              <a:t>Colour the start 1, every neighbour the opposite, and keep walking.</a:t>
            </a:r>
            <a:endParaRPr lang="en-US" sz="1250" dirty="0"/>
          </a:p>
        </p:txBody>
      </p:sp>
      <p:sp>
        <p:nvSpPr>
          <p:cNvPr id="8" name="Shape 6"/>
          <p:cNvSpPr/>
          <p:nvPr/>
        </p:nvSpPr>
        <p:spPr>
          <a:xfrm>
            <a:off x="1581912" y="2633472"/>
            <a:ext cx="493776" cy="493776"/>
          </a:xfrm>
          <a:prstGeom prst="ellipse">
            <a:avLst/>
          </a:prstGeom>
          <a:solidFill>
            <a:srgbClr val="2A9D8F"/>
          </a:solidFill>
          <a:ln w="15875">
            <a:solidFill>
              <a:srgbClr val="2A9D8F"/>
            </a:solidFill>
            <a:prstDash val="solid"/>
          </a:ln>
        </p:spPr>
        <p:txBody>
          <a:bodyPr/>
          <a:lstStyle/>
          <a:p>
            <a:endParaRPr lang="en-US"/>
          </a:p>
        </p:txBody>
      </p:sp>
      <p:sp>
        <p:nvSpPr>
          <p:cNvPr id="9" name="Text 7"/>
          <p:cNvSpPr txBox="1"/>
          <p:nvPr/>
        </p:nvSpPr>
        <p:spPr>
          <a:xfrm>
            <a:off x="1581912" y="2633472"/>
            <a:ext cx="493776" cy="493776"/>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1</a:t>
            </a:r>
            <a:endParaRPr lang="en-US" sz="1350" dirty="0"/>
          </a:p>
        </p:txBody>
      </p:sp>
      <p:sp>
        <p:nvSpPr>
          <p:cNvPr id="10" name="Shape 8"/>
          <p:cNvSpPr/>
          <p:nvPr/>
        </p:nvSpPr>
        <p:spPr>
          <a:xfrm>
            <a:off x="2862072" y="2633472"/>
            <a:ext cx="493776" cy="493776"/>
          </a:xfrm>
          <a:prstGeom prst="ellipse">
            <a:avLst/>
          </a:prstGeom>
          <a:solidFill>
            <a:srgbClr val="E8A33D"/>
          </a:solidFill>
          <a:ln w="15875">
            <a:solidFill>
              <a:srgbClr val="E8A33D"/>
            </a:solidFill>
            <a:prstDash val="solid"/>
          </a:ln>
        </p:spPr>
        <p:txBody>
          <a:bodyPr/>
          <a:lstStyle/>
          <a:p>
            <a:endParaRPr lang="en-US"/>
          </a:p>
        </p:txBody>
      </p:sp>
      <p:sp>
        <p:nvSpPr>
          <p:cNvPr id="11" name="Text 9"/>
          <p:cNvSpPr txBox="1"/>
          <p:nvPr/>
        </p:nvSpPr>
        <p:spPr>
          <a:xfrm>
            <a:off x="2862072" y="2633472"/>
            <a:ext cx="493776" cy="493776"/>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2</a:t>
            </a:r>
            <a:endParaRPr lang="en-US" sz="1350" dirty="0"/>
          </a:p>
        </p:txBody>
      </p:sp>
      <p:sp>
        <p:nvSpPr>
          <p:cNvPr id="12" name="Shape 10"/>
          <p:cNvSpPr/>
          <p:nvPr/>
        </p:nvSpPr>
        <p:spPr>
          <a:xfrm>
            <a:off x="2862072" y="3822192"/>
            <a:ext cx="493776" cy="493776"/>
          </a:xfrm>
          <a:prstGeom prst="ellipse">
            <a:avLst/>
          </a:prstGeom>
          <a:solidFill>
            <a:srgbClr val="2A9D8F"/>
          </a:solidFill>
          <a:ln w="15875">
            <a:solidFill>
              <a:srgbClr val="2A9D8F"/>
            </a:solidFill>
            <a:prstDash val="solid"/>
          </a:ln>
        </p:spPr>
        <p:txBody>
          <a:bodyPr/>
          <a:lstStyle/>
          <a:p>
            <a:endParaRPr lang="en-US"/>
          </a:p>
        </p:txBody>
      </p:sp>
      <p:sp>
        <p:nvSpPr>
          <p:cNvPr id="13" name="Text 11"/>
          <p:cNvSpPr txBox="1"/>
          <p:nvPr/>
        </p:nvSpPr>
        <p:spPr>
          <a:xfrm>
            <a:off x="2862072" y="3822192"/>
            <a:ext cx="493776" cy="493776"/>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1</a:t>
            </a:r>
            <a:endParaRPr lang="en-US" sz="1350" dirty="0"/>
          </a:p>
        </p:txBody>
      </p:sp>
      <p:sp>
        <p:nvSpPr>
          <p:cNvPr id="14" name="Shape 12"/>
          <p:cNvSpPr/>
          <p:nvPr/>
        </p:nvSpPr>
        <p:spPr>
          <a:xfrm>
            <a:off x="1581912" y="3822192"/>
            <a:ext cx="493776" cy="493776"/>
          </a:xfrm>
          <a:prstGeom prst="ellipse">
            <a:avLst/>
          </a:prstGeom>
          <a:solidFill>
            <a:srgbClr val="E8A33D"/>
          </a:solidFill>
          <a:ln w="15875">
            <a:solidFill>
              <a:srgbClr val="E8A33D"/>
            </a:solidFill>
            <a:prstDash val="solid"/>
          </a:ln>
        </p:spPr>
        <p:txBody>
          <a:bodyPr/>
          <a:lstStyle/>
          <a:p>
            <a:endParaRPr lang="en-US"/>
          </a:p>
        </p:txBody>
      </p:sp>
      <p:sp>
        <p:nvSpPr>
          <p:cNvPr id="15" name="Text 13"/>
          <p:cNvSpPr txBox="1"/>
          <p:nvPr/>
        </p:nvSpPr>
        <p:spPr>
          <a:xfrm>
            <a:off x="1581912" y="3822192"/>
            <a:ext cx="493776" cy="493776"/>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2</a:t>
            </a:r>
            <a:endParaRPr lang="en-US" sz="1350" dirty="0"/>
          </a:p>
        </p:txBody>
      </p:sp>
      <p:sp>
        <p:nvSpPr>
          <p:cNvPr id="16" name="Shape 14"/>
          <p:cNvSpPr/>
          <p:nvPr/>
        </p:nvSpPr>
        <p:spPr>
          <a:xfrm>
            <a:off x="2075688" y="2880360"/>
            <a:ext cx="786384" cy="0"/>
          </a:xfrm>
          <a:prstGeom prst="line">
            <a:avLst/>
          </a:prstGeom>
          <a:noFill/>
          <a:ln w="22225">
            <a:solidFill>
              <a:srgbClr val="16505C"/>
            </a:solidFill>
            <a:prstDash val="solid"/>
          </a:ln>
        </p:spPr>
        <p:txBody>
          <a:bodyPr/>
          <a:lstStyle/>
          <a:p>
            <a:endParaRPr lang="en-US"/>
          </a:p>
        </p:txBody>
      </p:sp>
      <p:sp>
        <p:nvSpPr>
          <p:cNvPr id="17" name="Shape 15"/>
          <p:cNvSpPr/>
          <p:nvPr/>
        </p:nvSpPr>
        <p:spPr>
          <a:xfrm>
            <a:off x="3108960" y="3127248"/>
            <a:ext cx="0" cy="694944"/>
          </a:xfrm>
          <a:prstGeom prst="line">
            <a:avLst/>
          </a:prstGeom>
          <a:noFill/>
          <a:ln w="22225">
            <a:solidFill>
              <a:srgbClr val="16505C"/>
            </a:solidFill>
            <a:prstDash val="solid"/>
          </a:ln>
        </p:spPr>
        <p:txBody>
          <a:bodyPr/>
          <a:lstStyle/>
          <a:p>
            <a:endParaRPr lang="en-US"/>
          </a:p>
        </p:txBody>
      </p:sp>
      <p:sp>
        <p:nvSpPr>
          <p:cNvPr id="18" name="Shape 16"/>
          <p:cNvSpPr/>
          <p:nvPr/>
        </p:nvSpPr>
        <p:spPr>
          <a:xfrm flipH="1">
            <a:off x="2075688" y="4069080"/>
            <a:ext cx="786384" cy="0"/>
          </a:xfrm>
          <a:prstGeom prst="line">
            <a:avLst/>
          </a:prstGeom>
          <a:noFill/>
          <a:ln w="22225">
            <a:solidFill>
              <a:srgbClr val="16505C"/>
            </a:solidFill>
            <a:prstDash val="solid"/>
          </a:ln>
        </p:spPr>
        <p:txBody>
          <a:bodyPr/>
          <a:lstStyle/>
          <a:p>
            <a:endParaRPr lang="en-US"/>
          </a:p>
        </p:txBody>
      </p:sp>
      <p:sp>
        <p:nvSpPr>
          <p:cNvPr id="19" name="Shape 17"/>
          <p:cNvSpPr/>
          <p:nvPr/>
        </p:nvSpPr>
        <p:spPr>
          <a:xfrm flipV="1">
            <a:off x="1828800" y="3127248"/>
            <a:ext cx="0" cy="694944"/>
          </a:xfrm>
          <a:prstGeom prst="line">
            <a:avLst/>
          </a:prstGeom>
          <a:noFill/>
          <a:ln w="22225">
            <a:solidFill>
              <a:srgbClr val="16505C"/>
            </a:solidFill>
            <a:prstDash val="solid"/>
          </a:ln>
        </p:spPr>
        <p:txBody>
          <a:bodyPr/>
          <a:lstStyle/>
          <a:p>
            <a:endParaRPr lang="en-US"/>
          </a:p>
        </p:txBody>
      </p:sp>
      <p:sp>
        <p:nvSpPr>
          <p:cNvPr id="20" name="Text 18"/>
          <p:cNvSpPr txBox="1"/>
          <p:nvPr/>
        </p:nvSpPr>
        <p:spPr>
          <a:xfrm>
            <a:off x="1417320" y="4526280"/>
            <a:ext cx="2103120" cy="502920"/>
          </a:xfrm>
          <a:prstGeom prst="rect">
            <a:avLst/>
          </a:prstGeom>
          <a:noFill/>
          <a:ln/>
        </p:spPr>
        <p:txBody>
          <a:bodyPr wrap="square" lIns="0" tIns="0" rIns="0" bIns="0" rtlCol="0" anchor="t"/>
          <a:lstStyle/>
          <a:p>
            <a:pPr marL="0" indent="0" algn="ctr">
              <a:lnSpc>
                <a:spcPct val="115000"/>
              </a:lnSpc>
              <a:buNone/>
            </a:pPr>
            <a:r>
              <a:rPr lang="en-US" sz="1150" b="1" dirty="0">
                <a:solidFill>
                  <a:srgbClr val="2A9D8F"/>
                </a:solidFill>
                <a:latin typeface="Calibri" pitchFamily="34" charset="0"/>
                <a:ea typeface="Calibri" pitchFamily="34" charset="-122"/>
                <a:cs typeface="Calibri" pitchFamily="34" charset="-120"/>
              </a:rPr>
              <a:t>4-cycle: even length,</a:t>
            </a:r>
            <a:endParaRPr lang="en-US" sz="1150" dirty="0"/>
          </a:p>
          <a:p>
            <a:pPr marL="0" indent="0" algn="ctr">
              <a:lnSpc>
                <a:spcPct val="115000"/>
              </a:lnSpc>
              <a:buNone/>
            </a:pPr>
            <a:r>
              <a:rPr lang="en-US" sz="1150" b="1" dirty="0">
                <a:solidFill>
                  <a:srgbClr val="2A9D8F"/>
                </a:solidFill>
                <a:latin typeface="Calibri" pitchFamily="34" charset="0"/>
                <a:ea typeface="Calibri" pitchFamily="34" charset="-122"/>
                <a:cs typeface="Calibri" pitchFamily="34" charset="-120"/>
              </a:rPr>
              <a:t>so it works.</a:t>
            </a:r>
            <a:endParaRPr lang="en-US" sz="1150" dirty="0"/>
          </a:p>
        </p:txBody>
      </p:sp>
      <p:sp>
        <p:nvSpPr>
          <p:cNvPr id="21" name="Shape 19"/>
          <p:cNvSpPr/>
          <p:nvPr/>
        </p:nvSpPr>
        <p:spPr>
          <a:xfrm>
            <a:off x="4782312" y="2633472"/>
            <a:ext cx="493776" cy="493776"/>
          </a:xfrm>
          <a:prstGeom prst="ellipse">
            <a:avLst/>
          </a:prstGeom>
          <a:solidFill>
            <a:srgbClr val="2A9D8F"/>
          </a:solidFill>
          <a:ln w="15875">
            <a:solidFill>
              <a:srgbClr val="2A9D8F"/>
            </a:solidFill>
            <a:prstDash val="solid"/>
          </a:ln>
        </p:spPr>
        <p:txBody>
          <a:bodyPr/>
          <a:lstStyle/>
          <a:p>
            <a:endParaRPr lang="en-US"/>
          </a:p>
        </p:txBody>
      </p:sp>
      <p:sp>
        <p:nvSpPr>
          <p:cNvPr id="22" name="Text 20"/>
          <p:cNvSpPr txBox="1"/>
          <p:nvPr/>
        </p:nvSpPr>
        <p:spPr>
          <a:xfrm>
            <a:off x="4782312" y="2633472"/>
            <a:ext cx="493776" cy="493776"/>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1</a:t>
            </a:r>
            <a:endParaRPr lang="en-US" sz="1350" dirty="0"/>
          </a:p>
        </p:txBody>
      </p:sp>
      <p:sp>
        <p:nvSpPr>
          <p:cNvPr id="23" name="Shape 21"/>
          <p:cNvSpPr/>
          <p:nvPr/>
        </p:nvSpPr>
        <p:spPr>
          <a:xfrm>
            <a:off x="5559552" y="3730752"/>
            <a:ext cx="493776" cy="493776"/>
          </a:xfrm>
          <a:prstGeom prst="ellipse">
            <a:avLst/>
          </a:prstGeom>
          <a:solidFill>
            <a:srgbClr val="E8A33D"/>
          </a:solidFill>
          <a:ln w="15875">
            <a:solidFill>
              <a:srgbClr val="E8A33D"/>
            </a:solidFill>
            <a:prstDash val="solid"/>
          </a:ln>
        </p:spPr>
        <p:txBody>
          <a:bodyPr/>
          <a:lstStyle/>
          <a:p>
            <a:endParaRPr lang="en-US"/>
          </a:p>
        </p:txBody>
      </p:sp>
      <p:sp>
        <p:nvSpPr>
          <p:cNvPr id="24" name="Text 22"/>
          <p:cNvSpPr txBox="1"/>
          <p:nvPr/>
        </p:nvSpPr>
        <p:spPr>
          <a:xfrm>
            <a:off x="5559552" y="3730752"/>
            <a:ext cx="493776" cy="493776"/>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2</a:t>
            </a:r>
            <a:endParaRPr lang="en-US" sz="1350" dirty="0"/>
          </a:p>
        </p:txBody>
      </p:sp>
      <p:sp>
        <p:nvSpPr>
          <p:cNvPr id="25" name="Shape 23"/>
          <p:cNvSpPr/>
          <p:nvPr/>
        </p:nvSpPr>
        <p:spPr>
          <a:xfrm>
            <a:off x="4005072" y="3730752"/>
            <a:ext cx="493776" cy="493776"/>
          </a:xfrm>
          <a:prstGeom prst="ellipse">
            <a:avLst/>
          </a:prstGeom>
          <a:solidFill>
            <a:srgbClr val="C1465A"/>
          </a:solidFill>
          <a:ln w="15875">
            <a:solidFill>
              <a:srgbClr val="C1465A"/>
            </a:solidFill>
            <a:prstDash val="solid"/>
          </a:ln>
        </p:spPr>
        <p:txBody>
          <a:bodyPr/>
          <a:lstStyle/>
          <a:p>
            <a:endParaRPr lang="en-US"/>
          </a:p>
        </p:txBody>
      </p:sp>
      <p:sp>
        <p:nvSpPr>
          <p:cNvPr id="26" name="Text 24"/>
          <p:cNvSpPr txBox="1"/>
          <p:nvPr/>
        </p:nvSpPr>
        <p:spPr>
          <a:xfrm>
            <a:off x="4005072" y="3730752"/>
            <a:ext cx="493776" cy="493776"/>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a:t>
            </a:r>
            <a:endParaRPr lang="en-US" sz="1350" dirty="0"/>
          </a:p>
        </p:txBody>
      </p:sp>
      <p:sp>
        <p:nvSpPr>
          <p:cNvPr id="27" name="Shape 25"/>
          <p:cNvSpPr/>
          <p:nvPr/>
        </p:nvSpPr>
        <p:spPr>
          <a:xfrm>
            <a:off x="5171906" y="3081827"/>
            <a:ext cx="491829" cy="694347"/>
          </a:xfrm>
          <a:prstGeom prst="line">
            <a:avLst/>
          </a:prstGeom>
          <a:noFill/>
          <a:ln w="22225">
            <a:solidFill>
              <a:srgbClr val="16505C"/>
            </a:solidFill>
            <a:prstDash val="solid"/>
          </a:ln>
        </p:spPr>
        <p:txBody>
          <a:bodyPr/>
          <a:lstStyle/>
          <a:p>
            <a:endParaRPr lang="en-US"/>
          </a:p>
        </p:txBody>
      </p:sp>
      <p:sp>
        <p:nvSpPr>
          <p:cNvPr id="28" name="Shape 26"/>
          <p:cNvSpPr/>
          <p:nvPr/>
        </p:nvSpPr>
        <p:spPr>
          <a:xfrm flipH="1">
            <a:off x="4394666" y="3081827"/>
            <a:ext cx="491829" cy="694347"/>
          </a:xfrm>
          <a:prstGeom prst="line">
            <a:avLst/>
          </a:prstGeom>
          <a:noFill/>
          <a:ln w="22225">
            <a:solidFill>
              <a:srgbClr val="16505C"/>
            </a:solidFill>
            <a:prstDash val="solid"/>
          </a:ln>
        </p:spPr>
        <p:txBody>
          <a:bodyPr/>
          <a:lstStyle/>
          <a:p>
            <a:endParaRPr lang="en-US"/>
          </a:p>
        </p:txBody>
      </p:sp>
      <p:sp>
        <p:nvSpPr>
          <p:cNvPr id="29" name="Shape 27"/>
          <p:cNvSpPr/>
          <p:nvPr/>
        </p:nvSpPr>
        <p:spPr>
          <a:xfrm flipH="1">
            <a:off x="4498848" y="3977640"/>
            <a:ext cx="1060704" cy="0"/>
          </a:xfrm>
          <a:prstGeom prst="line">
            <a:avLst/>
          </a:prstGeom>
          <a:noFill/>
          <a:ln w="25400">
            <a:solidFill>
              <a:srgbClr val="C1465A"/>
            </a:solidFill>
            <a:prstDash val="solid"/>
          </a:ln>
        </p:spPr>
        <p:txBody>
          <a:bodyPr/>
          <a:lstStyle/>
          <a:p>
            <a:endParaRPr lang="en-US"/>
          </a:p>
        </p:txBody>
      </p:sp>
      <p:sp>
        <p:nvSpPr>
          <p:cNvPr id="30" name="Text 28"/>
          <p:cNvSpPr txBox="1"/>
          <p:nvPr/>
        </p:nvSpPr>
        <p:spPr>
          <a:xfrm>
            <a:off x="4023360" y="4526280"/>
            <a:ext cx="2194560" cy="502920"/>
          </a:xfrm>
          <a:prstGeom prst="rect">
            <a:avLst/>
          </a:prstGeom>
          <a:noFill/>
          <a:ln/>
        </p:spPr>
        <p:txBody>
          <a:bodyPr wrap="square" lIns="0" tIns="0" rIns="0" bIns="0" rtlCol="0" anchor="t"/>
          <a:lstStyle/>
          <a:p>
            <a:pPr marL="0" indent="0" algn="ctr">
              <a:lnSpc>
                <a:spcPct val="115000"/>
              </a:lnSpc>
              <a:buNone/>
            </a:pPr>
            <a:r>
              <a:rPr lang="en-US" sz="1150" b="1" dirty="0">
                <a:solidFill>
                  <a:srgbClr val="C1465A"/>
                </a:solidFill>
                <a:latin typeface="Calibri" pitchFamily="34" charset="0"/>
                <a:ea typeface="Calibri" pitchFamily="34" charset="-122"/>
                <a:cs typeface="Calibri" pitchFamily="34" charset="-120"/>
              </a:rPr>
              <a:t>Triangle: odd length,</a:t>
            </a:r>
            <a:endParaRPr lang="en-US" sz="1150" dirty="0"/>
          </a:p>
          <a:p>
            <a:pPr marL="0" indent="0" algn="ctr">
              <a:lnSpc>
                <a:spcPct val="115000"/>
              </a:lnSpc>
              <a:buNone/>
            </a:pPr>
            <a:r>
              <a:rPr lang="en-US" sz="1150" b="1" dirty="0">
                <a:solidFill>
                  <a:srgbClr val="C1465A"/>
                </a:solidFill>
                <a:latin typeface="Calibri" pitchFamily="34" charset="0"/>
                <a:ea typeface="Calibri" pitchFamily="34" charset="-122"/>
                <a:cs typeface="Calibri" pitchFamily="34" charset="-120"/>
              </a:rPr>
              <a:t>the third node is stuck.</a:t>
            </a:r>
            <a:endParaRPr lang="en-US" sz="1150" dirty="0"/>
          </a:p>
        </p:txBody>
      </p:sp>
      <p:sp>
        <p:nvSpPr>
          <p:cNvPr id="31" name="Text 29"/>
          <p:cNvSpPr txBox="1"/>
          <p:nvPr/>
        </p:nvSpPr>
        <p:spPr>
          <a:xfrm>
            <a:off x="914400" y="5230368"/>
            <a:ext cx="5303520" cy="320040"/>
          </a:xfrm>
          <a:prstGeom prst="rect">
            <a:avLst/>
          </a:prstGeom>
          <a:noFill/>
          <a:ln/>
        </p:spPr>
        <p:txBody>
          <a:bodyPr wrap="square" lIns="0" tIns="0" rIns="0" bIns="0" rtlCol="0" anchor="t"/>
          <a:lstStyle/>
          <a:p>
            <a:pPr marL="0" indent="0" algn="ctr">
              <a:lnSpc>
                <a:spcPct val="115000"/>
              </a:lnSpc>
              <a:buNone/>
            </a:pPr>
            <a:r>
              <a:rPr lang="en-US" sz="1150" dirty="0">
                <a:solidFill>
                  <a:srgbClr val="63797F"/>
                </a:solidFill>
                <a:latin typeface="Courier New" pitchFamily="34" charset="0"/>
                <a:ea typeface="Courier New" pitchFamily="34" charset="-122"/>
                <a:cs typeface="Courier New" pitchFamily="34" charset="-120"/>
              </a:rPr>
              <a:t>2-colourable  =  bipartite  =  no cycle of odd length.</a:t>
            </a:r>
            <a:endParaRPr lang="en-US" sz="1150" dirty="0"/>
          </a:p>
        </p:txBody>
      </p:sp>
      <p:sp>
        <p:nvSpPr>
          <p:cNvPr id="32" name="Shape 30"/>
          <p:cNvSpPr/>
          <p:nvPr/>
        </p:nvSpPr>
        <p:spPr>
          <a:xfrm>
            <a:off x="6903720" y="1691640"/>
            <a:ext cx="4663440" cy="1207008"/>
          </a:xfrm>
          <a:prstGeom prst="roundRect">
            <a:avLst>
              <a:gd name="adj" fmla="val 4545"/>
            </a:avLst>
          </a:prstGeom>
          <a:solidFill>
            <a:srgbClr val="F6F9F8"/>
          </a:solidFill>
          <a:ln w="9525">
            <a:solidFill>
              <a:srgbClr val="D3E0DD"/>
            </a:solidFill>
            <a:prstDash val="solid"/>
          </a:ln>
        </p:spPr>
        <p:txBody>
          <a:bodyPr/>
          <a:lstStyle/>
          <a:p>
            <a:endParaRPr lang="en-US"/>
          </a:p>
        </p:txBody>
      </p:sp>
      <p:sp>
        <p:nvSpPr>
          <p:cNvPr id="33" name="Text 31"/>
          <p:cNvSpPr txBox="1"/>
          <p:nvPr/>
        </p:nvSpPr>
        <p:spPr>
          <a:xfrm>
            <a:off x="7178040" y="1874520"/>
            <a:ext cx="4160520" cy="274320"/>
          </a:xfrm>
          <a:prstGeom prst="rect">
            <a:avLst/>
          </a:prstGeom>
          <a:noFill/>
          <a:ln/>
        </p:spPr>
        <p:txBody>
          <a:bodyPr wrap="square" lIns="0" tIns="0" rIns="0" bIns="0" rtlCol="0" anchor="t"/>
          <a:lstStyle/>
          <a:p>
            <a:pPr marL="0" indent="0" algn="l">
              <a:lnSpc>
                <a:spcPct val="115000"/>
              </a:lnSpc>
              <a:buNone/>
            </a:pPr>
            <a:r>
              <a:rPr lang="en-US" sz="1250" b="1" dirty="0">
                <a:solidFill>
                  <a:srgbClr val="0B3B44"/>
                </a:solidFill>
                <a:latin typeface="Calibri" pitchFamily="34" charset="0"/>
                <a:ea typeface="Calibri" pitchFamily="34" charset="-122"/>
                <a:cs typeface="Calibri" pitchFamily="34" charset="-120"/>
              </a:rPr>
              <a:t>The colour array does two jobs</a:t>
            </a:r>
            <a:endParaRPr lang="en-US" sz="1250" dirty="0"/>
          </a:p>
        </p:txBody>
      </p:sp>
      <p:sp>
        <p:nvSpPr>
          <p:cNvPr id="34" name="Text 32"/>
          <p:cNvSpPr txBox="1"/>
          <p:nvPr/>
        </p:nvSpPr>
        <p:spPr>
          <a:xfrm>
            <a:off x="7178040" y="2194560"/>
            <a:ext cx="4160520" cy="64008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colour[v] = 0 means “not yet visited”, so there is no separate mark array to keep.</a:t>
            </a:r>
            <a:endParaRPr lang="en-US" sz="1150" dirty="0"/>
          </a:p>
        </p:txBody>
      </p:sp>
      <p:sp>
        <p:nvSpPr>
          <p:cNvPr id="35" name="Shape 33"/>
          <p:cNvSpPr/>
          <p:nvPr/>
        </p:nvSpPr>
        <p:spPr>
          <a:xfrm>
            <a:off x="6903720" y="3063240"/>
            <a:ext cx="4663440" cy="1207008"/>
          </a:xfrm>
          <a:prstGeom prst="roundRect">
            <a:avLst>
              <a:gd name="adj" fmla="val 4545"/>
            </a:avLst>
          </a:prstGeom>
          <a:solidFill>
            <a:srgbClr val="F6F9F8"/>
          </a:solidFill>
          <a:ln w="9525">
            <a:solidFill>
              <a:srgbClr val="D3E0DD"/>
            </a:solidFill>
            <a:prstDash val="solid"/>
          </a:ln>
        </p:spPr>
        <p:txBody>
          <a:bodyPr/>
          <a:lstStyle/>
          <a:p>
            <a:endParaRPr lang="en-US"/>
          </a:p>
        </p:txBody>
      </p:sp>
      <p:sp>
        <p:nvSpPr>
          <p:cNvPr id="36" name="Text 34"/>
          <p:cNvSpPr txBox="1"/>
          <p:nvPr/>
        </p:nvSpPr>
        <p:spPr>
          <a:xfrm>
            <a:off x="7178040" y="3246120"/>
            <a:ext cx="4160520" cy="274320"/>
          </a:xfrm>
          <a:prstGeom prst="rect">
            <a:avLst/>
          </a:prstGeom>
          <a:noFill/>
          <a:ln/>
        </p:spPr>
        <p:txBody>
          <a:bodyPr wrap="square" lIns="0" tIns="0" rIns="0" bIns="0" rtlCol="0" anchor="t"/>
          <a:lstStyle/>
          <a:p>
            <a:pPr marL="0" indent="0" algn="l">
              <a:lnSpc>
                <a:spcPct val="115000"/>
              </a:lnSpc>
              <a:buNone/>
            </a:pPr>
            <a:r>
              <a:rPr lang="en-US" sz="1250" b="1" dirty="0">
                <a:solidFill>
                  <a:srgbClr val="0B3B44"/>
                </a:solidFill>
                <a:latin typeface="Calibri" pitchFamily="34" charset="0"/>
                <a:ea typeface="Calibri" pitchFamily="34" charset="-122"/>
                <a:cs typeface="Calibri" pitchFamily="34" charset="-120"/>
              </a:rPr>
              <a:t>The conflict test is the only new line</a:t>
            </a:r>
            <a:endParaRPr lang="en-US" sz="1250" dirty="0"/>
          </a:p>
        </p:txBody>
      </p:sp>
      <p:sp>
        <p:nvSpPr>
          <p:cNvPr id="37" name="Text 35"/>
          <p:cNvSpPr txBox="1"/>
          <p:nvPr/>
        </p:nvSpPr>
        <p:spPr>
          <a:xfrm>
            <a:off x="7178040" y="3566160"/>
            <a:ext cx="4160520" cy="64008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When we meet an already-coloured neighbour it must hold the opposite colour. If it holds ours, stop and report failure.</a:t>
            </a:r>
            <a:endParaRPr lang="en-US" sz="1150" dirty="0"/>
          </a:p>
        </p:txBody>
      </p:sp>
      <p:sp>
        <p:nvSpPr>
          <p:cNvPr id="38" name="Shape 36"/>
          <p:cNvSpPr/>
          <p:nvPr/>
        </p:nvSpPr>
        <p:spPr>
          <a:xfrm>
            <a:off x="6903720" y="4434840"/>
            <a:ext cx="4663440" cy="1207008"/>
          </a:xfrm>
          <a:prstGeom prst="roundRect">
            <a:avLst>
              <a:gd name="adj" fmla="val 4545"/>
            </a:avLst>
          </a:prstGeom>
          <a:solidFill>
            <a:srgbClr val="EDF4F3"/>
          </a:solidFill>
          <a:ln w="12700">
            <a:solidFill>
              <a:srgbClr val="EDF4F3"/>
            </a:solidFill>
            <a:prstDash val="solid"/>
          </a:ln>
        </p:spPr>
        <p:txBody>
          <a:bodyPr/>
          <a:lstStyle/>
          <a:p>
            <a:endParaRPr lang="en-US"/>
          </a:p>
        </p:txBody>
      </p:sp>
      <p:sp>
        <p:nvSpPr>
          <p:cNvPr id="39" name="Text 37"/>
          <p:cNvSpPr txBox="1"/>
          <p:nvPr/>
        </p:nvSpPr>
        <p:spPr>
          <a:xfrm>
            <a:off x="7178040" y="4617720"/>
            <a:ext cx="4160520" cy="274320"/>
          </a:xfrm>
          <a:prstGeom prst="rect">
            <a:avLst/>
          </a:prstGeom>
          <a:noFill/>
          <a:ln/>
        </p:spPr>
        <p:txBody>
          <a:bodyPr wrap="square" lIns="0" tIns="0" rIns="0" bIns="0" rtlCol="0" anchor="t"/>
          <a:lstStyle/>
          <a:p>
            <a:pPr marL="0" indent="0" algn="l">
              <a:lnSpc>
                <a:spcPct val="115000"/>
              </a:lnSpc>
              <a:buNone/>
            </a:pPr>
            <a:r>
              <a:rPr lang="en-US" sz="1250" b="1" dirty="0">
                <a:solidFill>
                  <a:srgbClr val="0B3B44"/>
                </a:solidFill>
                <a:latin typeface="Calibri" pitchFamily="34" charset="0"/>
                <a:ea typeface="Calibri" pitchFamily="34" charset="-122"/>
                <a:cs typeface="Calibri" pitchFamily="34" charset="-120"/>
              </a:rPr>
              <a:t>No parent tracking needed here</a:t>
            </a:r>
            <a:endParaRPr lang="en-US" sz="1250" dirty="0"/>
          </a:p>
        </p:txBody>
      </p:sp>
      <p:sp>
        <p:nvSpPr>
          <p:cNvPr id="40" name="Text 38"/>
          <p:cNvSpPr txBox="1"/>
          <p:nvPr/>
        </p:nvSpPr>
        <p:spPr>
          <a:xfrm>
            <a:off x="7178040" y="4937760"/>
            <a:ext cx="4160520" cy="640080"/>
          </a:xfrm>
          <a:prstGeom prst="rect">
            <a:avLst/>
          </a:prstGeom>
          <a:noFill/>
          <a:ln/>
        </p:spPr>
        <p:txBody>
          <a:bodyPr wrap="square" lIns="0" tIns="0" rIns="0" bIns="0" rtlCol="0" anchor="t"/>
          <a:lstStyle/>
          <a:p>
            <a:pPr marL="0" indent="0" algn="l">
              <a:lnSpc>
                <a:spcPct val="115000"/>
              </a:lnSpc>
              <a:buNone/>
            </a:pPr>
            <a:r>
              <a:rPr lang="en-US" sz="1150" dirty="0">
                <a:solidFill>
                  <a:srgbClr val="63797F"/>
                </a:solidFill>
                <a:latin typeface="Calibri" pitchFamily="34" charset="0"/>
                <a:ea typeface="Calibri" pitchFamily="34" charset="-122"/>
                <a:cs typeface="Calibri" pitchFamily="34" charset="-120"/>
              </a:rPr>
              <a:t>Unlike Q34, the edge back to the parent can never raise a false alarm — the parent always carries the opposite colour.</a:t>
            </a:r>
            <a:endParaRPr lang="en-US" sz="1150" dirty="0"/>
          </a:p>
        </p:txBody>
      </p:sp>
      <p:sp>
        <p:nvSpPr>
          <p:cNvPr id="42" name="Text 39"/>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43" name="Text 40"/>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36</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IsTwoColourable</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Colours are 1 and 2, so flipping one to the other is just 3 − colour.</a:t>
            </a:r>
            <a:endParaRPr lang="en-US" sz="1300" dirty="0"/>
          </a:p>
        </p:txBody>
      </p:sp>
      <p:sp>
        <p:nvSpPr>
          <p:cNvPr id="6" name="Shape 4"/>
          <p:cNvSpPr/>
          <p:nvPr/>
        </p:nvSpPr>
        <p:spPr>
          <a:xfrm>
            <a:off x="640080" y="1691640"/>
            <a:ext cx="5852160" cy="4069080"/>
          </a:xfrm>
          <a:prstGeom prst="roundRect">
            <a:avLst>
              <a:gd name="adj" fmla="val 1348"/>
            </a:avLst>
          </a:prstGeom>
          <a:solidFill>
            <a:srgbClr val="F6F9F8"/>
          </a:solidFill>
          <a:ln w="9525">
            <a:solidFill>
              <a:srgbClr val="D3E0DD"/>
            </a:solidFill>
            <a:prstDash val="solid"/>
          </a:ln>
        </p:spPr>
        <p:txBody>
          <a:bodyPr/>
          <a:lstStyle/>
          <a:p>
            <a:endParaRPr lang="en-US"/>
          </a:p>
        </p:txBody>
      </p:sp>
      <p:sp>
        <p:nvSpPr>
          <p:cNvPr id="8" name="Text 6"/>
          <p:cNvSpPr txBox="1"/>
          <p:nvPr/>
        </p:nvSpPr>
        <p:spPr>
          <a:xfrm>
            <a:off x="896112" y="1920240"/>
            <a:ext cx="5394960" cy="1600200"/>
          </a:xfrm>
          <a:prstGeom prst="rect">
            <a:avLst/>
          </a:prstGeom>
          <a:noFill/>
          <a:ln/>
        </p:spPr>
        <p:txBody>
          <a:bodyPr wrap="square" lIns="0" tIns="0" rIns="0" bIns="0" rtlCol="0" anchor="t"/>
          <a:lstStyle/>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function IsTwoColourable(G)</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let &lt;V, E&gt; = G</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for each v in V do</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colour[v] ← 0</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for each v in V do</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if colour[v] = 0 then</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if Dfs(v, 1) = False then</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return False</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return True</a:t>
            </a:r>
            <a:endParaRPr lang="en-US" sz="1050" dirty="0"/>
          </a:p>
        </p:txBody>
      </p:sp>
      <p:sp>
        <p:nvSpPr>
          <p:cNvPr id="9" name="Text 7"/>
          <p:cNvSpPr txBox="1"/>
          <p:nvPr/>
        </p:nvSpPr>
        <p:spPr>
          <a:xfrm>
            <a:off x="914400" y="3662172"/>
            <a:ext cx="5303520" cy="237744"/>
          </a:xfrm>
          <a:prstGeom prst="rect">
            <a:avLst/>
          </a:prstGeom>
          <a:noFill/>
          <a:ln/>
        </p:spPr>
        <p:txBody>
          <a:bodyPr wrap="square" lIns="0" tIns="0" rIns="0" bIns="0" rtlCol="0" anchor="ctr"/>
          <a:lstStyle/>
          <a:p>
            <a:pPr marL="0" indent="0">
              <a:buNone/>
            </a:pPr>
            <a:r>
              <a:rPr lang="en-US" sz="950" b="1" kern="0" spc="120" dirty="0">
                <a:solidFill>
                  <a:srgbClr val="2A9D8F"/>
                </a:solidFill>
                <a:latin typeface="Calibri" pitchFamily="34" charset="0"/>
                <a:ea typeface="Calibri" pitchFamily="34" charset="-122"/>
                <a:cs typeface="Calibri" pitchFamily="34" charset="-120"/>
              </a:rPr>
              <a:t>THE TRAVERSAL</a:t>
            </a:r>
            <a:endParaRPr lang="en-US" sz="950" dirty="0"/>
          </a:p>
        </p:txBody>
      </p:sp>
      <p:sp>
        <p:nvSpPr>
          <p:cNvPr id="10" name="Text 8"/>
          <p:cNvSpPr txBox="1"/>
          <p:nvPr/>
        </p:nvSpPr>
        <p:spPr>
          <a:xfrm>
            <a:off x="914400" y="3986784"/>
            <a:ext cx="5394960" cy="1554480"/>
          </a:xfrm>
          <a:prstGeom prst="rect">
            <a:avLst/>
          </a:prstGeom>
          <a:noFill/>
          <a:ln/>
        </p:spPr>
        <p:txBody>
          <a:bodyPr wrap="square" lIns="0" tIns="0" rIns="0" bIns="0" rtlCol="0" anchor="t"/>
          <a:lstStyle/>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function Dfs(v, currentColour)
    colour[v] ← currentColour
    for each node u adjacent to v do
</a:t>
            </a:r>
            <a:r>
              <a:rPr lang="en-US" sz="1050" dirty="0">
                <a:solidFill>
                  <a:srgbClr val="C1465A"/>
                </a:solidFill>
                <a:latin typeface="Courier New" pitchFamily="34" charset="0"/>
                <a:ea typeface="Courier New" pitchFamily="34" charset="-122"/>
                <a:cs typeface="Courier New" pitchFamily="34" charset="-120"/>
              </a:rPr>
              <a:t>        if colour[u] = currentColour then
            return False
</a:t>
            </a:r>
            <a:r>
              <a:rPr lang="en-US" sz="1050" dirty="0">
                <a:solidFill>
                  <a:srgbClr val="13232B"/>
                </a:solidFill>
                <a:latin typeface="Courier New" pitchFamily="34" charset="0"/>
                <a:ea typeface="Courier New" pitchFamily="34" charset="-122"/>
                <a:cs typeface="Courier New" pitchFamily="34" charset="-120"/>
              </a:rPr>
              <a:t>        if colour[u] = 0 then
            if Dfs(u, </a:t>
            </a:r>
            <a:r>
              <a:rPr lang="en-US" sz="1050" b="1" dirty="0">
                <a:solidFill>
                  <a:srgbClr val="2A9D8F"/>
                </a:solidFill>
                <a:latin typeface="Courier New" pitchFamily="34" charset="0"/>
                <a:ea typeface="Courier New" pitchFamily="34" charset="-122"/>
                <a:cs typeface="Courier New" pitchFamily="34" charset="-120"/>
              </a:rPr>
              <a:t>3 − currentColour</a:t>
            </a:r>
            <a:r>
              <a:rPr lang="en-US" sz="1050" dirty="0">
                <a:solidFill>
                  <a:srgbClr val="13232B"/>
                </a:solidFill>
                <a:latin typeface="Courier New" pitchFamily="34" charset="0"/>
                <a:ea typeface="Courier New" pitchFamily="34" charset="-122"/>
                <a:cs typeface="Courier New" pitchFamily="34" charset="-120"/>
              </a:rPr>
              <a:t>) = False then</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return False</a:t>
            </a:r>
            <a:endParaRPr lang="en-US" sz="1050" dirty="0"/>
          </a:p>
          <a:p>
            <a:pPr marL="0" indent="0">
              <a:lnSpc>
                <a:spcPct val="112000"/>
              </a:lnSpc>
              <a:buNone/>
            </a:pPr>
            <a:r>
              <a:rPr lang="en-US" sz="1050" dirty="0">
                <a:solidFill>
                  <a:srgbClr val="13232B"/>
                </a:solidFill>
                <a:latin typeface="Courier New" pitchFamily="34" charset="0"/>
                <a:ea typeface="Courier New" pitchFamily="34" charset="-122"/>
                <a:cs typeface="Courier New" pitchFamily="34" charset="-120"/>
              </a:rPr>
              <a:t>    return True</a:t>
            </a:r>
            <a:endParaRPr lang="en-US" sz="1050" dirty="0"/>
          </a:p>
        </p:txBody>
      </p:sp>
      <p:sp>
        <p:nvSpPr>
          <p:cNvPr id="11" name="Text 9"/>
          <p:cNvSpPr txBox="1"/>
          <p:nvPr/>
        </p:nvSpPr>
        <p:spPr>
          <a:xfrm>
            <a:off x="6903720" y="1783080"/>
            <a:ext cx="4663440" cy="274320"/>
          </a:xfrm>
          <a:prstGeom prst="rect">
            <a:avLst/>
          </a:prstGeom>
          <a:noFill/>
          <a:ln/>
        </p:spPr>
        <p:txBody>
          <a:bodyPr wrap="square" lIns="0" tIns="0" rIns="0" bIns="0" rtlCol="0" anchor="t"/>
          <a:lstStyle/>
          <a:p>
            <a:pPr marL="0" indent="0" algn="l">
              <a:lnSpc>
                <a:spcPct val="115000"/>
              </a:lnSpc>
              <a:buNone/>
            </a:pPr>
            <a:r>
              <a:rPr lang="en-US" sz="1300" b="1" dirty="0">
                <a:solidFill>
                  <a:srgbClr val="0B3B44"/>
                </a:solidFill>
                <a:latin typeface="Calibri" pitchFamily="34" charset="0"/>
                <a:ea typeface="Calibri" pitchFamily="34" charset="-122"/>
                <a:cs typeface="Calibri" pitchFamily="34" charset="-120"/>
              </a:rPr>
              <a:t>Worth pointing at</a:t>
            </a:r>
            <a:endParaRPr lang="en-US" sz="1300" dirty="0"/>
          </a:p>
        </p:txBody>
      </p:sp>
      <p:sp>
        <p:nvSpPr>
          <p:cNvPr id="12" name="Text 10"/>
          <p:cNvSpPr txBox="1"/>
          <p:nvPr/>
        </p:nvSpPr>
        <p:spPr>
          <a:xfrm>
            <a:off x="6903720" y="2148840"/>
            <a:ext cx="4663440" cy="731520"/>
          </a:xfrm>
          <a:prstGeom prst="rect">
            <a:avLst/>
          </a:prstGeom>
          <a:noFill/>
          <a:ln/>
        </p:spPr>
        <p:txBody>
          <a:bodyPr wrap="square" lIns="0" tIns="0" rIns="0" bIns="0" rtlCol="0" anchor="ctr"/>
          <a:lstStyle/>
          <a:p>
            <a:pPr marL="0" indent="0">
              <a:lnSpc>
                <a:spcPct val="115000"/>
              </a:lnSpc>
              <a:buNone/>
            </a:pPr>
            <a:r>
              <a:rPr lang="en-US" sz="1250" b="1" dirty="0">
                <a:solidFill>
                  <a:srgbClr val="2A9D8F"/>
                </a:solidFill>
                <a:latin typeface="Courier New" pitchFamily="34" charset="0"/>
                <a:ea typeface="Courier New" pitchFamily="34" charset="-122"/>
                <a:cs typeface="Courier New" pitchFamily="34" charset="-120"/>
              </a:rPr>
              <a:t>3 − currentColour</a:t>
            </a:r>
            <a:endParaRPr lang="en-US" sz="1250" dirty="0"/>
          </a:p>
          <a:p>
            <a:pPr marL="0" indent="0">
              <a:lnSpc>
                <a:spcPct val="115000"/>
              </a:lnSpc>
              <a:buNone/>
            </a:pPr>
            <a:r>
              <a:rPr lang="en-US" sz="1250" dirty="0">
                <a:solidFill>
                  <a:srgbClr val="13232B"/>
                </a:solidFill>
                <a:latin typeface="Calibri" pitchFamily="34" charset="0"/>
                <a:ea typeface="Calibri" pitchFamily="34" charset="-122"/>
                <a:cs typeface="Calibri" pitchFamily="34" charset="-120"/>
              </a:rPr>
              <a:t>flips 1 ↔ 2 with no if-statement. The same trick works for any two-symbol alternation.</a:t>
            </a:r>
            <a:endParaRPr lang="en-US" sz="1250" dirty="0"/>
          </a:p>
        </p:txBody>
      </p:sp>
      <p:sp>
        <p:nvSpPr>
          <p:cNvPr id="13" name="Shape 11"/>
          <p:cNvSpPr/>
          <p:nvPr/>
        </p:nvSpPr>
        <p:spPr>
          <a:xfrm>
            <a:off x="6949440" y="3090672"/>
            <a:ext cx="91440" cy="91440"/>
          </a:xfrm>
          <a:prstGeom prst="ellipse">
            <a:avLst/>
          </a:prstGeom>
          <a:solidFill>
            <a:srgbClr val="2A9D8F"/>
          </a:solidFill>
          <a:ln w="12700">
            <a:solidFill>
              <a:srgbClr val="2A9D8F"/>
            </a:solidFill>
            <a:prstDash val="solid"/>
          </a:ln>
        </p:spPr>
        <p:txBody>
          <a:bodyPr/>
          <a:lstStyle/>
          <a:p>
            <a:endParaRPr lang="en-US"/>
          </a:p>
        </p:txBody>
      </p:sp>
      <p:sp>
        <p:nvSpPr>
          <p:cNvPr id="14" name="Text 12"/>
          <p:cNvSpPr txBox="1"/>
          <p:nvPr/>
        </p:nvSpPr>
        <p:spPr>
          <a:xfrm>
            <a:off x="7223760" y="3017520"/>
            <a:ext cx="4343400" cy="777240"/>
          </a:xfrm>
          <a:prstGeom prst="rect">
            <a:avLst/>
          </a:prstGeom>
          <a:noFill/>
          <a:ln/>
        </p:spPr>
        <p:txBody>
          <a:bodyPr wrap="square" lIns="0" tIns="0" rIns="0" bIns="0" rtlCol="0" anchor="t"/>
          <a:lstStyle/>
          <a:p>
            <a:pPr marL="0" indent="0" algn="l">
              <a:lnSpc>
                <a:spcPct val="115000"/>
              </a:lnSpc>
              <a:buNone/>
            </a:pPr>
            <a:r>
              <a:rPr lang="en-US" sz="1200" dirty="0">
                <a:solidFill>
                  <a:srgbClr val="13232B"/>
                </a:solidFill>
                <a:latin typeface="Calibri" pitchFamily="34" charset="0"/>
                <a:ea typeface="Calibri" pitchFamily="34" charset="-122"/>
                <a:cs typeface="Calibri" pitchFamily="34" charset="-120"/>
              </a:rPr>
              <a:t>The outer loop restarts once per connected component, and each component is coloured independently — a disconnected graph is 2-colourable exactly when all of its components are.</a:t>
            </a:r>
            <a:endParaRPr lang="en-US" sz="1200" dirty="0"/>
          </a:p>
        </p:txBody>
      </p:sp>
      <p:sp>
        <p:nvSpPr>
          <p:cNvPr id="15" name="Shape 13"/>
          <p:cNvSpPr/>
          <p:nvPr/>
        </p:nvSpPr>
        <p:spPr>
          <a:xfrm>
            <a:off x="6949440" y="3986784"/>
            <a:ext cx="91440" cy="91440"/>
          </a:xfrm>
          <a:prstGeom prst="ellipse">
            <a:avLst/>
          </a:prstGeom>
          <a:solidFill>
            <a:srgbClr val="2A9D8F"/>
          </a:solidFill>
          <a:ln w="12700">
            <a:solidFill>
              <a:srgbClr val="2A9D8F"/>
            </a:solidFill>
            <a:prstDash val="solid"/>
          </a:ln>
        </p:spPr>
        <p:txBody>
          <a:bodyPr/>
          <a:lstStyle/>
          <a:p>
            <a:endParaRPr lang="en-US"/>
          </a:p>
        </p:txBody>
      </p:sp>
      <p:sp>
        <p:nvSpPr>
          <p:cNvPr id="16" name="Text 14"/>
          <p:cNvSpPr txBox="1"/>
          <p:nvPr/>
        </p:nvSpPr>
        <p:spPr>
          <a:xfrm>
            <a:off x="7223760" y="3913632"/>
            <a:ext cx="4343400" cy="777240"/>
          </a:xfrm>
          <a:prstGeom prst="rect">
            <a:avLst/>
          </a:prstGeom>
          <a:noFill/>
          <a:ln/>
        </p:spPr>
        <p:txBody>
          <a:bodyPr wrap="square" lIns="0" tIns="0" rIns="0" bIns="0" rtlCol="0" anchor="t"/>
          <a:lstStyle/>
          <a:p>
            <a:pPr marL="0" indent="0" algn="l">
              <a:lnSpc>
                <a:spcPct val="115000"/>
              </a:lnSpc>
              <a:buNone/>
            </a:pPr>
            <a:r>
              <a:rPr lang="en-US" sz="1200" dirty="0">
                <a:solidFill>
                  <a:srgbClr val="13232B"/>
                </a:solidFill>
                <a:latin typeface="Calibri" pitchFamily="34" charset="0"/>
                <a:ea typeface="Calibri" pitchFamily="34" charset="-122"/>
                <a:cs typeface="Calibri" pitchFamily="34" charset="-120"/>
              </a:rPr>
              <a:t>BFS does the job just as well: colour every node by the parity of its level, then check that no edge joins two nodes of the same level parity.</a:t>
            </a:r>
            <a:endParaRPr lang="en-US" sz="1200" dirty="0"/>
          </a:p>
        </p:txBody>
      </p:sp>
      <p:sp>
        <p:nvSpPr>
          <p:cNvPr id="17" name="Shape 15"/>
          <p:cNvSpPr/>
          <p:nvPr/>
        </p:nvSpPr>
        <p:spPr>
          <a:xfrm>
            <a:off x="6949440" y="4882896"/>
            <a:ext cx="91440" cy="91440"/>
          </a:xfrm>
          <a:prstGeom prst="ellipse">
            <a:avLst/>
          </a:prstGeom>
          <a:solidFill>
            <a:srgbClr val="2A9D8F"/>
          </a:solidFill>
          <a:ln w="12700">
            <a:solidFill>
              <a:srgbClr val="2A9D8F"/>
            </a:solidFill>
            <a:prstDash val="solid"/>
          </a:ln>
        </p:spPr>
        <p:txBody>
          <a:bodyPr/>
          <a:lstStyle/>
          <a:p>
            <a:endParaRPr lang="en-US"/>
          </a:p>
        </p:txBody>
      </p:sp>
      <p:sp>
        <p:nvSpPr>
          <p:cNvPr id="18" name="Text 16"/>
          <p:cNvSpPr txBox="1"/>
          <p:nvPr/>
        </p:nvSpPr>
        <p:spPr>
          <a:xfrm>
            <a:off x="7223760" y="4809744"/>
            <a:ext cx="4343400" cy="777240"/>
          </a:xfrm>
          <a:prstGeom prst="rect">
            <a:avLst/>
          </a:prstGeom>
          <a:noFill/>
          <a:ln/>
        </p:spPr>
        <p:txBody>
          <a:bodyPr wrap="square" lIns="0" tIns="0" rIns="0" bIns="0" rtlCol="0" anchor="t"/>
          <a:lstStyle/>
          <a:p>
            <a:pPr marL="0" indent="0" algn="l">
              <a:lnSpc>
                <a:spcPct val="115000"/>
              </a:lnSpc>
              <a:buNone/>
            </a:pPr>
            <a:r>
              <a:rPr lang="en-US" sz="1200" dirty="0">
                <a:solidFill>
                  <a:srgbClr val="13232B"/>
                </a:solidFill>
                <a:latin typeface="Calibri" pitchFamily="34" charset="0"/>
                <a:ea typeface="Calibri" pitchFamily="34" charset="-122"/>
                <a:cs typeface="Calibri" pitchFamily="34" charset="-120"/>
              </a:rPr>
              <a:t>O(|V| + |E|) with adjacency lists. Each node is coloured once and each edge is examined twice, once from each end.</a:t>
            </a:r>
            <a:endParaRPr lang="en-US" sz="1200" dirty="0"/>
          </a:p>
        </p:txBody>
      </p:sp>
      <p:sp>
        <p:nvSpPr>
          <p:cNvPr id="19" name="Shape 17"/>
          <p:cNvSpPr/>
          <p:nvPr/>
        </p:nvSpPr>
        <p:spPr>
          <a:xfrm>
            <a:off x="6903720" y="5486400"/>
            <a:ext cx="4663440" cy="365760"/>
          </a:xfrm>
          <a:prstGeom prst="roundRect">
            <a:avLst>
              <a:gd name="adj" fmla="val 15000"/>
            </a:avLst>
          </a:prstGeom>
          <a:solidFill>
            <a:srgbClr val="EDF4F3"/>
          </a:solidFill>
          <a:ln w="12700">
            <a:solidFill>
              <a:srgbClr val="EDF4F3"/>
            </a:solidFill>
            <a:prstDash val="solid"/>
          </a:ln>
        </p:spPr>
        <p:txBody>
          <a:bodyPr/>
          <a:lstStyle/>
          <a:p>
            <a:endParaRPr lang="en-US"/>
          </a:p>
        </p:txBody>
      </p:sp>
      <p:sp>
        <p:nvSpPr>
          <p:cNvPr id="20" name="Text 18"/>
          <p:cNvSpPr txBox="1"/>
          <p:nvPr/>
        </p:nvSpPr>
        <p:spPr>
          <a:xfrm>
            <a:off x="7059168" y="5559552"/>
            <a:ext cx="4389120" cy="274320"/>
          </a:xfrm>
          <a:prstGeom prst="rect">
            <a:avLst/>
          </a:prstGeom>
          <a:noFill/>
          <a:ln/>
        </p:spPr>
        <p:txBody>
          <a:bodyPr wrap="square" lIns="0" tIns="0" rIns="0" bIns="0" rtlCol="0" anchor="ctr"/>
          <a:lstStyle/>
          <a:p>
            <a:pPr marL="0" indent="0" algn="l">
              <a:lnSpc>
                <a:spcPct val="115000"/>
              </a:lnSpc>
              <a:buNone/>
            </a:pPr>
            <a:r>
              <a:rPr lang="en-US" sz="1150" i="1" dirty="0">
                <a:solidFill>
                  <a:srgbClr val="0B3B44"/>
                </a:solidFill>
                <a:latin typeface="Calibri" pitchFamily="34" charset="0"/>
                <a:ea typeface="Calibri" pitchFamily="34" charset="-122"/>
                <a:cs typeface="Calibri" pitchFamily="34" charset="-120"/>
              </a:rPr>
              <a:t>A returned False is a proof: the conflict sits on an odd cycle.</a:t>
            </a:r>
            <a:endParaRPr lang="en-US" sz="1150" dirty="0"/>
          </a:p>
        </p:txBody>
      </p:sp>
      <p:sp>
        <p:nvSpPr>
          <p:cNvPr id="22" name="Text 19"/>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23" name="Text 20"/>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0B3B44"/>
        </a:solidFill>
        <a:effectLst/>
      </p:bgPr>
    </p:bg>
    <p:spTree>
      <p:nvGrpSpPr>
        <p:cNvPr id="1" name=""/>
        <p:cNvGrpSpPr/>
        <p:nvPr/>
      </p:nvGrpSpPr>
      <p:grpSpPr>
        <a:xfrm>
          <a:off x="0" y="0"/>
          <a:ext cx="0" cy="0"/>
          <a:chOff x="0" y="0"/>
          <a:chExt cx="0" cy="0"/>
        </a:xfrm>
      </p:grpSpPr>
      <p:sp>
        <p:nvSpPr>
          <p:cNvPr id="2" name="Text 0"/>
          <p:cNvSpPr txBox="1"/>
          <p:nvPr/>
        </p:nvSpPr>
        <p:spPr>
          <a:xfrm>
            <a:off x="640080" y="1965960"/>
            <a:ext cx="5486400" cy="310896"/>
          </a:xfrm>
          <a:prstGeom prst="rect">
            <a:avLst/>
          </a:prstGeom>
          <a:noFill/>
          <a:ln/>
        </p:spPr>
        <p:txBody>
          <a:bodyPr wrap="square" lIns="0" tIns="0" rIns="0" bIns="0" rtlCol="0" anchor="ctr"/>
          <a:lstStyle/>
          <a:p>
            <a:pPr marL="0" indent="0">
              <a:buNone/>
            </a:pPr>
            <a:r>
              <a:rPr lang="en-US" sz="1250" b="1" kern="0" spc="220" dirty="0">
                <a:solidFill>
                  <a:srgbClr val="E8A33D"/>
                </a:solidFill>
                <a:latin typeface="Calibri" pitchFamily="34" charset="0"/>
                <a:ea typeface="Calibri" pitchFamily="34" charset="-122"/>
                <a:cs typeface="Calibri" pitchFamily="34" charset="-120"/>
              </a:rPr>
              <a:t>PART 2</a:t>
            </a:r>
            <a:endParaRPr lang="en-US" sz="1250" dirty="0"/>
          </a:p>
        </p:txBody>
      </p:sp>
      <p:sp>
        <p:nvSpPr>
          <p:cNvPr id="3" name="Text 1"/>
          <p:cNvSpPr txBox="1"/>
          <p:nvPr/>
        </p:nvSpPr>
        <p:spPr>
          <a:xfrm>
            <a:off x="640080" y="2377440"/>
            <a:ext cx="6766560" cy="1463040"/>
          </a:xfrm>
          <a:prstGeom prst="rect">
            <a:avLst/>
          </a:prstGeom>
          <a:noFill/>
          <a:ln/>
        </p:spPr>
        <p:txBody>
          <a:bodyPr wrap="square" lIns="0" tIns="0" rIns="0" bIns="0" rtlCol="0" anchor="t"/>
          <a:lstStyle/>
          <a:p>
            <a:pPr marL="0" indent="0">
              <a:lnSpc>
                <a:spcPct val="110000"/>
              </a:lnSpc>
              <a:buNone/>
            </a:pPr>
            <a:r>
              <a:rPr lang="en-US" sz="3800" b="1" dirty="0">
                <a:solidFill>
                  <a:srgbClr val="FFFFFF"/>
                </a:solidFill>
                <a:latin typeface="Cambria" pitchFamily="34" charset="0"/>
                <a:ea typeface="Cambria" pitchFamily="34" charset="-122"/>
                <a:cs typeface="Cambria" pitchFamily="34" charset="-120"/>
              </a:rPr>
              <a:t>Decrease</a:t>
            </a:r>
            <a:endParaRPr lang="en-US" sz="3800" dirty="0"/>
          </a:p>
          <a:p>
            <a:pPr marL="0" indent="0">
              <a:lnSpc>
                <a:spcPct val="110000"/>
              </a:lnSpc>
              <a:buNone/>
            </a:pPr>
            <a:r>
              <a:rPr lang="en-US" sz="3800" b="1" dirty="0">
                <a:solidFill>
                  <a:srgbClr val="FFFFFF"/>
                </a:solidFill>
                <a:latin typeface="Cambria" pitchFamily="34" charset="0"/>
                <a:ea typeface="Cambria" pitchFamily="34" charset="-122"/>
                <a:cs typeface="Cambria" pitchFamily="34" charset="-120"/>
              </a:rPr>
              <a:t>and conquer</a:t>
            </a:r>
            <a:endParaRPr lang="en-US" sz="3800" dirty="0"/>
          </a:p>
        </p:txBody>
      </p:sp>
      <p:sp>
        <p:nvSpPr>
          <p:cNvPr id="4" name="Text 2"/>
          <p:cNvSpPr txBox="1"/>
          <p:nvPr/>
        </p:nvSpPr>
        <p:spPr>
          <a:xfrm>
            <a:off x="640080" y="3977640"/>
            <a:ext cx="6400800" cy="310896"/>
          </a:xfrm>
          <a:prstGeom prst="rect">
            <a:avLst/>
          </a:prstGeom>
          <a:noFill/>
          <a:ln/>
        </p:spPr>
        <p:txBody>
          <a:bodyPr wrap="square" lIns="0" tIns="0" rIns="0" bIns="0" rtlCol="0" anchor="ctr"/>
          <a:lstStyle/>
          <a:p>
            <a:pPr marL="0" indent="0">
              <a:buNone/>
            </a:pPr>
            <a:r>
              <a:rPr lang="en-US" sz="1350" dirty="0">
                <a:solidFill>
                  <a:srgbClr val="AFCACD"/>
                </a:solidFill>
                <a:latin typeface="Calibri" pitchFamily="34" charset="0"/>
                <a:ea typeface="Calibri" pitchFamily="34" charset="-122"/>
                <a:cs typeface="Calibri" pitchFamily="34" charset="-120"/>
              </a:rPr>
              <a:t>Exercises 37, 38 and 40</a:t>
            </a:r>
            <a:endParaRPr lang="en-US" sz="1350" dirty="0"/>
          </a:p>
        </p:txBody>
      </p:sp>
      <p:sp>
        <p:nvSpPr>
          <p:cNvPr id="5" name="Text 3"/>
          <p:cNvSpPr txBox="1"/>
          <p:nvPr/>
        </p:nvSpPr>
        <p:spPr>
          <a:xfrm>
            <a:off x="640080" y="4407408"/>
            <a:ext cx="6400800" cy="548640"/>
          </a:xfrm>
          <a:prstGeom prst="rect">
            <a:avLst/>
          </a:prstGeom>
          <a:noFill/>
          <a:ln/>
        </p:spPr>
        <p:txBody>
          <a:bodyPr wrap="square" lIns="0" tIns="0" rIns="0" bIns="0" rtlCol="0" anchor="t"/>
          <a:lstStyle/>
          <a:p>
            <a:pPr marL="0" indent="0">
              <a:lnSpc>
                <a:spcPct val="115000"/>
              </a:lnSpc>
              <a:buNone/>
            </a:pPr>
            <a:r>
              <a:rPr lang="en-US" sz="1250" i="1" dirty="0">
                <a:solidFill>
                  <a:srgbClr val="7FA5AB"/>
                </a:solidFill>
                <a:latin typeface="Calibri" pitchFamily="34" charset="0"/>
                <a:ea typeface="Calibri" pitchFamily="34" charset="-122"/>
                <a:cs typeface="Calibri" pitchFamily="34" charset="-120"/>
              </a:rPr>
              <a:t>Solve a smaller instance, then do a little work to lift the answer back up.</a:t>
            </a:r>
            <a:endParaRPr lang="en-US" sz="1250" dirty="0"/>
          </a:p>
          <a:p>
            <a:pPr marL="0" indent="0">
              <a:lnSpc>
                <a:spcPct val="115000"/>
              </a:lnSpc>
              <a:buNone/>
            </a:pPr>
            <a:r>
              <a:rPr lang="en-US" sz="1250" i="1" dirty="0">
                <a:solidFill>
                  <a:srgbClr val="7FA5AB"/>
                </a:solidFill>
                <a:latin typeface="Calibri" pitchFamily="34" charset="0"/>
                <a:ea typeface="Calibri" pitchFamily="34" charset="-122"/>
                <a:cs typeface="Calibri" pitchFamily="34" charset="-120"/>
              </a:rPr>
              <a:t>By one node (topological sort), by one element (insertion sort),</a:t>
            </a:r>
            <a:endParaRPr lang="en-US" sz="1250" dirty="0"/>
          </a:p>
          <a:p>
            <a:pPr marL="0" indent="0">
              <a:lnSpc>
                <a:spcPct val="115000"/>
              </a:lnSpc>
              <a:buNone/>
            </a:pPr>
            <a:r>
              <a:rPr lang="en-US" sz="1250" i="1" dirty="0">
                <a:solidFill>
                  <a:srgbClr val="7FA5AB"/>
                </a:solidFill>
                <a:latin typeface="Calibri" pitchFamily="34" charset="0"/>
                <a:ea typeface="Calibri" pitchFamily="34" charset="-122"/>
                <a:cs typeface="Calibri" pitchFamily="34" charset="-120"/>
              </a:rPr>
              <a:t>or by a whole factor of the array (interpolation search).</a:t>
            </a:r>
            <a:endParaRPr lang="en-US" sz="1250" dirty="0"/>
          </a:p>
        </p:txBody>
      </p:sp>
      <p:sp>
        <p:nvSpPr>
          <p:cNvPr id="6" name="Shape 4"/>
          <p:cNvSpPr/>
          <p:nvPr/>
        </p:nvSpPr>
        <p:spPr>
          <a:xfrm>
            <a:off x="7635240" y="2103120"/>
            <a:ext cx="3931920" cy="731520"/>
          </a:xfrm>
          <a:prstGeom prst="roundRect">
            <a:avLst>
              <a:gd name="adj" fmla="val 7500"/>
            </a:avLst>
          </a:prstGeom>
          <a:solidFill>
            <a:srgbClr val="16505C"/>
          </a:solidFill>
          <a:ln w="12700">
            <a:solidFill>
              <a:srgbClr val="16505C"/>
            </a:solidFill>
            <a:prstDash val="solid"/>
          </a:ln>
        </p:spPr>
        <p:txBody>
          <a:bodyPr/>
          <a:lstStyle/>
          <a:p>
            <a:endParaRPr lang="en-US"/>
          </a:p>
        </p:txBody>
      </p:sp>
      <p:sp>
        <p:nvSpPr>
          <p:cNvPr id="7" name="Text 5"/>
          <p:cNvSpPr txBox="1"/>
          <p:nvPr/>
        </p:nvSpPr>
        <p:spPr>
          <a:xfrm>
            <a:off x="7909560" y="2176272"/>
            <a:ext cx="347472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by a constant</a:t>
            </a:r>
            <a:endParaRPr lang="en-US" sz="1250" dirty="0"/>
          </a:p>
        </p:txBody>
      </p:sp>
      <p:sp>
        <p:nvSpPr>
          <p:cNvPr id="8" name="Text 6"/>
          <p:cNvSpPr txBox="1"/>
          <p:nvPr/>
        </p:nvSpPr>
        <p:spPr>
          <a:xfrm>
            <a:off x="7909560" y="2468880"/>
            <a:ext cx="3474720" cy="292608"/>
          </a:xfrm>
          <a:prstGeom prst="rect">
            <a:avLst/>
          </a:prstGeom>
          <a:noFill/>
          <a:ln/>
        </p:spPr>
        <p:txBody>
          <a:bodyPr wrap="square" lIns="0" tIns="0" rIns="0" bIns="0" rtlCol="0" anchor="ctr"/>
          <a:lstStyle/>
          <a:p>
            <a:pPr marL="0" indent="0">
              <a:buNone/>
            </a:pPr>
            <a:r>
              <a:rPr lang="en-US" sz="1150" dirty="0">
                <a:solidFill>
                  <a:srgbClr val="9DB3B7"/>
                </a:solidFill>
                <a:latin typeface="Calibri" pitchFamily="34" charset="0"/>
                <a:ea typeface="Calibri" pitchFamily="34" charset="-122"/>
                <a:cs typeface="Calibri" pitchFamily="34" charset="-120"/>
              </a:rPr>
              <a:t>topological sort  ·  insertion sort</a:t>
            </a:r>
            <a:endParaRPr lang="en-US" sz="1150" dirty="0"/>
          </a:p>
        </p:txBody>
      </p:sp>
      <p:sp>
        <p:nvSpPr>
          <p:cNvPr id="9" name="Shape 7"/>
          <p:cNvSpPr/>
          <p:nvPr/>
        </p:nvSpPr>
        <p:spPr>
          <a:xfrm>
            <a:off x="7635240" y="3063240"/>
            <a:ext cx="3931920" cy="731520"/>
          </a:xfrm>
          <a:prstGeom prst="roundRect">
            <a:avLst>
              <a:gd name="adj" fmla="val 7500"/>
            </a:avLst>
          </a:prstGeom>
          <a:solidFill>
            <a:srgbClr val="16505C"/>
          </a:solidFill>
          <a:ln w="12700">
            <a:solidFill>
              <a:srgbClr val="16505C"/>
            </a:solidFill>
            <a:prstDash val="solid"/>
          </a:ln>
        </p:spPr>
        <p:txBody>
          <a:bodyPr/>
          <a:lstStyle/>
          <a:p>
            <a:endParaRPr lang="en-US"/>
          </a:p>
        </p:txBody>
      </p:sp>
      <p:sp>
        <p:nvSpPr>
          <p:cNvPr id="10" name="Text 8"/>
          <p:cNvSpPr txBox="1"/>
          <p:nvPr/>
        </p:nvSpPr>
        <p:spPr>
          <a:xfrm>
            <a:off x="7909560" y="3136392"/>
            <a:ext cx="3474720" cy="292608"/>
          </a:xfrm>
          <a:prstGeom prst="rect">
            <a:avLst/>
          </a:prstGeom>
          <a:noFill/>
          <a:ln/>
        </p:spPr>
        <p:txBody>
          <a:bodyPr wrap="square" lIns="0" tIns="0" rIns="0" bIns="0" rtlCol="0" anchor="ctr"/>
          <a:lstStyle/>
          <a:p>
            <a:pPr marL="0" indent="0">
              <a:buNone/>
            </a:pPr>
            <a:r>
              <a:rPr lang="en-US" sz="1250" b="1" dirty="0">
                <a:solidFill>
                  <a:srgbClr val="2A9D8F"/>
                </a:solidFill>
                <a:latin typeface="Calibri" pitchFamily="34" charset="0"/>
                <a:ea typeface="Calibri" pitchFamily="34" charset="-122"/>
                <a:cs typeface="Calibri" pitchFamily="34" charset="-120"/>
              </a:rPr>
              <a:t>by a constant factor</a:t>
            </a:r>
            <a:endParaRPr lang="en-US" sz="1250" dirty="0"/>
          </a:p>
        </p:txBody>
      </p:sp>
      <p:sp>
        <p:nvSpPr>
          <p:cNvPr id="11" name="Text 9"/>
          <p:cNvSpPr txBox="1"/>
          <p:nvPr/>
        </p:nvSpPr>
        <p:spPr>
          <a:xfrm>
            <a:off x="7909560" y="3429000"/>
            <a:ext cx="3474720" cy="292608"/>
          </a:xfrm>
          <a:prstGeom prst="rect">
            <a:avLst/>
          </a:prstGeom>
          <a:noFill/>
          <a:ln/>
        </p:spPr>
        <p:txBody>
          <a:bodyPr wrap="square" lIns="0" tIns="0" rIns="0" bIns="0" rtlCol="0" anchor="ctr"/>
          <a:lstStyle/>
          <a:p>
            <a:pPr marL="0" indent="0">
              <a:buNone/>
            </a:pPr>
            <a:r>
              <a:rPr lang="en-US" sz="1150" dirty="0">
                <a:solidFill>
                  <a:srgbClr val="9DB3B7"/>
                </a:solidFill>
                <a:latin typeface="Calibri" pitchFamily="34" charset="0"/>
                <a:ea typeface="Calibri" pitchFamily="34" charset="-122"/>
                <a:cs typeface="Calibri" pitchFamily="34" charset="-120"/>
              </a:rPr>
              <a:t>binary search</a:t>
            </a:r>
            <a:endParaRPr lang="en-US" sz="1150" dirty="0"/>
          </a:p>
        </p:txBody>
      </p:sp>
      <p:sp>
        <p:nvSpPr>
          <p:cNvPr id="12" name="Shape 10"/>
          <p:cNvSpPr/>
          <p:nvPr/>
        </p:nvSpPr>
        <p:spPr>
          <a:xfrm>
            <a:off x="7635240" y="4023360"/>
            <a:ext cx="3931920" cy="731520"/>
          </a:xfrm>
          <a:prstGeom prst="roundRect">
            <a:avLst>
              <a:gd name="adj" fmla="val 7500"/>
            </a:avLst>
          </a:prstGeom>
          <a:solidFill>
            <a:srgbClr val="16505C"/>
          </a:solidFill>
          <a:ln w="12700">
            <a:solidFill>
              <a:srgbClr val="16505C"/>
            </a:solidFill>
            <a:prstDash val="solid"/>
          </a:ln>
        </p:spPr>
        <p:txBody>
          <a:bodyPr/>
          <a:lstStyle/>
          <a:p>
            <a:endParaRPr lang="en-US"/>
          </a:p>
        </p:txBody>
      </p:sp>
      <p:sp>
        <p:nvSpPr>
          <p:cNvPr id="13" name="Text 11"/>
          <p:cNvSpPr txBox="1"/>
          <p:nvPr/>
        </p:nvSpPr>
        <p:spPr>
          <a:xfrm>
            <a:off x="7909560" y="4096512"/>
            <a:ext cx="347472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by a variable factor</a:t>
            </a:r>
            <a:endParaRPr lang="en-US" sz="1250" dirty="0"/>
          </a:p>
        </p:txBody>
      </p:sp>
      <p:sp>
        <p:nvSpPr>
          <p:cNvPr id="14" name="Text 12"/>
          <p:cNvSpPr txBox="1"/>
          <p:nvPr/>
        </p:nvSpPr>
        <p:spPr>
          <a:xfrm>
            <a:off x="7909560" y="4389120"/>
            <a:ext cx="3474720" cy="292608"/>
          </a:xfrm>
          <a:prstGeom prst="rect">
            <a:avLst/>
          </a:prstGeom>
          <a:noFill/>
          <a:ln/>
        </p:spPr>
        <p:txBody>
          <a:bodyPr wrap="square" lIns="0" tIns="0" rIns="0" bIns="0" rtlCol="0" anchor="ctr"/>
          <a:lstStyle/>
          <a:p>
            <a:pPr marL="0" indent="0">
              <a:buNone/>
            </a:pPr>
            <a:r>
              <a:rPr lang="en-US" sz="1150" dirty="0">
                <a:solidFill>
                  <a:srgbClr val="9DB3B7"/>
                </a:solidFill>
                <a:latin typeface="Calibri" pitchFamily="34" charset="0"/>
                <a:ea typeface="Calibri" pitchFamily="34" charset="-122"/>
                <a:cs typeface="Calibri" pitchFamily="34" charset="-120"/>
              </a:rPr>
              <a:t>interpolation search</a:t>
            </a:r>
            <a:endParaRPr lang="en-US" sz="1150" dirty="0"/>
          </a:p>
        </p:txBody>
      </p:sp>
      <p:sp>
        <p:nvSpPr>
          <p:cNvPr id="16" name="Text 13"/>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7FA5AB"/>
                </a:solidFill>
                <a:latin typeface="Calibri" pitchFamily="34" charset="0"/>
                <a:ea typeface="Calibri" pitchFamily="34" charset="-122"/>
                <a:cs typeface="Calibri" pitchFamily="34" charset="-120"/>
              </a:rPr>
              <a:t>COMP90038  ·  Algorithms and Complexity  ·  Week 6</a:t>
            </a:r>
            <a:endParaRPr lang="en-US" sz="900" dirty="0"/>
          </a:p>
        </p:txBody>
      </p:sp>
      <p:sp>
        <p:nvSpPr>
          <p:cNvPr id="17" name="Text 14"/>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7FA5A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37</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Topological sort, depth-first</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b="1" dirty="0">
                <a:solidFill>
                  <a:srgbClr val="63797F"/>
                </a:solidFill>
                <a:latin typeface="Calibri" pitchFamily="34" charset="0"/>
                <a:ea typeface="Calibri" pitchFamily="34" charset="-122"/>
                <a:cs typeface="Calibri" pitchFamily="34" charset="-120"/>
              </a:rPr>
              <a:t>Run DFS, record the order nodes are popped, then reverse it.</a:t>
            </a:r>
            <a:endParaRPr lang="en-US" sz="1300" b="1" dirty="0"/>
          </a:p>
        </p:txBody>
      </p:sp>
      <p:sp>
        <p:nvSpPr>
          <p:cNvPr id="6" name="Shape 4"/>
          <p:cNvSpPr/>
          <p:nvPr/>
        </p:nvSpPr>
        <p:spPr>
          <a:xfrm>
            <a:off x="640080" y="1645920"/>
            <a:ext cx="5852160" cy="4023360"/>
          </a:xfrm>
          <a:prstGeom prst="roundRect">
            <a:avLst>
              <a:gd name="adj" fmla="val 1364"/>
            </a:avLst>
          </a:prstGeom>
          <a:solidFill>
            <a:srgbClr val="F6F9F8"/>
          </a:solidFill>
          <a:ln w="9525">
            <a:solidFill>
              <a:srgbClr val="D3E0DD"/>
            </a:solidFill>
            <a:prstDash val="solid"/>
          </a:ln>
        </p:spPr>
        <p:txBody>
          <a:bodyPr/>
          <a:lstStyle/>
          <a:p>
            <a:endParaRPr lang="en-US"/>
          </a:p>
        </p:txBody>
      </p:sp>
      <p:sp>
        <p:nvSpPr>
          <p:cNvPr id="7" name="Shape 5"/>
          <p:cNvSpPr/>
          <p:nvPr/>
        </p:nvSpPr>
        <p:spPr>
          <a:xfrm flipH="1">
            <a:off x="2377440" y="2377440"/>
            <a:ext cx="868680" cy="0"/>
          </a:xfrm>
          <a:prstGeom prst="line">
            <a:avLst/>
          </a:prstGeom>
          <a:noFill/>
          <a:ln w="20320">
            <a:solidFill>
              <a:srgbClr val="16505C"/>
            </a:solidFill>
            <a:prstDash val="solid"/>
            <a:tailEnd type="triangle"/>
          </a:ln>
        </p:spPr>
        <p:txBody>
          <a:bodyPr/>
          <a:lstStyle/>
          <a:p>
            <a:endParaRPr lang="en-US"/>
          </a:p>
        </p:txBody>
      </p:sp>
      <p:sp>
        <p:nvSpPr>
          <p:cNvPr id="8" name="Shape 6"/>
          <p:cNvSpPr/>
          <p:nvPr/>
        </p:nvSpPr>
        <p:spPr>
          <a:xfrm>
            <a:off x="3794760" y="2377440"/>
            <a:ext cx="868680" cy="0"/>
          </a:xfrm>
          <a:prstGeom prst="line">
            <a:avLst/>
          </a:prstGeom>
          <a:noFill/>
          <a:ln w="20320">
            <a:solidFill>
              <a:srgbClr val="16505C"/>
            </a:solidFill>
            <a:prstDash val="solid"/>
            <a:tailEnd type="triangle"/>
          </a:ln>
        </p:spPr>
        <p:txBody>
          <a:bodyPr/>
          <a:lstStyle/>
          <a:p>
            <a:endParaRPr lang="en-US"/>
          </a:p>
        </p:txBody>
      </p:sp>
      <p:sp>
        <p:nvSpPr>
          <p:cNvPr id="9" name="Shape 7"/>
          <p:cNvSpPr/>
          <p:nvPr/>
        </p:nvSpPr>
        <p:spPr>
          <a:xfrm flipH="1" flipV="1">
            <a:off x="2306694" y="2561313"/>
            <a:ext cx="1010173" cy="912414"/>
          </a:xfrm>
          <a:prstGeom prst="line">
            <a:avLst/>
          </a:prstGeom>
          <a:noFill/>
          <a:ln w="20320">
            <a:solidFill>
              <a:srgbClr val="16505C"/>
            </a:solidFill>
            <a:prstDash val="solid"/>
            <a:tailEnd type="triangle"/>
          </a:ln>
        </p:spPr>
        <p:txBody>
          <a:bodyPr/>
          <a:lstStyle/>
          <a:p>
            <a:endParaRPr lang="en-US"/>
          </a:p>
        </p:txBody>
      </p:sp>
      <p:sp>
        <p:nvSpPr>
          <p:cNvPr id="10" name="Shape 8"/>
          <p:cNvSpPr/>
          <p:nvPr/>
        </p:nvSpPr>
        <p:spPr>
          <a:xfrm flipV="1">
            <a:off x="3724014" y="2561313"/>
            <a:ext cx="1010173" cy="912414"/>
          </a:xfrm>
          <a:prstGeom prst="line">
            <a:avLst/>
          </a:prstGeom>
          <a:noFill/>
          <a:ln w="20320">
            <a:solidFill>
              <a:srgbClr val="16505C"/>
            </a:solidFill>
            <a:prstDash val="solid"/>
            <a:tailEnd type="triangle"/>
          </a:ln>
        </p:spPr>
        <p:txBody>
          <a:bodyPr/>
          <a:lstStyle/>
          <a:p>
            <a:endParaRPr lang="en-US"/>
          </a:p>
        </p:txBody>
      </p:sp>
      <p:sp>
        <p:nvSpPr>
          <p:cNvPr id="11" name="Shape 9"/>
          <p:cNvSpPr/>
          <p:nvPr/>
        </p:nvSpPr>
        <p:spPr>
          <a:xfrm flipV="1">
            <a:off x="2103120" y="2651760"/>
            <a:ext cx="0" cy="731520"/>
          </a:xfrm>
          <a:prstGeom prst="line">
            <a:avLst/>
          </a:prstGeom>
          <a:noFill/>
          <a:ln w="20320">
            <a:solidFill>
              <a:srgbClr val="16505C"/>
            </a:solidFill>
            <a:prstDash val="solid"/>
            <a:tailEnd type="triangle"/>
          </a:ln>
        </p:spPr>
        <p:txBody>
          <a:bodyPr/>
          <a:lstStyle/>
          <a:p>
            <a:endParaRPr lang="en-US"/>
          </a:p>
        </p:txBody>
      </p:sp>
      <p:sp>
        <p:nvSpPr>
          <p:cNvPr id="12" name="Shape 10"/>
          <p:cNvSpPr/>
          <p:nvPr/>
        </p:nvSpPr>
        <p:spPr>
          <a:xfrm>
            <a:off x="2377440" y="3657600"/>
            <a:ext cx="868680" cy="0"/>
          </a:xfrm>
          <a:prstGeom prst="line">
            <a:avLst/>
          </a:prstGeom>
          <a:noFill/>
          <a:ln w="20320">
            <a:solidFill>
              <a:srgbClr val="16505C"/>
            </a:solidFill>
            <a:prstDash val="solid"/>
            <a:tailEnd type="triangle"/>
          </a:ln>
        </p:spPr>
        <p:txBody>
          <a:bodyPr/>
          <a:lstStyle/>
          <a:p>
            <a:endParaRPr lang="en-US"/>
          </a:p>
        </p:txBody>
      </p:sp>
      <p:sp>
        <p:nvSpPr>
          <p:cNvPr id="13" name="Shape 11"/>
          <p:cNvSpPr/>
          <p:nvPr/>
        </p:nvSpPr>
        <p:spPr>
          <a:xfrm>
            <a:off x="2103120" y="3931920"/>
            <a:ext cx="0" cy="731520"/>
          </a:xfrm>
          <a:prstGeom prst="line">
            <a:avLst/>
          </a:prstGeom>
          <a:noFill/>
          <a:ln w="20320">
            <a:solidFill>
              <a:srgbClr val="16505C"/>
            </a:solidFill>
            <a:prstDash val="solid"/>
            <a:tailEnd type="triangle"/>
          </a:ln>
        </p:spPr>
        <p:txBody>
          <a:bodyPr/>
          <a:lstStyle/>
          <a:p>
            <a:endParaRPr lang="en-US"/>
          </a:p>
        </p:txBody>
      </p:sp>
      <p:sp>
        <p:nvSpPr>
          <p:cNvPr id="14" name="Shape 12"/>
          <p:cNvSpPr/>
          <p:nvPr/>
        </p:nvSpPr>
        <p:spPr>
          <a:xfrm>
            <a:off x="3520440" y="3931920"/>
            <a:ext cx="0" cy="731520"/>
          </a:xfrm>
          <a:prstGeom prst="line">
            <a:avLst/>
          </a:prstGeom>
          <a:noFill/>
          <a:ln w="20320">
            <a:solidFill>
              <a:srgbClr val="16505C"/>
            </a:solidFill>
            <a:prstDash val="solid"/>
            <a:tailEnd type="triangle"/>
          </a:ln>
        </p:spPr>
        <p:txBody>
          <a:bodyPr/>
          <a:lstStyle/>
          <a:p>
            <a:endParaRPr lang="en-US"/>
          </a:p>
        </p:txBody>
      </p:sp>
      <p:sp>
        <p:nvSpPr>
          <p:cNvPr id="15" name="Shape 13"/>
          <p:cNvSpPr/>
          <p:nvPr/>
        </p:nvSpPr>
        <p:spPr>
          <a:xfrm flipH="1">
            <a:off x="2377440" y="4937760"/>
            <a:ext cx="868680" cy="0"/>
          </a:xfrm>
          <a:prstGeom prst="line">
            <a:avLst/>
          </a:prstGeom>
          <a:noFill/>
          <a:ln w="20320">
            <a:solidFill>
              <a:srgbClr val="16505C"/>
            </a:solidFill>
            <a:prstDash val="solid"/>
            <a:tailEnd type="triangle"/>
          </a:ln>
        </p:spPr>
        <p:txBody>
          <a:bodyPr/>
          <a:lstStyle/>
          <a:p>
            <a:endParaRPr lang="en-US"/>
          </a:p>
        </p:txBody>
      </p:sp>
      <p:sp>
        <p:nvSpPr>
          <p:cNvPr id="16" name="Shape 14"/>
          <p:cNvSpPr/>
          <p:nvPr/>
        </p:nvSpPr>
        <p:spPr>
          <a:xfrm>
            <a:off x="1837944" y="2112264"/>
            <a:ext cx="530352" cy="530352"/>
          </a:xfrm>
          <a:prstGeom prst="ellipse">
            <a:avLst/>
          </a:prstGeom>
          <a:solidFill>
            <a:srgbClr val="FFFFFF"/>
          </a:solidFill>
          <a:ln w="15875">
            <a:solidFill>
              <a:srgbClr val="16505C"/>
            </a:solidFill>
            <a:prstDash val="solid"/>
          </a:ln>
        </p:spPr>
        <p:txBody>
          <a:bodyPr/>
          <a:lstStyle/>
          <a:p>
            <a:endParaRPr lang="en-US"/>
          </a:p>
        </p:txBody>
      </p:sp>
      <p:sp>
        <p:nvSpPr>
          <p:cNvPr id="17" name="Text 15"/>
          <p:cNvSpPr txBox="1"/>
          <p:nvPr/>
        </p:nvSpPr>
        <p:spPr>
          <a:xfrm>
            <a:off x="1837944" y="211226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a</a:t>
            </a:r>
            <a:endParaRPr lang="en-US" sz="1350" dirty="0"/>
          </a:p>
        </p:txBody>
      </p:sp>
      <p:sp>
        <p:nvSpPr>
          <p:cNvPr id="18" name="Shape 16"/>
          <p:cNvSpPr/>
          <p:nvPr/>
        </p:nvSpPr>
        <p:spPr>
          <a:xfrm>
            <a:off x="3255264" y="2112264"/>
            <a:ext cx="530352" cy="530352"/>
          </a:xfrm>
          <a:prstGeom prst="ellipse">
            <a:avLst/>
          </a:prstGeom>
          <a:solidFill>
            <a:srgbClr val="FFFFFF"/>
          </a:solidFill>
          <a:ln w="15875">
            <a:solidFill>
              <a:srgbClr val="16505C"/>
            </a:solidFill>
            <a:prstDash val="solid"/>
          </a:ln>
        </p:spPr>
        <p:txBody>
          <a:bodyPr/>
          <a:lstStyle/>
          <a:p>
            <a:endParaRPr lang="en-US"/>
          </a:p>
        </p:txBody>
      </p:sp>
      <p:sp>
        <p:nvSpPr>
          <p:cNvPr id="19" name="Text 17"/>
          <p:cNvSpPr txBox="1"/>
          <p:nvPr/>
        </p:nvSpPr>
        <p:spPr>
          <a:xfrm>
            <a:off x="3255264" y="211226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b</a:t>
            </a:r>
            <a:endParaRPr lang="en-US" sz="1350" dirty="0"/>
          </a:p>
        </p:txBody>
      </p:sp>
      <p:sp>
        <p:nvSpPr>
          <p:cNvPr id="20" name="Shape 18"/>
          <p:cNvSpPr/>
          <p:nvPr/>
        </p:nvSpPr>
        <p:spPr>
          <a:xfrm>
            <a:off x="4672584" y="2112264"/>
            <a:ext cx="530352" cy="530352"/>
          </a:xfrm>
          <a:prstGeom prst="ellipse">
            <a:avLst/>
          </a:prstGeom>
          <a:solidFill>
            <a:srgbClr val="FFFFFF"/>
          </a:solidFill>
          <a:ln w="15875">
            <a:solidFill>
              <a:srgbClr val="16505C"/>
            </a:solidFill>
            <a:prstDash val="solid"/>
          </a:ln>
        </p:spPr>
        <p:txBody>
          <a:bodyPr/>
          <a:lstStyle/>
          <a:p>
            <a:endParaRPr lang="en-US"/>
          </a:p>
        </p:txBody>
      </p:sp>
      <p:sp>
        <p:nvSpPr>
          <p:cNvPr id="21" name="Text 19"/>
          <p:cNvSpPr txBox="1"/>
          <p:nvPr/>
        </p:nvSpPr>
        <p:spPr>
          <a:xfrm>
            <a:off x="4672584" y="211226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c</a:t>
            </a:r>
            <a:endParaRPr lang="en-US" sz="1350" dirty="0"/>
          </a:p>
        </p:txBody>
      </p:sp>
      <p:sp>
        <p:nvSpPr>
          <p:cNvPr id="22" name="Shape 20"/>
          <p:cNvSpPr/>
          <p:nvPr/>
        </p:nvSpPr>
        <p:spPr>
          <a:xfrm>
            <a:off x="1837944" y="3392424"/>
            <a:ext cx="530352" cy="530352"/>
          </a:xfrm>
          <a:prstGeom prst="ellipse">
            <a:avLst/>
          </a:prstGeom>
          <a:solidFill>
            <a:srgbClr val="FFFFFF"/>
          </a:solidFill>
          <a:ln w="15875">
            <a:solidFill>
              <a:srgbClr val="16505C"/>
            </a:solidFill>
            <a:prstDash val="solid"/>
          </a:ln>
        </p:spPr>
        <p:txBody>
          <a:bodyPr/>
          <a:lstStyle/>
          <a:p>
            <a:endParaRPr lang="en-US"/>
          </a:p>
        </p:txBody>
      </p:sp>
      <p:sp>
        <p:nvSpPr>
          <p:cNvPr id="23" name="Text 21"/>
          <p:cNvSpPr txBox="1"/>
          <p:nvPr/>
        </p:nvSpPr>
        <p:spPr>
          <a:xfrm>
            <a:off x="1837944" y="339242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d</a:t>
            </a:r>
            <a:endParaRPr lang="en-US" sz="1350" dirty="0"/>
          </a:p>
        </p:txBody>
      </p:sp>
      <p:sp>
        <p:nvSpPr>
          <p:cNvPr id="24" name="Shape 22"/>
          <p:cNvSpPr/>
          <p:nvPr/>
        </p:nvSpPr>
        <p:spPr>
          <a:xfrm>
            <a:off x="3255264" y="3392424"/>
            <a:ext cx="530352" cy="530352"/>
          </a:xfrm>
          <a:prstGeom prst="ellipse">
            <a:avLst/>
          </a:prstGeom>
          <a:solidFill>
            <a:srgbClr val="FFFFFF"/>
          </a:solidFill>
          <a:ln w="15875">
            <a:solidFill>
              <a:srgbClr val="16505C"/>
            </a:solidFill>
            <a:prstDash val="solid"/>
          </a:ln>
        </p:spPr>
        <p:txBody>
          <a:bodyPr/>
          <a:lstStyle/>
          <a:p>
            <a:endParaRPr lang="en-US"/>
          </a:p>
        </p:txBody>
      </p:sp>
      <p:sp>
        <p:nvSpPr>
          <p:cNvPr id="25" name="Text 23"/>
          <p:cNvSpPr txBox="1"/>
          <p:nvPr/>
        </p:nvSpPr>
        <p:spPr>
          <a:xfrm>
            <a:off x="3255264" y="339242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e</a:t>
            </a:r>
            <a:endParaRPr lang="en-US" sz="1350" dirty="0"/>
          </a:p>
        </p:txBody>
      </p:sp>
      <p:sp>
        <p:nvSpPr>
          <p:cNvPr id="26" name="Shape 24"/>
          <p:cNvSpPr/>
          <p:nvPr/>
        </p:nvSpPr>
        <p:spPr>
          <a:xfrm>
            <a:off x="1837944" y="4672584"/>
            <a:ext cx="530352" cy="530352"/>
          </a:xfrm>
          <a:prstGeom prst="ellipse">
            <a:avLst/>
          </a:prstGeom>
          <a:solidFill>
            <a:srgbClr val="FFFFFF"/>
          </a:solidFill>
          <a:ln w="15875">
            <a:solidFill>
              <a:srgbClr val="16505C"/>
            </a:solidFill>
            <a:prstDash val="solid"/>
          </a:ln>
        </p:spPr>
        <p:txBody>
          <a:bodyPr/>
          <a:lstStyle/>
          <a:p>
            <a:endParaRPr lang="en-US"/>
          </a:p>
        </p:txBody>
      </p:sp>
      <p:sp>
        <p:nvSpPr>
          <p:cNvPr id="27" name="Text 25"/>
          <p:cNvSpPr txBox="1"/>
          <p:nvPr/>
        </p:nvSpPr>
        <p:spPr>
          <a:xfrm>
            <a:off x="1837944" y="467258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f</a:t>
            </a:r>
            <a:endParaRPr lang="en-US" sz="1350" dirty="0"/>
          </a:p>
        </p:txBody>
      </p:sp>
      <p:sp>
        <p:nvSpPr>
          <p:cNvPr id="28" name="Shape 26"/>
          <p:cNvSpPr/>
          <p:nvPr/>
        </p:nvSpPr>
        <p:spPr>
          <a:xfrm>
            <a:off x="3255264" y="4672584"/>
            <a:ext cx="530352" cy="530352"/>
          </a:xfrm>
          <a:prstGeom prst="ellipse">
            <a:avLst/>
          </a:prstGeom>
          <a:solidFill>
            <a:srgbClr val="FFFFFF"/>
          </a:solidFill>
          <a:ln w="15875">
            <a:solidFill>
              <a:srgbClr val="16505C"/>
            </a:solidFill>
            <a:prstDash val="solid"/>
          </a:ln>
        </p:spPr>
        <p:txBody>
          <a:bodyPr/>
          <a:lstStyle/>
          <a:p>
            <a:endParaRPr lang="en-US"/>
          </a:p>
        </p:txBody>
      </p:sp>
      <p:sp>
        <p:nvSpPr>
          <p:cNvPr id="29" name="Text 27"/>
          <p:cNvSpPr txBox="1"/>
          <p:nvPr/>
        </p:nvSpPr>
        <p:spPr>
          <a:xfrm>
            <a:off x="3255264" y="467258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g</a:t>
            </a:r>
            <a:endParaRPr lang="en-US" sz="1350" dirty="0"/>
          </a:p>
        </p:txBody>
      </p:sp>
      <p:sp>
        <p:nvSpPr>
          <p:cNvPr id="30" name="Text 28"/>
          <p:cNvSpPr txBox="1"/>
          <p:nvPr/>
        </p:nvSpPr>
        <p:spPr>
          <a:xfrm>
            <a:off x="5486400" y="2240280"/>
            <a:ext cx="914400" cy="82296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|V| = 7</a:t>
            </a:r>
            <a:endParaRPr lang="en-US" sz="1100" dirty="0"/>
          </a:p>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|E| = 9</a:t>
            </a:r>
            <a:endParaRPr lang="en-US" sz="1100" dirty="0"/>
          </a:p>
        </p:txBody>
      </p:sp>
      <p:sp>
        <p:nvSpPr>
          <p:cNvPr id="31" name="Text 29"/>
          <p:cNvSpPr txBox="1"/>
          <p:nvPr/>
        </p:nvSpPr>
        <p:spPr>
          <a:xfrm>
            <a:off x="5413248" y="4663440"/>
            <a:ext cx="1051560" cy="731520"/>
          </a:xfrm>
          <a:prstGeom prst="rect">
            <a:avLst/>
          </a:prstGeom>
          <a:noFill/>
          <a:ln/>
        </p:spPr>
        <p:txBody>
          <a:bodyPr wrap="square" lIns="0" tIns="0" rIns="0" bIns="0" rtlCol="0" anchor="t"/>
          <a:lstStyle/>
          <a:p>
            <a:pPr marL="0" indent="0" algn="l">
              <a:lnSpc>
                <a:spcPct val="115000"/>
              </a:lnSpc>
              <a:buNone/>
            </a:pPr>
            <a:r>
              <a:rPr lang="en-US" sz="1050" i="1" dirty="0">
                <a:solidFill>
                  <a:srgbClr val="9DB3B7"/>
                </a:solidFill>
                <a:latin typeface="Calibri" pitchFamily="34" charset="0"/>
                <a:ea typeface="Calibri" pitchFamily="34" charset="-122"/>
                <a:cs typeface="Calibri" pitchFamily="34" charset="-120"/>
              </a:rPr>
              <a:t>ties broken</a:t>
            </a:r>
            <a:endParaRPr lang="en-US" sz="1050" dirty="0"/>
          </a:p>
          <a:p>
            <a:pPr marL="0" indent="0" algn="l">
              <a:lnSpc>
                <a:spcPct val="115000"/>
              </a:lnSpc>
              <a:buNone/>
            </a:pPr>
            <a:r>
              <a:rPr lang="en-US" sz="1050" i="1" dirty="0">
                <a:solidFill>
                  <a:srgbClr val="9DB3B7"/>
                </a:solidFill>
                <a:latin typeface="Calibri" pitchFamily="34" charset="0"/>
                <a:ea typeface="Calibri" pitchFamily="34" charset="-122"/>
                <a:cs typeface="Calibri" pitchFamily="34" charset="-120"/>
              </a:rPr>
              <a:t>alphabetically</a:t>
            </a:r>
            <a:endParaRPr lang="en-US" sz="1050" dirty="0"/>
          </a:p>
        </p:txBody>
      </p:sp>
      <p:sp>
        <p:nvSpPr>
          <p:cNvPr id="32" name="Text 30"/>
          <p:cNvSpPr txBox="1"/>
          <p:nvPr/>
        </p:nvSpPr>
        <p:spPr>
          <a:xfrm>
            <a:off x="6903720" y="1755648"/>
            <a:ext cx="4663440" cy="237744"/>
          </a:xfrm>
          <a:prstGeom prst="rect">
            <a:avLst/>
          </a:prstGeom>
          <a:noFill/>
          <a:ln/>
        </p:spPr>
        <p:txBody>
          <a:bodyPr wrap="square" lIns="0" tIns="0" rIns="0" bIns="0" rtlCol="0" anchor="ctr"/>
          <a:lstStyle/>
          <a:p>
            <a:pPr marL="0" indent="0">
              <a:buNone/>
            </a:pPr>
            <a:r>
              <a:rPr lang="en-US" sz="950" b="1" kern="0" spc="120" dirty="0">
                <a:solidFill>
                  <a:srgbClr val="2A9D8F"/>
                </a:solidFill>
                <a:latin typeface="Calibri" pitchFamily="34" charset="0"/>
                <a:ea typeface="Calibri" pitchFamily="34" charset="-122"/>
                <a:cs typeface="Calibri" pitchFamily="34" charset="-120"/>
              </a:rPr>
              <a:t>HOW THE TRAVERSAL STACK DEVELOPS</a:t>
            </a:r>
            <a:endParaRPr lang="en-US" sz="950" dirty="0"/>
          </a:p>
        </p:txBody>
      </p:sp>
      <p:sp>
        <p:nvSpPr>
          <p:cNvPr id="33" name="Shape 31"/>
          <p:cNvSpPr/>
          <p:nvPr/>
        </p:nvSpPr>
        <p:spPr>
          <a:xfrm>
            <a:off x="7086600" y="3977640"/>
            <a:ext cx="1051560" cy="457200"/>
          </a:xfrm>
          <a:prstGeom prst="roundRect">
            <a:avLst>
              <a:gd name="adj" fmla="val 10000"/>
            </a:avLst>
          </a:prstGeom>
          <a:solidFill>
            <a:srgbClr val="EDF4F3"/>
          </a:solidFill>
          <a:ln w="9525">
            <a:solidFill>
              <a:srgbClr val="D3E0DD"/>
            </a:solidFill>
            <a:prstDash val="solid"/>
          </a:ln>
        </p:spPr>
        <p:txBody>
          <a:bodyPr/>
          <a:lstStyle/>
          <a:p>
            <a:endParaRPr lang="en-US"/>
          </a:p>
        </p:txBody>
      </p:sp>
      <p:sp>
        <p:nvSpPr>
          <p:cNvPr id="34" name="Text 32"/>
          <p:cNvSpPr txBox="1"/>
          <p:nvPr/>
        </p:nvSpPr>
        <p:spPr>
          <a:xfrm>
            <a:off x="7086600" y="3977640"/>
            <a:ext cx="1051560" cy="457200"/>
          </a:xfrm>
          <a:prstGeom prst="rect">
            <a:avLst/>
          </a:prstGeom>
          <a:noFill/>
          <a:ln/>
        </p:spPr>
        <p:txBody>
          <a:bodyPr wrap="square" lIns="0" tIns="0" rIns="0" bIns="0" rtlCol="0" anchor="ctr"/>
          <a:lstStyle/>
          <a:p>
            <a:pPr marL="0" indent="0" algn="ctr">
              <a:buNone/>
            </a:pPr>
            <a:r>
              <a:rPr lang="en-US" sz="1300" b="1" dirty="0">
                <a:solidFill>
                  <a:srgbClr val="13232B"/>
                </a:solidFill>
                <a:latin typeface="Courier New" pitchFamily="34" charset="0"/>
                <a:ea typeface="Courier New" pitchFamily="34" charset="-122"/>
                <a:cs typeface="Courier New" pitchFamily="34" charset="-120"/>
              </a:rPr>
              <a:t>a</a:t>
            </a:r>
            <a:r>
              <a:rPr lang="en-US" sz="950" dirty="0">
                <a:solidFill>
                  <a:srgbClr val="2A9D8F"/>
                </a:solidFill>
                <a:latin typeface="Courier New" pitchFamily="34" charset="0"/>
                <a:ea typeface="Courier New" pitchFamily="34" charset="-122"/>
                <a:cs typeface="Courier New" pitchFamily="34" charset="-120"/>
              </a:rPr>
              <a:t>  1,1</a:t>
            </a:r>
            <a:endParaRPr lang="en-US" sz="1300" dirty="0"/>
          </a:p>
        </p:txBody>
      </p:sp>
      <p:sp>
        <p:nvSpPr>
          <p:cNvPr id="35" name="Shape 33"/>
          <p:cNvSpPr/>
          <p:nvPr/>
        </p:nvSpPr>
        <p:spPr>
          <a:xfrm>
            <a:off x="8275320" y="3977640"/>
            <a:ext cx="1051560" cy="457200"/>
          </a:xfrm>
          <a:prstGeom prst="roundRect">
            <a:avLst>
              <a:gd name="adj" fmla="val 10000"/>
            </a:avLst>
          </a:prstGeom>
          <a:solidFill>
            <a:srgbClr val="EDF4F3"/>
          </a:solidFill>
          <a:ln w="9525">
            <a:solidFill>
              <a:srgbClr val="D3E0DD"/>
            </a:solidFill>
            <a:prstDash val="solid"/>
          </a:ln>
        </p:spPr>
        <p:txBody>
          <a:bodyPr/>
          <a:lstStyle/>
          <a:p>
            <a:endParaRPr lang="en-US"/>
          </a:p>
        </p:txBody>
      </p:sp>
      <p:sp>
        <p:nvSpPr>
          <p:cNvPr id="36" name="Text 34"/>
          <p:cNvSpPr txBox="1"/>
          <p:nvPr/>
        </p:nvSpPr>
        <p:spPr>
          <a:xfrm>
            <a:off x="8275320" y="3977640"/>
            <a:ext cx="1051560" cy="457200"/>
          </a:xfrm>
          <a:prstGeom prst="rect">
            <a:avLst/>
          </a:prstGeom>
          <a:noFill/>
          <a:ln/>
        </p:spPr>
        <p:txBody>
          <a:bodyPr wrap="square" lIns="0" tIns="0" rIns="0" bIns="0" rtlCol="0" anchor="ctr"/>
          <a:lstStyle/>
          <a:p>
            <a:pPr marL="0" indent="0" algn="ctr">
              <a:buNone/>
            </a:pPr>
            <a:r>
              <a:rPr lang="en-US" sz="1300" b="1" dirty="0">
                <a:solidFill>
                  <a:srgbClr val="13232B"/>
                </a:solidFill>
                <a:latin typeface="Courier New" pitchFamily="34" charset="0"/>
                <a:ea typeface="Courier New" pitchFamily="34" charset="-122"/>
                <a:cs typeface="Courier New" pitchFamily="34" charset="-120"/>
              </a:rPr>
              <a:t>b</a:t>
            </a:r>
            <a:r>
              <a:rPr lang="en-US" sz="950" dirty="0">
                <a:solidFill>
                  <a:srgbClr val="2A9D8F"/>
                </a:solidFill>
                <a:latin typeface="Courier New" pitchFamily="34" charset="0"/>
                <a:ea typeface="Courier New" pitchFamily="34" charset="-122"/>
                <a:cs typeface="Courier New" pitchFamily="34" charset="-120"/>
              </a:rPr>
              <a:t>  2,3</a:t>
            </a:r>
            <a:endParaRPr lang="en-US" sz="1300" dirty="0"/>
          </a:p>
        </p:txBody>
      </p:sp>
      <p:sp>
        <p:nvSpPr>
          <p:cNvPr id="37" name="Shape 35"/>
          <p:cNvSpPr/>
          <p:nvPr/>
        </p:nvSpPr>
        <p:spPr>
          <a:xfrm>
            <a:off x="8275320" y="3465576"/>
            <a:ext cx="1051560" cy="457200"/>
          </a:xfrm>
          <a:prstGeom prst="roundRect">
            <a:avLst>
              <a:gd name="adj" fmla="val 10000"/>
            </a:avLst>
          </a:prstGeom>
          <a:solidFill>
            <a:srgbClr val="EDF4F3"/>
          </a:solidFill>
          <a:ln w="9525">
            <a:solidFill>
              <a:srgbClr val="D3E0DD"/>
            </a:solidFill>
            <a:prstDash val="solid"/>
          </a:ln>
        </p:spPr>
        <p:txBody>
          <a:bodyPr/>
          <a:lstStyle/>
          <a:p>
            <a:endParaRPr lang="en-US"/>
          </a:p>
        </p:txBody>
      </p:sp>
      <p:sp>
        <p:nvSpPr>
          <p:cNvPr id="38" name="Text 36"/>
          <p:cNvSpPr txBox="1"/>
          <p:nvPr/>
        </p:nvSpPr>
        <p:spPr>
          <a:xfrm>
            <a:off x="8275320" y="3465576"/>
            <a:ext cx="1051560" cy="457200"/>
          </a:xfrm>
          <a:prstGeom prst="rect">
            <a:avLst/>
          </a:prstGeom>
          <a:noFill/>
          <a:ln/>
        </p:spPr>
        <p:txBody>
          <a:bodyPr wrap="square" lIns="0" tIns="0" rIns="0" bIns="0" rtlCol="0" anchor="ctr"/>
          <a:lstStyle/>
          <a:p>
            <a:pPr marL="0" indent="0" algn="ctr">
              <a:buNone/>
            </a:pPr>
            <a:r>
              <a:rPr lang="en-US" sz="1300" b="1" dirty="0">
                <a:solidFill>
                  <a:srgbClr val="13232B"/>
                </a:solidFill>
                <a:latin typeface="Courier New" pitchFamily="34" charset="0"/>
                <a:ea typeface="Courier New" pitchFamily="34" charset="-122"/>
                <a:cs typeface="Courier New" pitchFamily="34" charset="-120"/>
              </a:rPr>
              <a:t>c</a:t>
            </a:r>
            <a:r>
              <a:rPr lang="en-US" sz="950" dirty="0">
                <a:solidFill>
                  <a:srgbClr val="2A9D8F"/>
                </a:solidFill>
                <a:latin typeface="Courier New" pitchFamily="34" charset="0"/>
                <a:ea typeface="Courier New" pitchFamily="34" charset="-122"/>
                <a:cs typeface="Courier New" pitchFamily="34" charset="-120"/>
              </a:rPr>
              <a:t>  3,2</a:t>
            </a:r>
            <a:endParaRPr lang="en-US" sz="1300" dirty="0"/>
          </a:p>
        </p:txBody>
      </p:sp>
      <p:sp>
        <p:nvSpPr>
          <p:cNvPr id="39" name="Shape 37"/>
          <p:cNvSpPr/>
          <p:nvPr/>
        </p:nvSpPr>
        <p:spPr>
          <a:xfrm>
            <a:off x="9464040" y="3977640"/>
            <a:ext cx="1051560" cy="457200"/>
          </a:xfrm>
          <a:prstGeom prst="roundRect">
            <a:avLst>
              <a:gd name="adj" fmla="val 10000"/>
            </a:avLst>
          </a:prstGeom>
          <a:solidFill>
            <a:srgbClr val="EDF4F3"/>
          </a:solidFill>
          <a:ln w="9525">
            <a:solidFill>
              <a:srgbClr val="D3E0DD"/>
            </a:solidFill>
            <a:prstDash val="solid"/>
          </a:ln>
        </p:spPr>
        <p:txBody>
          <a:bodyPr/>
          <a:lstStyle/>
          <a:p>
            <a:endParaRPr lang="en-US"/>
          </a:p>
        </p:txBody>
      </p:sp>
      <p:sp>
        <p:nvSpPr>
          <p:cNvPr id="40" name="Text 38"/>
          <p:cNvSpPr txBox="1"/>
          <p:nvPr/>
        </p:nvSpPr>
        <p:spPr>
          <a:xfrm>
            <a:off x="9464040" y="3977640"/>
            <a:ext cx="1051560" cy="457200"/>
          </a:xfrm>
          <a:prstGeom prst="rect">
            <a:avLst/>
          </a:prstGeom>
          <a:noFill/>
          <a:ln/>
        </p:spPr>
        <p:txBody>
          <a:bodyPr wrap="square" lIns="0" tIns="0" rIns="0" bIns="0" rtlCol="0" anchor="ctr"/>
          <a:lstStyle/>
          <a:p>
            <a:pPr marL="0" indent="0" algn="ctr">
              <a:buNone/>
            </a:pPr>
            <a:r>
              <a:rPr lang="en-US" sz="1300" b="1" dirty="0">
                <a:solidFill>
                  <a:srgbClr val="13232B"/>
                </a:solidFill>
                <a:latin typeface="Courier New" pitchFamily="34" charset="0"/>
                <a:ea typeface="Courier New" pitchFamily="34" charset="-122"/>
                <a:cs typeface="Courier New" pitchFamily="34" charset="-120"/>
              </a:rPr>
              <a:t>d</a:t>
            </a:r>
            <a:r>
              <a:rPr lang="en-US" sz="950" dirty="0">
                <a:solidFill>
                  <a:srgbClr val="2A9D8F"/>
                </a:solidFill>
                <a:latin typeface="Courier New" pitchFamily="34" charset="0"/>
                <a:ea typeface="Courier New" pitchFamily="34" charset="-122"/>
                <a:cs typeface="Courier New" pitchFamily="34" charset="-120"/>
              </a:rPr>
              <a:t>  4,7</a:t>
            </a:r>
            <a:endParaRPr lang="en-US" sz="1300" dirty="0"/>
          </a:p>
        </p:txBody>
      </p:sp>
      <p:sp>
        <p:nvSpPr>
          <p:cNvPr id="41" name="Shape 39"/>
          <p:cNvSpPr/>
          <p:nvPr/>
        </p:nvSpPr>
        <p:spPr>
          <a:xfrm>
            <a:off x="9464040" y="3465576"/>
            <a:ext cx="1051560" cy="457200"/>
          </a:xfrm>
          <a:prstGeom prst="roundRect">
            <a:avLst>
              <a:gd name="adj" fmla="val 10000"/>
            </a:avLst>
          </a:prstGeom>
          <a:solidFill>
            <a:srgbClr val="EDF4F3"/>
          </a:solidFill>
          <a:ln w="9525">
            <a:solidFill>
              <a:srgbClr val="D3E0DD"/>
            </a:solidFill>
            <a:prstDash val="solid"/>
          </a:ln>
        </p:spPr>
        <p:txBody>
          <a:bodyPr/>
          <a:lstStyle/>
          <a:p>
            <a:endParaRPr lang="en-US"/>
          </a:p>
        </p:txBody>
      </p:sp>
      <p:sp>
        <p:nvSpPr>
          <p:cNvPr id="42" name="Text 40"/>
          <p:cNvSpPr txBox="1"/>
          <p:nvPr/>
        </p:nvSpPr>
        <p:spPr>
          <a:xfrm>
            <a:off x="9464040" y="3465576"/>
            <a:ext cx="1051560" cy="457200"/>
          </a:xfrm>
          <a:prstGeom prst="rect">
            <a:avLst/>
          </a:prstGeom>
          <a:noFill/>
          <a:ln/>
        </p:spPr>
        <p:txBody>
          <a:bodyPr wrap="square" lIns="0" tIns="0" rIns="0" bIns="0" rtlCol="0" anchor="ctr"/>
          <a:lstStyle/>
          <a:p>
            <a:pPr marL="0" indent="0" algn="ctr">
              <a:buNone/>
            </a:pPr>
            <a:r>
              <a:rPr lang="en-US" sz="1300" b="1" dirty="0">
                <a:solidFill>
                  <a:srgbClr val="13232B"/>
                </a:solidFill>
                <a:latin typeface="Courier New" pitchFamily="34" charset="0"/>
                <a:ea typeface="Courier New" pitchFamily="34" charset="-122"/>
                <a:cs typeface="Courier New" pitchFamily="34" charset="-120"/>
              </a:rPr>
              <a:t>e</a:t>
            </a:r>
            <a:r>
              <a:rPr lang="en-US" sz="950" dirty="0">
                <a:solidFill>
                  <a:srgbClr val="2A9D8F"/>
                </a:solidFill>
                <a:latin typeface="Courier New" pitchFamily="34" charset="0"/>
                <a:ea typeface="Courier New" pitchFamily="34" charset="-122"/>
                <a:cs typeface="Courier New" pitchFamily="34" charset="-120"/>
              </a:rPr>
              <a:t>  5,6</a:t>
            </a:r>
            <a:endParaRPr lang="en-US" sz="1300" dirty="0"/>
          </a:p>
        </p:txBody>
      </p:sp>
      <p:sp>
        <p:nvSpPr>
          <p:cNvPr id="43" name="Shape 41"/>
          <p:cNvSpPr/>
          <p:nvPr/>
        </p:nvSpPr>
        <p:spPr>
          <a:xfrm>
            <a:off x="9464040" y="2953512"/>
            <a:ext cx="1051560" cy="457200"/>
          </a:xfrm>
          <a:prstGeom prst="roundRect">
            <a:avLst>
              <a:gd name="adj" fmla="val 10000"/>
            </a:avLst>
          </a:prstGeom>
          <a:solidFill>
            <a:srgbClr val="EDF4F3"/>
          </a:solidFill>
          <a:ln w="9525">
            <a:solidFill>
              <a:srgbClr val="D3E0DD"/>
            </a:solidFill>
            <a:prstDash val="solid"/>
          </a:ln>
        </p:spPr>
        <p:txBody>
          <a:bodyPr/>
          <a:lstStyle/>
          <a:p>
            <a:endParaRPr lang="en-US"/>
          </a:p>
        </p:txBody>
      </p:sp>
      <p:sp>
        <p:nvSpPr>
          <p:cNvPr id="44" name="Text 42"/>
          <p:cNvSpPr txBox="1"/>
          <p:nvPr/>
        </p:nvSpPr>
        <p:spPr>
          <a:xfrm>
            <a:off x="9464040" y="2953512"/>
            <a:ext cx="1051560" cy="457200"/>
          </a:xfrm>
          <a:prstGeom prst="rect">
            <a:avLst/>
          </a:prstGeom>
          <a:noFill/>
          <a:ln/>
        </p:spPr>
        <p:txBody>
          <a:bodyPr wrap="square" lIns="0" tIns="0" rIns="0" bIns="0" rtlCol="0" anchor="ctr"/>
          <a:lstStyle/>
          <a:p>
            <a:pPr marL="0" indent="0" algn="ctr">
              <a:buNone/>
            </a:pPr>
            <a:r>
              <a:rPr lang="en-US" sz="1300" b="1" dirty="0">
                <a:solidFill>
                  <a:srgbClr val="13232B"/>
                </a:solidFill>
                <a:latin typeface="Courier New" pitchFamily="34" charset="0"/>
                <a:ea typeface="Courier New" pitchFamily="34" charset="-122"/>
                <a:cs typeface="Courier New" pitchFamily="34" charset="-120"/>
              </a:rPr>
              <a:t>g</a:t>
            </a:r>
            <a:r>
              <a:rPr lang="en-US" sz="950" dirty="0">
                <a:solidFill>
                  <a:srgbClr val="2A9D8F"/>
                </a:solidFill>
                <a:latin typeface="Courier New" pitchFamily="34" charset="0"/>
                <a:ea typeface="Courier New" pitchFamily="34" charset="-122"/>
                <a:cs typeface="Courier New" pitchFamily="34" charset="-120"/>
              </a:rPr>
              <a:t>  6,5</a:t>
            </a:r>
            <a:endParaRPr lang="en-US" sz="1300" dirty="0"/>
          </a:p>
        </p:txBody>
      </p:sp>
      <p:sp>
        <p:nvSpPr>
          <p:cNvPr id="45" name="Shape 43"/>
          <p:cNvSpPr/>
          <p:nvPr/>
        </p:nvSpPr>
        <p:spPr>
          <a:xfrm>
            <a:off x="9464040" y="2441448"/>
            <a:ext cx="1051560" cy="457200"/>
          </a:xfrm>
          <a:prstGeom prst="roundRect">
            <a:avLst>
              <a:gd name="adj" fmla="val 10000"/>
            </a:avLst>
          </a:prstGeom>
          <a:solidFill>
            <a:srgbClr val="EDF4F3"/>
          </a:solidFill>
          <a:ln w="9525">
            <a:solidFill>
              <a:srgbClr val="D3E0DD"/>
            </a:solidFill>
            <a:prstDash val="solid"/>
          </a:ln>
        </p:spPr>
        <p:txBody>
          <a:bodyPr/>
          <a:lstStyle/>
          <a:p>
            <a:endParaRPr lang="en-US"/>
          </a:p>
        </p:txBody>
      </p:sp>
      <p:sp>
        <p:nvSpPr>
          <p:cNvPr id="46" name="Text 44"/>
          <p:cNvSpPr txBox="1"/>
          <p:nvPr/>
        </p:nvSpPr>
        <p:spPr>
          <a:xfrm>
            <a:off x="9464040" y="2441448"/>
            <a:ext cx="1051560" cy="457200"/>
          </a:xfrm>
          <a:prstGeom prst="rect">
            <a:avLst/>
          </a:prstGeom>
          <a:noFill/>
          <a:ln/>
        </p:spPr>
        <p:txBody>
          <a:bodyPr wrap="square" lIns="0" tIns="0" rIns="0" bIns="0" rtlCol="0" anchor="ctr"/>
          <a:lstStyle/>
          <a:p>
            <a:pPr marL="0" indent="0" algn="ctr">
              <a:buNone/>
            </a:pPr>
            <a:r>
              <a:rPr lang="en-US" sz="1300" b="1" dirty="0">
                <a:solidFill>
                  <a:srgbClr val="13232B"/>
                </a:solidFill>
                <a:latin typeface="Courier New" pitchFamily="34" charset="0"/>
                <a:ea typeface="Courier New" pitchFamily="34" charset="-122"/>
                <a:cs typeface="Courier New" pitchFamily="34" charset="-120"/>
              </a:rPr>
              <a:t>f</a:t>
            </a:r>
            <a:r>
              <a:rPr lang="en-US" sz="950" dirty="0">
                <a:solidFill>
                  <a:srgbClr val="2A9D8F"/>
                </a:solidFill>
                <a:latin typeface="Courier New" pitchFamily="34" charset="0"/>
                <a:ea typeface="Courier New" pitchFamily="34" charset="-122"/>
                <a:cs typeface="Courier New" pitchFamily="34" charset="-120"/>
              </a:rPr>
              <a:t>  7,4</a:t>
            </a:r>
            <a:endParaRPr lang="en-US" sz="1300" dirty="0"/>
          </a:p>
        </p:txBody>
      </p:sp>
      <p:sp>
        <p:nvSpPr>
          <p:cNvPr id="47" name="Text 45"/>
          <p:cNvSpPr txBox="1"/>
          <p:nvPr/>
        </p:nvSpPr>
        <p:spPr>
          <a:xfrm>
            <a:off x="10698480" y="3977640"/>
            <a:ext cx="868680" cy="457200"/>
          </a:xfrm>
          <a:prstGeom prst="rect">
            <a:avLst/>
          </a:prstGeom>
          <a:noFill/>
          <a:ln/>
        </p:spPr>
        <p:txBody>
          <a:bodyPr wrap="square" lIns="0" tIns="0" rIns="0" bIns="0" rtlCol="0" anchor="ctr"/>
          <a:lstStyle/>
          <a:p>
            <a:pPr marL="0" indent="0" algn="l">
              <a:lnSpc>
                <a:spcPct val="115000"/>
              </a:lnSpc>
              <a:buNone/>
            </a:pPr>
            <a:r>
              <a:rPr lang="en-US" sz="1000" i="1" dirty="0">
                <a:solidFill>
                  <a:srgbClr val="9DB3B7"/>
                </a:solidFill>
                <a:latin typeface="Calibri" pitchFamily="34" charset="0"/>
                <a:ea typeface="Calibri" pitchFamily="34" charset="-122"/>
                <a:cs typeface="Calibri" pitchFamily="34" charset="-120"/>
              </a:rPr>
              <a:t>← stack</a:t>
            </a:r>
            <a:endParaRPr lang="en-US" sz="1000" dirty="0"/>
          </a:p>
          <a:p>
            <a:pPr marL="0" indent="0" algn="l">
              <a:lnSpc>
                <a:spcPct val="115000"/>
              </a:lnSpc>
              <a:buNone/>
            </a:pPr>
            <a:r>
              <a:rPr lang="en-US" sz="1000" i="1" dirty="0">
                <a:solidFill>
                  <a:srgbClr val="9DB3B7"/>
                </a:solidFill>
                <a:latin typeface="Calibri" pitchFamily="34" charset="0"/>
                <a:ea typeface="Calibri" pitchFamily="34" charset="-122"/>
                <a:cs typeface="Calibri" pitchFamily="34" charset="-120"/>
              </a:rPr>
              <a:t>   bottom</a:t>
            </a:r>
            <a:endParaRPr lang="en-US" sz="1000" dirty="0"/>
          </a:p>
        </p:txBody>
      </p:sp>
      <p:sp>
        <p:nvSpPr>
          <p:cNvPr id="48" name="Text 46"/>
          <p:cNvSpPr txBox="1"/>
          <p:nvPr/>
        </p:nvSpPr>
        <p:spPr>
          <a:xfrm>
            <a:off x="7086600" y="4553712"/>
            <a:ext cx="4480560" cy="274320"/>
          </a:xfrm>
          <a:prstGeom prst="rect">
            <a:avLst/>
          </a:prstGeom>
          <a:noFill/>
          <a:ln/>
        </p:spPr>
        <p:txBody>
          <a:bodyPr wrap="square" lIns="0" tIns="0" rIns="0" bIns="0" rtlCol="0" anchor="t"/>
          <a:lstStyle/>
          <a:p>
            <a:pPr marL="0" indent="0" algn="l">
              <a:lnSpc>
                <a:spcPct val="115000"/>
              </a:lnSpc>
              <a:buNone/>
            </a:pPr>
            <a:r>
              <a:rPr lang="en-US" sz="1050" i="1" dirty="0">
                <a:solidFill>
                  <a:srgbClr val="63797F"/>
                </a:solidFill>
                <a:latin typeface="Calibri" pitchFamily="34" charset="0"/>
                <a:ea typeface="Calibri" pitchFamily="34" charset="-122"/>
                <a:cs typeface="Calibri" pitchFamily="34" charset="-120"/>
              </a:rPr>
              <a:t>each cell:  node  pushed,popped</a:t>
            </a:r>
            <a:endParaRPr lang="en-US" sz="1050" dirty="0"/>
          </a:p>
        </p:txBody>
      </p:sp>
      <p:sp>
        <p:nvSpPr>
          <p:cNvPr id="49" name="Shape 47"/>
          <p:cNvSpPr/>
          <p:nvPr/>
        </p:nvSpPr>
        <p:spPr>
          <a:xfrm>
            <a:off x="6903720" y="4937760"/>
            <a:ext cx="4663440" cy="365760"/>
          </a:xfrm>
          <a:prstGeom prst="roundRect">
            <a:avLst>
              <a:gd name="adj" fmla="val 15000"/>
            </a:avLst>
          </a:prstGeom>
          <a:solidFill>
            <a:srgbClr val="F6F9F8"/>
          </a:solidFill>
          <a:ln w="12700">
            <a:solidFill>
              <a:srgbClr val="F6F9F8"/>
            </a:solidFill>
            <a:prstDash val="solid"/>
          </a:ln>
        </p:spPr>
        <p:txBody>
          <a:bodyPr/>
          <a:lstStyle/>
          <a:p>
            <a:endParaRPr lang="en-US"/>
          </a:p>
        </p:txBody>
      </p:sp>
      <p:sp>
        <p:nvSpPr>
          <p:cNvPr id="50" name="Text 48"/>
          <p:cNvSpPr txBox="1"/>
          <p:nvPr/>
        </p:nvSpPr>
        <p:spPr>
          <a:xfrm>
            <a:off x="7086600" y="4937760"/>
            <a:ext cx="4389120" cy="365760"/>
          </a:xfrm>
          <a:prstGeom prst="rect">
            <a:avLst/>
          </a:prstGeom>
          <a:noFill/>
          <a:ln/>
        </p:spPr>
        <p:txBody>
          <a:bodyPr wrap="square" lIns="0" tIns="0" rIns="0" bIns="0" rtlCol="0" anchor="ctr"/>
          <a:lstStyle/>
          <a:p>
            <a:pPr marL="0" indent="0">
              <a:buNone/>
            </a:pPr>
            <a:r>
              <a:rPr lang="en-US" sz="1100" dirty="0">
                <a:solidFill>
                  <a:srgbClr val="63797F"/>
                </a:solidFill>
                <a:latin typeface="Calibri" pitchFamily="34" charset="0"/>
                <a:ea typeface="Calibri" pitchFamily="34" charset="-122"/>
                <a:cs typeface="Calibri" pitchFamily="34" charset="-120"/>
              </a:rPr>
              <a:t>pop order      </a:t>
            </a:r>
            <a:r>
              <a:rPr lang="en-US" sz="1200" dirty="0">
                <a:solidFill>
                  <a:srgbClr val="13232B"/>
                </a:solidFill>
                <a:latin typeface="Courier New" pitchFamily="34" charset="0"/>
                <a:ea typeface="Courier New" pitchFamily="34" charset="-122"/>
                <a:cs typeface="Courier New" pitchFamily="34" charset="-120"/>
              </a:rPr>
              <a:t>a  c  b  f  g  e  d</a:t>
            </a:r>
            <a:endParaRPr lang="en-US" sz="1100" dirty="0"/>
          </a:p>
        </p:txBody>
      </p:sp>
      <p:sp>
        <p:nvSpPr>
          <p:cNvPr id="51" name="Shape 49"/>
          <p:cNvSpPr/>
          <p:nvPr/>
        </p:nvSpPr>
        <p:spPr>
          <a:xfrm>
            <a:off x="6903720" y="5376672"/>
            <a:ext cx="4663440" cy="411480"/>
          </a:xfrm>
          <a:prstGeom prst="roundRect">
            <a:avLst>
              <a:gd name="adj" fmla="val 13333"/>
            </a:avLst>
          </a:prstGeom>
          <a:solidFill>
            <a:srgbClr val="0B3B44"/>
          </a:solidFill>
          <a:ln w="12700">
            <a:solidFill>
              <a:srgbClr val="0B3B44"/>
            </a:solidFill>
            <a:prstDash val="solid"/>
          </a:ln>
        </p:spPr>
        <p:txBody>
          <a:bodyPr/>
          <a:lstStyle/>
          <a:p>
            <a:endParaRPr lang="en-US"/>
          </a:p>
        </p:txBody>
      </p:sp>
      <p:sp>
        <p:nvSpPr>
          <p:cNvPr id="52" name="Text 50"/>
          <p:cNvSpPr txBox="1"/>
          <p:nvPr/>
        </p:nvSpPr>
        <p:spPr>
          <a:xfrm>
            <a:off x="7086600" y="5376672"/>
            <a:ext cx="4389120" cy="411480"/>
          </a:xfrm>
          <a:prstGeom prst="rect">
            <a:avLst/>
          </a:prstGeom>
          <a:noFill/>
          <a:ln/>
        </p:spPr>
        <p:txBody>
          <a:bodyPr wrap="square" lIns="0" tIns="0" rIns="0" bIns="0" rtlCol="0" anchor="ctr"/>
          <a:lstStyle/>
          <a:p>
            <a:pPr marL="0" indent="0">
              <a:buNone/>
            </a:pPr>
            <a:r>
              <a:rPr lang="en-US" sz="1100" dirty="0">
                <a:solidFill>
                  <a:srgbClr val="9DB3B7"/>
                </a:solidFill>
                <a:latin typeface="Calibri" pitchFamily="34" charset="0"/>
                <a:ea typeface="Calibri" pitchFamily="34" charset="-122"/>
                <a:cs typeface="Calibri" pitchFamily="34" charset="-120"/>
              </a:rPr>
              <a:t>reversed       </a:t>
            </a:r>
            <a:r>
              <a:rPr lang="en-US" sz="1250" b="1" dirty="0">
                <a:solidFill>
                  <a:srgbClr val="E8A33D"/>
                </a:solidFill>
                <a:latin typeface="Courier New" pitchFamily="34" charset="0"/>
                <a:ea typeface="Courier New" pitchFamily="34" charset="-122"/>
                <a:cs typeface="Courier New" pitchFamily="34" charset="-120"/>
              </a:rPr>
              <a:t>d  e  g  f  b  c  a</a:t>
            </a:r>
            <a:endParaRPr lang="en-US" sz="1100" dirty="0"/>
          </a:p>
        </p:txBody>
      </p:sp>
      <p:sp>
        <p:nvSpPr>
          <p:cNvPr id="54" name="Text 51"/>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55" name="Text 52"/>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37</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Reading the answer back</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A linearisation is correct exactly when every edge points forwards along the line.</a:t>
            </a:r>
            <a:endParaRPr lang="en-US" sz="1300" dirty="0"/>
          </a:p>
        </p:txBody>
      </p:sp>
      <p:sp>
        <p:nvSpPr>
          <p:cNvPr id="6" name="Shape 4"/>
          <p:cNvSpPr/>
          <p:nvPr/>
        </p:nvSpPr>
        <p:spPr>
          <a:xfrm>
            <a:off x="1106424" y="1792224"/>
            <a:ext cx="530352" cy="530352"/>
          </a:xfrm>
          <a:prstGeom prst="ellipse">
            <a:avLst/>
          </a:prstGeom>
          <a:solidFill>
            <a:srgbClr val="2A9D8F"/>
          </a:solidFill>
          <a:ln w="15875">
            <a:solidFill>
              <a:srgbClr val="2A9D8F"/>
            </a:solidFill>
            <a:prstDash val="solid"/>
          </a:ln>
        </p:spPr>
        <p:txBody>
          <a:bodyPr/>
          <a:lstStyle/>
          <a:p>
            <a:endParaRPr lang="en-US"/>
          </a:p>
        </p:txBody>
      </p:sp>
      <p:sp>
        <p:nvSpPr>
          <p:cNvPr id="7" name="Text 5"/>
          <p:cNvSpPr txBox="1"/>
          <p:nvPr/>
        </p:nvSpPr>
        <p:spPr>
          <a:xfrm>
            <a:off x="1106424" y="1792224"/>
            <a:ext cx="530352" cy="530352"/>
          </a:xfrm>
          <a:prstGeom prst="rect">
            <a:avLst/>
          </a:prstGeom>
          <a:noFill/>
          <a:ln/>
        </p:spPr>
        <p:txBody>
          <a:bodyPr wrap="square" lIns="0" tIns="0" rIns="0" bIns="0"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d</a:t>
            </a:r>
            <a:endParaRPr lang="en-US" sz="1350" dirty="0"/>
          </a:p>
        </p:txBody>
      </p:sp>
      <p:sp>
        <p:nvSpPr>
          <p:cNvPr id="8" name="Text 6"/>
          <p:cNvSpPr txBox="1"/>
          <p:nvPr/>
        </p:nvSpPr>
        <p:spPr>
          <a:xfrm>
            <a:off x="1005840" y="2450592"/>
            <a:ext cx="731520" cy="228600"/>
          </a:xfrm>
          <a:prstGeom prst="rect">
            <a:avLst/>
          </a:prstGeom>
          <a:noFill/>
          <a:ln/>
        </p:spPr>
        <p:txBody>
          <a:bodyPr wrap="square" lIns="0" tIns="0" rIns="0" bIns="0" rtlCol="0" anchor="t"/>
          <a:lstStyle/>
          <a:p>
            <a:pPr marL="0" indent="0" algn="ctr">
              <a:lnSpc>
                <a:spcPct val="115000"/>
              </a:lnSpc>
              <a:buNone/>
            </a:pPr>
            <a:r>
              <a:rPr lang="en-US" sz="1000" dirty="0">
                <a:solidFill>
                  <a:srgbClr val="9DB3B7"/>
                </a:solidFill>
                <a:latin typeface="Calibri" pitchFamily="34" charset="0"/>
                <a:ea typeface="Calibri" pitchFamily="34" charset="-122"/>
                <a:cs typeface="Calibri" pitchFamily="34" charset="-120"/>
              </a:rPr>
              <a:t>1</a:t>
            </a:r>
            <a:endParaRPr lang="en-US" sz="1000" dirty="0"/>
          </a:p>
        </p:txBody>
      </p:sp>
      <p:sp>
        <p:nvSpPr>
          <p:cNvPr id="9" name="Shape 7"/>
          <p:cNvSpPr/>
          <p:nvPr/>
        </p:nvSpPr>
        <p:spPr>
          <a:xfrm>
            <a:off x="1664208" y="2057400"/>
            <a:ext cx="832104" cy="0"/>
          </a:xfrm>
          <a:prstGeom prst="line">
            <a:avLst/>
          </a:prstGeom>
          <a:noFill/>
          <a:ln w="15875">
            <a:solidFill>
              <a:srgbClr val="BECBCD"/>
            </a:solidFill>
            <a:prstDash val="solid"/>
            <a:tailEnd type="triangle"/>
          </a:ln>
        </p:spPr>
        <p:txBody>
          <a:bodyPr/>
          <a:lstStyle/>
          <a:p>
            <a:endParaRPr lang="en-US"/>
          </a:p>
        </p:txBody>
      </p:sp>
      <p:sp>
        <p:nvSpPr>
          <p:cNvPr id="10" name="Shape 8"/>
          <p:cNvSpPr/>
          <p:nvPr/>
        </p:nvSpPr>
        <p:spPr>
          <a:xfrm>
            <a:off x="2523744" y="1792224"/>
            <a:ext cx="530352" cy="530352"/>
          </a:xfrm>
          <a:prstGeom prst="ellipse">
            <a:avLst/>
          </a:prstGeom>
          <a:solidFill>
            <a:srgbClr val="FFFFFF"/>
          </a:solidFill>
          <a:ln w="15875">
            <a:solidFill>
              <a:srgbClr val="16505C"/>
            </a:solidFill>
            <a:prstDash val="solid"/>
          </a:ln>
        </p:spPr>
        <p:txBody>
          <a:bodyPr/>
          <a:lstStyle/>
          <a:p>
            <a:endParaRPr lang="en-US"/>
          </a:p>
        </p:txBody>
      </p:sp>
      <p:sp>
        <p:nvSpPr>
          <p:cNvPr id="11" name="Text 9"/>
          <p:cNvSpPr txBox="1"/>
          <p:nvPr/>
        </p:nvSpPr>
        <p:spPr>
          <a:xfrm>
            <a:off x="2523744" y="179222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e</a:t>
            </a:r>
            <a:endParaRPr lang="en-US" sz="1350" dirty="0"/>
          </a:p>
        </p:txBody>
      </p:sp>
      <p:sp>
        <p:nvSpPr>
          <p:cNvPr id="12" name="Text 10"/>
          <p:cNvSpPr txBox="1"/>
          <p:nvPr/>
        </p:nvSpPr>
        <p:spPr>
          <a:xfrm>
            <a:off x="2423160" y="2450592"/>
            <a:ext cx="731520" cy="228600"/>
          </a:xfrm>
          <a:prstGeom prst="rect">
            <a:avLst/>
          </a:prstGeom>
          <a:noFill/>
          <a:ln/>
        </p:spPr>
        <p:txBody>
          <a:bodyPr wrap="square" lIns="0" tIns="0" rIns="0" bIns="0" rtlCol="0" anchor="t"/>
          <a:lstStyle/>
          <a:p>
            <a:pPr marL="0" indent="0" algn="ctr">
              <a:lnSpc>
                <a:spcPct val="115000"/>
              </a:lnSpc>
              <a:buNone/>
            </a:pPr>
            <a:r>
              <a:rPr lang="en-US" sz="1000" dirty="0">
                <a:solidFill>
                  <a:srgbClr val="9DB3B7"/>
                </a:solidFill>
                <a:latin typeface="Calibri" pitchFamily="34" charset="0"/>
                <a:ea typeface="Calibri" pitchFamily="34" charset="-122"/>
                <a:cs typeface="Calibri" pitchFamily="34" charset="-120"/>
              </a:rPr>
              <a:t>2</a:t>
            </a:r>
            <a:endParaRPr lang="en-US" sz="1000" dirty="0"/>
          </a:p>
        </p:txBody>
      </p:sp>
      <p:sp>
        <p:nvSpPr>
          <p:cNvPr id="13" name="Shape 11"/>
          <p:cNvSpPr/>
          <p:nvPr/>
        </p:nvSpPr>
        <p:spPr>
          <a:xfrm>
            <a:off x="3081528" y="2057400"/>
            <a:ext cx="832104" cy="0"/>
          </a:xfrm>
          <a:prstGeom prst="line">
            <a:avLst/>
          </a:prstGeom>
          <a:noFill/>
          <a:ln w="15875">
            <a:solidFill>
              <a:srgbClr val="BECBCD"/>
            </a:solidFill>
            <a:prstDash val="solid"/>
            <a:tailEnd type="triangle"/>
          </a:ln>
        </p:spPr>
        <p:txBody>
          <a:bodyPr/>
          <a:lstStyle/>
          <a:p>
            <a:endParaRPr lang="en-US"/>
          </a:p>
        </p:txBody>
      </p:sp>
      <p:sp>
        <p:nvSpPr>
          <p:cNvPr id="14" name="Shape 12"/>
          <p:cNvSpPr/>
          <p:nvPr/>
        </p:nvSpPr>
        <p:spPr>
          <a:xfrm>
            <a:off x="3941064" y="1792224"/>
            <a:ext cx="530352" cy="530352"/>
          </a:xfrm>
          <a:prstGeom prst="ellipse">
            <a:avLst/>
          </a:prstGeom>
          <a:solidFill>
            <a:srgbClr val="FFFFFF"/>
          </a:solidFill>
          <a:ln w="15875">
            <a:solidFill>
              <a:srgbClr val="16505C"/>
            </a:solidFill>
            <a:prstDash val="solid"/>
          </a:ln>
        </p:spPr>
        <p:txBody>
          <a:bodyPr/>
          <a:lstStyle/>
          <a:p>
            <a:endParaRPr lang="en-US"/>
          </a:p>
        </p:txBody>
      </p:sp>
      <p:sp>
        <p:nvSpPr>
          <p:cNvPr id="15" name="Text 13"/>
          <p:cNvSpPr txBox="1"/>
          <p:nvPr/>
        </p:nvSpPr>
        <p:spPr>
          <a:xfrm>
            <a:off x="3941064" y="179222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g</a:t>
            </a:r>
            <a:endParaRPr lang="en-US" sz="1350" dirty="0"/>
          </a:p>
        </p:txBody>
      </p:sp>
      <p:sp>
        <p:nvSpPr>
          <p:cNvPr id="16" name="Text 14"/>
          <p:cNvSpPr txBox="1"/>
          <p:nvPr/>
        </p:nvSpPr>
        <p:spPr>
          <a:xfrm>
            <a:off x="3840480" y="2450592"/>
            <a:ext cx="731520" cy="228600"/>
          </a:xfrm>
          <a:prstGeom prst="rect">
            <a:avLst/>
          </a:prstGeom>
          <a:noFill/>
          <a:ln/>
        </p:spPr>
        <p:txBody>
          <a:bodyPr wrap="square" lIns="0" tIns="0" rIns="0" bIns="0" rtlCol="0" anchor="t"/>
          <a:lstStyle/>
          <a:p>
            <a:pPr marL="0" indent="0" algn="ctr">
              <a:lnSpc>
                <a:spcPct val="115000"/>
              </a:lnSpc>
              <a:buNone/>
            </a:pPr>
            <a:r>
              <a:rPr lang="en-US" sz="1000" dirty="0">
                <a:solidFill>
                  <a:srgbClr val="9DB3B7"/>
                </a:solidFill>
                <a:latin typeface="Calibri" pitchFamily="34" charset="0"/>
                <a:ea typeface="Calibri" pitchFamily="34" charset="-122"/>
                <a:cs typeface="Calibri" pitchFamily="34" charset="-120"/>
              </a:rPr>
              <a:t>3</a:t>
            </a:r>
            <a:endParaRPr lang="en-US" sz="1000" dirty="0"/>
          </a:p>
        </p:txBody>
      </p:sp>
      <p:sp>
        <p:nvSpPr>
          <p:cNvPr id="17" name="Shape 15"/>
          <p:cNvSpPr/>
          <p:nvPr/>
        </p:nvSpPr>
        <p:spPr>
          <a:xfrm>
            <a:off x="4498848" y="2057400"/>
            <a:ext cx="832104" cy="0"/>
          </a:xfrm>
          <a:prstGeom prst="line">
            <a:avLst/>
          </a:prstGeom>
          <a:noFill/>
          <a:ln w="15875">
            <a:solidFill>
              <a:srgbClr val="BECBCD"/>
            </a:solidFill>
            <a:prstDash val="solid"/>
            <a:tailEnd type="triangle"/>
          </a:ln>
        </p:spPr>
        <p:txBody>
          <a:bodyPr/>
          <a:lstStyle/>
          <a:p>
            <a:endParaRPr lang="en-US"/>
          </a:p>
        </p:txBody>
      </p:sp>
      <p:sp>
        <p:nvSpPr>
          <p:cNvPr id="18" name="Shape 16"/>
          <p:cNvSpPr/>
          <p:nvPr/>
        </p:nvSpPr>
        <p:spPr>
          <a:xfrm>
            <a:off x="5358384" y="1792224"/>
            <a:ext cx="530352" cy="530352"/>
          </a:xfrm>
          <a:prstGeom prst="ellipse">
            <a:avLst/>
          </a:prstGeom>
          <a:solidFill>
            <a:srgbClr val="FFFFFF"/>
          </a:solidFill>
          <a:ln w="15875">
            <a:solidFill>
              <a:srgbClr val="16505C"/>
            </a:solidFill>
            <a:prstDash val="solid"/>
          </a:ln>
        </p:spPr>
        <p:txBody>
          <a:bodyPr/>
          <a:lstStyle/>
          <a:p>
            <a:endParaRPr lang="en-US"/>
          </a:p>
        </p:txBody>
      </p:sp>
      <p:sp>
        <p:nvSpPr>
          <p:cNvPr id="19" name="Text 17"/>
          <p:cNvSpPr txBox="1"/>
          <p:nvPr/>
        </p:nvSpPr>
        <p:spPr>
          <a:xfrm>
            <a:off x="5358384" y="179222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f</a:t>
            </a:r>
            <a:endParaRPr lang="en-US" sz="1350" dirty="0"/>
          </a:p>
        </p:txBody>
      </p:sp>
      <p:sp>
        <p:nvSpPr>
          <p:cNvPr id="20" name="Text 18"/>
          <p:cNvSpPr txBox="1"/>
          <p:nvPr/>
        </p:nvSpPr>
        <p:spPr>
          <a:xfrm>
            <a:off x="5257800" y="2450592"/>
            <a:ext cx="731520" cy="228600"/>
          </a:xfrm>
          <a:prstGeom prst="rect">
            <a:avLst/>
          </a:prstGeom>
          <a:noFill/>
          <a:ln/>
        </p:spPr>
        <p:txBody>
          <a:bodyPr wrap="square" lIns="0" tIns="0" rIns="0" bIns="0" rtlCol="0" anchor="t"/>
          <a:lstStyle/>
          <a:p>
            <a:pPr marL="0" indent="0" algn="ctr">
              <a:lnSpc>
                <a:spcPct val="115000"/>
              </a:lnSpc>
              <a:buNone/>
            </a:pPr>
            <a:r>
              <a:rPr lang="en-US" sz="1000" dirty="0">
                <a:solidFill>
                  <a:srgbClr val="9DB3B7"/>
                </a:solidFill>
                <a:latin typeface="Calibri" pitchFamily="34" charset="0"/>
                <a:ea typeface="Calibri" pitchFamily="34" charset="-122"/>
                <a:cs typeface="Calibri" pitchFamily="34" charset="-120"/>
              </a:rPr>
              <a:t>4</a:t>
            </a:r>
            <a:endParaRPr lang="en-US" sz="1000" dirty="0"/>
          </a:p>
        </p:txBody>
      </p:sp>
      <p:sp>
        <p:nvSpPr>
          <p:cNvPr id="21" name="Shape 19"/>
          <p:cNvSpPr/>
          <p:nvPr/>
        </p:nvSpPr>
        <p:spPr>
          <a:xfrm>
            <a:off x="5916168" y="2057400"/>
            <a:ext cx="832104" cy="0"/>
          </a:xfrm>
          <a:prstGeom prst="line">
            <a:avLst/>
          </a:prstGeom>
          <a:noFill/>
          <a:ln w="15875">
            <a:solidFill>
              <a:srgbClr val="BECBCD"/>
            </a:solidFill>
            <a:prstDash val="solid"/>
            <a:tailEnd type="triangle"/>
          </a:ln>
        </p:spPr>
        <p:txBody>
          <a:bodyPr/>
          <a:lstStyle/>
          <a:p>
            <a:endParaRPr lang="en-US"/>
          </a:p>
        </p:txBody>
      </p:sp>
      <p:sp>
        <p:nvSpPr>
          <p:cNvPr id="22" name="Shape 20"/>
          <p:cNvSpPr/>
          <p:nvPr/>
        </p:nvSpPr>
        <p:spPr>
          <a:xfrm>
            <a:off x="6775704" y="1792224"/>
            <a:ext cx="530352" cy="530352"/>
          </a:xfrm>
          <a:prstGeom prst="ellipse">
            <a:avLst/>
          </a:prstGeom>
          <a:solidFill>
            <a:srgbClr val="FFFFFF"/>
          </a:solidFill>
          <a:ln w="15875">
            <a:solidFill>
              <a:srgbClr val="16505C"/>
            </a:solidFill>
            <a:prstDash val="solid"/>
          </a:ln>
        </p:spPr>
        <p:txBody>
          <a:bodyPr/>
          <a:lstStyle/>
          <a:p>
            <a:endParaRPr lang="en-US"/>
          </a:p>
        </p:txBody>
      </p:sp>
      <p:sp>
        <p:nvSpPr>
          <p:cNvPr id="23" name="Text 21"/>
          <p:cNvSpPr txBox="1"/>
          <p:nvPr/>
        </p:nvSpPr>
        <p:spPr>
          <a:xfrm>
            <a:off x="6775704" y="179222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b</a:t>
            </a:r>
            <a:endParaRPr lang="en-US" sz="1350" dirty="0"/>
          </a:p>
        </p:txBody>
      </p:sp>
      <p:sp>
        <p:nvSpPr>
          <p:cNvPr id="24" name="Text 22"/>
          <p:cNvSpPr txBox="1"/>
          <p:nvPr/>
        </p:nvSpPr>
        <p:spPr>
          <a:xfrm>
            <a:off x="6675120" y="2450592"/>
            <a:ext cx="731520" cy="228600"/>
          </a:xfrm>
          <a:prstGeom prst="rect">
            <a:avLst/>
          </a:prstGeom>
          <a:noFill/>
          <a:ln/>
        </p:spPr>
        <p:txBody>
          <a:bodyPr wrap="square" lIns="0" tIns="0" rIns="0" bIns="0" rtlCol="0" anchor="t"/>
          <a:lstStyle/>
          <a:p>
            <a:pPr marL="0" indent="0" algn="ctr">
              <a:lnSpc>
                <a:spcPct val="115000"/>
              </a:lnSpc>
              <a:buNone/>
            </a:pPr>
            <a:r>
              <a:rPr lang="en-US" sz="1000" dirty="0">
                <a:solidFill>
                  <a:srgbClr val="9DB3B7"/>
                </a:solidFill>
                <a:latin typeface="Calibri" pitchFamily="34" charset="0"/>
                <a:ea typeface="Calibri" pitchFamily="34" charset="-122"/>
                <a:cs typeface="Calibri" pitchFamily="34" charset="-120"/>
              </a:rPr>
              <a:t>5</a:t>
            </a:r>
            <a:endParaRPr lang="en-US" sz="1000" dirty="0"/>
          </a:p>
        </p:txBody>
      </p:sp>
      <p:sp>
        <p:nvSpPr>
          <p:cNvPr id="25" name="Shape 23"/>
          <p:cNvSpPr/>
          <p:nvPr/>
        </p:nvSpPr>
        <p:spPr>
          <a:xfrm>
            <a:off x="7333488" y="2057400"/>
            <a:ext cx="832104" cy="0"/>
          </a:xfrm>
          <a:prstGeom prst="line">
            <a:avLst/>
          </a:prstGeom>
          <a:noFill/>
          <a:ln w="15875">
            <a:solidFill>
              <a:srgbClr val="BECBCD"/>
            </a:solidFill>
            <a:prstDash val="solid"/>
            <a:tailEnd type="triangle"/>
          </a:ln>
        </p:spPr>
        <p:txBody>
          <a:bodyPr/>
          <a:lstStyle/>
          <a:p>
            <a:endParaRPr lang="en-US"/>
          </a:p>
        </p:txBody>
      </p:sp>
      <p:sp>
        <p:nvSpPr>
          <p:cNvPr id="26" name="Shape 24"/>
          <p:cNvSpPr/>
          <p:nvPr/>
        </p:nvSpPr>
        <p:spPr>
          <a:xfrm>
            <a:off x="8193024" y="1792224"/>
            <a:ext cx="530352" cy="530352"/>
          </a:xfrm>
          <a:prstGeom prst="ellipse">
            <a:avLst/>
          </a:prstGeom>
          <a:solidFill>
            <a:srgbClr val="FFFFFF"/>
          </a:solidFill>
          <a:ln w="15875">
            <a:solidFill>
              <a:srgbClr val="16505C"/>
            </a:solidFill>
            <a:prstDash val="solid"/>
          </a:ln>
        </p:spPr>
        <p:txBody>
          <a:bodyPr/>
          <a:lstStyle/>
          <a:p>
            <a:endParaRPr lang="en-US"/>
          </a:p>
        </p:txBody>
      </p:sp>
      <p:sp>
        <p:nvSpPr>
          <p:cNvPr id="27" name="Text 25"/>
          <p:cNvSpPr txBox="1"/>
          <p:nvPr/>
        </p:nvSpPr>
        <p:spPr>
          <a:xfrm>
            <a:off x="8193024" y="179222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c</a:t>
            </a:r>
            <a:endParaRPr lang="en-US" sz="1350" dirty="0"/>
          </a:p>
        </p:txBody>
      </p:sp>
      <p:sp>
        <p:nvSpPr>
          <p:cNvPr id="28" name="Text 26"/>
          <p:cNvSpPr txBox="1"/>
          <p:nvPr/>
        </p:nvSpPr>
        <p:spPr>
          <a:xfrm>
            <a:off x="8092440" y="2450592"/>
            <a:ext cx="731520" cy="228600"/>
          </a:xfrm>
          <a:prstGeom prst="rect">
            <a:avLst/>
          </a:prstGeom>
          <a:noFill/>
          <a:ln/>
        </p:spPr>
        <p:txBody>
          <a:bodyPr wrap="square" lIns="0" tIns="0" rIns="0" bIns="0" rtlCol="0" anchor="t"/>
          <a:lstStyle/>
          <a:p>
            <a:pPr marL="0" indent="0" algn="ctr">
              <a:lnSpc>
                <a:spcPct val="115000"/>
              </a:lnSpc>
              <a:buNone/>
            </a:pPr>
            <a:r>
              <a:rPr lang="en-US" sz="1000" dirty="0">
                <a:solidFill>
                  <a:srgbClr val="9DB3B7"/>
                </a:solidFill>
                <a:latin typeface="Calibri" pitchFamily="34" charset="0"/>
                <a:ea typeface="Calibri" pitchFamily="34" charset="-122"/>
                <a:cs typeface="Calibri" pitchFamily="34" charset="-120"/>
              </a:rPr>
              <a:t>6</a:t>
            </a:r>
            <a:endParaRPr lang="en-US" sz="1000" dirty="0"/>
          </a:p>
        </p:txBody>
      </p:sp>
      <p:sp>
        <p:nvSpPr>
          <p:cNvPr id="29" name="Shape 27"/>
          <p:cNvSpPr/>
          <p:nvPr/>
        </p:nvSpPr>
        <p:spPr>
          <a:xfrm>
            <a:off x="8750808" y="2057400"/>
            <a:ext cx="832104" cy="0"/>
          </a:xfrm>
          <a:prstGeom prst="line">
            <a:avLst/>
          </a:prstGeom>
          <a:noFill/>
          <a:ln w="15875">
            <a:solidFill>
              <a:srgbClr val="BECBCD"/>
            </a:solidFill>
            <a:prstDash val="solid"/>
            <a:tailEnd type="triangle"/>
          </a:ln>
        </p:spPr>
        <p:txBody>
          <a:bodyPr/>
          <a:lstStyle/>
          <a:p>
            <a:endParaRPr lang="en-US"/>
          </a:p>
        </p:txBody>
      </p:sp>
      <p:sp>
        <p:nvSpPr>
          <p:cNvPr id="30" name="Shape 28"/>
          <p:cNvSpPr/>
          <p:nvPr/>
        </p:nvSpPr>
        <p:spPr>
          <a:xfrm>
            <a:off x="9610344" y="1792224"/>
            <a:ext cx="530352" cy="530352"/>
          </a:xfrm>
          <a:prstGeom prst="ellipse">
            <a:avLst/>
          </a:prstGeom>
          <a:solidFill>
            <a:srgbClr val="FFFFFF"/>
          </a:solidFill>
          <a:ln w="15875">
            <a:solidFill>
              <a:srgbClr val="16505C"/>
            </a:solidFill>
            <a:prstDash val="solid"/>
          </a:ln>
        </p:spPr>
        <p:txBody>
          <a:bodyPr/>
          <a:lstStyle/>
          <a:p>
            <a:endParaRPr lang="en-US"/>
          </a:p>
        </p:txBody>
      </p:sp>
      <p:sp>
        <p:nvSpPr>
          <p:cNvPr id="31" name="Text 29"/>
          <p:cNvSpPr txBox="1"/>
          <p:nvPr/>
        </p:nvSpPr>
        <p:spPr>
          <a:xfrm>
            <a:off x="9610344" y="1792224"/>
            <a:ext cx="530352" cy="530352"/>
          </a:xfrm>
          <a:prstGeom prst="rect">
            <a:avLst/>
          </a:prstGeom>
          <a:noFill/>
          <a:ln/>
        </p:spPr>
        <p:txBody>
          <a:bodyPr wrap="square" lIns="0" tIns="0" rIns="0" bIns="0" rtlCol="0" anchor="ctr"/>
          <a:lstStyle/>
          <a:p>
            <a:pPr marL="0" indent="0" algn="ctr">
              <a:buNone/>
            </a:pPr>
            <a:r>
              <a:rPr lang="en-US" sz="1350" b="1" i="1" dirty="0">
                <a:solidFill>
                  <a:srgbClr val="13232B"/>
                </a:solidFill>
                <a:latin typeface="Calibri" pitchFamily="34" charset="0"/>
                <a:ea typeface="Calibri" pitchFamily="34" charset="-122"/>
                <a:cs typeface="Calibri" pitchFamily="34" charset="-120"/>
              </a:rPr>
              <a:t>a</a:t>
            </a:r>
            <a:endParaRPr lang="en-US" sz="1350" dirty="0"/>
          </a:p>
        </p:txBody>
      </p:sp>
      <p:sp>
        <p:nvSpPr>
          <p:cNvPr id="32" name="Text 30"/>
          <p:cNvSpPr txBox="1"/>
          <p:nvPr/>
        </p:nvSpPr>
        <p:spPr>
          <a:xfrm>
            <a:off x="9509760" y="2450592"/>
            <a:ext cx="731520" cy="228600"/>
          </a:xfrm>
          <a:prstGeom prst="rect">
            <a:avLst/>
          </a:prstGeom>
          <a:noFill/>
          <a:ln/>
        </p:spPr>
        <p:txBody>
          <a:bodyPr wrap="square" lIns="0" tIns="0" rIns="0" bIns="0" rtlCol="0" anchor="t"/>
          <a:lstStyle/>
          <a:p>
            <a:pPr marL="0" indent="0" algn="ctr">
              <a:lnSpc>
                <a:spcPct val="115000"/>
              </a:lnSpc>
              <a:buNone/>
            </a:pPr>
            <a:r>
              <a:rPr lang="en-US" sz="1000" dirty="0">
                <a:solidFill>
                  <a:srgbClr val="9DB3B7"/>
                </a:solidFill>
                <a:latin typeface="Calibri" pitchFamily="34" charset="0"/>
                <a:ea typeface="Calibri" pitchFamily="34" charset="-122"/>
                <a:cs typeface="Calibri" pitchFamily="34" charset="-120"/>
              </a:rPr>
              <a:t>7</a:t>
            </a:r>
            <a:endParaRPr lang="en-US" sz="1000" dirty="0"/>
          </a:p>
        </p:txBody>
      </p:sp>
      <p:sp>
        <p:nvSpPr>
          <p:cNvPr id="33" name="Shape 31"/>
          <p:cNvSpPr/>
          <p:nvPr/>
        </p:nvSpPr>
        <p:spPr>
          <a:xfrm>
            <a:off x="640080" y="2926080"/>
            <a:ext cx="5852160" cy="2743200"/>
          </a:xfrm>
          <a:prstGeom prst="roundRect">
            <a:avLst>
              <a:gd name="adj" fmla="val 2000"/>
            </a:avLst>
          </a:prstGeom>
          <a:solidFill>
            <a:srgbClr val="F6F9F8"/>
          </a:solidFill>
          <a:ln w="9525">
            <a:solidFill>
              <a:srgbClr val="D3E0DD"/>
            </a:solidFill>
            <a:prstDash val="solid"/>
          </a:ln>
        </p:spPr>
        <p:txBody>
          <a:bodyPr/>
          <a:lstStyle/>
          <a:p>
            <a:endParaRPr lang="en-US"/>
          </a:p>
        </p:txBody>
      </p:sp>
      <p:sp>
        <p:nvSpPr>
          <p:cNvPr id="34" name="Text 32"/>
          <p:cNvSpPr txBox="1"/>
          <p:nvPr/>
        </p:nvSpPr>
        <p:spPr>
          <a:xfrm>
            <a:off x="914400" y="3108960"/>
            <a:ext cx="5303520" cy="237744"/>
          </a:xfrm>
          <a:prstGeom prst="rect">
            <a:avLst/>
          </a:prstGeom>
          <a:noFill/>
          <a:ln/>
        </p:spPr>
        <p:txBody>
          <a:bodyPr wrap="square" lIns="0" tIns="0" rIns="0" bIns="0" rtlCol="0" anchor="ctr"/>
          <a:lstStyle/>
          <a:p>
            <a:pPr marL="0" indent="0">
              <a:buNone/>
            </a:pPr>
            <a:r>
              <a:rPr lang="en-US" sz="950" b="1" kern="0" spc="120" dirty="0">
                <a:solidFill>
                  <a:srgbClr val="2A9D8F"/>
                </a:solidFill>
                <a:latin typeface="Calibri" pitchFamily="34" charset="0"/>
                <a:ea typeface="Calibri" pitchFamily="34" charset="-122"/>
                <a:cs typeface="Calibri" pitchFamily="34" charset="-120"/>
              </a:rPr>
              <a:t>ALL NINE EDGES, LEFT TO RIGHT</a:t>
            </a:r>
            <a:endParaRPr lang="en-US" sz="950" dirty="0"/>
          </a:p>
        </p:txBody>
      </p:sp>
      <p:sp>
        <p:nvSpPr>
          <p:cNvPr id="35" name="Text 33"/>
          <p:cNvSpPr txBox="1"/>
          <p:nvPr/>
        </p:nvSpPr>
        <p:spPr>
          <a:xfrm>
            <a:off x="914400" y="3520440"/>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d → a</a:t>
            </a:r>
            <a:endParaRPr lang="en-US" sz="1150" dirty="0"/>
          </a:p>
        </p:txBody>
      </p:sp>
      <p:sp>
        <p:nvSpPr>
          <p:cNvPr id="36" name="Text 34"/>
          <p:cNvSpPr txBox="1"/>
          <p:nvPr/>
        </p:nvSpPr>
        <p:spPr>
          <a:xfrm>
            <a:off x="1691640" y="3520440"/>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1 → 7</a:t>
            </a:r>
            <a:endParaRPr lang="en-US" sz="1100" dirty="0"/>
          </a:p>
        </p:txBody>
      </p:sp>
      <p:sp>
        <p:nvSpPr>
          <p:cNvPr id="37" name="Text 35"/>
          <p:cNvSpPr txBox="1"/>
          <p:nvPr/>
        </p:nvSpPr>
        <p:spPr>
          <a:xfrm>
            <a:off x="2468880" y="3502152"/>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38" name="Text 36"/>
          <p:cNvSpPr txBox="1"/>
          <p:nvPr/>
        </p:nvSpPr>
        <p:spPr>
          <a:xfrm>
            <a:off x="2788920" y="3520440"/>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d → e</a:t>
            </a:r>
            <a:endParaRPr lang="en-US" sz="1150" dirty="0"/>
          </a:p>
        </p:txBody>
      </p:sp>
      <p:sp>
        <p:nvSpPr>
          <p:cNvPr id="39" name="Text 37"/>
          <p:cNvSpPr txBox="1"/>
          <p:nvPr/>
        </p:nvSpPr>
        <p:spPr>
          <a:xfrm>
            <a:off x="3566160" y="3520440"/>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1 → 2</a:t>
            </a:r>
            <a:endParaRPr lang="en-US" sz="1100" dirty="0"/>
          </a:p>
        </p:txBody>
      </p:sp>
      <p:sp>
        <p:nvSpPr>
          <p:cNvPr id="40" name="Text 38"/>
          <p:cNvSpPr txBox="1"/>
          <p:nvPr/>
        </p:nvSpPr>
        <p:spPr>
          <a:xfrm>
            <a:off x="4343400" y="3502152"/>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41" name="Text 39"/>
          <p:cNvSpPr txBox="1"/>
          <p:nvPr/>
        </p:nvSpPr>
        <p:spPr>
          <a:xfrm>
            <a:off x="4663440" y="3520440"/>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d → f</a:t>
            </a:r>
            <a:endParaRPr lang="en-US" sz="1150" dirty="0"/>
          </a:p>
        </p:txBody>
      </p:sp>
      <p:sp>
        <p:nvSpPr>
          <p:cNvPr id="42" name="Text 40"/>
          <p:cNvSpPr txBox="1"/>
          <p:nvPr/>
        </p:nvSpPr>
        <p:spPr>
          <a:xfrm>
            <a:off x="5440680" y="3520440"/>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1 → 4</a:t>
            </a:r>
            <a:endParaRPr lang="en-US" sz="1100" dirty="0"/>
          </a:p>
        </p:txBody>
      </p:sp>
      <p:sp>
        <p:nvSpPr>
          <p:cNvPr id="43" name="Text 41"/>
          <p:cNvSpPr txBox="1"/>
          <p:nvPr/>
        </p:nvSpPr>
        <p:spPr>
          <a:xfrm>
            <a:off x="6217920" y="3502152"/>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44" name="Text 42"/>
          <p:cNvSpPr txBox="1"/>
          <p:nvPr/>
        </p:nvSpPr>
        <p:spPr>
          <a:xfrm>
            <a:off x="914400" y="4087368"/>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e → a</a:t>
            </a:r>
            <a:endParaRPr lang="en-US" sz="1150" dirty="0"/>
          </a:p>
        </p:txBody>
      </p:sp>
      <p:sp>
        <p:nvSpPr>
          <p:cNvPr id="45" name="Text 43"/>
          <p:cNvSpPr txBox="1"/>
          <p:nvPr/>
        </p:nvSpPr>
        <p:spPr>
          <a:xfrm>
            <a:off x="1691640" y="4087368"/>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2 → 7</a:t>
            </a:r>
            <a:endParaRPr lang="en-US" sz="1100" dirty="0"/>
          </a:p>
        </p:txBody>
      </p:sp>
      <p:sp>
        <p:nvSpPr>
          <p:cNvPr id="46" name="Text 44"/>
          <p:cNvSpPr txBox="1"/>
          <p:nvPr/>
        </p:nvSpPr>
        <p:spPr>
          <a:xfrm>
            <a:off x="2468880" y="4069080"/>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47" name="Text 45"/>
          <p:cNvSpPr txBox="1"/>
          <p:nvPr/>
        </p:nvSpPr>
        <p:spPr>
          <a:xfrm>
            <a:off x="2788920" y="4087368"/>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e → c</a:t>
            </a:r>
            <a:endParaRPr lang="en-US" sz="1150" dirty="0"/>
          </a:p>
        </p:txBody>
      </p:sp>
      <p:sp>
        <p:nvSpPr>
          <p:cNvPr id="48" name="Text 46"/>
          <p:cNvSpPr txBox="1"/>
          <p:nvPr/>
        </p:nvSpPr>
        <p:spPr>
          <a:xfrm>
            <a:off x="3566160" y="4087368"/>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2 → 6</a:t>
            </a:r>
            <a:endParaRPr lang="en-US" sz="1100" dirty="0"/>
          </a:p>
        </p:txBody>
      </p:sp>
      <p:sp>
        <p:nvSpPr>
          <p:cNvPr id="49" name="Text 47"/>
          <p:cNvSpPr txBox="1"/>
          <p:nvPr/>
        </p:nvSpPr>
        <p:spPr>
          <a:xfrm>
            <a:off x="4343400" y="4069080"/>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50" name="Text 48"/>
          <p:cNvSpPr txBox="1"/>
          <p:nvPr/>
        </p:nvSpPr>
        <p:spPr>
          <a:xfrm>
            <a:off x="4663440" y="4087368"/>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e → g</a:t>
            </a:r>
            <a:endParaRPr lang="en-US" sz="1150" dirty="0"/>
          </a:p>
        </p:txBody>
      </p:sp>
      <p:sp>
        <p:nvSpPr>
          <p:cNvPr id="51" name="Text 49"/>
          <p:cNvSpPr txBox="1"/>
          <p:nvPr/>
        </p:nvSpPr>
        <p:spPr>
          <a:xfrm>
            <a:off x="5440680" y="4087368"/>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2 → 3</a:t>
            </a:r>
            <a:endParaRPr lang="en-US" sz="1100" dirty="0"/>
          </a:p>
        </p:txBody>
      </p:sp>
      <p:sp>
        <p:nvSpPr>
          <p:cNvPr id="52" name="Text 50"/>
          <p:cNvSpPr txBox="1"/>
          <p:nvPr/>
        </p:nvSpPr>
        <p:spPr>
          <a:xfrm>
            <a:off x="6217920" y="4069080"/>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53" name="Text 51"/>
          <p:cNvSpPr txBox="1"/>
          <p:nvPr/>
        </p:nvSpPr>
        <p:spPr>
          <a:xfrm>
            <a:off x="914400" y="4654296"/>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g → f</a:t>
            </a:r>
            <a:endParaRPr lang="en-US" sz="1150" dirty="0"/>
          </a:p>
        </p:txBody>
      </p:sp>
      <p:sp>
        <p:nvSpPr>
          <p:cNvPr id="54" name="Text 52"/>
          <p:cNvSpPr txBox="1"/>
          <p:nvPr/>
        </p:nvSpPr>
        <p:spPr>
          <a:xfrm>
            <a:off x="1691640" y="4654296"/>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3 → 4</a:t>
            </a:r>
            <a:endParaRPr lang="en-US" sz="1100" dirty="0"/>
          </a:p>
        </p:txBody>
      </p:sp>
      <p:sp>
        <p:nvSpPr>
          <p:cNvPr id="55" name="Text 53"/>
          <p:cNvSpPr txBox="1"/>
          <p:nvPr/>
        </p:nvSpPr>
        <p:spPr>
          <a:xfrm>
            <a:off x="2468880" y="4636008"/>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56" name="Text 54"/>
          <p:cNvSpPr txBox="1"/>
          <p:nvPr/>
        </p:nvSpPr>
        <p:spPr>
          <a:xfrm>
            <a:off x="2788920" y="4654296"/>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b → a</a:t>
            </a:r>
            <a:endParaRPr lang="en-US" sz="1150" dirty="0"/>
          </a:p>
        </p:txBody>
      </p:sp>
      <p:sp>
        <p:nvSpPr>
          <p:cNvPr id="57" name="Text 55"/>
          <p:cNvSpPr txBox="1"/>
          <p:nvPr/>
        </p:nvSpPr>
        <p:spPr>
          <a:xfrm>
            <a:off x="3566160" y="4654296"/>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5 → 7</a:t>
            </a:r>
            <a:endParaRPr lang="en-US" sz="1100" dirty="0"/>
          </a:p>
        </p:txBody>
      </p:sp>
      <p:sp>
        <p:nvSpPr>
          <p:cNvPr id="58" name="Text 56"/>
          <p:cNvSpPr txBox="1"/>
          <p:nvPr/>
        </p:nvSpPr>
        <p:spPr>
          <a:xfrm>
            <a:off x="4343400" y="4636008"/>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59" name="Text 57"/>
          <p:cNvSpPr txBox="1"/>
          <p:nvPr/>
        </p:nvSpPr>
        <p:spPr>
          <a:xfrm>
            <a:off x="4663440" y="4654296"/>
            <a:ext cx="777240" cy="274320"/>
          </a:xfrm>
          <a:prstGeom prst="rect">
            <a:avLst/>
          </a:prstGeom>
          <a:noFill/>
          <a:ln/>
        </p:spPr>
        <p:txBody>
          <a:bodyPr wrap="square" lIns="0" tIns="0" rIns="0" bIns="0" rtlCol="0" anchor="t"/>
          <a:lstStyle/>
          <a:p>
            <a:pPr marL="0" indent="0" algn="l">
              <a:lnSpc>
                <a:spcPct val="115000"/>
              </a:lnSpc>
              <a:buNone/>
            </a:pPr>
            <a:r>
              <a:rPr lang="en-US" sz="1150" dirty="0">
                <a:solidFill>
                  <a:srgbClr val="13232B"/>
                </a:solidFill>
                <a:latin typeface="Courier New" pitchFamily="34" charset="0"/>
                <a:ea typeface="Courier New" pitchFamily="34" charset="-122"/>
                <a:cs typeface="Courier New" pitchFamily="34" charset="-120"/>
              </a:rPr>
              <a:t>b → c</a:t>
            </a:r>
            <a:endParaRPr lang="en-US" sz="1150" dirty="0"/>
          </a:p>
        </p:txBody>
      </p:sp>
      <p:sp>
        <p:nvSpPr>
          <p:cNvPr id="60" name="Text 58"/>
          <p:cNvSpPr txBox="1"/>
          <p:nvPr/>
        </p:nvSpPr>
        <p:spPr>
          <a:xfrm>
            <a:off x="5440680" y="4654296"/>
            <a:ext cx="777240" cy="274320"/>
          </a:xfrm>
          <a:prstGeom prst="rect">
            <a:avLst/>
          </a:prstGeom>
          <a:noFill/>
          <a:ln/>
        </p:spPr>
        <p:txBody>
          <a:bodyPr wrap="square" lIns="0" tIns="0" rIns="0" bIns="0" rtlCol="0" anchor="t"/>
          <a:lstStyle/>
          <a:p>
            <a:pPr marL="0" indent="0" algn="l">
              <a:lnSpc>
                <a:spcPct val="115000"/>
              </a:lnSpc>
              <a:buNone/>
            </a:pPr>
            <a:r>
              <a:rPr lang="en-US" sz="1100" dirty="0">
                <a:solidFill>
                  <a:srgbClr val="63797F"/>
                </a:solidFill>
                <a:latin typeface="Courier New" pitchFamily="34" charset="0"/>
                <a:ea typeface="Courier New" pitchFamily="34" charset="-122"/>
                <a:cs typeface="Courier New" pitchFamily="34" charset="-120"/>
              </a:rPr>
              <a:t>5 → 6</a:t>
            </a:r>
            <a:endParaRPr lang="en-US" sz="1100" dirty="0"/>
          </a:p>
        </p:txBody>
      </p:sp>
      <p:sp>
        <p:nvSpPr>
          <p:cNvPr id="61" name="Text 59"/>
          <p:cNvSpPr txBox="1"/>
          <p:nvPr/>
        </p:nvSpPr>
        <p:spPr>
          <a:xfrm>
            <a:off x="6217920" y="4636008"/>
            <a:ext cx="274320" cy="274320"/>
          </a:xfrm>
          <a:prstGeom prst="rect">
            <a:avLst/>
          </a:prstGeom>
          <a:noFill/>
          <a:ln/>
        </p:spPr>
        <p:txBody>
          <a:bodyPr wrap="square" lIns="0" tIns="0" rIns="0" bIns="0" rtlCol="0" anchor="t"/>
          <a:lstStyle/>
          <a:p>
            <a:pPr marL="0" indent="0" algn="l">
              <a:lnSpc>
                <a:spcPct val="115000"/>
              </a:lnSpc>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62" name="Text 60"/>
          <p:cNvSpPr txBox="1"/>
          <p:nvPr/>
        </p:nvSpPr>
        <p:spPr>
          <a:xfrm>
            <a:off x="914400" y="5349240"/>
            <a:ext cx="5303520" cy="274320"/>
          </a:xfrm>
          <a:prstGeom prst="rect">
            <a:avLst/>
          </a:prstGeom>
          <a:noFill/>
          <a:ln/>
        </p:spPr>
        <p:txBody>
          <a:bodyPr wrap="square" lIns="0" tIns="0" rIns="0" bIns="0" rtlCol="0" anchor="t"/>
          <a:lstStyle/>
          <a:p>
            <a:pPr marL="0" indent="0" algn="l">
              <a:lnSpc>
                <a:spcPct val="115000"/>
              </a:lnSpc>
              <a:buNone/>
            </a:pPr>
            <a:r>
              <a:rPr lang="en-US" sz="1200" i="1" dirty="0">
                <a:solidFill>
                  <a:srgbClr val="0B3B44"/>
                </a:solidFill>
                <a:latin typeface="Calibri" pitchFamily="34" charset="0"/>
                <a:ea typeface="Calibri" pitchFamily="34" charset="-122"/>
                <a:cs typeface="Calibri" pitchFamily="34" charset="-120"/>
              </a:rPr>
              <a:t>Nine forward arrows, no backward ones — the ordering is valid.</a:t>
            </a:r>
            <a:endParaRPr lang="en-US" sz="1200" dirty="0"/>
          </a:p>
        </p:txBody>
      </p:sp>
      <p:sp>
        <p:nvSpPr>
          <p:cNvPr id="63" name="Shape 61"/>
          <p:cNvSpPr/>
          <p:nvPr/>
        </p:nvSpPr>
        <p:spPr>
          <a:xfrm>
            <a:off x="6903720" y="2926080"/>
            <a:ext cx="4663440" cy="868680"/>
          </a:xfrm>
          <a:prstGeom prst="roundRect">
            <a:avLst>
              <a:gd name="adj" fmla="val 6316"/>
            </a:avLst>
          </a:prstGeom>
          <a:solidFill>
            <a:srgbClr val="F6F9F8"/>
          </a:solidFill>
          <a:ln w="9525">
            <a:solidFill>
              <a:srgbClr val="D3E0DD"/>
            </a:solidFill>
            <a:prstDash val="solid"/>
          </a:ln>
        </p:spPr>
        <p:txBody>
          <a:bodyPr/>
          <a:lstStyle/>
          <a:p>
            <a:endParaRPr lang="en-US"/>
          </a:p>
        </p:txBody>
      </p:sp>
      <p:sp>
        <p:nvSpPr>
          <p:cNvPr id="64" name="Text 62"/>
          <p:cNvSpPr txBox="1"/>
          <p:nvPr/>
        </p:nvSpPr>
        <p:spPr>
          <a:xfrm>
            <a:off x="7132320" y="3044952"/>
            <a:ext cx="4206240" cy="256032"/>
          </a:xfrm>
          <a:prstGeom prst="rect">
            <a:avLst/>
          </a:prstGeom>
          <a:noFill/>
          <a:ln/>
        </p:spPr>
        <p:txBody>
          <a:bodyPr wrap="square" lIns="0" tIns="0" rIns="0" bIns="0" rtlCol="0" anchor="t"/>
          <a:lstStyle/>
          <a:p>
            <a:pPr marL="0" indent="0" algn="l">
              <a:lnSpc>
                <a:spcPct val="115000"/>
              </a:lnSpc>
              <a:buNone/>
            </a:pPr>
            <a:r>
              <a:rPr lang="en-US" sz="1200" b="1" dirty="0">
                <a:solidFill>
                  <a:srgbClr val="0B3B44"/>
                </a:solidFill>
                <a:latin typeface="Calibri" pitchFamily="34" charset="0"/>
                <a:ea typeface="Calibri" pitchFamily="34" charset="-122"/>
                <a:cs typeface="Calibri" pitchFamily="34" charset="-120"/>
              </a:rPr>
              <a:t>We started at a, which has in-degree 3</a:t>
            </a:r>
            <a:endParaRPr lang="en-US" sz="1200" dirty="0"/>
          </a:p>
        </p:txBody>
      </p:sp>
      <p:sp>
        <p:nvSpPr>
          <p:cNvPr id="65" name="Text 63"/>
          <p:cNvSpPr txBox="1"/>
          <p:nvPr/>
        </p:nvSpPr>
        <p:spPr>
          <a:xfrm>
            <a:off x="7132320" y="3328416"/>
            <a:ext cx="4206240" cy="438912"/>
          </a:xfrm>
          <a:prstGeom prst="rect">
            <a:avLst/>
          </a:prstGeom>
          <a:noFill/>
          <a:ln/>
        </p:spPr>
        <p:txBody>
          <a:bodyPr wrap="square" lIns="0" tIns="0" rIns="0" bIns="0" rtlCol="0" anchor="t"/>
          <a:lstStyle/>
          <a:p>
            <a:pPr marL="0" indent="0" algn="l">
              <a:lnSpc>
                <a:spcPct val="110000"/>
              </a:lnSpc>
              <a:buNone/>
            </a:pPr>
            <a:r>
              <a:rPr lang="en-US" sz="1050" dirty="0">
                <a:solidFill>
                  <a:srgbClr val="63797F"/>
                </a:solidFill>
                <a:latin typeface="Calibri" pitchFamily="34" charset="0"/>
                <a:ea typeface="Calibri" pitchFamily="34" charset="-122"/>
                <a:cs typeface="Calibri" pitchFamily="34" charset="-120"/>
              </a:rPr>
              <a:t>That is fine — a has no outgoing edges, so it pops first and therefore ends up last.</a:t>
            </a:r>
            <a:endParaRPr lang="en-US" sz="1050" dirty="0"/>
          </a:p>
        </p:txBody>
      </p:sp>
      <p:sp>
        <p:nvSpPr>
          <p:cNvPr id="66" name="Shape 64"/>
          <p:cNvSpPr/>
          <p:nvPr/>
        </p:nvSpPr>
        <p:spPr>
          <a:xfrm>
            <a:off x="6903720" y="3886200"/>
            <a:ext cx="4663440" cy="868680"/>
          </a:xfrm>
          <a:prstGeom prst="roundRect">
            <a:avLst>
              <a:gd name="adj" fmla="val 6316"/>
            </a:avLst>
          </a:prstGeom>
          <a:solidFill>
            <a:srgbClr val="EDF4F3"/>
          </a:solidFill>
          <a:ln w="12700">
            <a:solidFill>
              <a:srgbClr val="EDF4F3"/>
            </a:solidFill>
            <a:prstDash val="solid"/>
          </a:ln>
        </p:spPr>
        <p:txBody>
          <a:bodyPr/>
          <a:lstStyle/>
          <a:p>
            <a:endParaRPr lang="en-US"/>
          </a:p>
        </p:txBody>
      </p:sp>
      <p:sp>
        <p:nvSpPr>
          <p:cNvPr id="67" name="Text 65"/>
          <p:cNvSpPr txBox="1"/>
          <p:nvPr/>
        </p:nvSpPr>
        <p:spPr>
          <a:xfrm>
            <a:off x="7132320" y="4005072"/>
            <a:ext cx="4206240" cy="256032"/>
          </a:xfrm>
          <a:prstGeom prst="rect">
            <a:avLst/>
          </a:prstGeom>
          <a:noFill/>
          <a:ln/>
        </p:spPr>
        <p:txBody>
          <a:bodyPr wrap="square" lIns="0" tIns="0" rIns="0" bIns="0" rtlCol="0" anchor="t"/>
          <a:lstStyle/>
          <a:p>
            <a:pPr marL="0" indent="0" algn="l">
              <a:lnSpc>
                <a:spcPct val="115000"/>
              </a:lnSpc>
              <a:buNone/>
            </a:pPr>
            <a:r>
              <a:rPr lang="en-US" sz="1200" b="1" dirty="0">
                <a:solidFill>
                  <a:srgbClr val="C1465A"/>
                </a:solidFill>
                <a:latin typeface="Calibri" pitchFamily="34" charset="0"/>
                <a:ea typeface="Calibri" pitchFamily="34" charset="-122"/>
                <a:cs typeface="Calibri" pitchFamily="34" charset="-120"/>
              </a:rPr>
              <a:t>Do not report the popping order itself</a:t>
            </a:r>
            <a:endParaRPr lang="en-US" sz="1200" dirty="0"/>
          </a:p>
        </p:txBody>
      </p:sp>
      <p:sp>
        <p:nvSpPr>
          <p:cNvPr id="68" name="Text 66"/>
          <p:cNvSpPr txBox="1"/>
          <p:nvPr/>
        </p:nvSpPr>
        <p:spPr>
          <a:xfrm>
            <a:off x="7132320" y="4288536"/>
            <a:ext cx="4206240" cy="438912"/>
          </a:xfrm>
          <a:prstGeom prst="rect">
            <a:avLst/>
          </a:prstGeom>
          <a:noFill/>
          <a:ln/>
        </p:spPr>
        <p:txBody>
          <a:bodyPr wrap="square" lIns="0" tIns="0" rIns="0" bIns="0" rtlCol="0" anchor="t"/>
          <a:lstStyle/>
          <a:p>
            <a:pPr marL="0" indent="0" algn="l">
              <a:lnSpc>
                <a:spcPct val="110000"/>
              </a:lnSpc>
              <a:buNone/>
            </a:pPr>
            <a:r>
              <a:rPr lang="en-US" sz="1050" dirty="0">
                <a:solidFill>
                  <a:srgbClr val="63797F"/>
                </a:solidFill>
                <a:latin typeface="Calibri" pitchFamily="34" charset="0"/>
                <a:ea typeface="Calibri" pitchFamily="34" charset="-122"/>
                <a:cs typeface="Calibri" pitchFamily="34" charset="-120"/>
              </a:rPr>
              <a:t>a, c, b, f, g, e, d is exactly wrong — it is the reverse of a valid ordering.</a:t>
            </a:r>
            <a:endParaRPr lang="en-US" sz="1050" dirty="0"/>
          </a:p>
        </p:txBody>
      </p:sp>
      <p:sp>
        <p:nvSpPr>
          <p:cNvPr id="69" name="Shape 67"/>
          <p:cNvSpPr/>
          <p:nvPr/>
        </p:nvSpPr>
        <p:spPr>
          <a:xfrm>
            <a:off x="6903720" y="4846320"/>
            <a:ext cx="4663440" cy="868680"/>
          </a:xfrm>
          <a:prstGeom prst="roundRect">
            <a:avLst>
              <a:gd name="adj" fmla="val 6316"/>
            </a:avLst>
          </a:prstGeom>
          <a:solidFill>
            <a:srgbClr val="F6F9F8"/>
          </a:solidFill>
          <a:ln w="9525">
            <a:solidFill>
              <a:srgbClr val="D3E0DD"/>
            </a:solidFill>
            <a:prstDash val="solid"/>
          </a:ln>
        </p:spPr>
        <p:txBody>
          <a:bodyPr/>
          <a:lstStyle/>
          <a:p>
            <a:endParaRPr lang="en-US"/>
          </a:p>
        </p:txBody>
      </p:sp>
      <p:sp>
        <p:nvSpPr>
          <p:cNvPr id="70" name="Text 68"/>
          <p:cNvSpPr txBox="1"/>
          <p:nvPr/>
        </p:nvSpPr>
        <p:spPr>
          <a:xfrm>
            <a:off x="7132320" y="4965192"/>
            <a:ext cx="4206240" cy="256032"/>
          </a:xfrm>
          <a:prstGeom prst="rect">
            <a:avLst/>
          </a:prstGeom>
          <a:noFill/>
          <a:ln/>
        </p:spPr>
        <p:txBody>
          <a:bodyPr wrap="square" lIns="0" tIns="0" rIns="0" bIns="0" rtlCol="0" anchor="t"/>
          <a:lstStyle/>
          <a:p>
            <a:pPr marL="0" indent="0" algn="l">
              <a:lnSpc>
                <a:spcPct val="115000"/>
              </a:lnSpc>
              <a:buNone/>
            </a:pPr>
            <a:r>
              <a:rPr lang="en-US" sz="1200" b="1" dirty="0">
                <a:solidFill>
                  <a:srgbClr val="0B3B44"/>
                </a:solidFill>
                <a:latin typeface="Calibri" pitchFamily="34" charset="0"/>
                <a:ea typeface="Calibri" pitchFamily="34" charset="-122"/>
                <a:cs typeface="Calibri" pitchFamily="34" charset="-120"/>
              </a:rPr>
              <a:t>The answer is not unique</a:t>
            </a:r>
            <a:endParaRPr lang="en-US" sz="1200" dirty="0"/>
          </a:p>
        </p:txBody>
      </p:sp>
      <p:sp>
        <p:nvSpPr>
          <p:cNvPr id="71" name="Text 69"/>
          <p:cNvSpPr txBox="1"/>
          <p:nvPr/>
        </p:nvSpPr>
        <p:spPr>
          <a:xfrm>
            <a:off x="7132320" y="5248656"/>
            <a:ext cx="4206240" cy="438912"/>
          </a:xfrm>
          <a:prstGeom prst="rect">
            <a:avLst/>
          </a:prstGeom>
          <a:noFill/>
          <a:ln/>
        </p:spPr>
        <p:txBody>
          <a:bodyPr wrap="square" lIns="0" tIns="0" rIns="0" bIns="0" rtlCol="0" anchor="t"/>
          <a:lstStyle/>
          <a:p>
            <a:pPr marL="0" indent="0" algn="l">
              <a:lnSpc>
                <a:spcPct val="110000"/>
              </a:lnSpc>
              <a:buNone/>
            </a:pPr>
            <a:r>
              <a:rPr lang="en-US" sz="1050" dirty="0">
                <a:solidFill>
                  <a:srgbClr val="63797F"/>
                </a:solidFill>
                <a:latin typeface="Calibri" pitchFamily="34" charset="0"/>
                <a:ea typeface="Calibri" pitchFamily="34" charset="-122"/>
                <a:cs typeface="Calibri" pitchFamily="34" charset="-120"/>
              </a:rPr>
              <a:t>d, b, e, g, f, c, a passes the same nine checks. Any order that respects every edge earns full marks.</a:t>
            </a:r>
            <a:endParaRPr lang="en-US" sz="1050" dirty="0"/>
          </a:p>
        </p:txBody>
      </p:sp>
      <p:sp>
        <p:nvSpPr>
          <p:cNvPr id="73" name="Text 70"/>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74" name="Text 71"/>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40080" y="384048"/>
            <a:ext cx="512064" cy="512064"/>
          </a:xfrm>
          <a:prstGeom prst="ellipse">
            <a:avLst/>
          </a:prstGeom>
          <a:solidFill>
            <a:srgbClr val="0B3B44"/>
          </a:solidFill>
          <a:ln w="12700">
            <a:solidFill>
              <a:srgbClr val="0B3B44"/>
            </a:solidFill>
            <a:prstDash val="solid"/>
          </a:ln>
        </p:spPr>
        <p:txBody>
          <a:bodyPr/>
          <a:lstStyle/>
          <a:p>
            <a:endParaRPr lang="en-US"/>
          </a:p>
        </p:txBody>
      </p:sp>
      <p:sp>
        <p:nvSpPr>
          <p:cNvPr id="3" name="Text 1"/>
          <p:cNvSpPr txBox="1"/>
          <p:nvPr/>
        </p:nvSpPr>
        <p:spPr>
          <a:xfrm>
            <a:off x="640080" y="38404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40</a:t>
            </a:r>
            <a:endParaRPr lang="en-US" sz="1300" dirty="0"/>
          </a:p>
        </p:txBody>
      </p:sp>
      <p:sp>
        <p:nvSpPr>
          <p:cNvPr id="4" name="Text 2"/>
          <p:cNvSpPr txBox="1"/>
          <p:nvPr/>
        </p:nvSpPr>
        <p:spPr>
          <a:xfrm>
            <a:off x="1298448" y="365760"/>
            <a:ext cx="10241280" cy="548640"/>
          </a:xfrm>
          <a:prstGeom prst="rect">
            <a:avLst/>
          </a:prstGeom>
          <a:noFill/>
          <a:ln/>
        </p:spPr>
        <p:txBody>
          <a:bodyPr wrap="square" lIns="0" tIns="0" rIns="0" bIns="0" rtlCol="0" anchor="ctr"/>
          <a:lstStyle/>
          <a:p>
            <a:pPr marL="0" indent="0">
              <a:buNone/>
            </a:pPr>
            <a:r>
              <a:rPr lang="en-US" sz="2700" b="1" dirty="0">
                <a:solidFill>
                  <a:srgbClr val="13232B"/>
                </a:solidFill>
                <a:latin typeface="Cambria" pitchFamily="34" charset="0"/>
                <a:ea typeface="Cambria" pitchFamily="34" charset="-122"/>
                <a:cs typeface="Cambria" pitchFamily="34" charset="-120"/>
              </a:rPr>
              <a:t>Interpolation search for 42</a:t>
            </a:r>
            <a:endParaRPr lang="en-US" sz="2700" dirty="0"/>
          </a:p>
        </p:txBody>
      </p:sp>
      <p:sp>
        <p:nvSpPr>
          <p:cNvPr id="5" name="Text 3"/>
          <p:cNvSpPr txBox="1"/>
          <p:nvPr/>
        </p:nvSpPr>
        <p:spPr>
          <a:xfrm>
            <a:off x="1298448" y="941832"/>
            <a:ext cx="10241280" cy="329184"/>
          </a:xfrm>
          <a:prstGeom prst="rect">
            <a:avLst/>
          </a:prstGeom>
          <a:noFill/>
          <a:ln/>
        </p:spPr>
        <p:txBody>
          <a:bodyPr wrap="square" lIns="0" tIns="0" rIns="0" bIns="0" rtlCol="0" anchor="ctr"/>
          <a:lstStyle/>
          <a:p>
            <a:pPr marL="0" indent="0">
              <a:buNone/>
            </a:pPr>
            <a:r>
              <a:rPr lang="en-US" sz="1300" dirty="0">
                <a:solidFill>
                  <a:srgbClr val="63797F"/>
                </a:solidFill>
                <a:latin typeface="Calibri" pitchFamily="34" charset="0"/>
                <a:ea typeface="Calibri" pitchFamily="34" charset="-122"/>
                <a:cs typeface="Calibri" pitchFamily="34" charset="-120"/>
              </a:rPr>
              <a:t>Do not go to the middle — go where the key would be if the values ran in a straight line.</a:t>
            </a:r>
            <a:endParaRPr lang="en-US" sz="1300" dirty="0"/>
          </a:p>
        </p:txBody>
      </p:sp>
      <p:sp>
        <p:nvSpPr>
          <p:cNvPr id="6" name="Shape 4"/>
          <p:cNvSpPr/>
          <p:nvPr/>
        </p:nvSpPr>
        <p:spPr>
          <a:xfrm>
            <a:off x="640080" y="1645920"/>
            <a:ext cx="5852160" cy="1143000"/>
          </a:xfrm>
          <a:prstGeom prst="roundRect">
            <a:avLst>
              <a:gd name="adj" fmla="val 4800"/>
            </a:avLst>
          </a:prstGeom>
          <a:solidFill>
            <a:srgbClr val="F6F9F8"/>
          </a:solidFill>
          <a:ln w="9525">
            <a:solidFill>
              <a:srgbClr val="D3E0DD"/>
            </a:solidFill>
            <a:prstDash val="solid"/>
          </a:ln>
        </p:spPr>
        <p:txBody>
          <a:bodyPr/>
          <a:lstStyle/>
          <a:p>
            <a:endParaRPr lang="en-US"/>
          </a:p>
        </p:txBody>
      </p:sp>
      <p:sp>
        <p:nvSpPr>
          <p:cNvPr id="7" name="Text 5"/>
          <p:cNvSpPr txBox="1"/>
          <p:nvPr/>
        </p:nvSpPr>
        <p:spPr>
          <a:xfrm>
            <a:off x="914400" y="1810512"/>
            <a:ext cx="5394960" cy="274320"/>
          </a:xfrm>
          <a:prstGeom prst="rect">
            <a:avLst/>
          </a:prstGeom>
          <a:noFill/>
          <a:ln/>
        </p:spPr>
        <p:txBody>
          <a:bodyPr wrap="square" lIns="0" tIns="0" rIns="0" bIns="0" rtlCol="0" anchor="t"/>
          <a:lstStyle/>
          <a:p>
            <a:pPr marL="0" indent="0" algn="l">
              <a:lnSpc>
                <a:spcPct val="115000"/>
              </a:lnSpc>
              <a:buNone/>
            </a:pPr>
            <a:r>
              <a:rPr lang="en-US" sz="1200" b="1" dirty="0">
                <a:solidFill>
                  <a:srgbClr val="13232B"/>
                </a:solidFill>
                <a:latin typeface="Courier New" pitchFamily="34" charset="0"/>
                <a:ea typeface="Courier New" pitchFamily="34" charset="-122"/>
                <a:cs typeface="Courier New" pitchFamily="34" charset="-120"/>
              </a:rPr>
              <a:t>mid = lo + ⌊ (k − A[lo]) / (A[hi] − A[lo]) · (hi − lo) ⌋</a:t>
            </a:r>
            <a:endParaRPr lang="en-US" sz="1200" dirty="0"/>
          </a:p>
        </p:txBody>
      </p:sp>
      <p:sp>
        <p:nvSpPr>
          <p:cNvPr id="8" name="Text 6"/>
          <p:cNvSpPr txBox="1"/>
          <p:nvPr/>
        </p:nvSpPr>
        <p:spPr>
          <a:xfrm>
            <a:off x="914400" y="2212848"/>
            <a:ext cx="5394960" cy="411480"/>
          </a:xfrm>
          <a:prstGeom prst="rect">
            <a:avLst/>
          </a:prstGeom>
          <a:noFill/>
          <a:ln/>
        </p:spPr>
        <p:txBody>
          <a:bodyPr wrap="square" lIns="0" tIns="0" rIns="0" bIns="0" rtlCol="0" anchor="ctr"/>
          <a:lstStyle/>
          <a:p>
            <a:pPr marL="0" indent="0">
              <a:buNone/>
            </a:pPr>
            <a:r>
              <a:rPr lang="en-US" sz="1150" dirty="0">
                <a:solidFill>
                  <a:srgbClr val="63797F"/>
                </a:solidFill>
                <a:latin typeface="Courier New" pitchFamily="34" charset="0"/>
                <a:ea typeface="Courier New" pitchFamily="34" charset="-122"/>
                <a:cs typeface="Courier New" pitchFamily="34" charset="-120"/>
              </a:rPr>
              <a:t>x = 0 + ⌊ (42−20)/(45−20) · 21 ⌋ = ⌊ 18.48 ⌋ = </a:t>
            </a:r>
            <a:r>
              <a:rPr lang="en-US" sz="1150" b="1" dirty="0">
                <a:solidFill>
                  <a:srgbClr val="E8A33D"/>
                </a:solidFill>
                <a:latin typeface="Courier New" pitchFamily="34" charset="0"/>
                <a:ea typeface="Courier New" pitchFamily="34" charset="-122"/>
                <a:cs typeface="Courier New" pitchFamily="34" charset="-120"/>
              </a:rPr>
              <a:t>18</a:t>
            </a:r>
            <a:endParaRPr lang="en-US" sz="1150" dirty="0"/>
          </a:p>
        </p:txBody>
      </p:sp>
      <p:sp>
        <p:nvSpPr>
          <p:cNvPr id="9" name="Shape 7"/>
          <p:cNvSpPr/>
          <p:nvPr/>
        </p:nvSpPr>
        <p:spPr>
          <a:xfrm>
            <a:off x="6903720" y="1645920"/>
            <a:ext cx="4663440" cy="1143000"/>
          </a:xfrm>
          <a:prstGeom prst="roundRect">
            <a:avLst>
              <a:gd name="adj" fmla="val 4800"/>
            </a:avLst>
          </a:prstGeom>
          <a:solidFill>
            <a:srgbClr val="EDF4F3"/>
          </a:solidFill>
          <a:ln w="12700">
            <a:solidFill>
              <a:srgbClr val="EDF4F3"/>
            </a:solidFill>
            <a:prstDash val="solid"/>
          </a:ln>
        </p:spPr>
        <p:txBody>
          <a:bodyPr/>
          <a:lstStyle/>
          <a:p>
            <a:endParaRPr lang="en-US"/>
          </a:p>
        </p:txBody>
      </p:sp>
      <p:sp>
        <p:nvSpPr>
          <p:cNvPr id="10" name="Text 8"/>
          <p:cNvSpPr txBox="1"/>
          <p:nvPr/>
        </p:nvSpPr>
        <p:spPr>
          <a:xfrm>
            <a:off x="7178040" y="1810512"/>
            <a:ext cx="4160520" cy="868680"/>
          </a:xfrm>
          <a:prstGeom prst="rect">
            <a:avLst/>
          </a:prstGeom>
          <a:noFill/>
          <a:ln/>
        </p:spPr>
        <p:txBody>
          <a:bodyPr wrap="square" lIns="0" tIns="0" rIns="0" bIns="0" rtlCol="0" anchor="t"/>
          <a:lstStyle/>
          <a:p>
            <a:pPr marL="0" indent="0" algn="l">
              <a:lnSpc>
                <a:spcPct val="115000"/>
              </a:lnSpc>
              <a:buNone/>
            </a:pPr>
            <a:r>
              <a:rPr lang="en-US" sz="1200" dirty="0">
                <a:solidFill>
                  <a:srgbClr val="0B3B44"/>
                </a:solidFill>
                <a:latin typeface="Calibri" pitchFamily="34" charset="0"/>
                <a:ea typeface="Calibri" pitchFamily="34" charset="-122"/>
                <a:cs typeface="Calibri" pitchFamily="34" charset="-120"/>
              </a:rPr>
              <a:t>The probe is where the straight line through (lo, A[lo]) and (hi, A[hi]) crosses the value k. Uniform keys ⇒ the line is nearly right ⇒ O(log log n) probes.</a:t>
            </a:r>
            <a:endParaRPr lang="en-US" sz="1200" dirty="0"/>
          </a:p>
        </p:txBody>
      </p:sp>
      <p:sp>
        <p:nvSpPr>
          <p:cNvPr id="11" name="Text 9"/>
          <p:cNvSpPr txBox="1"/>
          <p:nvPr/>
        </p:nvSpPr>
        <p:spPr>
          <a:xfrm>
            <a:off x="658368"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0</a:t>
            </a:r>
            <a:endParaRPr lang="en-US" sz="850" dirty="0"/>
          </a:p>
        </p:txBody>
      </p:sp>
      <p:sp>
        <p:nvSpPr>
          <p:cNvPr id="12" name="Shape 10"/>
          <p:cNvSpPr/>
          <p:nvPr/>
        </p:nvSpPr>
        <p:spPr>
          <a:xfrm>
            <a:off x="658368"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13" name="Text 11"/>
          <p:cNvSpPr txBox="1"/>
          <p:nvPr/>
        </p:nvSpPr>
        <p:spPr>
          <a:xfrm>
            <a:off x="658368"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20</a:t>
            </a:r>
            <a:endParaRPr lang="en-US" sz="1050" dirty="0"/>
          </a:p>
        </p:txBody>
      </p:sp>
      <p:sp>
        <p:nvSpPr>
          <p:cNvPr id="14" name="Text 12"/>
          <p:cNvSpPr txBox="1"/>
          <p:nvPr/>
        </p:nvSpPr>
        <p:spPr>
          <a:xfrm>
            <a:off x="1152144"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a:t>
            </a:r>
            <a:endParaRPr lang="en-US" sz="850" dirty="0"/>
          </a:p>
        </p:txBody>
      </p:sp>
      <p:sp>
        <p:nvSpPr>
          <p:cNvPr id="15" name="Shape 13"/>
          <p:cNvSpPr/>
          <p:nvPr/>
        </p:nvSpPr>
        <p:spPr>
          <a:xfrm>
            <a:off x="1152144"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16" name="Text 14"/>
          <p:cNvSpPr txBox="1"/>
          <p:nvPr/>
        </p:nvSpPr>
        <p:spPr>
          <a:xfrm>
            <a:off x="1152144"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20</a:t>
            </a:r>
            <a:endParaRPr lang="en-US" sz="1050" dirty="0"/>
          </a:p>
        </p:txBody>
      </p:sp>
      <p:sp>
        <p:nvSpPr>
          <p:cNvPr id="17" name="Text 15"/>
          <p:cNvSpPr txBox="1"/>
          <p:nvPr/>
        </p:nvSpPr>
        <p:spPr>
          <a:xfrm>
            <a:off x="1645920"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2</a:t>
            </a:r>
            <a:endParaRPr lang="en-US" sz="850" dirty="0"/>
          </a:p>
        </p:txBody>
      </p:sp>
      <p:sp>
        <p:nvSpPr>
          <p:cNvPr id="18" name="Shape 16"/>
          <p:cNvSpPr/>
          <p:nvPr/>
        </p:nvSpPr>
        <p:spPr>
          <a:xfrm>
            <a:off x="1645920"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19" name="Text 17"/>
          <p:cNvSpPr txBox="1"/>
          <p:nvPr/>
        </p:nvSpPr>
        <p:spPr>
          <a:xfrm>
            <a:off x="1645920"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21</a:t>
            </a:r>
            <a:endParaRPr lang="en-US" sz="1050" dirty="0"/>
          </a:p>
        </p:txBody>
      </p:sp>
      <p:sp>
        <p:nvSpPr>
          <p:cNvPr id="20" name="Text 18"/>
          <p:cNvSpPr txBox="1"/>
          <p:nvPr/>
        </p:nvSpPr>
        <p:spPr>
          <a:xfrm>
            <a:off x="2139696"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3</a:t>
            </a:r>
            <a:endParaRPr lang="en-US" sz="850" dirty="0"/>
          </a:p>
        </p:txBody>
      </p:sp>
      <p:sp>
        <p:nvSpPr>
          <p:cNvPr id="21" name="Shape 19"/>
          <p:cNvSpPr/>
          <p:nvPr/>
        </p:nvSpPr>
        <p:spPr>
          <a:xfrm>
            <a:off x="2139696"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22" name="Text 20"/>
          <p:cNvSpPr txBox="1"/>
          <p:nvPr/>
        </p:nvSpPr>
        <p:spPr>
          <a:xfrm>
            <a:off x="2139696"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23</a:t>
            </a:r>
            <a:endParaRPr lang="en-US" sz="1050" dirty="0"/>
          </a:p>
        </p:txBody>
      </p:sp>
      <p:sp>
        <p:nvSpPr>
          <p:cNvPr id="23" name="Text 21"/>
          <p:cNvSpPr txBox="1"/>
          <p:nvPr/>
        </p:nvSpPr>
        <p:spPr>
          <a:xfrm>
            <a:off x="2633472"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4</a:t>
            </a:r>
            <a:endParaRPr lang="en-US" sz="850" dirty="0"/>
          </a:p>
        </p:txBody>
      </p:sp>
      <p:sp>
        <p:nvSpPr>
          <p:cNvPr id="24" name="Shape 22"/>
          <p:cNvSpPr/>
          <p:nvPr/>
        </p:nvSpPr>
        <p:spPr>
          <a:xfrm>
            <a:off x="2633472"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25" name="Text 23"/>
          <p:cNvSpPr txBox="1"/>
          <p:nvPr/>
        </p:nvSpPr>
        <p:spPr>
          <a:xfrm>
            <a:off x="2633472"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25</a:t>
            </a:r>
            <a:endParaRPr lang="en-US" sz="1050" dirty="0"/>
          </a:p>
        </p:txBody>
      </p:sp>
      <p:sp>
        <p:nvSpPr>
          <p:cNvPr id="26" name="Text 24"/>
          <p:cNvSpPr txBox="1"/>
          <p:nvPr/>
        </p:nvSpPr>
        <p:spPr>
          <a:xfrm>
            <a:off x="3127248"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5</a:t>
            </a:r>
            <a:endParaRPr lang="en-US" sz="850" dirty="0"/>
          </a:p>
        </p:txBody>
      </p:sp>
      <p:sp>
        <p:nvSpPr>
          <p:cNvPr id="27" name="Shape 25"/>
          <p:cNvSpPr/>
          <p:nvPr/>
        </p:nvSpPr>
        <p:spPr>
          <a:xfrm>
            <a:off x="3127248"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28" name="Text 26"/>
          <p:cNvSpPr txBox="1"/>
          <p:nvPr/>
        </p:nvSpPr>
        <p:spPr>
          <a:xfrm>
            <a:off x="3127248"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26</a:t>
            </a:r>
            <a:endParaRPr lang="en-US" sz="1050" dirty="0"/>
          </a:p>
        </p:txBody>
      </p:sp>
      <p:sp>
        <p:nvSpPr>
          <p:cNvPr id="29" name="Text 27"/>
          <p:cNvSpPr txBox="1"/>
          <p:nvPr/>
        </p:nvSpPr>
        <p:spPr>
          <a:xfrm>
            <a:off x="3621024"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6</a:t>
            </a:r>
            <a:endParaRPr lang="en-US" sz="850" dirty="0"/>
          </a:p>
        </p:txBody>
      </p:sp>
      <p:sp>
        <p:nvSpPr>
          <p:cNvPr id="30" name="Shape 28"/>
          <p:cNvSpPr/>
          <p:nvPr/>
        </p:nvSpPr>
        <p:spPr>
          <a:xfrm>
            <a:off x="3621024"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31" name="Text 29"/>
          <p:cNvSpPr txBox="1"/>
          <p:nvPr/>
        </p:nvSpPr>
        <p:spPr>
          <a:xfrm>
            <a:off x="3621024"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26</a:t>
            </a:r>
            <a:endParaRPr lang="en-US" sz="1050" dirty="0"/>
          </a:p>
        </p:txBody>
      </p:sp>
      <p:sp>
        <p:nvSpPr>
          <p:cNvPr id="32" name="Text 30"/>
          <p:cNvSpPr txBox="1"/>
          <p:nvPr/>
        </p:nvSpPr>
        <p:spPr>
          <a:xfrm>
            <a:off x="4114800"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7</a:t>
            </a:r>
            <a:endParaRPr lang="en-US" sz="850" dirty="0"/>
          </a:p>
        </p:txBody>
      </p:sp>
      <p:sp>
        <p:nvSpPr>
          <p:cNvPr id="33" name="Shape 31"/>
          <p:cNvSpPr/>
          <p:nvPr/>
        </p:nvSpPr>
        <p:spPr>
          <a:xfrm>
            <a:off x="4114800"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34" name="Text 32"/>
          <p:cNvSpPr txBox="1"/>
          <p:nvPr/>
        </p:nvSpPr>
        <p:spPr>
          <a:xfrm>
            <a:off x="4114800"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27</a:t>
            </a:r>
            <a:endParaRPr lang="en-US" sz="1050" dirty="0"/>
          </a:p>
        </p:txBody>
      </p:sp>
      <p:sp>
        <p:nvSpPr>
          <p:cNvPr id="35" name="Text 33"/>
          <p:cNvSpPr txBox="1"/>
          <p:nvPr/>
        </p:nvSpPr>
        <p:spPr>
          <a:xfrm>
            <a:off x="4608576"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8</a:t>
            </a:r>
            <a:endParaRPr lang="en-US" sz="850" dirty="0"/>
          </a:p>
        </p:txBody>
      </p:sp>
      <p:sp>
        <p:nvSpPr>
          <p:cNvPr id="36" name="Shape 34"/>
          <p:cNvSpPr/>
          <p:nvPr/>
        </p:nvSpPr>
        <p:spPr>
          <a:xfrm>
            <a:off x="4608576"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37" name="Text 35"/>
          <p:cNvSpPr txBox="1"/>
          <p:nvPr/>
        </p:nvSpPr>
        <p:spPr>
          <a:xfrm>
            <a:off x="4608576"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29</a:t>
            </a:r>
            <a:endParaRPr lang="en-US" sz="1050" dirty="0"/>
          </a:p>
        </p:txBody>
      </p:sp>
      <p:sp>
        <p:nvSpPr>
          <p:cNvPr id="38" name="Text 36"/>
          <p:cNvSpPr txBox="1"/>
          <p:nvPr/>
        </p:nvSpPr>
        <p:spPr>
          <a:xfrm>
            <a:off x="5102352"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9</a:t>
            </a:r>
            <a:endParaRPr lang="en-US" sz="850" dirty="0"/>
          </a:p>
        </p:txBody>
      </p:sp>
      <p:sp>
        <p:nvSpPr>
          <p:cNvPr id="39" name="Shape 37"/>
          <p:cNvSpPr/>
          <p:nvPr/>
        </p:nvSpPr>
        <p:spPr>
          <a:xfrm>
            <a:off x="5102352"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40" name="Text 38"/>
          <p:cNvSpPr txBox="1"/>
          <p:nvPr/>
        </p:nvSpPr>
        <p:spPr>
          <a:xfrm>
            <a:off x="5102352"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29</a:t>
            </a:r>
            <a:endParaRPr lang="en-US" sz="1050" dirty="0"/>
          </a:p>
        </p:txBody>
      </p:sp>
      <p:sp>
        <p:nvSpPr>
          <p:cNvPr id="41" name="Text 39"/>
          <p:cNvSpPr txBox="1"/>
          <p:nvPr/>
        </p:nvSpPr>
        <p:spPr>
          <a:xfrm>
            <a:off x="5596128"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10</a:t>
            </a:r>
            <a:endParaRPr lang="en-US" sz="850" dirty="0"/>
          </a:p>
        </p:txBody>
      </p:sp>
      <p:sp>
        <p:nvSpPr>
          <p:cNvPr id="42" name="Shape 40"/>
          <p:cNvSpPr/>
          <p:nvPr/>
        </p:nvSpPr>
        <p:spPr>
          <a:xfrm>
            <a:off x="5596128"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43" name="Text 41"/>
          <p:cNvSpPr txBox="1"/>
          <p:nvPr/>
        </p:nvSpPr>
        <p:spPr>
          <a:xfrm>
            <a:off x="5596128"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29</a:t>
            </a:r>
            <a:endParaRPr lang="en-US" sz="1050" dirty="0"/>
          </a:p>
        </p:txBody>
      </p:sp>
      <p:sp>
        <p:nvSpPr>
          <p:cNvPr id="44" name="Text 42"/>
          <p:cNvSpPr txBox="1"/>
          <p:nvPr/>
        </p:nvSpPr>
        <p:spPr>
          <a:xfrm>
            <a:off x="6089904"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11</a:t>
            </a:r>
            <a:endParaRPr lang="en-US" sz="850" dirty="0"/>
          </a:p>
        </p:txBody>
      </p:sp>
      <p:sp>
        <p:nvSpPr>
          <p:cNvPr id="45" name="Shape 43"/>
          <p:cNvSpPr/>
          <p:nvPr/>
        </p:nvSpPr>
        <p:spPr>
          <a:xfrm>
            <a:off x="6089904"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46" name="Text 44"/>
          <p:cNvSpPr txBox="1"/>
          <p:nvPr/>
        </p:nvSpPr>
        <p:spPr>
          <a:xfrm>
            <a:off x="6089904"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30</a:t>
            </a:r>
            <a:endParaRPr lang="en-US" sz="1050" dirty="0"/>
          </a:p>
        </p:txBody>
      </p:sp>
      <p:sp>
        <p:nvSpPr>
          <p:cNvPr id="47" name="Text 45"/>
          <p:cNvSpPr txBox="1"/>
          <p:nvPr/>
        </p:nvSpPr>
        <p:spPr>
          <a:xfrm>
            <a:off x="6583680"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12</a:t>
            </a:r>
            <a:endParaRPr lang="en-US" sz="850" dirty="0"/>
          </a:p>
        </p:txBody>
      </p:sp>
      <p:sp>
        <p:nvSpPr>
          <p:cNvPr id="48" name="Shape 46"/>
          <p:cNvSpPr/>
          <p:nvPr/>
        </p:nvSpPr>
        <p:spPr>
          <a:xfrm>
            <a:off x="6583680"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49" name="Text 47"/>
          <p:cNvSpPr txBox="1"/>
          <p:nvPr/>
        </p:nvSpPr>
        <p:spPr>
          <a:xfrm>
            <a:off x="6583680"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32</a:t>
            </a:r>
            <a:endParaRPr lang="en-US" sz="1050" dirty="0"/>
          </a:p>
        </p:txBody>
      </p:sp>
      <p:sp>
        <p:nvSpPr>
          <p:cNvPr id="50" name="Text 48"/>
          <p:cNvSpPr txBox="1"/>
          <p:nvPr/>
        </p:nvSpPr>
        <p:spPr>
          <a:xfrm>
            <a:off x="7077456"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13</a:t>
            </a:r>
            <a:endParaRPr lang="en-US" sz="850" dirty="0"/>
          </a:p>
        </p:txBody>
      </p:sp>
      <p:sp>
        <p:nvSpPr>
          <p:cNvPr id="51" name="Shape 49"/>
          <p:cNvSpPr/>
          <p:nvPr/>
        </p:nvSpPr>
        <p:spPr>
          <a:xfrm>
            <a:off x="7077456"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52" name="Text 50"/>
          <p:cNvSpPr txBox="1"/>
          <p:nvPr/>
        </p:nvSpPr>
        <p:spPr>
          <a:xfrm>
            <a:off x="7077456"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33</a:t>
            </a:r>
            <a:endParaRPr lang="en-US" sz="1050" dirty="0"/>
          </a:p>
        </p:txBody>
      </p:sp>
      <p:sp>
        <p:nvSpPr>
          <p:cNvPr id="53" name="Text 51"/>
          <p:cNvSpPr txBox="1"/>
          <p:nvPr/>
        </p:nvSpPr>
        <p:spPr>
          <a:xfrm>
            <a:off x="7571232"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14</a:t>
            </a:r>
            <a:endParaRPr lang="en-US" sz="850" dirty="0"/>
          </a:p>
        </p:txBody>
      </p:sp>
      <p:sp>
        <p:nvSpPr>
          <p:cNvPr id="54" name="Shape 52"/>
          <p:cNvSpPr/>
          <p:nvPr/>
        </p:nvSpPr>
        <p:spPr>
          <a:xfrm>
            <a:off x="7571232"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55" name="Text 53"/>
          <p:cNvSpPr txBox="1"/>
          <p:nvPr/>
        </p:nvSpPr>
        <p:spPr>
          <a:xfrm>
            <a:off x="7571232"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34</a:t>
            </a:r>
            <a:endParaRPr lang="en-US" sz="1050" dirty="0"/>
          </a:p>
        </p:txBody>
      </p:sp>
      <p:sp>
        <p:nvSpPr>
          <p:cNvPr id="56" name="Text 54"/>
          <p:cNvSpPr txBox="1"/>
          <p:nvPr/>
        </p:nvSpPr>
        <p:spPr>
          <a:xfrm>
            <a:off x="8065008"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15</a:t>
            </a:r>
            <a:endParaRPr lang="en-US" sz="850" dirty="0"/>
          </a:p>
        </p:txBody>
      </p:sp>
      <p:sp>
        <p:nvSpPr>
          <p:cNvPr id="57" name="Shape 55"/>
          <p:cNvSpPr/>
          <p:nvPr/>
        </p:nvSpPr>
        <p:spPr>
          <a:xfrm>
            <a:off x="8065008"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58" name="Text 56"/>
          <p:cNvSpPr txBox="1"/>
          <p:nvPr/>
        </p:nvSpPr>
        <p:spPr>
          <a:xfrm>
            <a:off x="8065008"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36</a:t>
            </a:r>
            <a:endParaRPr lang="en-US" sz="1050" dirty="0"/>
          </a:p>
        </p:txBody>
      </p:sp>
      <p:sp>
        <p:nvSpPr>
          <p:cNvPr id="59" name="Text 57"/>
          <p:cNvSpPr txBox="1"/>
          <p:nvPr/>
        </p:nvSpPr>
        <p:spPr>
          <a:xfrm>
            <a:off x="8558784"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16</a:t>
            </a:r>
            <a:endParaRPr lang="en-US" sz="850" dirty="0"/>
          </a:p>
        </p:txBody>
      </p:sp>
      <p:sp>
        <p:nvSpPr>
          <p:cNvPr id="60" name="Shape 58"/>
          <p:cNvSpPr/>
          <p:nvPr/>
        </p:nvSpPr>
        <p:spPr>
          <a:xfrm>
            <a:off x="8558784"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61" name="Text 59"/>
          <p:cNvSpPr txBox="1"/>
          <p:nvPr/>
        </p:nvSpPr>
        <p:spPr>
          <a:xfrm>
            <a:off x="8558784"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38</a:t>
            </a:r>
            <a:endParaRPr lang="en-US" sz="1050" dirty="0"/>
          </a:p>
        </p:txBody>
      </p:sp>
      <p:sp>
        <p:nvSpPr>
          <p:cNvPr id="62" name="Text 60"/>
          <p:cNvSpPr txBox="1"/>
          <p:nvPr/>
        </p:nvSpPr>
        <p:spPr>
          <a:xfrm>
            <a:off x="9052560"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17</a:t>
            </a:r>
            <a:endParaRPr lang="en-US" sz="850" dirty="0"/>
          </a:p>
        </p:txBody>
      </p:sp>
      <p:sp>
        <p:nvSpPr>
          <p:cNvPr id="63" name="Shape 61"/>
          <p:cNvSpPr/>
          <p:nvPr/>
        </p:nvSpPr>
        <p:spPr>
          <a:xfrm>
            <a:off x="9052560" y="3236976"/>
            <a:ext cx="457200" cy="475488"/>
          </a:xfrm>
          <a:prstGeom prst="roundRect">
            <a:avLst>
              <a:gd name="adj" fmla="val 8000"/>
            </a:avLst>
          </a:prstGeom>
          <a:solidFill>
            <a:srgbClr val="EFF3F2"/>
          </a:solidFill>
          <a:ln w="12700">
            <a:solidFill>
              <a:srgbClr val="BECBCD"/>
            </a:solidFill>
            <a:prstDash val="solid"/>
          </a:ln>
        </p:spPr>
        <p:txBody>
          <a:bodyPr/>
          <a:lstStyle/>
          <a:p>
            <a:endParaRPr lang="en-US"/>
          </a:p>
        </p:txBody>
      </p:sp>
      <p:sp>
        <p:nvSpPr>
          <p:cNvPr id="64" name="Text 62"/>
          <p:cNvSpPr txBox="1"/>
          <p:nvPr/>
        </p:nvSpPr>
        <p:spPr>
          <a:xfrm>
            <a:off x="9052560" y="3236976"/>
            <a:ext cx="457200" cy="475488"/>
          </a:xfrm>
          <a:prstGeom prst="rect">
            <a:avLst/>
          </a:prstGeom>
          <a:noFill/>
          <a:ln/>
        </p:spPr>
        <p:txBody>
          <a:bodyPr wrap="square" lIns="0" tIns="0" rIns="0" bIns="0" rtlCol="0" anchor="ctr"/>
          <a:lstStyle/>
          <a:p>
            <a:pPr marL="0" indent="0" algn="ctr">
              <a:buNone/>
            </a:pPr>
            <a:r>
              <a:rPr lang="en-US" sz="1050" dirty="0">
                <a:solidFill>
                  <a:srgbClr val="9DB3B7"/>
                </a:solidFill>
                <a:latin typeface="Courier New" pitchFamily="34" charset="0"/>
                <a:ea typeface="Courier New" pitchFamily="34" charset="-122"/>
                <a:cs typeface="Courier New" pitchFamily="34" charset="-120"/>
              </a:rPr>
              <a:t>40</a:t>
            </a:r>
            <a:endParaRPr lang="en-US" sz="1050" dirty="0"/>
          </a:p>
        </p:txBody>
      </p:sp>
      <p:sp>
        <p:nvSpPr>
          <p:cNvPr id="65" name="Text 63"/>
          <p:cNvSpPr txBox="1"/>
          <p:nvPr/>
        </p:nvSpPr>
        <p:spPr>
          <a:xfrm>
            <a:off x="9546336" y="2999232"/>
            <a:ext cx="457200" cy="219456"/>
          </a:xfrm>
          <a:prstGeom prst="rect">
            <a:avLst/>
          </a:prstGeom>
          <a:noFill/>
          <a:ln/>
        </p:spPr>
        <p:txBody>
          <a:bodyPr wrap="square" lIns="0" tIns="0" rIns="0" bIns="0" rtlCol="0" anchor="ctr"/>
          <a:lstStyle/>
          <a:p>
            <a:pPr marL="0" indent="0" algn="ctr">
              <a:buNone/>
            </a:pPr>
            <a:r>
              <a:rPr lang="en-US" sz="850" dirty="0">
                <a:solidFill>
                  <a:srgbClr val="E8A33D"/>
                </a:solidFill>
                <a:latin typeface="Calibri" pitchFamily="34" charset="0"/>
                <a:ea typeface="Calibri" pitchFamily="34" charset="-122"/>
                <a:cs typeface="Calibri" pitchFamily="34" charset="-120"/>
              </a:rPr>
              <a:t>18</a:t>
            </a:r>
            <a:endParaRPr lang="en-US" sz="850" dirty="0"/>
          </a:p>
        </p:txBody>
      </p:sp>
      <p:sp>
        <p:nvSpPr>
          <p:cNvPr id="66" name="Shape 64"/>
          <p:cNvSpPr/>
          <p:nvPr/>
        </p:nvSpPr>
        <p:spPr>
          <a:xfrm>
            <a:off x="9546336" y="3236976"/>
            <a:ext cx="457200" cy="475488"/>
          </a:xfrm>
          <a:prstGeom prst="roundRect">
            <a:avLst>
              <a:gd name="adj" fmla="val 8000"/>
            </a:avLst>
          </a:prstGeom>
          <a:solidFill>
            <a:srgbClr val="E8A33D"/>
          </a:solidFill>
          <a:ln w="12700">
            <a:solidFill>
              <a:srgbClr val="E8A33D"/>
            </a:solidFill>
            <a:prstDash val="solid"/>
          </a:ln>
        </p:spPr>
        <p:txBody>
          <a:bodyPr/>
          <a:lstStyle/>
          <a:p>
            <a:endParaRPr lang="en-US"/>
          </a:p>
        </p:txBody>
      </p:sp>
      <p:sp>
        <p:nvSpPr>
          <p:cNvPr id="67" name="Text 65"/>
          <p:cNvSpPr txBox="1"/>
          <p:nvPr/>
        </p:nvSpPr>
        <p:spPr>
          <a:xfrm>
            <a:off x="9546336" y="3236976"/>
            <a:ext cx="45720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41</a:t>
            </a:r>
            <a:endParaRPr lang="en-US" sz="1050" dirty="0"/>
          </a:p>
        </p:txBody>
      </p:sp>
      <p:sp>
        <p:nvSpPr>
          <p:cNvPr id="68" name="Text 66"/>
          <p:cNvSpPr txBox="1"/>
          <p:nvPr/>
        </p:nvSpPr>
        <p:spPr>
          <a:xfrm>
            <a:off x="10040112"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19</a:t>
            </a:r>
            <a:endParaRPr lang="en-US" sz="850" dirty="0"/>
          </a:p>
        </p:txBody>
      </p:sp>
      <p:sp>
        <p:nvSpPr>
          <p:cNvPr id="69" name="Shape 67"/>
          <p:cNvSpPr/>
          <p:nvPr/>
        </p:nvSpPr>
        <p:spPr>
          <a:xfrm>
            <a:off x="10040112" y="3236976"/>
            <a:ext cx="457200" cy="475488"/>
          </a:xfrm>
          <a:prstGeom prst="roundRect">
            <a:avLst>
              <a:gd name="adj" fmla="val 8000"/>
            </a:avLst>
          </a:prstGeom>
          <a:solidFill>
            <a:srgbClr val="FFFFFF"/>
          </a:solidFill>
          <a:ln w="12700">
            <a:solidFill>
              <a:srgbClr val="2A9D8F"/>
            </a:solidFill>
            <a:prstDash val="solid"/>
          </a:ln>
        </p:spPr>
        <p:txBody>
          <a:bodyPr/>
          <a:lstStyle/>
          <a:p>
            <a:endParaRPr lang="en-US"/>
          </a:p>
        </p:txBody>
      </p:sp>
      <p:sp>
        <p:nvSpPr>
          <p:cNvPr id="70" name="Text 68"/>
          <p:cNvSpPr txBox="1"/>
          <p:nvPr/>
        </p:nvSpPr>
        <p:spPr>
          <a:xfrm>
            <a:off x="10040112" y="3236976"/>
            <a:ext cx="457200" cy="475488"/>
          </a:xfrm>
          <a:prstGeom prst="rect">
            <a:avLst/>
          </a:prstGeom>
          <a:noFill/>
          <a:ln/>
        </p:spPr>
        <p:txBody>
          <a:bodyPr wrap="square" lIns="0" tIns="0" rIns="0" bIns="0" rtlCol="0" anchor="ctr"/>
          <a:lstStyle/>
          <a:p>
            <a:pPr marL="0" indent="0" algn="ctr">
              <a:buNone/>
            </a:pPr>
            <a:r>
              <a:rPr lang="en-US" sz="1050" dirty="0">
                <a:solidFill>
                  <a:srgbClr val="13232B"/>
                </a:solidFill>
                <a:latin typeface="Courier New" pitchFamily="34" charset="0"/>
                <a:ea typeface="Courier New" pitchFamily="34" charset="-122"/>
                <a:cs typeface="Courier New" pitchFamily="34" charset="-120"/>
              </a:rPr>
              <a:t>43</a:t>
            </a:r>
            <a:endParaRPr lang="en-US" sz="1050" dirty="0"/>
          </a:p>
        </p:txBody>
      </p:sp>
      <p:sp>
        <p:nvSpPr>
          <p:cNvPr id="71" name="Text 69"/>
          <p:cNvSpPr txBox="1"/>
          <p:nvPr/>
        </p:nvSpPr>
        <p:spPr>
          <a:xfrm>
            <a:off x="10533888"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20</a:t>
            </a:r>
            <a:endParaRPr lang="en-US" sz="850" dirty="0"/>
          </a:p>
        </p:txBody>
      </p:sp>
      <p:sp>
        <p:nvSpPr>
          <p:cNvPr id="72" name="Shape 70"/>
          <p:cNvSpPr/>
          <p:nvPr/>
        </p:nvSpPr>
        <p:spPr>
          <a:xfrm>
            <a:off x="10533888" y="3236976"/>
            <a:ext cx="457200" cy="475488"/>
          </a:xfrm>
          <a:prstGeom prst="roundRect">
            <a:avLst>
              <a:gd name="adj" fmla="val 8000"/>
            </a:avLst>
          </a:prstGeom>
          <a:solidFill>
            <a:srgbClr val="FFFFFF"/>
          </a:solidFill>
          <a:ln w="12700">
            <a:solidFill>
              <a:srgbClr val="2A9D8F"/>
            </a:solidFill>
            <a:prstDash val="solid"/>
          </a:ln>
        </p:spPr>
        <p:txBody>
          <a:bodyPr/>
          <a:lstStyle/>
          <a:p>
            <a:endParaRPr lang="en-US"/>
          </a:p>
        </p:txBody>
      </p:sp>
      <p:sp>
        <p:nvSpPr>
          <p:cNvPr id="73" name="Text 71"/>
          <p:cNvSpPr txBox="1"/>
          <p:nvPr/>
        </p:nvSpPr>
        <p:spPr>
          <a:xfrm>
            <a:off x="10533888" y="3236976"/>
            <a:ext cx="457200" cy="475488"/>
          </a:xfrm>
          <a:prstGeom prst="rect">
            <a:avLst/>
          </a:prstGeom>
          <a:noFill/>
          <a:ln/>
        </p:spPr>
        <p:txBody>
          <a:bodyPr wrap="square" lIns="0" tIns="0" rIns="0" bIns="0" rtlCol="0" anchor="ctr"/>
          <a:lstStyle/>
          <a:p>
            <a:pPr marL="0" indent="0" algn="ctr">
              <a:buNone/>
            </a:pPr>
            <a:r>
              <a:rPr lang="en-US" sz="1050" dirty="0">
                <a:solidFill>
                  <a:srgbClr val="13232B"/>
                </a:solidFill>
                <a:latin typeface="Courier New" pitchFamily="34" charset="0"/>
                <a:ea typeface="Courier New" pitchFamily="34" charset="-122"/>
                <a:cs typeface="Courier New" pitchFamily="34" charset="-120"/>
              </a:rPr>
              <a:t>43</a:t>
            </a:r>
            <a:endParaRPr lang="en-US" sz="1050" dirty="0"/>
          </a:p>
        </p:txBody>
      </p:sp>
      <p:sp>
        <p:nvSpPr>
          <p:cNvPr id="74" name="Text 72"/>
          <p:cNvSpPr txBox="1"/>
          <p:nvPr/>
        </p:nvSpPr>
        <p:spPr>
          <a:xfrm>
            <a:off x="11027664" y="2999232"/>
            <a:ext cx="457200" cy="219456"/>
          </a:xfrm>
          <a:prstGeom prst="rect">
            <a:avLst/>
          </a:prstGeom>
          <a:noFill/>
          <a:ln/>
        </p:spPr>
        <p:txBody>
          <a:bodyPr wrap="square" lIns="0" tIns="0" rIns="0" bIns="0" rtlCol="0" anchor="ctr"/>
          <a:lstStyle/>
          <a:p>
            <a:pPr marL="0" indent="0" algn="ctr">
              <a:buNone/>
            </a:pPr>
            <a:r>
              <a:rPr lang="en-US" sz="850" dirty="0">
                <a:solidFill>
                  <a:srgbClr val="9DB3B7"/>
                </a:solidFill>
                <a:latin typeface="Calibri" pitchFamily="34" charset="0"/>
                <a:ea typeface="Calibri" pitchFamily="34" charset="-122"/>
                <a:cs typeface="Calibri" pitchFamily="34" charset="-120"/>
              </a:rPr>
              <a:t>21</a:t>
            </a:r>
            <a:endParaRPr lang="en-US" sz="850" dirty="0"/>
          </a:p>
        </p:txBody>
      </p:sp>
      <p:sp>
        <p:nvSpPr>
          <p:cNvPr id="75" name="Shape 73"/>
          <p:cNvSpPr/>
          <p:nvPr/>
        </p:nvSpPr>
        <p:spPr>
          <a:xfrm>
            <a:off x="11027664" y="3236976"/>
            <a:ext cx="457200" cy="475488"/>
          </a:xfrm>
          <a:prstGeom prst="roundRect">
            <a:avLst>
              <a:gd name="adj" fmla="val 8000"/>
            </a:avLst>
          </a:prstGeom>
          <a:solidFill>
            <a:srgbClr val="FFFFFF"/>
          </a:solidFill>
          <a:ln w="12700">
            <a:solidFill>
              <a:srgbClr val="2A9D8F"/>
            </a:solidFill>
            <a:prstDash val="solid"/>
          </a:ln>
        </p:spPr>
        <p:txBody>
          <a:bodyPr/>
          <a:lstStyle/>
          <a:p>
            <a:endParaRPr lang="en-US"/>
          </a:p>
        </p:txBody>
      </p:sp>
      <p:sp>
        <p:nvSpPr>
          <p:cNvPr id="76" name="Text 74"/>
          <p:cNvSpPr txBox="1"/>
          <p:nvPr/>
        </p:nvSpPr>
        <p:spPr>
          <a:xfrm>
            <a:off x="11027664" y="3236976"/>
            <a:ext cx="457200" cy="475488"/>
          </a:xfrm>
          <a:prstGeom prst="rect">
            <a:avLst/>
          </a:prstGeom>
          <a:noFill/>
          <a:ln/>
        </p:spPr>
        <p:txBody>
          <a:bodyPr wrap="square" lIns="0" tIns="0" rIns="0" bIns="0" rtlCol="0" anchor="ctr"/>
          <a:lstStyle/>
          <a:p>
            <a:pPr marL="0" indent="0" algn="ctr">
              <a:buNone/>
            </a:pPr>
            <a:r>
              <a:rPr lang="en-US" sz="1050" dirty="0">
                <a:solidFill>
                  <a:srgbClr val="13232B"/>
                </a:solidFill>
                <a:latin typeface="Courier New" pitchFamily="34" charset="0"/>
                <a:ea typeface="Courier New" pitchFamily="34" charset="-122"/>
                <a:cs typeface="Courier New" pitchFamily="34" charset="-120"/>
              </a:rPr>
              <a:t>45</a:t>
            </a:r>
            <a:endParaRPr lang="en-US" sz="1050" dirty="0"/>
          </a:p>
        </p:txBody>
      </p:sp>
      <p:sp>
        <p:nvSpPr>
          <p:cNvPr id="77" name="Text 75"/>
          <p:cNvSpPr txBox="1"/>
          <p:nvPr/>
        </p:nvSpPr>
        <p:spPr>
          <a:xfrm>
            <a:off x="658368" y="3785616"/>
            <a:ext cx="8887968" cy="256032"/>
          </a:xfrm>
          <a:prstGeom prst="rect">
            <a:avLst/>
          </a:prstGeom>
          <a:noFill/>
          <a:ln/>
        </p:spPr>
        <p:txBody>
          <a:bodyPr wrap="square" lIns="0" tIns="0" rIns="0" bIns="0" rtlCol="0" anchor="t"/>
          <a:lstStyle/>
          <a:p>
            <a:pPr marL="0" indent="0" algn="l">
              <a:lnSpc>
                <a:spcPct val="115000"/>
              </a:lnSpc>
              <a:buNone/>
            </a:pPr>
            <a:r>
              <a:rPr lang="en-US" sz="1050" i="1" dirty="0">
                <a:solidFill>
                  <a:srgbClr val="9DB3B7"/>
                </a:solidFill>
                <a:latin typeface="Calibri" pitchFamily="34" charset="0"/>
                <a:ea typeface="Calibri" pitchFamily="34" charset="-122"/>
                <a:cs typeface="Calibri" pitchFamily="34" charset="-120"/>
              </a:rPr>
              <a:t>← discarded in one probe: indices 0 … 18</a:t>
            </a:r>
            <a:endParaRPr lang="en-US" sz="1050" dirty="0"/>
          </a:p>
        </p:txBody>
      </p:sp>
      <p:sp>
        <p:nvSpPr>
          <p:cNvPr id="78" name="Text 76"/>
          <p:cNvSpPr txBox="1"/>
          <p:nvPr/>
        </p:nvSpPr>
        <p:spPr>
          <a:xfrm>
            <a:off x="9546336" y="3785616"/>
            <a:ext cx="2011680" cy="256032"/>
          </a:xfrm>
          <a:prstGeom prst="rect">
            <a:avLst/>
          </a:prstGeom>
          <a:noFill/>
          <a:ln/>
        </p:spPr>
        <p:txBody>
          <a:bodyPr wrap="square" lIns="0" tIns="0" rIns="0" bIns="0" rtlCol="0" anchor="t"/>
          <a:lstStyle/>
          <a:p>
            <a:pPr marL="0" indent="0" algn="r">
              <a:lnSpc>
                <a:spcPct val="115000"/>
              </a:lnSpc>
              <a:buNone/>
            </a:pPr>
            <a:r>
              <a:rPr lang="en-US" sz="1050" i="1" dirty="0">
                <a:solidFill>
                  <a:srgbClr val="2A9D8F"/>
                </a:solidFill>
                <a:latin typeface="Calibri" pitchFamily="34" charset="0"/>
                <a:ea typeface="Calibri" pitchFamily="34" charset="-122"/>
                <a:cs typeface="Calibri" pitchFamily="34" charset="-120"/>
              </a:rPr>
              <a:t>still in play →</a:t>
            </a:r>
            <a:endParaRPr lang="en-US" sz="1050" dirty="0"/>
          </a:p>
        </p:txBody>
      </p:sp>
      <p:sp>
        <p:nvSpPr>
          <p:cNvPr id="79" name="Shape 77"/>
          <p:cNvSpPr/>
          <p:nvPr/>
        </p:nvSpPr>
        <p:spPr>
          <a:xfrm>
            <a:off x="640080" y="4251960"/>
            <a:ext cx="5394960" cy="1417320"/>
          </a:xfrm>
          <a:prstGeom prst="roundRect">
            <a:avLst>
              <a:gd name="adj" fmla="val 3871"/>
            </a:avLst>
          </a:prstGeom>
          <a:solidFill>
            <a:srgbClr val="F6F9F8"/>
          </a:solidFill>
          <a:ln w="9525">
            <a:solidFill>
              <a:srgbClr val="D3E0DD"/>
            </a:solidFill>
            <a:prstDash val="solid"/>
          </a:ln>
        </p:spPr>
        <p:txBody>
          <a:bodyPr/>
          <a:lstStyle/>
          <a:p>
            <a:endParaRPr lang="en-US"/>
          </a:p>
        </p:txBody>
      </p:sp>
      <p:sp>
        <p:nvSpPr>
          <p:cNvPr id="80" name="Text 78"/>
          <p:cNvSpPr txBox="1"/>
          <p:nvPr/>
        </p:nvSpPr>
        <p:spPr>
          <a:xfrm>
            <a:off x="896112" y="4434840"/>
            <a:ext cx="4892040" cy="256032"/>
          </a:xfrm>
          <a:prstGeom prst="rect">
            <a:avLst/>
          </a:prstGeom>
          <a:noFill/>
          <a:ln/>
        </p:spPr>
        <p:txBody>
          <a:bodyPr wrap="square" lIns="0" tIns="0" rIns="0" bIns="0" rtlCol="0" anchor="t"/>
          <a:lstStyle/>
          <a:p>
            <a:pPr marL="0" indent="0" algn="l">
              <a:lnSpc>
                <a:spcPct val="115000"/>
              </a:lnSpc>
              <a:buNone/>
            </a:pPr>
            <a:r>
              <a:rPr lang="en-US" sz="1250" b="1" dirty="0">
                <a:solidFill>
                  <a:srgbClr val="E8A33D"/>
                </a:solidFill>
                <a:latin typeface="Calibri" pitchFamily="34" charset="0"/>
                <a:ea typeface="Calibri" pitchFamily="34" charset="-122"/>
                <a:cs typeface="Calibri" pitchFamily="34" charset="-120"/>
              </a:rPr>
              <a:t>Probe 1</a:t>
            </a:r>
            <a:endParaRPr lang="en-US" sz="1250" dirty="0"/>
          </a:p>
        </p:txBody>
      </p:sp>
      <p:sp>
        <p:nvSpPr>
          <p:cNvPr id="81" name="Text 79"/>
          <p:cNvSpPr txBox="1"/>
          <p:nvPr/>
        </p:nvSpPr>
        <p:spPr>
          <a:xfrm>
            <a:off x="896112" y="4736592"/>
            <a:ext cx="4892040" cy="822960"/>
          </a:xfrm>
          <a:prstGeom prst="rect">
            <a:avLst/>
          </a:prstGeom>
          <a:noFill/>
          <a:ln/>
        </p:spPr>
        <p:txBody>
          <a:bodyPr wrap="square" lIns="0" tIns="0" rIns="0" bIns="0" rtlCol="0" anchor="t"/>
          <a:lstStyle/>
          <a:p>
            <a:pPr marL="0" indent="0" algn="l">
              <a:lnSpc>
                <a:spcPct val="115000"/>
              </a:lnSpc>
              <a:buNone/>
            </a:pPr>
            <a:r>
              <a:rPr lang="en-US" sz="1200" dirty="0">
                <a:solidFill>
                  <a:srgbClr val="13232B"/>
                </a:solidFill>
                <a:latin typeface="Calibri" pitchFamily="34" charset="0"/>
                <a:ea typeface="Calibri" pitchFamily="34" charset="-122"/>
                <a:cs typeface="Calibri" pitchFamily="34" charset="-120"/>
              </a:rPr>
              <a:t>A[18] = 41, which is less than 42, so the key can only be to the right. Everything from 0 to 18 goes, in a single comparison.</a:t>
            </a:r>
            <a:endParaRPr lang="en-US" sz="1200" dirty="0"/>
          </a:p>
        </p:txBody>
      </p:sp>
      <p:sp>
        <p:nvSpPr>
          <p:cNvPr id="82" name="Shape 80"/>
          <p:cNvSpPr/>
          <p:nvPr/>
        </p:nvSpPr>
        <p:spPr>
          <a:xfrm>
            <a:off x="6309360" y="4251960"/>
            <a:ext cx="5257800" cy="1417320"/>
          </a:xfrm>
          <a:prstGeom prst="roundRect">
            <a:avLst>
              <a:gd name="adj" fmla="val 3871"/>
            </a:avLst>
          </a:prstGeom>
          <a:solidFill>
            <a:srgbClr val="EDF4F3"/>
          </a:solidFill>
          <a:ln w="12700">
            <a:solidFill>
              <a:srgbClr val="EDF4F3"/>
            </a:solidFill>
            <a:prstDash val="solid"/>
          </a:ln>
        </p:spPr>
        <p:txBody>
          <a:bodyPr/>
          <a:lstStyle/>
          <a:p>
            <a:endParaRPr lang="en-US"/>
          </a:p>
        </p:txBody>
      </p:sp>
      <p:sp>
        <p:nvSpPr>
          <p:cNvPr id="83" name="Text 81"/>
          <p:cNvSpPr txBox="1"/>
          <p:nvPr/>
        </p:nvSpPr>
        <p:spPr>
          <a:xfrm>
            <a:off x="6565392" y="4434840"/>
            <a:ext cx="4754880" cy="256032"/>
          </a:xfrm>
          <a:prstGeom prst="rect">
            <a:avLst/>
          </a:prstGeom>
          <a:noFill/>
          <a:ln/>
        </p:spPr>
        <p:txBody>
          <a:bodyPr wrap="square" lIns="0" tIns="0" rIns="0" bIns="0" rtlCol="0" anchor="t"/>
          <a:lstStyle/>
          <a:p>
            <a:pPr marL="0" indent="0" algn="l">
              <a:lnSpc>
                <a:spcPct val="115000"/>
              </a:lnSpc>
              <a:buNone/>
            </a:pPr>
            <a:r>
              <a:rPr lang="en-US" sz="1250" b="1" dirty="0">
                <a:solidFill>
                  <a:srgbClr val="0B3B44"/>
                </a:solidFill>
                <a:latin typeface="Calibri" pitchFamily="34" charset="0"/>
                <a:ea typeface="Calibri" pitchFamily="34" charset="-122"/>
                <a:cs typeface="Calibri" pitchFamily="34" charset="-120"/>
              </a:rPr>
              <a:t>Probe 2 never happens</a:t>
            </a:r>
            <a:endParaRPr lang="en-US" sz="1250" dirty="0"/>
          </a:p>
        </p:txBody>
      </p:sp>
      <p:sp>
        <p:nvSpPr>
          <p:cNvPr id="84" name="Text 82"/>
          <p:cNvSpPr txBox="1"/>
          <p:nvPr/>
        </p:nvSpPr>
        <p:spPr>
          <a:xfrm>
            <a:off x="6565392" y="4736592"/>
            <a:ext cx="4754880" cy="822960"/>
          </a:xfrm>
          <a:prstGeom prst="rect">
            <a:avLst/>
          </a:prstGeom>
          <a:noFill/>
          <a:ln/>
        </p:spPr>
        <p:txBody>
          <a:bodyPr wrap="square" lIns="0" tIns="0" rIns="0" bIns="0" rtlCol="0" anchor="ctr"/>
          <a:lstStyle/>
          <a:p>
            <a:pPr marL="0" indent="0">
              <a:lnSpc>
                <a:spcPct val="115000"/>
              </a:lnSpc>
              <a:buNone/>
            </a:pPr>
            <a:r>
              <a:rPr lang="en-US" sz="1200" dirty="0">
                <a:solidFill>
                  <a:srgbClr val="13232B"/>
                </a:solidFill>
                <a:latin typeface="Calibri" pitchFamily="34" charset="0"/>
                <a:ea typeface="Calibri" pitchFamily="34" charset="-122"/>
                <a:cs typeface="Calibri" pitchFamily="34" charset="-120"/>
              </a:rPr>
              <a:t>What is left is 43, 43, 45. </a:t>
            </a:r>
            <a:r>
              <a:rPr lang="en-US" sz="1200" b="1" dirty="0">
                <a:solidFill>
                  <a:srgbClr val="13232B"/>
                </a:solidFill>
                <a:latin typeface="Calibri" pitchFamily="34" charset="0"/>
                <a:ea typeface="Calibri" pitchFamily="34" charset="-122"/>
                <a:cs typeface="Calibri" pitchFamily="34" charset="-120"/>
              </a:rPr>
              <a:t>Check the extremes first: A[19] = 43 &gt; 42</a:t>
            </a:r>
            <a:r>
              <a:rPr lang="en-US" sz="1200" dirty="0">
                <a:solidFill>
                  <a:srgbClr val="13232B"/>
                </a:solidFill>
                <a:latin typeface="Calibri" pitchFamily="34" charset="0"/>
                <a:ea typeface="Calibri" pitchFamily="34" charset="-122"/>
                <a:cs typeface="Calibri" pitchFamily="34" charset="-120"/>
              </a:rPr>
              <a:t>, so 42 cannot be in the range at all. </a:t>
            </a:r>
            <a:r>
              <a:rPr lang="en-US" sz="1200" b="1" dirty="0">
                <a:solidFill>
                  <a:srgbClr val="13232B"/>
                </a:solidFill>
                <a:latin typeface="Calibri" pitchFamily="34" charset="0"/>
                <a:ea typeface="Calibri" pitchFamily="34" charset="-122"/>
                <a:cs typeface="Calibri" pitchFamily="34" charset="-120"/>
              </a:rPr>
              <a:t>Stop and report failure.</a:t>
            </a:r>
            <a:endParaRPr lang="en-US" sz="1200" dirty="0"/>
          </a:p>
        </p:txBody>
      </p:sp>
      <p:sp>
        <p:nvSpPr>
          <p:cNvPr id="86" name="Text 83"/>
          <p:cNvSpPr txBox="1"/>
          <p:nvPr/>
        </p:nvSpPr>
        <p:spPr>
          <a:xfrm>
            <a:off x="640080" y="6327648"/>
            <a:ext cx="6400800" cy="274320"/>
          </a:xfrm>
          <a:prstGeom prst="rect">
            <a:avLst/>
          </a:prstGeom>
          <a:noFill/>
          <a:ln/>
        </p:spPr>
        <p:txBody>
          <a:bodyPr wrap="square" lIns="0" tIns="0" rIns="0" bIns="0" rtlCol="0" anchor="ctr"/>
          <a:lstStyle/>
          <a:p>
            <a:pPr marL="0" indent="0">
              <a:buNone/>
            </a:pPr>
            <a:r>
              <a:rPr lang="en-US" sz="900" dirty="0">
                <a:solidFill>
                  <a:srgbClr val="9DB3B7"/>
                </a:solidFill>
                <a:latin typeface="Calibri" pitchFamily="34" charset="0"/>
                <a:ea typeface="Calibri" pitchFamily="34" charset="-122"/>
                <a:cs typeface="Calibri" pitchFamily="34" charset="-120"/>
              </a:rPr>
              <a:t>COMP90038  ·  Algorithms and Complexity  ·  Week 6</a:t>
            </a:r>
            <a:endParaRPr lang="en-US" sz="900" dirty="0"/>
          </a:p>
        </p:txBody>
      </p:sp>
      <p:sp>
        <p:nvSpPr>
          <p:cNvPr id="87" name="Text 84"/>
          <p:cNvSpPr txBox="1"/>
          <p:nvPr/>
        </p:nvSpPr>
        <p:spPr>
          <a:xfrm>
            <a:off x="10881360" y="6327648"/>
            <a:ext cx="685800" cy="274320"/>
          </a:xfrm>
          <a:prstGeom prst="rect">
            <a:avLst/>
          </a:prstGeom>
          <a:noFill/>
          <a:ln/>
        </p:spPr>
        <p:txBody>
          <a:bodyPr wrap="square" lIns="0" tIns="0" rIns="0" bIns="0" rtlCol="0" anchor="ctr"/>
          <a:lstStyle/>
          <a:p>
            <a:pPr marL="0" indent="0" algn="r">
              <a:buNone/>
            </a:pPr>
            <a:r>
              <a:rPr lang="en-US" sz="900" dirty="0">
                <a:solidFill>
                  <a:srgbClr val="9DB3B7"/>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664</TotalTime>
  <Words>4704</Words>
  <Application>Microsoft Macintosh PowerPoint</Application>
  <PresentationFormat>Widescreen</PresentationFormat>
  <Paragraphs>425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COMP90038 Tutorial Week 6</dc:title>
  <dc:subject>PptxGenJS Presentation</dc:subject>
  <dc:creator>Kenji</dc:creator>
  <cp:lastModifiedBy>Kejian Cui</cp:lastModifiedBy>
  <cp:revision>10</cp:revision>
  <dcterms:created xsi:type="dcterms:W3CDTF">2026-08-31T23:01:44Z</dcterms:created>
  <dcterms:modified xsi:type="dcterms:W3CDTF">2026-10-07T02:50:17Z</dcterms:modified>
</cp:coreProperties>
</file>