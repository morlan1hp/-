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4213D"/>
                </a:solidFill>
                <a:latin typeface="Calibri"/>
              </a:rPr>
              <a:t>What 1000× faster hardware buys you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Larger input solvable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7C-5646-BCA8-2AB2041A403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87C-5646-BCA8-2AB2041A4032}"/>
              </c:ext>
            </c:extLst>
          </c:dPt>
          <c:dPt>
            <c:idx val="2"/>
            <c:invertIfNegative val="0"/>
            <c:bubble3D val="0"/>
            <c:spPr>
              <a:solidFill>
                <a:srgbClr val="C262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7C-5646-BCA8-2AB2041A403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421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O(n) linear</c:v>
                </c:pt>
                <c:pt idx="1">
                  <c:v>O(n²) quadratic</c:v>
                </c:pt>
                <c:pt idx="2">
                  <c:v>O(n³) cubic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31.6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7C-5646-BCA8-2AB2041A40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12700" cap="flat">
              <a:solidFill>
                <a:srgbClr val="EDF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23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Q8 is the centrepiece and deserves ~20 minutes. Tell students up front that Q10 may get dropped, so nobody feels short-changed if we run out of time. Q12-14 are for fun.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60-90 seconds. The last bullet on the right is the one to plant early - it is exactly what makes Q8 and Q9 collapse to linear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graph on the whiteboard first and let the class dictate the matrix to you, cell by cell. Ask: which entries must match? (x,y) and (y,x). What is on the diagonal here, and what would a 1 there mean? Row sums give degrees. Flag the space cost - it motivates adjacency lists later in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three terms on the board with the warm-up graph still visible, then let students answer. With the terminology in place this question is nearly free - do not over-run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costs are the useful extension here, not the answers themselves. Ask which of the three checks is cheapest and why - the loop check only touches n of the n-squared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"why not?" before revealing the counter-example - the sample answer poses exactly this question. Let a student find a pair like aab/abb themselves; it lands much better than being told. Also settle the length check now: unequal lengths means not anagrams, and it makes the linear algorithm correct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used[] array is the part students forget - without it, aab and abb pass again. Ask for the worst case input: two words with no letters in common, or all letters equal. Basic operation = character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official sample answer. Ask what sorting really achieved: it removed the ordering information, leaving only the multiset of letters. That framing makes the next slide feel inevitable - if we only need the multiset, why pay n log n to compute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aha moment - flag it as such. Line 2 is O(256) = O(1). encode maps a symbol to 0..255 (ASCII); it is O(1) even if you hardcode it. Ask why the length check on line 1 makes the "no negatives" test sufficient: n increments and n decrements that never dip below zero must cancel exactly. If students propose a hash map instead, that is fine, but the fixed alphabet makes the array simpler and truly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Ask which one they would actually ship: the linear one, unless the alphabet is huge or unbounded. Note that Theta(1) space really means Theta(|alphabet|), which is constant only because the alphabet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- students have just seen the trick in Q8. Make sure the -1 convention and 0-based indexing are clear, and that d is a collection of symbols, not a substring to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worst-case input before showing it. Also ask them to describe the reversed version of the loop - the sample answer mentions it explicitly and it gives the same mn bound. Then set up the improvement: d never changes, so why keep scanning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lines 1-4 on the Phlogiston example: first[P]=0, first[h]=1, first[l]=2, first[o]=3, and the second o at index 8 is ignored by the guard on line 4. Then the scan of d finds first[o]=3 as the smallest. Mention the variant at the bottom - it is what the reference slides use, and students often invent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maximum. Most of Q11 can be done by inspection; the limit is the fallback when intuition disagrees. Stress that the limit test is a sufficient shortcut, not the definition - the definition with c and n0 is what an exam proof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these on the board with the class calling out the verdicts. (c) is the one to dwell on - it is why we write O(log n) without ever naming 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trap in (d) versus (e): an exponent on the whole log changes the order, while an exponent inside it does not. And the contrast between (e) and (f) shows why "it is only a factor of n" is never innocent.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this slide without guilt if Q8 ran long. The punchline is the chart: better algorithms beat better hardware, and the gap widens as the exponent grows. Part (a) also makes the point that ratios of the same polynomial are scale-free.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first takeaway - it is the transferable one. If anyone wants the puzzle answers: Q12 weigh 3 against 3 then split the heavy trio; Q13 best case 2, worst case 10; Q14 probability 5/45 = 1/9.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25365C"/>
          </a:solidFill>
          <a:ln w="12700">
            <a:solidFill>
              <a:srgbClr val="25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566160"/>
            <a:ext cx="2926080" cy="2926080"/>
          </a:xfrm>
          <a:prstGeom prst="ellipse">
            <a:avLst/>
          </a:prstGeom>
          <a:solidFill>
            <a:srgbClr val="1B3059"/>
          </a:solidFill>
          <a:ln w="12700">
            <a:solidFill>
              <a:srgbClr val="1B3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Complexity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6217920" cy="1129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BFD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Tutorial — Week 3</a:t>
            </a:r>
          </a:p>
          <a:p>
            <a:pPr marL="0" indent="0"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25365C"/>
          </a:solidFill>
          <a:ln w="12700">
            <a:solidFill>
              <a:srgbClr val="3A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matrices  ·  brute force  ·  lookup tables  ·  orders of growth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7, 8, 9, 11, 10   ·   10–14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in the order 7 → 8 → 9 → 11 → 10. Stop me whenever something is unclear.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44752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3441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graphs and adjacency matrices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61872" y="16367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5-node example, drawn and encoded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195560" y="1453896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95560" y="14538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066544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21284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21122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Reading properties off the matrix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61872" y="2404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Complete? Loop? Isolated node?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95560" y="2221992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95560" y="22219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980944"/>
            <a:ext cx="365760" cy="365760"/>
          </a:xfrm>
          <a:prstGeom prst="ellipse">
            <a:avLst/>
          </a:prstGeom>
          <a:solidFill>
            <a:srgbClr val="C2620A"/>
          </a:solidFill>
          <a:ln w="127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28803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Anagrams, three different algorithms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61872" y="31729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"aha" moment lives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95560" y="2990088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95560" y="29900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602736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61872" y="36484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first_occ, the same trick again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61872" y="39410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space for time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95560" y="3758184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195560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370832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520" y="451713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61872" y="44165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Comparing orders of growth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261872" y="4709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and very examinable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195560" y="4526280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195560" y="4526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138928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31520" y="5285232"/>
            <a:ext cx="365760" cy="365760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61872" y="518464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Gaussian elimination (if time allows)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1261872" y="54772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faster hardware is not enough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195560" y="5294376"/>
            <a:ext cx="11887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195560" y="52943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5897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Q12–14 are combinatorics puzzles — fun, but not assessable. Take them home.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what we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last week — we will lean on all of this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notations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O(g)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f(n) ≤ c·g(n) for all n ≥ n₀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upper bound — "grows no faster than"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Ω(g)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f(n) ≥ c·g(n) for all n ≥ n₀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lower bound — "grows at least as fast as"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Θ(g)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both at once</a:t>
            </a:r>
            <a:r>
              <a:rPr lang="en-US" sz="1400" dirty="0">
                <a:solidFill>
                  <a:srgbClr val="000000"/>
                </a:solidFill>
              </a:rPr>
              <a:t>
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exact order of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30952" cy="2788920"/>
          </a:xfrm>
          <a:prstGeom prst="roundRect">
            <a:avLst>
              <a:gd name="adj" fmla="val 2951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536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we will use all hour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basic operation first.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vanish:  c · O(f) = O(f)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blocks take the max:  O(f) + O(g) = O(max{f, g})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multiply:  O(f) · O(g) = O(f · g)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array (256 slots) is O(1), no matter how big n gets.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operation changes with the problem — name it before you count anything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Q7   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entries inspected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470916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Q8 &amp; Q9   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comparisons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470916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Q10   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we say otherwise, every cost today is the worst case.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Warm-up: a graph and its adjacency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G = (V, E). Draw it, then write down the n × n matrix.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4206240"/>
          </a:xfrm>
          <a:prstGeom prst="roundRect">
            <a:avLst>
              <a:gd name="adj" fmla="val 1957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77440" y="2377440"/>
            <a:ext cx="1463040" cy="0"/>
          </a:xfrm>
          <a:prstGeom prst="line">
            <a:avLst/>
          </a:prstGeom>
          <a:noFill/>
          <a:ln w="28575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2651760"/>
            <a:ext cx="0" cy="1097280"/>
          </a:xfrm>
          <a:prstGeom prst="line">
            <a:avLst/>
          </a:prstGeom>
          <a:noFill/>
          <a:ln w="28575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0" y="2560320"/>
            <a:ext cx="1645920" cy="1280160"/>
          </a:xfrm>
          <a:prstGeom prst="line">
            <a:avLst/>
          </a:prstGeom>
          <a:noFill/>
          <a:ln w="28575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0" y="2651760"/>
            <a:ext cx="0" cy="1097280"/>
          </a:xfrm>
          <a:prstGeom prst="line">
            <a:avLst/>
          </a:prstGeom>
          <a:noFill/>
          <a:ln w="28575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77440" y="4023360"/>
            <a:ext cx="1463040" cy="0"/>
          </a:xfrm>
          <a:prstGeom prst="line">
            <a:avLst/>
          </a:prstGeom>
          <a:noFill/>
          <a:ln w="28575">
            <a:solidFill>
              <a:srgbClr val="8A9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47088" y="21214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4708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58768" y="21214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58768" y="21214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47088" y="376732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47088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58768" y="376732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58768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52928" y="4773168"/>
            <a:ext cx="512064" cy="512064"/>
          </a:xfrm>
          <a:prstGeom prst="ellipse">
            <a:avLst/>
          </a:prstGeom>
          <a:solidFill>
            <a:srgbClr val="FCF0E3"/>
          </a:solidFill>
          <a:ln w="254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52928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4864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has no edges at all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00200"/>
          <a:ext cx="2907792" cy="2194560"/>
        </p:xfrm>
        <a:graphic>
          <a:graphicData uri="http://schemas.openxmlformats.org/drawingml/2006/table">
            <a:tbl>
              <a:tblPr/>
              <a:tblGrid>
                <a:gridCol w="48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9464040" y="1600200"/>
            <a:ext cx="2176272" cy="1600200"/>
          </a:xfrm>
          <a:prstGeom prst="roundRect">
            <a:avLst>
              <a:gd name="adj" fmla="val 5143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646920" y="1719072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
</a:t>
            </a:r>
            <a:r>
              <a:rPr lang="en-US" sz="125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(x, y) = 1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when there is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x – y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464040" y="3337560"/>
            <a:ext cx="2176272" cy="914400"/>
          </a:xfrm>
          <a:prstGeom prst="roundRect">
            <a:avLst>
              <a:gd name="adj" fmla="val 9000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64692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 is all zeros
</a:t>
            </a:r>
            <a:r>
              <a:rPr lang="en-US" sz="11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that is what an isolated node looks like.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72200" y="4434840"/>
            <a:ext cx="5468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about the main diagonal — the graph is undirected, so it stores everything twice.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sum = degree of that node.  Space cost: Θ(n²), even if the graph has very few edges.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properties, three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the matrix — no picture — how do you tell whether G …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949440" cy="1143000"/>
          </a:xfrm>
          <a:prstGeom prst="roundRect">
            <a:avLst>
              <a:gd name="adj" fmla="val 7200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70992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536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188366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of distinct nodes x ≠ y is joined by an edge.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70048"/>
            <a:ext cx="6949440" cy="1143000"/>
          </a:xfrm>
          <a:prstGeom prst="roundRect">
            <a:avLst>
              <a:gd name="adj" fmla="val 7200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4672" y="3008376"/>
            <a:ext cx="457200" cy="457200"/>
          </a:xfrm>
          <a:prstGeom prst="ellipse">
            <a:avLst/>
          </a:prstGeom>
          <a:solidFill>
            <a:srgbClr val="C2620A"/>
          </a:solidFill>
          <a:ln w="127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loop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182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from a node to itself.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6949440" cy="1143000"/>
          </a:xfrm>
          <a:prstGeom prst="roundRect">
            <a:avLst>
              <a:gd name="adj" fmla="val 72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4306824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467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133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isolated node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4480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 no edges at all — our node 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1371600"/>
            <a:ext cx="3822192" cy="3739896"/>
          </a:xfrm>
          <a:prstGeom prst="roundRect">
            <a:avLst>
              <a:gd name="adj" fmla="val 22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92440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exercise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92440" y="1938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you tell, from its adjacency matrix alone, whether an undirected graph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2788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is complete?
</a:t>
            </a:r>
            <a:r>
              <a:rPr lang="en-US" sz="135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has a loop?
</a:t>
            </a: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has an isolated node?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09244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how many entries does each check have to look at?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with your neighbour — what exactly do you look at in the matrix for each one?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 — what to look 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3-node examples, with the tell-tale entries highlighted.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2152" cy="2761488"/>
          </a:xfrm>
          <a:prstGeom prst="roundRect">
            <a:avLst>
              <a:gd name="adj" fmla="val 2350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Complete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68780" y="1965960"/>
          <a:ext cx="1261872" cy="1152144"/>
        </p:xfrm>
        <a:graphic>
          <a:graphicData uri="http://schemas.openxmlformats.org/drawingml/2006/table">
            <a:tbl>
              <a:tblPr/>
              <a:tblGrid>
                <a:gridCol w="42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33101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off-diagonal entry is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43400" y="1325880"/>
            <a:ext cx="3502152" cy="2761488"/>
          </a:xfrm>
          <a:prstGeom prst="roundRect">
            <a:avLst>
              <a:gd name="adj" fmla="val 2350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0" y="1481328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Has a loop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3540" y="1965960"/>
          <a:ext cx="1261872" cy="1152144"/>
        </p:xfrm>
        <a:graphic>
          <a:graphicData uri="http://schemas.openxmlformats.org/drawingml/2006/table">
            <a:tbl>
              <a:tblPr/>
              <a:tblGrid>
                <a:gridCol w="42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0" y="33101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entry on the main diagonal is 1.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1325880"/>
            <a:ext cx="3502152" cy="2761488"/>
          </a:xfrm>
          <a:prstGeom prst="roundRect">
            <a:avLst>
              <a:gd name="adj" fmla="val 235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366760" y="1481328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Has an isolated node</a:t>
            </a:r>
            <a:endParaRPr lang="en-US" sz="16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58300" y="1965960"/>
          <a:ext cx="1261872" cy="1152144"/>
        </p:xfrm>
        <a:graphic>
          <a:graphicData uri="http://schemas.openxmlformats.org/drawingml/2006/table">
            <a:tbl>
              <a:tblPr/>
              <a:tblGrid>
                <a:gridCol w="42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8366760" y="331012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row is all zeros (so is the matching column).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44302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with (a): a complete graph says nothing about the diagonal — loops are allowed but not required.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Anagrams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algorithm to decide whether one word is a permutation of the other.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a r n e r</a:t>
            </a:r>
            <a:r>
              <a:rPr lang="en-US" sz="2400" dirty="0">
                <a:solidFill>
                  <a:srgbClr val="000000"/>
                </a:solidFill>
              </a:rPr>
              <a:t>
</a:t>
            </a:r>
            <a:r>
              <a:rPr lang="en-US" sz="2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a n g e 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letters,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order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30952" cy="2011680"/>
          </a:xfrm>
          <a:prstGeom prst="roundRect">
            <a:avLst>
              <a:gd name="adj" fmla="val 4091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tempting wrong answer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each letter of the first word, check that it occurs in the second — and vice versa."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Counter-example:  </a:t>
            </a:r>
            <a:r>
              <a:rPr lang="en-US" sz="13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aab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r>
              <a:rPr lang="en-US" sz="13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test passes, yet they are not anagrams.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91672" cy="2148840"/>
          </a:xfrm>
          <a:prstGeom prst="roundRect">
            <a:avLst>
              <a:gd name="adj" fmla="val 383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question is…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— first attempt: match and cross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each letter of A with an unused, equal letter of 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892040" cy="3611880"/>
          </a:xfrm>
          <a:prstGeom prst="roundRect">
            <a:avLst>
              <a:gd name="adj" fmla="val 227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 differ? Done — not anagrams.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A. For each letter, hunt for a match in B that has not been used yet, and mark it used.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letter of A finds no partner, answer no.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4343400" cy="1051560"/>
          </a:xfrm>
          <a:prstGeom prst="roundRect">
            <a:avLst>
              <a:gd name="adj" fmla="val 7826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3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passes over B, each up to </a:t>
            </a:r>
            <a:r>
              <a:rPr lang="en-US" sz="13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comparisons
</a:t>
            </a: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Θ(n²) in the worst case.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852160" y="1325880"/>
            <a:ext cx="5788152" cy="3611880"/>
          </a:xfrm>
          <a:prstGeom prst="roundRect">
            <a:avLst>
              <a:gd name="adj" fmla="val 2278"/>
            </a:avLst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53328" y="1472184"/>
            <a:ext cx="538581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ANAGRAM_BF(A, B)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if |A| ≠ |B| return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used[0..|B|-1] ← all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for i = 0 .. |A|-1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found ←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 for j = 0 .. |B|-1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     if not used[j] and A[i] = B[j]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          used[j] ← true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           found ← true;  break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    if not found return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return true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" y="55686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</a:t>
            </a:r>
            <a:r>
              <a:rPr lang="en-US" sz="1250" b="1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970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970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words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8446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8446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6851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letters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— second attempt: sort both 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are anagrams exactly when their sorted forms are identical.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6035040" cy="3611880"/>
          </a:xfrm>
          <a:prstGeom prst="roundRect">
            <a:avLst>
              <a:gd name="adj" fmla="val 2278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normalises the order 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garner</a:t>
            </a: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9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aegnrr</a:t>
            </a:r>
            <a:r>
              <a:rPr lang="en-US" sz="1900" dirty="0">
                <a:solidFill>
                  <a:srgbClr val="000000"/>
                </a:solidFill>
              </a:rPr>
              <a:t>
</a:t>
            </a:r>
            <a:r>
              <a:rPr lang="en-US" sz="19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ranger</a:t>
            </a:r>
            <a:r>
              <a:rPr lang="en-US" sz="17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9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aegnrr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strings — so compare them character by character in Θ(n).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 log n) for the two sorts, then Θ(n) to compare.
</a:t>
            </a: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Θ(n log n) overall.  </a:t>
            </a: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win, and it scales well.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4782312" cy="1600200"/>
          </a:xfrm>
          <a:prstGeom prst="roundRect">
            <a:avLst>
              <a:gd name="adj" fmla="val 5143"/>
            </a:avLst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9168" y="1472184"/>
            <a:ext cx="43799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ANAGRAM_SORT(A, B)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if |A| ≠ |B| return false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A′ ← sort(A)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B′ ← sort(B)</a:t>
            </a:r>
            <a:endParaRPr lang="en-US" sz="1300" dirty="0"/>
          </a:p>
          <a:p>
            <a:pPr marL="0" indent="0">
              <a:lnSpc>
                <a:spcPts val="1885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return A′ = B′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3108960"/>
            <a:ext cx="4782312" cy="1828800"/>
          </a:xfrm>
          <a:prstGeom prst="roundRect">
            <a:avLst>
              <a:gd name="adj" fmla="val 4500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3246120"/>
            <a:ext cx="43251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noticing
</a:t>
            </a: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 is now the bottleneck — the comparison itself is free by comparison. Can we avoid sorting altogether?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9704" y="55686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970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words  </a:t>
            </a:r>
            <a:r>
              <a:rPr lang="en-US" sz="1250" b="1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3816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8446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8446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6851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letters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— third attempt: just count the letters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needed the order. We only needed how many of each symbol.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892040" cy="3611880"/>
          </a:xfrm>
          <a:prstGeom prst="roundRect">
            <a:avLst>
              <a:gd name="adj" fmla="val 2278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343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counter per symbol — a fixed array of 256 slots.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A up; tally B down.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counter goes negative, B has a letter A does not — stop.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lengths + no negatives ⇒ every counter is 0 ⇒ anagrams.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4343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 time,  Θ(1) extra space
</a:t>
            </a: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is a constant — it does not grow with 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52160" y="1325880"/>
            <a:ext cx="5788152" cy="3611880"/>
          </a:xfrm>
          <a:prstGeom prst="roundRect">
            <a:avLst>
              <a:gd name="adj" fmla="val 2278"/>
            </a:avLst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53328" y="1472184"/>
            <a:ext cx="538581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ANAGRAM(A, B)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if |A| ≠ |B| return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count[0..255] ← all 0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for i = 0 .. |A|-1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count[encode(A[i])] += 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for i = 0 .. |B|-1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  k ← encode(B[i])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  count[k] -= 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   if count[k] &lt; 0 return false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return true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494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94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O(n²)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9704" y="5568696"/>
            <a:ext cx="310896" cy="310896"/>
          </a:xfrm>
          <a:prstGeom prst="ellipse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8970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both words  </a:t>
            </a:r>
            <a:r>
              <a:rPr lang="en-US" sz="125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5440680"/>
            <a:ext cx="3502152" cy="566928"/>
          </a:xfrm>
          <a:prstGeom prst="roundRect">
            <a:avLst>
              <a:gd name="adj" fmla="val 1451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84464" y="556869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84464" y="5568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68512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letters  </a:t>
            </a:r>
            <a:r>
              <a:rPr lang="en-US" sz="1250" b="1" dirty="0">
                <a:solidFill>
                  <a:srgbClr val="E6F2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— the three algorithms side by side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same answer, very different cost.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26771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assumes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and cross 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262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Θ(n²)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— works for any alphabet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both 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Θ(n 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6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Symbols can be ordered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the letters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 is fixed and small (256)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60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4279392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to remember
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table indexed by the symbol itself turns "search for this value" into "read one array slot". We spend a little fixed space to delete an entire nested loop — the classic time/space trade-off. Q9 is the same idea wearing a different hat.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first_occ(d, 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first position in s holding any symbol from the collection d, or −1.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943600" cy="26060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first_occ("aeiou", "zzzzzzzzzzzz")</a:t>
            </a: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</a:t>
            </a: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r>
              <a:rPr lang="en-US" sz="1350" dirty="0">
                <a:solidFill>
                  <a:srgbClr val="000000"/>
                </a:solidFill>
              </a:rPr>
              <a:t>
</a:t>
            </a:r>
            <a:r>
              <a:rPr lang="en-US" sz="135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first_occ("aeiou", "Phlogiston")</a:t>
            </a: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 </a:t>
            </a: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71800"/>
          <a:ext cx="4572000" cy="62179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" y="36758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vowel is the "o" at index 3.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1417320"/>
            <a:ext cx="4873752" cy="2606040"/>
          </a:xfrm>
          <a:prstGeom prst="roundRect">
            <a:avLst>
              <a:gd name="adj" fmla="val 3158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40880" y="1627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for the analysis</a:t>
            </a:r>
            <a:endParaRPr lang="en-US" sz="1500" dirty="0"/>
          </a:p>
        </p:txBody>
      </p:sp>
      <p:sp>
        <p:nvSpPr>
          <p:cNvPr id="9" name="Text 10"/>
          <p:cNvSpPr/>
          <p:nvPr/>
        </p:nvSpPr>
        <p:spPr>
          <a:xfrm>
            <a:off x="7040880" y="201168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|d|, the number of symbols we are hunting for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|s|, the length of the text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operation: a symbol comparison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432511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to the question
</a:t>
            </a: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Design the obvious algorithm and give its complexity in terms of m and n.
2.  Now suppose d can only draw on 256 possible symbols. Can you do it with one scan of d and one scan of s?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 — the obvious algorithm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symbol of s, scan the whole of 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577840" cy="1691640"/>
          </a:xfrm>
          <a:prstGeom prst="roundRect">
            <a:avLst>
              <a:gd name="adj" fmla="val 4865"/>
            </a:avLst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72184"/>
            <a:ext cx="51755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FIRST_OCC_BF(d, s)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for i = 0 .. |s|-1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for j = 0 .. |d|-1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if s[i] = d[j] return i</a:t>
            </a:r>
            <a:endParaRPr lang="en-US" sz="1350" dirty="0"/>
          </a:p>
          <a:p>
            <a:pPr marL="0" indent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return -1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577840" cy="1645920"/>
          </a:xfrm>
          <a:prstGeom prst="roundRect">
            <a:avLst>
              <a:gd name="adj" fmla="val 5000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 </a:t>
            </a: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· n</a:t>
            </a:r>
            <a:r>
              <a:rPr lang="en-US" sz="14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comparisons
</a:t>
            </a: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exactly when no symbol of d occurs anywhere in s — nothing lets us stop early.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5148072" cy="3566160"/>
          </a:xfrm>
          <a:prstGeom prst="roundRect">
            <a:avLst>
              <a:gd name="adj" fmla="val 230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check with the class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19202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loops around does not help: for each symbol of d find its first occurrence in s, then take the smallest. Still m · n in the worst case.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case is one comparison — s[0] is in d. Worst case is what we quote.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work go? We re-scan d once for every single character of s. That is the redundancy to attack.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 — one scan of s, one scan of 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trick as Q8: an array indexed by the symbol itself.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943600" cy="3108960"/>
          </a:xfrm>
          <a:prstGeom prst="roundRect">
            <a:avLst>
              <a:gd name="adj" fmla="val 2647"/>
            </a:avLst>
          </a:prstGeom>
          <a:solidFill>
            <a:srgbClr val="111C33"/>
          </a:solidFill>
          <a:ln w="12700">
            <a:solidFill>
              <a:srgbClr val="111C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472184"/>
            <a:ext cx="55412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FIRST_OCC(d, s)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first[0..255] ← all -1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for j = 0 .. |s|-1              // one scan of s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k ← encode(s[j])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 if first[k] = -1 then first[k] ← j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best ← -1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for i = 0 .. |d|-1              // one scan of d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   p ← first[encode(d[i])]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   if p ≠ -1 and (best = -1 or p &lt; best)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        best ← p</a:t>
            </a:r>
            <a:endParaRPr lang="en-US" sz="1250" dirty="0"/>
          </a:p>
          <a:p>
            <a:pPr marL="0" indent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return best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1325880"/>
            <a:ext cx="4919472" cy="1554480"/>
          </a:xfrm>
          <a:prstGeom prst="roundRect">
            <a:avLst>
              <a:gd name="adj" fmla="val 5294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0" y="1508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first[ ] holds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184708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line 4, first[x] is the earliest position of symbol x in s, and −1 if x never appears. Notice we have not looked at d at all yet.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3017520"/>
            <a:ext cx="491947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31089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
</a:t>
            </a: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Θ(256) + Θ(n) + Θ(m)  =  Θ(n + m)
</a:t>
            </a: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sensible m and n that beats m · n. We traded a fixed block of space for a whole loop of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good variant:  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symbol of d in a boolean array first, then scan s and return at the first hit — also Θ(n + m), and it can stop early.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two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Q11: the one tool that settles every pair mechanically.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029200" cy="2880360"/>
          </a:xfrm>
          <a:prstGeom prst="roundRect">
            <a:avLst>
              <a:gd name="adj" fmla="val 2857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</a:t>
            </a:r>
            <a:r>
              <a:rPr lang="en-US" sz="1100" baseline="-40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n→∞ </a:t>
            </a: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f(n) / g(n)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480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148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grows slower  —  f ∈ O(g)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4480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&gt; 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8072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 —  f ∈ Θ(g)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465576"/>
            <a:ext cx="4480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346557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34655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grows faster  —  f ∈ Ω(g)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325880"/>
            <a:ext cx="5696712" cy="288036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facts that do most of the work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pairs in Q11 can be settled by inspection — reach for the limit only when your intuition and a classmate’s disagree.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1901952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on 0/0 or ∞/∞? Differentiate top and bottom — L’Hopital’s rule.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bases are constants:  logₐ n = logᵇ n / logᵇ a.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factor never changes the order; a change to an exponent almost always does.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 worth memorising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E9F3F2"/>
          </a:solidFill>
          <a:ln w="12700">
            <a:solidFill>
              <a:srgbClr val="E9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37944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47672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DFEEED"/>
          </a:solidFill>
          <a:ln w="12700">
            <a:solidFill>
              <a:srgbClr val="DFEE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47672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36976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46704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D5E9E7"/>
          </a:solidFill>
          <a:ln w="12700">
            <a:solidFill>
              <a:srgbClr val="D5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46704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36008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45736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CBE4E2"/>
          </a:solidFill>
          <a:ln w="12700">
            <a:solidFill>
              <a:srgbClr val="CB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45736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log 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35040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44768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FBEBDA"/>
          </a:solidFill>
          <a:ln w="12700">
            <a:solidFill>
              <a:srgbClr val="FBEB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44768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n²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34072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43800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F8E1CB"/>
          </a:solidFill>
          <a:ln w="12700">
            <a:solidFill>
              <a:srgbClr val="F8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543800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n³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833104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42832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F5D7BC"/>
          </a:solidFill>
          <a:ln w="12700">
            <a:solidFill>
              <a:srgbClr val="F5D7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942832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2ⁿ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232136" y="480060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341864" y="4800600"/>
            <a:ext cx="1289304" cy="566928"/>
          </a:xfrm>
          <a:prstGeom prst="roundRect">
            <a:avLst>
              <a:gd name="adj" fmla="val 14516"/>
            </a:avLst>
          </a:prstGeom>
          <a:solidFill>
            <a:srgbClr val="F2CDAD"/>
          </a:solidFill>
          <a:ln w="12700">
            <a:solidFill>
              <a:srgbClr val="F2C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341864" y="480060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n!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to the left is eventually beaten by anything to the right, whatever the constants.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 (a) – (c)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of growth? If not, which one wins?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n(n+1)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2000n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n(n+1) = n² + n, which is Θ(n²); the factor 2000 is just a constant. The limit is 1/2000, a non-zero constant.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100n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0.01n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0215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C2620A"/>
          </a:solidFill>
          <a:ln w="127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5021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cubic wins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92608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is 100n² / 0.01n³ = 10⁴/n → 0. Once n &gt; 1 we have n² &lt; n³, so taking c = 10⁴ satisfies the definition directly.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baseline="-4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 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9194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434340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n = ln n / ln 2. Changing the base of a logarithm only multiplies by a constant, so the base never matters inside O, Ω or Θ.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 (d) – (f)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 of growth? If not, which one wins?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(log</a:t>
            </a:r>
            <a:r>
              <a:rPr lang="en-US" sz="1500" b="1" baseline="-4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n)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b="1" baseline="-4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C2620A"/>
          </a:solidFill>
          <a:ln w="127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wins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log₂(n²) = 2 log₂ n, so the right-hand side is only Θ(log n). The ratio is (log₂ n)² / (2 log₂ n) = (log₂ n)/2 → ∞.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n-1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baseline="300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0215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5021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92608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 = 2 · 2ⁿ⁻¹, so they differ by the constant factor 2. Careful — 2ⁿ and 3ⁿ do not have the same order.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1672" cy="1298448"/>
          </a:xfrm>
          <a:prstGeom prst="roundRect">
            <a:avLst>
              <a:gd name="adj" fmla="val 6338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(n-1)!</a:t>
            </a:r>
            <a:r>
              <a:rPr lang="en-US" sz="15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vs   </a:t>
            </a:r>
            <a:r>
              <a:rPr lang="en-US" sz="15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91947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C2620A"/>
          </a:solidFill>
          <a:ln w="12700">
            <a:solidFill>
              <a:srgbClr val="C2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9194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n! wins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4343400"/>
            <a:ext cx="6035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n! / (n−1)! = n → ∞. The "factor" between them grows with n, so it is not a constant factor at all.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 constant multiplier is free; a multiplier that depends on n is not.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418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elimination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⅓n³ multiplications for n equations in n unknowns.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60152" y="310896"/>
            <a:ext cx="1280160" cy="512064"/>
          </a:xfrm>
          <a:prstGeom prst="roundRect">
            <a:avLst>
              <a:gd name="adj" fmla="val 17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0152" y="31089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6400800" cy="1554480"/>
          </a:xfrm>
          <a:prstGeom prst="roundRect">
            <a:avLst>
              <a:gd name="adj" fmla="val 5294"/>
            </a:avLst>
          </a:prstGeom>
          <a:solidFill>
            <a:srgbClr val="E6F2F1"/>
          </a:solidFill>
          <a:ln w="12700">
            <a:solidFill>
              <a:srgbClr val="C6E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444752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1000 equations versus 500
</a:t>
            </a:r>
            <a:r>
              <a:rPr lang="en-US" sz="13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(1/3)(2n)³ / (1/3)n³  =  8n³/n³  =  8
</a:t>
            </a: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times longer — and notice the answer never uses 500 or 1000. Doubling the input is what matters.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6400800" cy="1691640"/>
          </a:xfrm>
          <a:prstGeom prst="roundRect">
            <a:avLst>
              <a:gd name="adj" fmla="val 4865"/>
            </a:avLst>
          </a:prstGeom>
          <a:solidFill>
            <a:srgbClr val="FCF0E3"/>
          </a:solidFill>
          <a:ln w="12700">
            <a:solidFill>
              <a:srgbClr val="EBD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5852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A machine 1000× faster
</a:t>
            </a:r>
            <a:r>
              <a:rPr lang="en-US" sz="12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(1/3)m³ = 1000 · (1/3)n³  ⇒  m = ∛1000 · n = 10n
</a:t>
            </a:r>
            <a:r>
              <a:rPr lang="en-US" sz="125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thousandfold speed-up buys systems only ten times larger. For a cubic algorithm, hardware gives you the cube root of what you paid for.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6400800" cy="82296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Moral:  </a:t>
            </a:r>
            <a:r>
              <a:rPr lang="en-US" sz="1300" dirty="0">
                <a:solidFill>
                  <a:srgbClr val="25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 machine improves the constant; a better algorithm improves the exponent.</a:t>
            </a:r>
            <a:endParaRPr lang="en-US" sz="13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178040" y="1325880"/>
          <a:ext cx="4462272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COMP90038 Algorithms &amp; Complexity  ·  Tutorial Week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572000" cy="4572000"/>
          </a:xfrm>
          <a:prstGeom prst="ellipse">
            <a:avLst/>
          </a:prstGeom>
          <a:solidFill>
            <a:srgbClr val="25365C"/>
          </a:solidFill>
          <a:ln w="12700">
            <a:solidFill>
              <a:srgbClr val="253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take 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241280" cy="1280160"/>
          </a:xfrm>
          <a:prstGeom prst="roundRect">
            <a:avLst>
              <a:gd name="adj" fmla="val 6429"/>
            </a:avLst>
          </a:prstGeom>
          <a:solidFill>
            <a:srgbClr val="25365C"/>
          </a:solidFill>
          <a:ln w="12700">
            <a:solidFill>
              <a:srgbClr val="3A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84248"/>
            <a:ext cx="502920" cy="502920"/>
          </a:xfrm>
          <a:prstGeom prst="ellipse">
            <a:avLst/>
          </a:prstGeom>
          <a:solidFill>
            <a:srgbClr val="7FD1CD"/>
          </a:solidFill>
          <a:ln w="12700">
            <a:solidFill>
              <a:srgbClr val="7FD1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by the value, not by the 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set of possible values is small and fixed, an array indexed by the value itself replaces a search with a single lookup. That is what killed the inner loop in both Q8 and Q9.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0241280" cy="1280160"/>
          </a:xfrm>
          <a:prstGeom prst="roundRect">
            <a:avLst>
              <a:gd name="adj" fmla="val 6429"/>
            </a:avLst>
          </a:prstGeom>
          <a:solidFill>
            <a:srgbClr val="25365C"/>
          </a:solidFill>
          <a:ln w="12700">
            <a:solidFill>
              <a:srgbClr val="3A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3401568"/>
            <a:ext cx="502920" cy="502920"/>
          </a:xfrm>
          <a:prstGeom prst="ellipse">
            <a:avLst/>
          </a:prstGeom>
          <a:solidFill>
            <a:srgbClr val="7FD1CD"/>
          </a:solidFill>
          <a:ln w="12700">
            <a:solidFill>
              <a:srgbClr val="7FD1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312724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buys 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256-slot array is Θ(1) space and turns Θ(n²) into Θ(n). Recognising when this trade is available is a recurring theme for the rest of the subject.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241280" cy="1280160"/>
          </a:xfrm>
          <a:prstGeom prst="roundRect">
            <a:avLst>
              <a:gd name="adj" fmla="val 6429"/>
            </a:avLst>
          </a:prstGeom>
          <a:solidFill>
            <a:srgbClr val="25365C"/>
          </a:solidFill>
          <a:ln w="12700">
            <a:solidFill>
              <a:srgbClr val="3A4E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818888"/>
            <a:ext cx="502920" cy="502920"/>
          </a:xfrm>
          <a:prstGeom prst="ellipse">
            <a:avLst/>
          </a:prstGeom>
          <a:solidFill>
            <a:srgbClr val="7FD1CD"/>
          </a:solidFill>
          <a:ln w="12700">
            <a:solidFill>
              <a:srgbClr val="7FD1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54456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are free, exponents are not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log base, multiplying by 2000, or shifting an exponent by one leaves the order alone. Changing the exponent itself — or multiplying by anything that grows with n — does not.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fun at home:  </a:t>
            </a:r>
            <a:r>
              <a:rPr lang="en-US" sz="1300" dirty="0">
                <a:solidFill>
                  <a:srgbClr val="AE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eight balls, two weighings  ·  Q13 gloves in the dark  ·  Q14 the missing socks. Next week: brute force and recursion.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4183</Words>
  <Application>Microsoft Macintosh PowerPoint</Application>
  <PresentationFormat>Widescreen</PresentationFormat>
  <Paragraphs>459</Paragraphs>
  <Slides>19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COMP90038 Tutorial Week 3</dc:title>
  <dc:subject>PptxGenJS Presentation</dc:subject>
  <dc:creator>COMP90038 Tutorial</dc:creator>
  <cp:lastModifiedBy>Kejian Cui</cp:lastModifiedBy>
  <cp:revision>6</cp:revision>
  <dcterms:created xsi:type="dcterms:W3CDTF">2026-08-10T05:30:34Z</dcterms:created>
  <dcterms:modified xsi:type="dcterms:W3CDTF">2026-08-11T01:36:05Z</dcterms:modified>
</cp:coreProperties>
</file>