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4" r:id="rId18"/>
    <p:sldId id="276" r:id="rId19"/>
    <p:sldId id="277" r:id="rId20"/>
    <p:sldId id="279"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DEA2844-A01B-6456-613C-5038B254E5E2}">
          <p14:sldIdLst>
            <p14:sldId id="256"/>
            <p14:sldId id="257"/>
          </p14:sldIdLst>
        </p14:section>
        <p14:section name="Q79 Floyd and negative weights" id="{6D23306E-D01C-13D0-0918-ADDAC9240787}">
          <p14:sldIdLst>
            <p14:sldId id="258"/>
            <p14:sldId id="259"/>
            <p14:sldId id="260"/>
          </p14:sldIdLst>
        </p14:section>
        <p14:section name="Greedy: Q80–Q81" id="{B2A9CF76-3049-142E-8BFF-98BCD2F5382C}">
          <p14:sldIdLst>
            <p14:sldId id="261"/>
            <p14:sldId id="262"/>
            <p14:sldId id="263"/>
            <p14:sldId id="264"/>
            <p14:sldId id="266"/>
            <p14:sldId id="267"/>
          </p14:sldIdLst>
        </p14:section>
        <p14:section name="Prim &amp; Dijkstra: Q82–Q83" id="{569A86AF-E2C3-220A-5DC3-62AB01A329FD}">
          <p14:sldIdLst>
            <p14:sldId id="268"/>
            <p14:sldId id="269"/>
            <p14:sldId id="270"/>
            <p14:sldId id="271"/>
            <p14:sldId id="272"/>
          </p14:sldIdLst>
        </p14:section>
        <p14:section name="Huffman: Q84" id="{398348B8-13A8-3CA6-97A9-10F31DB3F804}">
          <p14:sldIdLst>
            <p14:sldId id="274"/>
            <p14:sldId id="276"/>
            <p14:sldId id="277"/>
          </p14:sldIdLst>
        </p14:section>
        <p14:section name="Wrap-up" id="{48C201A3-5326-0D95-F990-6B5873C4159E}">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9" d="100"/>
          <a:sy n="169" d="100"/>
        </p:scale>
        <p:origin x="19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3031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last tutorial of the semester.
Today's thread is greedy algorithms: make the locally best choice, commit to it, never look back. We'll see greedy strategies that fail (Q80 wiring, Q81 knapsack) and three classic greedy algorithms that are provably optimal (Prim, Dijkstra, Huffman).
We start with a warm-up on Floyd's algorithm with negative weights (Q79), which links back to last week's dynamic programming.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for the hour.
Q79: Floyd's algorithm with negative edge weights — it still works as long as no cycle has negative total weight.
Q80 and Q81: two greedy strategies that look sensible but are not optimal. The lesson is that greedy is efficient but you need a proof, otherwise look for a counterexample. For knapsack, the optimal solution is genuinely hard (NP-hard).
Q82 and Q83: Prim and Dijkstra, both driven by a priority queue. Spend most of the time on the traces.
Q84: build a Huffman tree — mechanical, but a nice example where greedy IS optimal.
Suggested timing: Q79 8 min, Q80–81 12 min, Q82–83 20 min, Q84 10 min.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Floyd: D^k[i][j] = min(D^(k-1)[i][j], D^(k-1)[i][k] + D^(k-1)[k][j]). D^k allows intermediate vertices from {1..k}.
Left graph: a→b costs 4, b→a costs −3. The matrices never change: D0 = D1 = D2. Going round the cycle a→b→a costs 4 − 3 = +1, so detours never help.
Ask the class to compute the right graph themselves before the next slide (a→b = 3, b→a = −4). Give them two minutes.
Small wording point: the question says 'dag', but both graphs contain a cycle a→b→a. The real condition for Floyd to work is no cycle of negative total weight.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update slowly.
D1 (allow a as intermediate): only b→b changes: b→a→b = −4 + 3 = −1. That is already suspicious: the shortest path from b to itself should be 0.
D2 (allow b as intermediate): every entry changes because D1[b][b] is negative, so routing through b again always 'helps'. a→a = 3 + (−4) = −1, a→b = 3 + (−1) = 2, b→a = −1 + (−4) = −5, b→b = −1 + (−1) = −2.
The algorithm stops at D2 because there are only two vertices — but the numbers are meaningless. If we kept iterating, they'd keep decreasing.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Floyd's correctness relies on shortest paths being simple (no repeated vertices). That holds whenever no cycle has negative total weight — negative individual edges are fine.
With a negative cycle you can always do better by looping one more time, so the minimum doesn't exist. The fix is a cheap O(n) check of the diagonal per round (or once at the end): a negative diagonal entry D[i][i] means i lies on a negative cycle.
Contrast to preview later: Dijkstra is NOT safe even with negative edges and no negative cycles.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frame for the next two questions.
Greedy = myopic + committed. It's attractive because it's simple and fast. But correctness is not automatic: you need a property of the problem (greedy-choice property + optimal substructure) and usually an exchange argument to prove it.
Q80 and Q81 are the 'disprove' side: to show greedy is not optimal, one small counterexample suffices. Later today Prim, Dijkstra and Huffman are the 'provably optimal' side.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problem. The greedy idea: first make every connection of length 1, then length 2, and so on — short wires first.
Ask: does this always give minimum total wire? Let students try for a couple of minutes to either argue correctness or build a counterexample. Hint: try a short sequence where committing to a length-1 wire forces a very long wire later.
(Note the pseudocode is a bit vague about conflicts, e.g. three alternating points W B W at distance 1 — that ambiguity isn't the point; the counterexample on the next slide has no conflicts.)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W W B B W W B B (positions 1–8).
Greedy at k = 1 grabs the three disjoint adjacent pairs 2–3, 4–5, 6–7. The only points left are 1 (white) and 8 (black), which must be joined with a wire of length 7. Total 10.
Better: nest the wires. 2–3 and 6–7 (length 1 each), then 1–4 and 5–8 (length 3 each). Total 8.
Point out what went wrong: connecting 4–5 looked cheap, but it 'used up' the partners that points 1 and 8 needed. A locally cheap choice forced an expensive one later.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answer's efficient method. Walk left to right with a stack. If the top of the stack has the opposite colour, pop it and connect; otherwise push.
Trace on W W B B W W B B (table). We get exactly the optimal wiring from the previous slide: total 8.
Invariant worth mentioning: the stack only ever holds points of ONE colour (if it held both, they'd already have been matched). So the stack size is exactly the imbalance between whites and blacks seen so far — that's the key to the optimality argument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0/1 knapsack problem. The 'benefit' of an item is value per unit weight. The greedy rule takes the best value-per-weight item first.
Ask students to find a small counterexample before revealing. The model answer uses three items with capacity 8: (6,5), (4,4), (3,4) as (value, weight). They're already sorted by benefit: 1.2, 1.0, 0.75.
Note the pseudocode stops as soon as one item doesn't fit; a variant that skips and continues also fails on this example.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Greedy takes i1 (highest benefit), weight 5. Next is i2 with weight 4, but 5 + 4 = 9 &gt; 8, so it stops with value 6. Picking i2 and i3 fills the knapsack exactly (weight 8) for value 7.
Why greedy fails: the high-benefit item wastes capacity — 3 units are left unusable. Indivisibility is the problem.
Contrast: in the fractional knapsack you can take part of an item, and then greedy by benefit is provably optimal (here: i1 plus 3/4 of i2 = 9).
Link back to the instructions: for 0/1 knapsack, finding the optimum is hard — it's NP-hard. The DP from earlier in the semester runs in O(nW), which is polynomial in the numeric value of W but exponential in the number of bits needed to write W down. Greedy gives an answer fast, but not necessarily the best 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tracing, emphasise that the two algorithms are the same code with one line changed.
Both keep the not-yet-finished vertices in a min priority queue. Repeatedly eject the vertex with the smallest key, then relax its neighbours.
Prim: the key of v is the weight of the cheapest single edge connecting v to the tree built so far.
Dijkstra: the key of v is the length of the shortest path found so far from the source to v — so we add dist[u].
Each vertex is ejected once (|V| eject-mins), each edge causes at most one update (|E| decrease-keys), each heap operation is O(log |V|).</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Prim with a priority queue, starting from a. Notation: key(prev).
Eject a: neighbours get keys d:1, b:2, c:4.
Eject d (edge a–d, 1): update c to 2 via d (better than 4), g:4, e:7, f:8. b stays 2 because a–b = 2 &lt; d–b = 3.
Eject b or c (both key 2) — the model answer says either order. Ejecting b: b–e = 9 doesn't beat 7.
Eject c (edge c–d, 2): f improves to 5 via c.
Eject g (edge d–g, 4): f improves to 1, e improves to 6.
Eject f (edge f–g, 1), then e (edge e–g, 6).
Order of edges: a–d, then a–b and c–d (either order), then d–g, g–f, e–g. Emphasise: the key is a single edge weight, not a path length.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MST in amber: a–d, a–b, c–d, d–g, g–f, e–g. Total 1 + 2 + 2 + 4 + 1 + 6 = 16.
Sanity check: 7 vertices, 6 edges, connected, no cycle.
Note that b–e (9) and d–e (7) are left out: e attaches through g instead (6). Keep this in mind for the next question.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run Dijkstra from e. Notation: dist(prev).
Eject e (0): g:6, d:7, b:9.
Eject g (6): f becomes 6+1 = 7. d via g would be 6+4 = 10 — worse than 7, no change.
Eject d or f (both 7). Ejecting d: a becomes 7+1 = 8, c becomes 7+2 = 9. b via d = 10, no change.
Eject f (7): c via f = 12, no change.
Eject a (8): b via a = 10, c via a = 12, no change.
Eject b (9) and c (9).
Final distances: a 8, b 9, c 9, d 7, e 0, f 7, g 6 — matches the model answer.
Contrast with Prim: at the step for g, Prim compared the edge weight 4 against 7; Dijkstra compares 6+4 = 10 against 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prev relation from Dijkstra forms the shortest-path tree rooted at e: e–b, e–d, e–g, d–a, d–c, g–f. Red numbers are distances from e.
Right: the MST from Q82.
Answer to the question: the shortest path from e to b is the single edge e–b with weight 9, and that edge is NOT in the MST. Following the MST from e to b goes e–g–d–a–b = 6 + 4 + 1 + 2 = 13.
Lesson: an MST minimises the total weight of the tree; a shortest-path tree minimises each individual distance from one source. Different objectives give different trees. The MST doesn't depend on a start vertex; the shortest-path tree does.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Frequencies are given: a 6, b 1, d 3, e 2, g 1, i 3, l 6, m 1, n 5, s 3, space 6. They sum to 37, the length of the string.
Huffman's algorithm is greedy: keep a priority queue (min-heap) of trees keyed by weight. Repeatedly eject the two lightest, merge them, insert the merged tree. With 11 symbols we do 10 merges.
Unlike Q80/Q81, this greedy algorithm is provably optimal: no prefix code gives a shorter encoding for these frequencies.
Ties are common — different tie-breaking gives different trees and different codes, but the total length is always the same minimum.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tree from the merges: internal nodes show weights, amber leaves are characters. Left edges are 0, right edges are 1.
Read each code by walking from the root: space = 00, s = 010, b = 01100, g = 01101, e = 01110, m = 01111, d = 1000, i = 1001, n = 101, a = 110, l = 111.
Points to make:
- Frequent characters (a, l, space) get short codes; rare ones (b, g, m) get long codes.
- It's a prefix code: no code is a prefix of another, because every character is a leaf. So decoding is unambiguous without separators.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bits = sum over characters of frequency × code length = 18 + 5 + 12 + 10 + 5 + 12 + 18 + 5 + 15 + 9 + 12 = 121, matching the model answer.
Comparison: 11 distinct symbols need ceil(log2 11) = 4 bits each with a fixed-length code, so 37 × 4 = 148 bits. Huffman saves 27 bits (about 18%). Average 121 / 37 ≈ 3.27 bits per character.
Handy check: every merge of weight w adds one bit to each of the w character occurrences below it, so the total equals the sum of the internal node weights: 2 + 3 + 5 + 6 + 8 + 11 + 12 + 14 + 23 + 37 = 121. This gives the answer without writing out the encoded string, and it works for any valid Huffman tree.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tutorial — thank the class.
Leave time for open questions about revision. Good topics to suggest revisiting: master theorem / recurrences, sorting lower bounds, hashing, dynamic programming (knapsack, Warshall/Floyd), and the graph algorithms from today.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88720"/>
            <a:ext cx="8046720" cy="13258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697480"/>
            <a:ext cx="8046720" cy="1005840"/>
          </a:xfrm>
          <a:prstGeom prst="rect">
            <a:avLst/>
          </a:prstGeom>
          <a:noFill/>
          <a:ln/>
        </p:spPr>
        <p:txBody>
          <a:bodyPr wrap="square" rtlCol="0"/>
          <a:lstStyle>
            <a:lvl1pPr marL="0" indent="0">
              <a:buNone/>
              <a:defRPr lang="en-US" sz="1800" dirty="0">
                <a:solidFill>
                  <a:schemeClr val="accent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097280" y="274320"/>
            <a:ext cx="7589520" cy="603504"/>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marL="0" indent="0">
              <a:buNone/>
            </a:pPr>
            <a:r>
              <a:rPr lang="en-US" sz="1000" dirty="0">
                <a:solidFill>
                  <a:schemeClr val="accent5"/>
                </a:solidFill>
              </a:rPr>
              <a:t>COMP90038 · Tutorial Week 12</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88720"/>
            <a:ext cx="8046720" cy="1325880"/>
          </a:xfrm>
          <a:prstGeom prst="rect">
            <a:avLst/>
          </a:prstGeom>
          <a:noFill/>
          <a:ln/>
        </p:spPr>
        <p:txBody>
          <a:bodyPr wrap="square" lIns="0" tIns="0" rIns="0" bIns="0" rtlCol="0" anchor="b"/>
          <a:lstStyle/>
          <a:p>
            <a:pPr marL="0" indent="0" algn="l">
              <a:buNone/>
            </a:pPr>
            <a:r>
              <a:rPr lang="en-US" sz="4000" b="1" dirty="0">
                <a:solidFill>
                  <a:schemeClr val="bg1"/>
                </a:solidFill>
              </a:rPr>
              <a:t>Greedy Algorithms, Prim, Dijkstra &amp; Huffman</a:t>
            </a:r>
            <a:endParaRPr lang="en-US" sz="4000" dirty="0"/>
          </a:p>
        </p:txBody>
      </p:sp>
      <p:sp>
        <p:nvSpPr>
          <p:cNvPr id="3" name="Text 0"/>
          <p:cNvSpPr>
            <a:spLocks noGrp="1"/>
          </p:cNvSpPr>
          <p:nvPr>
            <p:ph type="body" idx="101" hasCustomPrompt="1"/>
          </p:nvPr>
        </p:nvSpPr>
        <p:spPr>
          <a:xfrm>
            <a:off x="548640" y="2697480"/>
            <a:ext cx="8046720" cy="1005840"/>
          </a:xfrm>
          <a:prstGeom prst="rect">
            <a:avLst/>
          </a:prstGeom>
          <a:noFill/>
          <a:ln/>
        </p:spPr>
        <p:txBody>
          <a:bodyPr wrap="square" lIns="0" tIns="0" rIns="0" bIns="0" rtlCol="0" anchor="t"/>
          <a:lstStyle/>
          <a:p>
            <a:pPr marL="0" indent="0">
              <a:buNone/>
            </a:pPr>
            <a:r>
              <a:rPr lang="en-US" sz="1800" dirty="0">
                <a:solidFill>
                  <a:schemeClr val="accent2"/>
                </a:solidFill>
              </a:rPr>
              <a:t>COMP90038 Algorithms and Complexity · Tutorial Week 12 · Q79–Q84</a:t>
            </a:r>
            <a:endParaRPr lang="en-US" sz="1800" dirty="0"/>
          </a:p>
        </p:txBody>
      </p:sp>
      <p:sp>
        <p:nvSpPr>
          <p:cNvPr id="4" name="Shape 2"/>
          <p:cNvSpPr/>
          <p:nvPr/>
        </p:nvSpPr>
        <p:spPr>
          <a:xfrm>
            <a:off x="548640" y="4160520"/>
            <a:ext cx="219456" cy="219456"/>
          </a:xfrm>
          <a:prstGeom prst="ellipse">
            <a:avLst/>
          </a:prstGeom>
          <a:solidFill>
            <a:schemeClr val="accent2"/>
          </a:solidFill>
          <a:ln w="19050">
            <a:solidFill>
              <a:schemeClr val="accent2"/>
            </a:solidFill>
            <a:prstDash val="solid"/>
          </a:ln>
        </p:spPr>
        <p:txBody>
          <a:bodyPr/>
          <a:lstStyle/>
          <a:p>
            <a:endParaRPr lang="en-US"/>
          </a:p>
        </p:txBody>
      </p:sp>
      <p:sp>
        <p:nvSpPr>
          <p:cNvPr id="5" name="Shape 3"/>
          <p:cNvSpPr/>
          <p:nvPr/>
        </p:nvSpPr>
        <p:spPr>
          <a:xfrm>
            <a:off x="768096" y="4270248"/>
            <a:ext cx="329184" cy="0"/>
          </a:xfrm>
          <a:prstGeom prst="line">
            <a:avLst/>
          </a:prstGeom>
          <a:noFill/>
          <a:ln w="19050">
            <a:solidFill>
              <a:schemeClr val="accent2"/>
            </a:solidFill>
            <a:prstDash val="solid"/>
          </a:ln>
        </p:spPr>
        <p:txBody>
          <a:bodyPr/>
          <a:lstStyle/>
          <a:p>
            <a:endParaRPr lang="en-US"/>
          </a:p>
        </p:txBody>
      </p:sp>
      <p:sp>
        <p:nvSpPr>
          <p:cNvPr id="6" name="Shape 4"/>
          <p:cNvSpPr/>
          <p:nvPr/>
        </p:nvSpPr>
        <p:spPr>
          <a:xfrm>
            <a:off x="1097280" y="4160520"/>
            <a:ext cx="219456" cy="219456"/>
          </a:xfrm>
          <a:prstGeom prst="ellipse">
            <a:avLst/>
          </a:prstGeom>
          <a:solidFill>
            <a:schemeClr val="tx2"/>
          </a:solidFill>
          <a:ln w="19050">
            <a:solidFill>
              <a:schemeClr val="accent2"/>
            </a:solidFill>
            <a:prstDash val="solid"/>
          </a:ln>
        </p:spPr>
        <p:txBody>
          <a:bodyPr/>
          <a:lstStyle/>
          <a:p>
            <a:endParaRPr lang="en-US"/>
          </a:p>
        </p:txBody>
      </p:sp>
      <p:sp>
        <p:nvSpPr>
          <p:cNvPr id="7" name="Shape 5"/>
          <p:cNvSpPr/>
          <p:nvPr/>
        </p:nvSpPr>
        <p:spPr>
          <a:xfrm>
            <a:off x="1316736" y="4270248"/>
            <a:ext cx="329184" cy="0"/>
          </a:xfrm>
          <a:prstGeom prst="line">
            <a:avLst/>
          </a:prstGeom>
          <a:noFill/>
          <a:ln w="19050">
            <a:solidFill>
              <a:schemeClr val="accent2"/>
            </a:solidFill>
            <a:prstDash val="solid"/>
          </a:ln>
        </p:spPr>
        <p:txBody>
          <a:bodyPr/>
          <a:lstStyle/>
          <a:p>
            <a:endParaRPr lang="en-US"/>
          </a:p>
        </p:txBody>
      </p:sp>
      <p:sp>
        <p:nvSpPr>
          <p:cNvPr id="8" name="Shape 6"/>
          <p:cNvSpPr/>
          <p:nvPr/>
        </p:nvSpPr>
        <p:spPr>
          <a:xfrm>
            <a:off x="1645920" y="4160520"/>
            <a:ext cx="219456" cy="219456"/>
          </a:xfrm>
          <a:prstGeom prst="ellipse">
            <a:avLst/>
          </a:prstGeom>
          <a:solidFill>
            <a:schemeClr val="tx2"/>
          </a:solidFill>
          <a:ln w="19050">
            <a:solidFill>
              <a:schemeClr val="accent2"/>
            </a:solidFill>
            <a:prstDash val="solid"/>
          </a:ln>
        </p:spPr>
        <p:txBody>
          <a:bodyPr/>
          <a:lstStyle/>
          <a:p>
            <a:endParaRPr lang="en-US"/>
          </a:p>
        </p:txBody>
      </p:sp>
      <p:sp>
        <p:nvSpPr>
          <p:cNvPr id="9" name="Shape 7"/>
          <p:cNvSpPr/>
          <p:nvPr/>
        </p:nvSpPr>
        <p:spPr>
          <a:xfrm>
            <a:off x="1865376" y="4270248"/>
            <a:ext cx="329184" cy="0"/>
          </a:xfrm>
          <a:prstGeom prst="line">
            <a:avLst/>
          </a:prstGeom>
          <a:noFill/>
          <a:ln w="19050">
            <a:solidFill>
              <a:schemeClr val="accent2"/>
            </a:solidFill>
            <a:prstDash val="solid"/>
          </a:ln>
        </p:spPr>
        <p:txBody>
          <a:bodyPr/>
          <a:lstStyle/>
          <a:p>
            <a:endParaRPr lang="en-US"/>
          </a:p>
        </p:txBody>
      </p:sp>
      <p:sp>
        <p:nvSpPr>
          <p:cNvPr id="10" name="Shape 8"/>
          <p:cNvSpPr/>
          <p:nvPr/>
        </p:nvSpPr>
        <p:spPr>
          <a:xfrm>
            <a:off x="2194560" y="4160520"/>
            <a:ext cx="219456" cy="219456"/>
          </a:xfrm>
          <a:prstGeom prst="ellipse">
            <a:avLst/>
          </a:prstGeom>
          <a:solidFill>
            <a:schemeClr val="tx2"/>
          </a:solidFill>
          <a:ln w="19050">
            <a:solidFill>
              <a:schemeClr val="accent2"/>
            </a:solidFill>
            <a:prstDash val="solid"/>
          </a:ln>
        </p:spPr>
        <p:txBody>
          <a:bodyPr/>
          <a:lstStyle/>
          <a:p>
            <a:endParaRPr lang="en-US"/>
          </a:p>
        </p:txBody>
      </p:sp>
      <p:sp>
        <p:nvSpPr>
          <p:cNvPr id="11" name="Shape 9"/>
          <p:cNvSpPr/>
          <p:nvPr/>
        </p:nvSpPr>
        <p:spPr>
          <a:xfrm>
            <a:off x="2414016" y="4270248"/>
            <a:ext cx="329184" cy="0"/>
          </a:xfrm>
          <a:prstGeom prst="line">
            <a:avLst/>
          </a:prstGeom>
          <a:noFill/>
          <a:ln w="19050">
            <a:solidFill>
              <a:schemeClr val="accent2"/>
            </a:solidFill>
            <a:prstDash val="solid"/>
          </a:ln>
        </p:spPr>
        <p:txBody>
          <a:bodyPr/>
          <a:lstStyle/>
          <a:p>
            <a:endParaRPr lang="en-US"/>
          </a:p>
        </p:txBody>
      </p:sp>
      <p:sp>
        <p:nvSpPr>
          <p:cNvPr id="12" name="Shape 10"/>
          <p:cNvSpPr/>
          <p:nvPr/>
        </p:nvSpPr>
        <p:spPr>
          <a:xfrm>
            <a:off x="2743200" y="4160520"/>
            <a:ext cx="219456" cy="219456"/>
          </a:xfrm>
          <a:prstGeom prst="ellipse">
            <a:avLst/>
          </a:prstGeom>
          <a:solidFill>
            <a:schemeClr val="tx2"/>
          </a:solidFill>
          <a:ln w="19050">
            <a:solidFill>
              <a:schemeClr val="accent2"/>
            </a:solidFill>
            <a:prstDash val="solid"/>
          </a:ln>
        </p:spPr>
        <p:txBody>
          <a:bodyPr/>
          <a:lstStyle/>
          <a:p>
            <a:endParaRPr lang="en-US"/>
          </a:p>
        </p:txBody>
      </p:sp>
      <p:sp>
        <p:nvSpPr>
          <p:cNvPr id="13" name="Text 11"/>
          <p:cNvSpPr txBox="1"/>
          <p:nvPr/>
        </p:nvSpPr>
        <p:spPr>
          <a:xfrm>
            <a:off x="3383280" y="4114800"/>
            <a:ext cx="5212080" cy="310896"/>
          </a:xfrm>
          <a:prstGeom prst="rect">
            <a:avLst/>
          </a:prstGeom>
          <a:noFill/>
          <a:ln/>
        </p:spPr>
        <p:txBody>
          <a:bodyPr wrap="square" lIns="0" tIns="0" rIns="0" bIns="0" rtlCol="0" anchor="ctr"/>
          <a:lstStyle/>
          <a:p>
            <a:pPr marL="0" indent="0">
              <a:buNone/>
            </a:pPr>
            <a:r>
              <a:rPr lang="en-US" sz="1400" dirty="0">
                <a:solidFill>
                  <a:schemeClr val="accent6"/>
                </a:solidFill>
              </a:rPr>
              <a:t>Final tutorial of the semester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12</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Today's roadmap</a:t>
            </a:r>
            <a:endParaRPr lang="en-US" sz="2800" dirty="0"/>
          </a:p>
        </p:txBody>
      </p:sp>
      <p:sp>
        <p:nvSpPr>
          <p:cNvPr id="5" name="Shape 3"/>
          <p:cNvSpPr/>
          <p:nvPr/>
        </p:nvSpPr>
        <p:spPr>
          <a:xfrm>
            <a:off x="457200" y="1188720"/>
            <a:ext cx="1828800" cy="233172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6" name="Shape 4"/>
          <p:cNvSpPr/>
          <p:nvPr/>
        </p:nvSpPr>
        <p:spPr>
          <a:xfrm>
            <a:off x="640080" y="1417320"/>
            <a:ext cx="5943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7" name="Text 5"/>
          <p:cNvSpPr txBox="1"/>
          <p:nvPr/>
        </p:nvSpPr>
        <p:spPr>
          <a:xfrm>
            <a:off x="640080" y="1417320"/>
            <a:ext cx="594360" cy="329184"/>
          </a:xfrm>
          <a:prstGeom prst="rect">
            <a:avLst/>
          </a:prstGeom>
          <a:noFill/>
          <a:ln/>
        </p:spPr>
        <p:txBody>
          <a:bodyPr wrap="square" lIns="0" tIns="0" rIns="0" bIns="0" rtlCol="0" anchor="ctr"/>
          <a:lstStyle/>
          <a:p>
            <a:pPr marL="0" indent="0" algn="ctr">
              <a:buNone/>
            </a:pPr>
            <a:r>
              <a:rPr lang="en-US" sz="1300" b="1" dirty="0">
                <a:solidFill>
                  <a:schemeClr val="bg1"/>
                </a:solidFill>
              </a:rPr>
              <a:t>Q79</a:t>
            </a:r>
            <a:endParaRPr lang="en-US" sz="1300" dirty="0"/>
          </a:p>
        </p:txBody>
      </p:sp>
      <p:sp>
        <p:nvSpPr>
          <p:cNvPr id="8" name="Text 6"/>
          <p:cNvSpPr txBox="1"/>
          <p:nvPr/>
        </p:nvSpPr>
        <p:spPr>
          <a:xfrm>
            <a:off x="640080" y="1901952"/>
            <a:ext cx="1463040" cy="77724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Floyd with negative weights</a:t>
            </a:r>
            <a:endParaRPr lang="en-US" sz="1700" dirty="0"/>
          </a:p>
        </p:txBody>
      </p:sp>
      <p:sp>
        <p:nvSpPr>
          <p:cNvPr id="9" name="Text 7"/>
          <p:cNvSpPr txBox="1"/>
          <p:nvPr/>
        </p:nvSpPr>
        <p:spPr>
          <a:xfrm>
            <a:off x="640080" y="2743200"/>
            <a:ext cx="1463040" cy="685800"/>
          </a:xfrm>
          <a:prstGeom prst="rect">
            <a:avLst/>
          </a:prstGeom>
          <a:noFill/>
          <a:ln/>
        </p:spPr>
        <p:txBody>
          <a:bodyPr wrap="square" lIns="0" tIns="0" rIns="0" bIns="0" rtlCol="0" anchor="t"/>
          <a:lstStyle/>
          <a:p>
            <a:pPr marL="0" indent="0">
              <a:buNone/>
            </a:pPr>
            <a:r>
              <a:rPr lang="en-US" sz="1400" dirty="0">
                <a:solidFill>
                  <a:schemeClr val="tx1"/>
                </a:solidFill>
              </a:rPr>
              <a:t>Negative edges are fine — negative cycles are not</a:t>
            </a:r>
            <a:endParaRPr lang="en-US" sz="1400" dirty="0"/>
          </a:p>
        </p:txBody>
      </p:sp>
      <p:sp>
        <p:nvSpPr>
          <p:cNvPr id="10" name="Shape 8"/>
          <p:cNvSpPr/>
          <p:nvPr/>
        </p:nvSpPr>
        <p:spPr>
          <a:xfrm>
            <a:off x="2468880" y="1188720"/>
            <a:ext cx="1828800" cy="233172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11" name="Shape 9"/>
          <p:cNvSpPr/>
          <p:nvPr/>
        </p:nvSpPr>
        <p:spPr>
          <a:xfrm>
            <a:off x="2651760" y="1417320"/>
            <a:ext cx="86868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12" name="Text 10"/>
          <p:cNvSpPr txBox="1"/>
          <p:nvPr/>
        </p:nvSpPr>
        <p:spPr>
          <a:xfrm>
            <a:off x="2651760" y="1417320"/>
            <a:ext cx="868680" cy="329184"/>
          </a:xfrm>
          <a:prstGeom prst="rect">
            <a:avLst/>
          </a:prstGeom>
          <a:noFill/>
          <a:ln/>
        </p:spPr>
        <p:txBody>
          <a:bodyPr wrap="square" lIns="0" tIns="0" rIns="0" bIns="0" rtlCol="0" anchor="ctr"/>
          <a:lstStyle/>
          <a:p>
            <a:pPr marL="0" indent="0" algn="ctr">
              <a:buNone/>
            </a:pPr>
            <a:r>
              <a:rPr lang="en-US" sz="1300" b="1" dirty="0">
                <a:solidFill>
                  <a:schemeClr val="bg1"/>
                </a:solidFill>
              </a:rPr>
              <a:t>Q80–81</a:t>
            </a:r>
            <a:endParaRPr lang="en-US" sz="1300" dirty="0"/>
          </a:p>
        </p:txBody>
      </p:sp>
      <p:sp>
        <p:nvSpPr>
          <p:cNvPr id="13" name="Text 11"/>
          <p:cNvSpPr txBox="1"/>
          <p:nvPr/>
        </p:nvSpPr>
        <p:spPr>
          <a:xfrm>
            <a:off x="2651760" y="1901952"/>
            <a:ext cx="1463040" cy="77724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When greedy fails</a:t>
            </a:r>
            <a:endParaRPr lang="en-US" sz="1700" dirty="0"/>
          </a:p>
        </p:txBody>
      </p:sp>
      <p:sp>
        <p:nvSpPr>
          <p:cNvPr id="14" name="Text 12"/>
          <p:cNvSpPr txBox="1"/>
          <p:nvPr/>
        </p:nvSpPr>
        <p:spPr>
          <a:xfrm>
            <a:off x="2651760" y="2743200"/>
            <a:ext cx="1463040" cy="685800"/>
          </a:xfrm>
          <a:prstGeom prst="rect">
            <a:avLst/>
          </a:prstGeom>
          <a:noFill/>
          <a:ln/>
        </p:spPr>
        <p:txBody>
          <a:bodyPr wrap="square" lIns="0" tIns="0" rIns="0" bIns="0" rtlCol="0" anchor="t"/>
          <a:lstStyle/>
          <a:p>
            <a:pPr marL="0" indent="0">
              <a:buNone/>
            </a:pPr>
            <a:r>
              <a:rPr lang="en-US" sz="1400" dirty="0">
                <a:solidFill>
                  <a:schemeClr val="tx1"/>
                </a:solidFill>
              </a:rPr>
              <a:t>Fast, plausible, and sometimes wrong</a:t>
            </a:r>
            <a:endParaRPr lang="en-US" sz="1400" dirty="0"/>
          </a:p>
        </p:txBody>
      </p:sp>
      <p:sp>
        <p:nvSpPr>
          <p:cNvPr id="15" name="Shape 13"/>
          <p:cNvSpPr/>
          <p:nvPr/>
        </p:nvSpPr>
        <p:spPr>
          <a:xfrm>
            <a:off x="4480560" y="1188720"/>
            <a:ext cx="1828800" cy="233172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16" name="Shape 14"/>
          <p:cNvSpPr/>
          <p:nvPr/>
        </p:nvSpPr>
        <p:spPr>
          <a:xfrm>
            <a:off x="4663440" y="1417320"/>
            <a:ext cx="86868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17" name="Text 15"/>
          <p:cNvSpPr txBox="1"/>
          <p:nvPr/>
        </p:nvSpPr>
        <p:spPr>
          <a:xfrm>
            <a:off x="4663440" y="1417320"/>
            <a:ext cx="868680" cy="329184"/>
          </a:xfrm>
          <a:prstGeom prst="rect">
            <a:avLst/>
          </a:prstGeom>
          <a:noFill/>
          <a:ln/>
        </p:spPr>
        <p:txBody>
          <a:bodyPr wrap="square" lIns="0" tIns="0" rIns="0" bIns="0" rtlCol="0" anchor="ctr"/>
          <a:lstStyle/>
          <a:p>
            <a:pPr marL="0" indent="0" algn="ctr">
              <a:buNone/>
            </a:pPr>
            <a:r>
              <a:rPr lang="en-US" sz="1300" b="1" dirty="0">
                <a:solidFill>
                  <a:schemeClr val="bg1"/>
                </a:solidFill>
              </a:rPr>
              <a:t>Q82–83</a:t>
            </a:r>
            <a:endParaRPr lang="en-US" sz="1300" dirty="0"/>
          </a:p>
        </p:txBody>
      </p:sp>
      <p:sp>
        <p:nvSpPr>
          <p:cNvPr id="18" name="Text 16"/>
          <p:cNvSpPr txBox="1"/>
          <p:nvPr/>
        </p:nvSpPr>
        <p:spPr>
          <a:xfrm>
            <a:off x="4663440" y="1901952"/>
            <a:ext cx="1463040" cy="77724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Prim &amp; Dijkstra</a:t>
            </a:r>
            <a:endParaRPr lang="en-US" sz="1700" dirty="0"/>
          </a:p>
        </p:txBody>
      </p:sp>
      <p:sp>
        <p:nvSpPr>
          <p:cNvPr id="19" name="Text 17"/>
          <p:cNvSpPr txBox="1"/>
          <p:nvPr/>
        </p:nvSpPr>
        <p:spPr>
          <a:xfrm>
            <a:off x="4663440" y="2743200"/>
            <a:ext cx="1463040" cy="685800"/>
          </a:xfrm>
          <a:prstGeom prst="rect">
            <a:avLst/>
          </a:prstGeom>
          <a:noFill/>
          <a:ln/>
        </p:spPr>
        <p:txBody>
          <a:bodyPr wrap="square" lIns="0" tIns="0" rIns="0" bIns="0" rtlCol="0" anchor="t"/>
          <a:lstStyle/>
          <a:p>
            <a:pPr marL="0" indent="0">
              <a:buNone/>
            </a:pPr>
            <a:r>
              <a:rPr lang="en-US" sz="1400" dirty="0">
                <a:solidFill>
                  <a:schemeClr val="tx1"/>
                </a:solidFill>
              </a:rPr>
              <a:t>Same priority-queue skeleton, different keys</a:t>
            </a:r>
            <a:endParaRPr lang="en-US" sz="1400" dirty="0"/>
          </a:p>
        </p:txBody>
      </p:sp>
      <p:sp>
        <p:nvSpPr>
          <p:cNvPr id="20" name="Shape 18"/>
          <p:cNvSpPr/>
          <p:nvPr/>
        </p:nvSpPr>
        <p:spPr>
          <a:xfrm>
            <a:off x="6492240" y="1188720"/>
            <a:ext cx="1828800" cy="233172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21" name="Shape 19"/>
          <p:cNvSpPr/>
          <p:nvPr/>
        </p:nvSpPr>
        <p:spPr>
          <a:xfrm>
            <a:off x="6675120" y="1417320"/>
            <a:ext cx="59436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22" name="Text 20"/>
          <p:cNvSpPr txBox="1"/>
          <p:nvPr/>
        </p:nvSpPr>
        <p:spPr>
          <a:xfrm>
            <a:off x="6675120" y="1417320"/>
            <a:ext cx="594360" cy="329184"/>
          </a:xfrm>
          <a:prstGeom prst="rect">
            <a:avLst/>
          </a:prstGeom>
          <a:noFill/>
          <a:ln/>
        </p:spPr>
        <p:txBody>
          <a:bodyPr wrap="square" lIns="0" tIns="0" rIns="0" bIns="0" rtlCol="0" anchor="ctr"/>
          <a:lstStyle/>
          <a:p>
            <a:pPr marL="0" indent="0" algn="ctr">
              <a:buNone/>
            </a:pPr>
            <a:r>
              <a:rPr lang="en-US" sz="1300" b="1" dirty="0">
                <a:solidFill>
                  <a:schemeClr val="bg1"/>
                </a:solidFill>
              </a:rPr>
              <a:t>Q84</a:t>
            </a:r>
            <a:endParaRPr lang="en-US" sz="1300" dirty="0"/>
          </a:p>
        </p:txBody>
      </p:sp>
      <p:sp>
        <p:nvSpPr>
          <p:cNvPr id="23" name="Text 21"/>
          <p:cNvSpPr txBox="1"/>
          <p:nvPr/>
        </p:nvSpPr>
        <p:spPr>
          <a:xfrm>
            <a:off x="6675120" y="1901952"/>
            <a:ext cx="1463040" cy="77724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Huffman coding</a:t>
            </a:r>
            <a:endParaRPr lang="en-US" sz="1700" dirty="0"/>
          </a:p>
        </p:txBody>
      </p:sp>
      <p:sp>
        <p:nvSpPr>
          <p:cNvPr id="24" name="Text 22"/>
          <p:cNvSpPr txBox="1"/>
          <p:nvPr/>
        </p:nvSpPr>
        <p:spPr>
          <a:xfrm>
            <a:off x="6675120" y="2743200"/>
            <a:ext cx="1463040" cy="685800"/>
          </a:xfrm>
          <a:prstGeom prst="rect">
            <a:avLst/>
          </a:prstGeom>
          <a:noFill/>
          <a:ln/>
        </p:spPr>
        <p:txBody>
          <a:bodyPr wrap="square" lIns="0" tIns="0" rIns="0" bIns="0" rtlCol="0" anchor="t"/>
          <a:lstStyle/>
          <a:p>
            <a:pPr marL="0" indent="0">
              <a:buNone/>
            </a:pPr>
            <a:r>
              <a:rPr lang="en-US" sz="1400" dirty="0">
                <a:solidFill>
                  <a:schemeClr val="tx1"/>
                </a:solidFill>
              </a:rPr>
              <a:t>A greedy algorithm that is optimal</a:t>
            </a:r>
            <a:endParaRPr lang="en-US" sz="1400" dirty="0"/>
          </a:p>
        </p:txBody>
      </p:sp>
      <p:sp>
        <p:nvSpPr>
          <p:cNvPr id="25" name="Text 23"/>
          <p:cNvSpPr txBox="1"/>
          <p:nvPr/>
        </p:nvSpPr>
        <p:spPr>
          <a:xfrm>
            <a:off x="457200" y="3840480"/>
            <a:ext cx="8229600" cy="548640"/>
          </a:xfrm>
          <a:prstGeom prst="rect">
            <a:avLst/>
          </a:prstGeom>
          <a:noFill/>
          <a:ln/>
        </p:spPr>
        <p:txBody>
          <a:bodyPr wrap="square" lIns="0" tIns="0" rIns="0" bIns="0" rtlCol="0" anchor="ctr"/>
          <a:lstStyle/>
          <a:p>
            <a:pPr marL="0" indent="0">
              <a:buNone/>
            </a:pPr>
            <a:r>
              <a:rPr lang="en-US" sz="1500" b="1" dirty="0">
                <a:solidFill>
                  <a:schemeClr val="accent1"/>
                </a:solidFill>
              </a:rPr>
              <a:t>Greedy: </a:t>
            </a:r>
            <a:r>
              <a:rPr lang="en-US" sz="1500" dirty="0">
                <a:solidFill>
                  <a:schemeClr val="tx1"/>
                </a:solidFill>
              </a:rPr>
              <a:t>at each step take the choice that looks best right now, and never undo it. Today: when is that enough?</a:t>
            </a:r>
            <a:endParaRPr lang="en-US" sz="1500" dirty="0"/>
          </a:p>
        </p:txBody>
      </p:sp>
      <p:sp>
        <p:nvSpPr>
          <p:cNvPr id="26"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79</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Floyd's algorithm with negative weights</a:t>
            </a:r>
            <a:endParaRPr lang="en-US" sz="2800" dirty="0"/>
          </a:p>
        </p:txBody>
      </p:sp>
      <p:sp>
        <p:nvSpPr>
          <p:cNvPr id="5" name="Shape 3"/>
          <p:cNvSpPr/>
          <p:nvPr/>
        </p:nvSpPr>
        <p:spPr>
          <a:xfrm>
            <a:off x="457200" y="1143000"/>
            <a:ext cx="3977640" cy="3429000"/>
          </a:xfrm>
          <a:prstGeom prst="roundRect">
            <a:avLst>
              <a:gd name="adj" fmla="val 2133"/>
            </a:avLst>
          </a:prstGeom>
          <a:solidFill>
            <a:schemeClr val="bg2"/>
          </a:solidFill>
          <a:ln w="12700">
            <a:solidFill>
              <a:schemeClr val="bg2"/>
            </a:solidFill>
            <a:prstDash val="solid"/>
          </a:ln>
        </p:spPr>
        <p:txBody>
          <a:bodyPr/>
          <a:lstStyle/>
          <a:p>
            <a:endParaRPr lang="en-US"/>
          </a:p>
        </p:txBody>
      </p:sp>
      <p:sp>
        <p:nvSpPr>
          <p:cNvPr id="6" name="Shape 4"/>
          <p:cNvSpPr/>
          <p:nvPr/>
        </p:nvSpPr>
        <p:spPr>
          <a:xfrm>
            <a:off x="4709160" y="1143000"/>
            <a:ext cx="3977640" cy="3429000"/>
          </a:xfrm>
          <a:prstGeom prst="roundRect">
            <a:avLst>
              <a:gd name="adj" fmla="val 2133"/>
            </a:avLst>
          </a:prstGeom>
          <a:solidFill>
            <a:schemeClr val="bg2"/>
          </a:solidFill>
          <a:ln w="12700">
            <a:solidFill>
              <a:schemeClr val="bg2"/>
            </a:solidFill>
            <a:prstDash val="solid"/>
          </a:ln>
        </p:spPr>
        <p:txBody>
          <a:bodyPr/>
          <a:lstStyle/>
          <a:p>
            <a:endParaRPr lang="en-US"/>
          </a:p>
        </p:txBody>
      </p:sp>
      <p:sp>
        <p:nvSpPr>
          <p:cNvPr id="7" name="Shape 5"/>
          <p:cNvSpPr/>
          <p:nvPr/>
        </p:nvSpPr>
        <p:spPr>
          <a:xfrm>
            <a:off x="1572768" y="1920240"/>
            <a:ext cx="1673352" cy="0"/>
          </a:xfrm>
          <a:prstGeom prst="line">
            <a:avLst/>
          </a:prstGeom>
          <a:noFill/>
          <a:ln w="25400">
            <a:solidFill>
              <a:schemeClr val="accent1"/>
            </a:solidFill>
            <a:prstDash val="solid"/>
            <a:tailEnd type="triangle"/>
          </a:ln>
        </p:spPr>
        <p:txBody>
          <a:bodyPr/>
          <a:lstStyle/>
          <a:p>
            <a:endParaRPr lang="en-US"/>
          </a:p>
        </p:txBody>
      </p:sp>
      <p:sp>
        <p:nvSpPr>
          <p:cNvPr id="8" name="Shape 6"/>
          <p:cNvSpPr/>
          <p:nvPr/>
        </p:nvSpPr>
        <p:spPr>
          <a:xfrm flipH="1">
            <a:off x="1645920" y="2194560"/>
            <a:ext cx="1673352" cy="0"/>
          </a:xfrm>
          <a:prstGeom prst="line">
            <a:avLst/>
          </a:prstGeom>
          <a:noFill/>
          <a:ln w="25400">
            <a:solidFill>
              <a:schemeClr val="accent3"/>
            </a:solidFill>
            <a:prstDash val="solid"/>
            <a:tailEnd type="triangle"/>
          </a:ln>
        </p:spPr>
        <p:txBody>
          <a:bodyPr/>
          <a:lstStyle/>
          <a:p>
            <a:endParaRPr lang="en-US"/>
          </a:p>
        </p:txBody>
      </p:sp>
      <p:sp>
        <p:nvSpPr>
          <p:cNvPr id="9" name="Shape 7"/>
          <p:cNvSpPr/>
          <p:nvPr/>
        </p:nvSpPr>
        <p:spPr>
          <a:xfrm>
            <a:off x="1280160" y="1874520"/>
            <a:ext cx="365760" cy="365760"/>
          </a:xfrm>
          <a:prstGeom prst="ellipse">
            <a:avLst/>
          </a:prstGeom>
          <a:solidFill>
            <a:schemeClr val="bg1"/>
          </a:solidFill>
          <a:ln w="19050">
            <a:solidFill>
              <a:schemeClr val="accent1"/>
            </a:solidFill>
            <a:prstDash val="solid"/>
          </a:ln>
        </p:spPr>
        <p:txBody>
          <a:bodyPr/>
          <a:lstStyle/>
          <a:p>
            <a:endParaRPr lang="en-US"/>
          </a:p>
        </p:txBody>
      </p:sp>
      <p:sp>
        <p:nvSpPr>
          <p:cNvPr id="10" name="Text 8"/>
          <p:cNvSpPr txBox="1"/>
          <p:nvPr/>
        </p:nvSpPr>
        <p:spPr>
          <a:xfrm>
            <a:off x="1280160" y="1874520"/>
            <a:ext cx="365760" cy="365760"/>
          </a:xfrm>
          <a:prstGeom prst="rect">
            <a:avLst/>
          </a:prstGeom>
          <a:noFill/>
          <a:ln/>
        </p:spPr>
        <p:txBody>
          <a:bodyPr wrap="square" lIns="0" tIns="0" rIns="0" bIns="0" rtlCol="0" anchor="ctr"/>
          <a:lstStyle/>
          <a:p>
            <a:pPr marL="0" indent="0" algn="ctr">
              <a:buNone/>
            </a:pPr>
            <a:r>
              <a:rPr lang="en-US" sz="1500" i="1" dirty="0">
                <a:solidFill>
                  <a:schemeClr val="tx2"/>
                </a:solidFill>
              </a:rPr>
              <a:t>a</a:t>
            </a:r>
            <a:endParaRPr lang="en-US" sz="1500" dirty="0"/>
          </a:p>
        </p:txBody>
      </p:sp>
      <p:sp>
        <p:nvSpPr>
          <p:cNvPr id="11" name="Shape 9"/>
          <p:cNvSpPr/>
          <p:nvPr/>
        </p:nvSpPr>
        <p:spPr>
          <a:xfrm>
            <a:off x="3246120" y="1874520"/>
            <a:ext cx="365760" cy="365760"/>
          </a:xfrm>
          <a:prstGeom prst="ellipse">
            <a:avLst/>
          </a:prstGeom>
          <a:solidFill>
            <a:schemeClr val="bg1"/>
          </a:solidFill>
          <a:ln w="19050">
            <a:solidFill>
              <a:schemeClr val="accent1"/>
            </a:solidFill>
            <a:prstDash val="solid"/>
          </a:ln>
        </p:spPr>
        <p:txBody>
          <a:bodyPr/>
          <a:lstStyle/>
          <a:p>
            <a:endParaRPr lang="en-US"/>
          </a:p>
        </p:txBody>
      </p:sp>
      <p:sp>
        <p:nvSpPr>
          <p:cNvPr id="12" name="Text 10"/>
          <p:cNvSpPr txBox="1"/>
          <p:nvPr/>
        </p:nvSpPr>
        <p:spPr>
          <a:xfrm>
            <a:off x="3246120" y="1874520"/>
            <a:ext cx="365760" cy="365760"/>
          </a:xfrm>
          <a:prstGeom prst="rect">
            <a:avLst/>
          </a:prstGeom>
          <a:noFill/>
          <a:ln/>
        </p:spPr>
        <p:txBody>
          <a:bodyPr wrap="square" lIns="0" tIns="0" rIns="0" bIns="0" rtlCol="0" anchor="ctr"/>
          <a:lstStyle/>
          <a:p>
            <a:pPr marL="0" indent="0" algn="ctr">
              <a:buNone/>
            </a:pPr>
            <a:r>
              <a:rPr lang="en-US" sz="1500" i="1" dirty="0">
                <a:solidFill>
                  <a:schemeClr val="tx2"/>
                </a:solidFill>
              </a:rPr>
              <a:t>b</a:t>
            </a:r>
            <a:endParaRPr lang="en-US" sz="1500" dirty="0"/>
          </a:p>
        </p:txBody>
      </p:sp>
      <p:sp>
        <p:nvSpPr>
          <p:cNvPr id="13" name="Text 11"/>
          <p:cNvSpPr txBox="1"/>
          <p:nvPr/>
        </p:nvSpPr>
        <p:spPr>
          <a:xfrm>
            <a:off x="2171700" y="1600200"/>
            <a:ext cx="548640" cy="237744"/>
          </a:xfrm>
          <a:prstGeom prst="rect">
            <a:avLst/>
          </a:prstGeom>
          <a:noFill/>
          <a:ln/>
        </p:spPr>
        <p:txBody>
          <a:bodyPr wrap="square" lIns="0" tIns="0" rIns="0" bIns="0" rtlCol="0" anchor="t"/>
          <a:lstStyle/>
          <a:p>
            <a:pPr marL="0" indent="0" algn="ctr">
              <a:buNone/>
            </a:pPr>
            <a:r>
              <a:rPr lang="en-US" sz="1500" b="1" dirty="0">
                <a:solidFill>
                  <a:schemeClr val="accent1"/>
                </a:solidFill>
              </a:rPr>
              <a:t>4</a:t>
            </a:r>
            <a:endParaRPr lang="en-US" sz="1500" dirty="0"/>
          </a:p>
        </p:txBody>
      </p:sp>
      <p:sp>
        <p:nvSpPr>
          <p:cNvPr id="14" name="Text 12"/>
          <p:cNvSpPr txBox="1"/>
          <p:nvPr/>
        </p:nvSpPr>
        <p:spPr>
          <a:xfrm>
            <a:off x="2171700" y="2286000"/>
            <a:ext cx="548640" cy="237744"/>
          </a:xfrm>
          <a:prstGeom prst="rect">
            <a:avLst/>
          </a:prstGeom>
          <a:noFill/>
          <a:ln/>
        </p:spPr>
        <p:txBody>
          <a:bodyPr wrap="square" lIns="0" tIns="0" rIns="0" bIns="0" rtlCol="0" anchor="t"/>
          <a:lstStyle/>
          <a:p>
            <a:pPr marL="0" indent="0" algn="ctr">
              <a:buNone/>
            </a:pPr>
            <a:r>
              <a:rPr lang="en-US" sz="1500" b="1" dirty="0">
                <a:solidFill>
                  <a:schemeClr val="accent3"/>
                </a:solidFill>
              </a:rPr>
              <a:t>-3</a:t>
            </a:r>
            <a:endParaRPr lang="en-US" sz="1500" dirty="0"/>
          </a:p>
        </p:txBody>
      </p:sp>
      <p:sp>
        <p:nvSpPr>
          <p:cNvPr id="15" name="Text 13"/>
          <p:cNvSpPr txBox="1"/>
          <p:nvPr/>
        </p:nvSpPr>
        <p:spPr>
          <a:xfrm>
            <a:off x="1280160" y="1188720"/>
            <a:ext cx="2331720" cy="274320"/>
          </a:xfrm>
          <a:prstGeom prst="rect">
            <a:avLst/>
          </a:prstGeom>
          <a:noFill/>
          <a:ln/>
        </p:spPr>
        <p:txBody>
          <a:bodyPr wrap="square" lIns="0" tIns="0" rIns="0" bIns="0" rtlCol="0" anchor="t"/>
          <a:lstStyle/>
          <a:p>
            <a:pPr marL="0" indent="0" algn="ctr">
              <a:buNone/>
            </a:pPr>
            <a:r>
              <a:rPr lang="en-US" sz="1400" b="1" dirty="0">
                <a:solidFill>
                  <a:schemeClr val="tx2"/>
                </a:solidFill>
              </a:rPr>
              <a:t>Left graph</a:t>
            </a:r>
            <a:endParaRPr lang="en-US" sz="1400" dirty="0"/>
          </a:p>
        </p:txBody>
      </p:sp>
      <p:sp>
        <p:nvSpPr>
          <p:cNvPr id="16" name="Shape 14"/>
          <p:cNvSpPr/>
          <p:nvPr/>
        </p:nvSpPr>
        <p:spPr>
          <a:xfrm>
            <a:off x="5824728" y="1920240"/>
            <a:ext cx="1673352" cy="0"/>
          </a:xfrm>
          <a:prstGeom prst="line">
            <a:avLst/>
          </a:prstGeom>
          <a:noFill/>
          <a:ln w="25400">
            <a:solidFill>
              <a:schemeClr val="accent1"/>
            </a:solidFill>
            <a:prstDash val="solid"/>
            <a:tailEnd type="triangle"/>
          </a:ln>
        </p:spPr>
        <p:txBody>
          <a:bodyPr/>
          <a:lstStyle/>
          <a:p>
            <a:endParaRPr lang="en-US"/>
          </a:p>
        </p:txBody>
      </p:sp>
      <p:sp>
        <p:nvSpPr>
          <p:cNvPr id="17" name="Shape 15"/>
          <p:cNvSpPr/>
          <p:nvPr/>
        </p:nvSpPr>
        <p:spPr>
          <a:xfrm flipH="1">
            <a:off x="5897880" y="2194560"/>
            <a:ext cx="1673352" cy="0"/>
          </a:xfrm>
          <a:prstGeom prst="line">
            <a:avLst/>
          </a:prstGeom>
          <a:noFill/>
          <a:ln w="25400">
            <a:solidFill>
              <a:schemeClr val="accent3"/>
            </a:solidFill>
            <a:prstDash val="solid"/>
            <a:tailEnd type="triangle"/>
          </a:ln>
        </p:spPr>
        <p:txBody>
          <a:bodyPr/>
          <a:lstStyle/>
          <a:p>
            <a:endParaRPr lang="en-US"/>
          </a:p>
        </p:txBody>
      </p:sp>
      <p:sp>
        <p:nvSpPr>
          <p:cNvPr id="18" name="Shape 16"/>
          <p:cNvSpPr/>
          <p:nvPr/>
        </p:nvSpPr>
        <p:spPr>
          <a:xfrm>
            <a:off x="5532120" y="1874520"/>
            <a:ext cx="365760" cy="365760"/>
          </a:xfrm>
          <a:prstGeom prst="ellipse">
            <a:avLst/>
          </a:prstGeom>
          <a:solidFill>
            <a:schemeClr val="bg1"/>
          </a:solidFill>
          <a:ln w="19050">
            <a:solidFill>
              <a:schemeClr val="accent1"/>
            </a:solidFill>
            <a:prstDash val="solid"/>
          </a:ln>
        </p:spPr>
        <p:txBody>
          <a:bodyPr/>
          <a:lstStyle/>
          <a:p>
            <a:endParaRPr lang="en-US"/>
          </a:p>
        </p:txBody>
      </p:sp>
      <p:sp>
        <p:nvSpPr>
          <p:cNvPr id="19" name="Text 17"/>
          <p:cNvSpPr txBox="1"/>
          <p:nvPr/>
        </p:nvSpPr>
        <p:spPr>
          <a:xfrm>
            <a:off x="5532120" y="1874520"/>
            <a:ext cx="365760" cy="365760"/>
          </a:xfrm>
          <a:prstGeom prst="rect">
            <a:avLst/>
          </a:prstGeom>
          <a:noFill/>
          <a:ln/>
        </p:spPr>
        <p:txBody>
          <a:bodyPr wrap="square" lIns="0" tIns="0" rIns="0" bIns="0" rtlCol="0" anchor="ctr"/>
          <a:lstStyle/>
          <a:p>
            <a:pPr marL="0" indent="0" algn="ctr">
              <a:buNone/>
            </a:pPr>
            <a:r>
              <a:rPr lang="en-US" sz="1500" i="1" dirty="0">
                <a:solidFill>
                  <a:schemeClr val="tx2"/>
                </a:solidFill>
              </a:rPr>
              <a:t>a</a:t>
            </a:r>
            <a:endParaRPr lang="en-US" sz="1500" dirty="0"/>
          </a:p>
        </p:txBody>
      </p:sp>
      <p:sp>
        <p:nvSpPr>
          <p:cNvPr id="20" name="Shape 18"/>
          <p:cNvSpPr/>
          <p:nvPr/>
        </p:nvSpPr>
        <p:spPr>
          <a:xfrm>
            <a:off x="7498080" y="1874520"/>
            <a:ext cx="365760" cy="365760"/>
          </a:xfrm>
          <a:prstGeom prst="ellipse">
            <a:avLst/>
          </a:prstGeom>
          <a:solidFill>
            <a:schemeClr val="bg1"/>
          </a:solidFill>
          <a:ln w="19050">
            <a:solidFill>
              <a:schemeClr val="accent1"/>
            </a:solidFill>
            <a:prstDash val="solid"/>
          </a:ln>
        </p:spPr>
        <p:txBody>
          <a:bodyPr/>
          <a:lstStyle/>
          <a:p>
            <a:endParaRPr lang="en-US"/>
          </a:p>
        </p:txBody>
      </p:sp>
      <p:sp>
        <p:nvSpPr>
          <p:cNvPr id="21" name="Text 19"/>
          <p:cNvSpPr txBox="1"/>
          <p:nvPr/>
        </p:nvSpPr>
        <p:spPr>
          <a:xfrm>
            <a:off x="7498080" y="1874520"/>
            <a:ext cx="365760" cy="365760"/>
          </a:xfrm>
          <a:prstGeom prst="rect">
            <a:avLst/>
          </a:prstGeom>
          <a:noFill/>
          <a:ln/>
        </p:spPr>
        <p:txBody>
          <a:bodyPr wrap="square" lIns="0" tIns="0" rIns="0" bIns="0" rtlCol="0" anchor="ctr"/>
          <a:lstStyle/>
          <a:p>
            <a:pPr marL="0" indent="0" algn="ctr">
              <a:buNone/>
            </a:pPr>
            <a:r>
              <a:rPr lang="en-US" sz="1500" i="1" dirty="0">
                <a:solidFill>
                  <a:schemeClr val="tx2"/>
                </a:solidFill>
              </a:rPr>
              <a:t>b</a:t>
            </a:r>
            <a:endParaRPr lang="en-US" sz="1500" dirty="0"/>
          </a:p>
        </p:txBody>
      </p:sp>
      <p:sp>
        <p:nvSpPr>
          <p:cNvPr id="22" name="Text 20"/>
          <p:cNvSpPr txBox="1"/>
          <p:nvPr/>
        </p:nvSpPr>
        <p:spPr>
          <a:xfrm>
            <a:off x="6423660" y="1600200"/>
            <a:ext cx="548640" cy="237744"/>
          </a:xfrm>
          <a:prstGeom prst="rect">
            <a:avLst/>
          </a:prstGeom>
          <a:noFill/>
          <a:ln/>
        </p:spPr>
        <p:txBody>
          <a:bodyPr wrap="square" lIns="0" tIns="0" rIns="0" bIns="0" rtlCol="0" anchor="t"/>
          <a:lstStyle/>
          <a:p>
            <a:pPr marL="0" indent="0" algn="ctr">
              <a:buNone/>
            </a:pPr>
            <a:r>
              <a:rPr lang="en-US" sz="1500" b="1" dirty="0">
                <a:solidFill>
                  <a:schemeClr val="accent1"/>
                </a:solidFill>
              </a:rPr>
              <a:t>3</a:t>
            </a:r>
            <a:endParaRPr lang="en-US" sz="1500" dirty="0"/>
          </a:p>
        </p:txBody>
      </p:sp>
      <p:sp>
        <p:nvSpPr>
          <p:cNvPr id="23" name="Text 21"/>
          <p:cNvSpPr txBox="1"/>
          <p:nvPr/>
        </p:nvSpPr>
        <p:spPr>
          <a:xfrm>
            <a:off x="6423660" y="2286000"/>
            <a:ext cx="548640" cy="237744"/>
          </a:xfrm>
          <a:prstGeom prst="rect">
            <a:avLst/>
          </a:prstGeom>
          <a:noFill/>
          <a:ln/>
        </p:spPr>
        <p:txBody>
          <a:bodyPr wrap="square" lIns="0" tIns="0" rIns="0" bIns="0" rtlCol="0" anchor="t"/>
          <a:lstStyle/>
          <a:p>
            <a:pPr marL="0" indent="0" algn="ctr">
              <a:buNone/>
            </a:pPr>
            <a:r>
              <a:rPr lang="en-US" sz="1500" b="1" dirty="0">
                <a:solidFill>
                  <a:schemeClr val="accent3"/>
                </a:solidFill>
              </a:rPr>
              <a:t>-4</a:t>
            </a:r>
            <a:endParaRPr lang="en-US" sz="1500" dirty="0"/>
          </a:p>
        </p:txBody>
      </p:sp>
      <p:sp>
        <p:nvSpPr>
          <p:cNvPr id="24" name="Text 22"/>
          <p:cNvSpPr txBox="1"/>
          <p:nvPr/>
        </p:nvSpPr>
        <p:spPr>
          <a:xfrm>
            <a:off x="5532120" y="1188720"/>
            <a:ext cx="2331720" cy="274320"/>
          </a:xfrm>
          <a:prstGeom prst="rect">
            <a:avLst/>
          </a:prstGeom>
          <a:noFill/>
          <a:ln/>
        </p:spPr>
        <p:txBody>
          <a:bodyPr wrap="square" lIns="0" tIns="0" rIns="0" bIns="0" rtlCol="0" anchor="t"/>
          <a:lstStyle/>
          <a:p>
            <a:pPr marL="0" indent="0" algn="ctr">
              <a:buNone/>
            </a:pPr>
            <a:r>
              <a:rPr lang="en-US" sz="1400" b="1" dirty="0">
                <a:solidFill>
                  <a:schemeClr val="tx2"/>
                </a:solidFill>
              </a:rPr>
              <a:t>Right graph</a:t>
            </a:r>
            <a:endParaRPr lang="en-US" sz="1400" dirty="0"/>
          </a:p>
        </p:txBody>
      </p:sp>
      <p:sp>
        <p:nvSpPr>
          <p:cNvPr id="25" name="Text 23"/>
          <p:cNvSpPr txBox="1"/>
          <p:nvPr/>
        </p:nvSpPr>
        <p:spPr>
          <a:xfrm>
            <a:off x="1691640" y="2642616"/>
            <a:ext cx="1508760" cy="274320"/>
          </a:xfrm>
          <a:prstGeom prst="rect">
            <a:avLst/>
          </a:prstGeom>
          <a:noFill/>
          <a:ln/>
        </p:spPr>
        <p:txBody>
          <a:bodyPr wrap="square" lIns="0" tIns="0" rIns="0" bIns="0" rtlCol="0" anchor="t"/>
          <a:lstStyle/>
          <a:p>
            <a:pPr marL="0" indent="0" algn="ctr">
              <a:buNone/>
            </a:pPr>
            <a:r>
              <a:rPr lang="en-US" sz="1500" b="1" dirty="0">
                <a:solidFill>
                  <a:schemeClr val="tx2"/>
                </a:solidFill>
              </a:rPr>
              <a:t>D⁰ = D¹ = D²</a:t>
            </a:r>
            <a:endParaRPr lang="en-US"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1691640" y="2971800"/>
          <a:ext cx="1508760" cy="1078992"/>
        </p:xfrm>
        <a:graphic>
          <a:graphicData uri="http://schemas.openxmlformats.org/drawingml/2006/table">
            <a:tbl>
              <a:tblPr/>
              <a:tblGrid>
                <a:gridCol w="5029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tblGrid>
              <a:tr h="310896">
                <a:tc>
                  <a:txBody>
                    <a:bodyPr/>
                    <a:lstStyle/>
                    <a:p>
                      <a:pPr marL="0" indent="0" algn="ctr">
                        <a:buNone/>
                      </a:pP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bg1"/>
                          </a:solidFill>
                        </a:rPr>
                        <a:t>a</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rPr>
                        <a:t>b</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lgn="ctr">
                        <a:buNone/>
                      </a:pPr>
                      <a:r>
                        <a:rPr lang="en-US" sz="1200" b="1" dirty="0">
                          <a:solidFill>
                            <a:schemeClr val="bg1"/>
                          </a:solidFill>
                        </a:rPr>
                        <a:t>a</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dirty="0">
                          <a:solidFill>
                            <a:schemeClr val="tx1"/>
                          </a:solidFill>
                        </a:rPr>
                        <a:t>0</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4</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84048">
                <a:tc>
                  <a:txBody>
                    <a:bodyPr/>
                    <a:lstStyle/>
                    <a:p>
                      <a:pPr marL="0" indent="0" algn="ctr">
                        <a:buNone/>
                      </a:pPr>
                      <a:r>
                        <a:rPr lang="en-US" sz="1200" b="1" dirty="0">
                          <a:solidFill>
                            <a:schemeClr val="bg1"/>
                          </a:solidFill>
                        </a:rPr>
                        <a:t>b</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dirty="0">
                          <a:solidFill>
                            <a:schemeClr val="tx1"/>
                          </a:solidFill>
                        </a:rPr>
                        <a:t>−3</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0</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27" name="Text 24"/>
          <p:cNvSpPr txBox="1"/>
          <p:nvPr/>
        </p:nvSpPr>
        <p:spPr>
          <a:xfrm>
            <a:off x="685800" y="4160520"/>
            <a:ext cx="3520440" cy="320040"/>
          </a:xfrm>
          <a:prstGeom prst="rect">
            <a:avLst/>
          </a:prstGeom>
          <a:noFill/>
          <a:ln/>
        </p:spPr>
        <p:txBody>
          <a:bodyPr wrap="square" lIns="0" tIns="0" rIns="0" bIns="0" rtlCol="0" anchor="t"/>
          <a:lstStyle/>
          <a:p>
            <a:pPr marL="0" indent="0" algn="ctr">
              <a:buNone/>
            </a:pPr>
            <a:r>
              <a:rPr lang="en-US" sz="1400" b="1" dirty="0">
                <a:solidFill>
                  <a:schemeClr val="accent4"/>
                </a:solidFill>
              </a:rPr>
              <a:t>Works fine: Floyd gives the correct distances.</a:t>
            </a:r>
            <a:endParaRPr lang="en-US" sz="1400" dirty="0"/>
          </a:p>
        </p:txBody>
      </p:sp>
      <p:sp>
        <p:nvSpPr>
          <p:cNvPr id="28" name="Text 25"/>
          <p:cNvSpPr txBox="1"/>
          <p:nvPr/>
        </p:nvSpPr>
        <p:spPr>
          <a:xfrm>
            <a:off x="5532120" y="2697480"/>
            <a:ext cx="2331720" cy="822960"/>
          </a:xfrm>
          <a:prstGeom prst="rect">
            <a:avLst/>
          </a:prstGeom>
          <a:noFill/>
          <a:ln/>
        </p:spPr>
        <p:txBody>
          <a:bodyPr wrap="square" lIns="0" tIns="0" rIns="0" bIns="0" rtlCol="0" anchor="ctr"/>
          <a:lstStyle/>
          <a:p>
            <a:pPr marL="0" indent="0" algn="ctr">
              <a:buNone/>
            </a:pPr>
            <a:r>
              <a:rPr lang="en-US" sz="5400" b="1" dirty="0">
                <a:solidFill>
                  <a:schemeClr val="accent2"/>
                </a:solidFill>
                <a:latin typeface="Cambria" pitchFamily="34" charset="0"/>
                <a:ea typeface="Cambria" pitchFamily="34" charset="-122"/>
                <a:cs typeface="Cambria" pitchFamily="34" charset="-120"/>
              </a:rPr>
              <a:t>?</a:t>
            </a:r>
            <a:endParaRPr lang="en-US" sz="5400" dirty="0"/>
          </a:p>
        </p:txBody>
      </p:sp>
      <p:sp>
        <p:nvSpPr>
          <p:cNvPr id="29" name="Text 26"/>
          <p:cNvSpPr txBox="1"/>
          <p:nvPr/>
        </p:nvSpPr>
        <p:spPr>
          <a:xfrm>
            <a:off x="4937760" y="3931920"/>
            <a:ext cx="3520440" cy="502920"/>
          </a:xfrm>
          <a:prstGeom prst="rect">
            <a:avLst/>
          </a:prstGeom>
          <a:noFill/>
          <a:ln/>
        </p:spPr>
        <p:txBody>
          <a:bodyPr wrap="square" lIns="0" tIns="0" rIns="0" bIns="0" rtlCol="0" anchor="t"/>
          <a:lstStyle/>
          <a:p>
            <a:pPr marL="0" indent="0" algn="ctr">
              <a:buNone/>
            </a:pPr>
            <a:r>
              <a:rPr lang="en-US" sz="1400" dirty="0">
                <a:solidFill>
                  <a:schemeClr val="tx1"/>
                </a:solidFill>
              </a:rPr>
              <a:t>What are D⁰, D¹, D² here — and why is D² wrong?</a:t>
            </a:r>
            <a:endParaRPr lang="en-US" sz="1400" dirty="0"/>
          </a:p>
        </p:txBody>
      </p:sp>
      <p:sp>
        <p:nvSpPr>
          <p:cNvPr id="30"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79</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Right graph: the matrices go wrong</a:t>
            </a:r>
            <a:endParaRPr lang="en-US" sz="2800" dirty="0"/>
          </a:p>
        </p:txBody>
      </p:sp>
      <p:sp>
        <p:nvSpPr>
          <p:cNvPr id="5" name="Text 3"/>
          <p:cNvSpPr txBox="1"/>
          <p:nvPr/>
        </p:nvSpPr>
        <p:spPr>
          <a:xfrm>
            <a:off x="640080" y="1179576"/>
            <a:ext cx="1700784" cy="274320"/>
          </a:xfrm>
          <a:prstGeom prst="rect">
            <a:avLst/>
          </a:prstGeom>
          <a:noFill/>
          <a:ln/>
        </p:spPr>
        <p:txBody>
          <a:bodyPr wrap="square" lIns="0" tIns="0" rIns="0" bIns="0" rtlCol="0" anchor="t"/>
          <a:lstStyle/>
          <a:p>
            <a:pPr marL="0" indent="0" algn="ctr">
              <a:buNone/>
            </a:pPr>
            <a:r>
              <a:rPr lang="en-US" sz="1500" b="1" dirty="0">
                <a:solidFill>
                  <a:schemeClr val="tx2"/>
                </a:solidFill>
              </a:rPr>
              <a:t>D⁰</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700784" cy="1078992"/>
        </p:xfrm>
        <a:graphic>
          <a:graphicData uri="http://schemas.openxmlformats.org/drawingml/2006/table">
            <a:tbl>
              <a:tblPr/>
              <a:tblGrid>
                <a:gridCol w="566928">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566928">
                  <a:extLst>
                    <a:ext uri="{9D8B030D-6E8A-4147-A177-3AD203B41FA5}">
                      <a16:colId xmlns:a16="http://schemas.microsoft.com/office/drawing/2014/main" val="20002"/>
                    </a:ext>
                  </a:extLst>
                </a:gridCol>
              </a:tblGrid>
              <a:tr h="310896">
                <a:tc>
                  <a:txBody>
                    <a:bodyPr/>
                    <a:lstStyle/>
                    <a:p>
                      <a:pPr marL="0" indent="0" algn="ctr">
                        <a:buNone/>
                      </a:pP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bg1"/>
                          </a:solidFill>
                        </a:rPr>
                        <a:t>a</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rPr>
                        <a:t>b</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lgn="ctr">
                        <a:buNone/>
                      </a:pPr>
                      <a:r>
                        <a:rPr lang="en-US" sz="1200" b="1" dirty="0">
                          <a:solidFill>
                            <a:schemeClr val="bg1"/>
                          </a:solidFill>
                        </a:rPr>
                        <a:t>a</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dirty="0">
                          <a:solidFill>
                            <a:schemeClr val="tx1"/>
                          </a:solidFill>
                        </a:rPr>
                        <a:t>0</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3</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84048">
                <a:tc>
                  <a:txBody>
                    <a:bodyPr/>
                    <a:lstStyle/>
                    <a:p>
                      <a:pPr marL="0" indent="0" algn="ctr">
                        <a:buNone/>
                      </a:pPr>
                      <a:r>
                        <a:rPr lang="en-US" sz="1200" b="1" dirty="0">
                          <a:solidFill>
                            <a:schemeClr val="bg1"/>
                          </a:solidFill>
                        </a:rPr>
                        <a:t>b</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dirty="0">
                          <a:solidFill>
                            <a:schemeClr val="tx1"/>
                          </a:solidFill>
                        </a:rPr>
                        <a:t>−4</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0</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7" name="Text 4"/>
          <p:cNvSpPr txBox="1"/>
          <p:nvPr/>
        </p:nvSpPr>
        <p:spPr>
          <a:xfrm>
            <a:off x="3520440" y="1179576"/>
            <a:ext cx="1700784" cy="274320"/>
          </a:xfrm>
          <a:prstGeom prst="rect">
            <a:avLst/>
          </a:prstGeom>
          <a:noFill/>
          <a:ln/>
        </p:spPr>
        <p:txBody>
          <a:bodyPr wrap="square" lIns="0" tIns="0" rIns="0" bIns="0" rtlCol="0" anchor="t"/>
          <a:lstStyle/>
          <a:p>
            <a:pPr marL="0" indent="0" algn="ctr">
              <a:buNone/>
            </a:pPr>
            <a:r>
              <a:rPr lang="en-US" sz="1500" b="1" dirty="0">
                <a:solidFill>
                  <a:schemeClr val="tx2"/>
                </a:solidFill>
              </a:rPr>
              <a:t>D¹  (via a)</a:t>
            </a:r>
            <a:endParaRPr lang="en-US" sz="15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3520440" y="1508760"/>
          <a:ext cx="1700784" cy="1078992"/>
        </p:xfrm>
        <a:graphic>
          <a:graphicData uri="http://schemas.openxmlformats.org/drawingml/2006/table">
            <a:tbl>
              <a:tblPr/>
              <a:tblGrid>
                <a:gridCol w="566928">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566928">
                  <a:extLst>
                    <a:ext uri="{9D8B030D-6E8A-4147-A177-3AD203B41FA5}">
                      <a16:colId xmlns:a16="http://schemas.microsoft.com/office/drawing/2014/main" val="20002"/>
                    </a:ext>
                  </a:extLst>
                </a:gridCol>
              </a:tblGrid>
              <a:tr h="310896">
                <a:tc>
                  <a:txBody>
                    <a:bodyPr/>
                    <a:lstStyle/>
                    <a:p>
                      <a:pPr marL="0" indent="0" algn="ctr">
                        <a:buNone/>
                      </a:pP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bg1"/>
                          </a:solidFill>
                        </a:rPr>
                        <a:t>a</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rPr>
                        <a:t>b</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lgn="ctr">
                        <a:buNone/>
                      </a:pPr>
                      <a:r>
                        <a:rPr lang="en-US" sz="1200" b="1" dirty="0">
                          <a:solidFill>
                            <a:schemeClr val="bg1"/>
                          </a:solidFill>
                        </a:rPr>
                        <a:t>a</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dirty="0">
                          <a:solidFill>
                            <a:schemeClr val="tx1"/>
                          </a:solidFill>
                        </a:rPr>
                        <a:t>0</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3</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84048">
                <a:tc>
                  <a:txBody>
                    <a:bodyPr/>
                    <a:lstStyle/>
                    <a:p>
                      <a:pPr marL="0" indent="0" algn="ctr">
                        <a:buNone/>
                      </a:pPr>
                      <a:r>
                        <a:rPr lang="en-US" sz="1200" b="1" dirty="0">
                          <a:solidFill>
                            <a:schemeClr val="bg1"/>
                          </a:solidFill>
                        </a:rPr>
                        <a:t>b</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dirty="0">
                          <a:solidFill>
                            <a:schemeClr val="tx1"/>
                          </a:solidFill>
                        </a:rPr>
                        <a:t>−4</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−1</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0002"/>
                  </a:ext>
                </a:extLst>
              </a:tr>
            </a:tbl>
          </a:graphicData>
        </a:graphic>
      </p:graphicFrame>
      <p:sp>
        <p:nvSpPr>
          <p:cNvPr id="8" name="Text 5"/>
          <p:cNvSpPr txBox="1"/>
          <p:nvPr/>
        </p:nvSpPr>
        <p:spPr>
          <a:xfrm>
            <a:off x="6400800" y="1179576"/>
            <a:ext cx="1700784" cy="274320"/>
          </a:xfrm>
          <a:prstGeom prst="rect">
            <a:avLst/>
          </a:prstGeom>
          <a:noFill/>
          <a:ln/>
        </p:spPr>
        <p:txBody>
          <a:bodyPr wrap="square" lIns="0" tIns="0" rIns="0" bIns="0" rtlCol="0" anchor="t"/>
          <a:lstStyle/>
          <a:p>
            <a:pPr marL="0" indent="0" algn="ctr">
              <a:buNone/>
            </a:pPr>
            <a:r>
              <a:rPr lang="en-US" sz="1500" b="1" dirty="0">
                <a:solidFill>
                  <a:schemeClr val="tx2"/>
                </a:solidFill>
              </a:rPr>
              <a:t>D²  (via a, b)</a:t>
            </a:r>
            <a:endParaRPr lang="en-US" sz="1500" dirty="0"/>
          </a:p>
        </p:txBody>
      </p:sp>
      <p:graphicFrame>
        <p:nvGraphicFramePr>
          <p:cNvPr id="13" name="Table 2"/>
          <p:cNvGraphicFramePr>
            <a:graphicFrameLocks noGrp="1"/>
          </p:cNvGraphicFramePr>
          <p:nvPr>
            <p:extLst>
              <p:ext uri="{D42A27DB-BD31-4B8C-83A1-F6EECF244321}">
                <p14:modId xmlns:p14="http://schemas.microsoft.com/office/powerpoint/2010/main" val="1579011935"/>
              </p:ext>
            </p:extLst>
          </p:nvPr>
        </p:nvGraphicFramePr>
        <p:xfrm>
          <a:off x="6400800" y="1508760"/>
          <a:ext cx="1700784" cy="1078992"/>
        </p:xfrm>
        <a:graphic>
          <a:graphicData uri="http://schemas.openxmlformats.org/drawingml/2006/table">
            <a:tbl>
              <a:tblPr/>
              <a:tblGrid>
                <a:gridCol w="566928">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566928">
                  <a:extLst>
                    <a:ext uri="{9D8B030D-6E8A-4147-A177-3AD203B41FA5}">
                      <a16:colId xmlns:a16="http://schemas.microsoft.com/office/drawing/2014/main" val="20002"/>
                    </a:ext>
                  </a:extLst>
                </a:gridCol>
              </a:tblGrid>
              <a:tr h="310896">
                <a:tc>
                  <a:txBody>
                    <a:bodyPr/>
                    <a:lstStyle/>
                    <a:p>
                      <a:pPr marL="0" indent="0" algn="ctr">
                        <a:buNone/>
                      </a:pP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bg1"/>
                          </a:solidFill>
                        </a:rPr>
                        <a:t>a</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rPr>
                        <a:t>b</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lgn="ctr">
                        <a:buNone/>
                      </a:pPr>
                      <a:r>
                        <a:rPr lang="en-US" sz="1200" b="1" dirty="0">
                          <a:solidFill>
                            <a:schemeClr val="bg1"/>
                          </a:solidFill>
                        </a:rPr>
                        <a:t>a</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tx1"/>
                          </a:solidFill>
                        </a:rPr>
                        <a:t>−1</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indent="0" algn="ctr">
                        <a:buNone/>
                      </a:pPr>
                      <a:r>
                        <a:rPr lang="en-US" sz="1500" b="1" dirty="0">
                          <a:solidFill>
                            <a:schemeClr val="tx1"/>
                          </a:solidFill>
                        </a:rPr>
                        <a:t>2</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0001"/>
                  </a:ext>
                </a:extLst>
              </a:tr>
              <a:tr h="384048">
                <a:tc>
                  <a:txBody>
                    <a:bodyPr/>
                    <a:lstStyle/>
                    <a:p>
                      <a:pPr marL="0" indent="0" algn="ctr">
                        <a:buNone/>
                      </a:pPr>
                      <a:r>
                        <a:rPr lang="en-US" sz="1200" b="1" dirty="0">
                          <a:solidFill>
                            <a:schemeClr val="bg1"/>
                          </a:solidFill>
                        </a:rPr>
                        <a:t>b</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tx1"/>
                          </a:solidFill>
                        </a:rPr>
                        <a:t>−5</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indent="0" algn="ctr">
                        <a:buNone/>
                      </a:pPr>
                      <a:r>
                        <a:rPr lang="en-US" sz="1500" b="1" dirty="0">
                          <a:solidFill>
                            <a:schemeClr val="tx1"/>
                          </a:solidFill>
                        </a:rPr>
                        <a:t>−2</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0002"/>
                  </a:ext>
                </a:extLst>
              </a:tr>
            </a:tbl>
          </a:graphicData>
        </a:graphic>
      </p:graphicFrame>
      <p:sp>
        <p:nvSpPr>
          <p:cNvPr id="11" name="Text 6"/>
          <p:cNvSpPr txBox="1"/>
          <p:nvPr/>
        </p:nvSpPr>
        <p:spPr>
          <a:xfrm>
            <a:off x="2514600" y="1783080"/>
            <a:ext cx="640080" cy="457200"/>
          </a:xfrm>
          <a:prstGeom prst="rect">
            <a:avLst/>
          </a:prstGeom>
          <a:noFill/>
          <a:ln/>
        </p:spPr>
        <p:txBody>
          <a:bodyPr wrap="square" lIns="0" tIns="0" rIns="0" bIns="0" rtlCol="0" anchor="t"/>
          <a:lstStyle/>
          <a:p>
            <a:pPr marL="0" indent="0" algn="ctr">
              <a:buNone/>
            </a:pPr>
            <a:r>
              <a:rPr lang="en-US" sz="2800" dirty="0">
                <a:solidFill>
                  <a:schemeClr val="accent5"/>
                </a:solidFill>
              </a:rPr>
              <a:t>→</a:t>
            </a:r>
            <a:endParaRPr lang="en-US" sz="2800" dirty="0"/>
          </a:p>
        </p:txBody>
      </p:sp>
      <p:sp>
        <p:nvSpPr>
          <p:cNvPr id="12" name="Text 7"/>
          <p:cNvSpPr txBox="1"/>
          <p:nvPr/>
        </p:nvSpPr>
        <p:spPr>
          <a:xfrm>
            <a:off x="5394960" y="1783080"/>
            <a:ext cx="640080" cy="457200"/>
          </a:xfrm>
          <a:prstGeom prst="rect">
            <a:avLst/>
          </a:prstGeom>
          <a:noFill/>
          <a:ln/>
        </p:spPr>
        <p:txBody>
          <a:bodyPr wrap="square" lIns="0" tIns="0" rIns="0" bIns="0" rtlCol="0" anchor="t"/>
          <a:lstStyle/>
          <a:p>
            <a:pPr marL="0" indent="0" algn="ctr">
              <a:buNone/>
            </a:pPr>
            <a:r>
              <a:rPr lang="en-US" sz="2800" dirty="0">
                <a:solidFill>
                  <a:schemeClr val="accent5"/>
                </a:solidFill>
              </a:rPr>
              <a:t>→</a:t>
            </a:r>
            <a:endParaRPr lang="en-US" sz="2800" dirty="0"/>
          </a:p>
        </p:txBody>
      </p:sp>
      <p:sp>
        <p:nvSpPr>
          <p:cNvPr id="10" name="Shape 8"/>
          <p:cNvSpPr/>
          <p:nvPr/>
        </p:nvSpPr>
        <p:spPr>
          <a:xfrm>
            <a:off x="457200" y="2926080"/>
            <a:ext cx="5120640" cy="1645920"/>
          </a:xfrm>
          <a:prstGeom prst="roundRect">
            <a:avLst>
              <a:gd name="adj" fmla="val 4444"/>
            </a:avLst>
          </a:prstGeom>
          <a:solidFill>
            <a:schemeClr val="bg2"/>
          </a:solidFill>
          <a:ln w="12700">
            <a:solidFill>
              <a:schemeClr val="bg2"/>
            </a:solidFill>
            <a:prstDash val="solid"/>
          </a:ln>
        </p:spPr>
        <p:txBody>
          <a:bodyPr/>
          <a:lstStyle/>
          <a:p>
            <a:endParaRPr lang="en-US"/>
          </a:p>
        </p:txBody>
      </p:sp>
      <p:sp>
        <p:nvSpPr>
          <p:cNvPr id="14" name="Text 9"/>
          <p:cNvSpPr txBox="1"/>
          <p:nvPr/>
        </p:nvSpPr>
        <p:spPr>
          <a:xfrm>
            <a:off x="685800" y="3063240"/>
            <a:ext cx="4754880" cy="329184"/>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D¹[b][b] </a:t>
            </a:r>
            <a:r>
              <a:rPr lang="en-US" sz="1400" dirty="0">
                <a:solidFill>
                  <a:schemeClr val="tx1"/>
                </a:solidFill>
                <a:latin typeface="Calibri" pitchFamily="34" charset="0"/>
                <a:ea typeface="Calibri" pitchFamily="34" charset="-122"/>
                <a:cs typeface="Calibri" pitchFamily="34" charset="-120"/>
              </a:rPr>
              <a:t>= D⁰[b][a] + D⁰[a][b] = −4 + 3 = −1</a:t>
            </a:r>
            <a:endParaRPr lang="en-US" sz="1400" dirty="0"/>
          </a:p>
        </p:txBody>
      </p:sp>
      <p:sp>
        <p:nvSpPr>
          <p:cNvPr id="15" name="Text 10"/>
          <p:cNvSpPr txBox="1"/>
          <p:nvPr/>
        </p:nvSpPr>
        <p:spPr>
          <a:xfrm>
            <a:off x="685800" y="3429000"/>
            <a:ext cx="4754880" cy="329184"/>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D²[a][a] </a:t>
            </a:r>
            <a:r>
              <a:rPr lang="en-US" sz="1400" dirty="0">
                <a:solidFill>
                  <a:schemeClr val="tx1"/>
                </a:solidFill>
                <a:latin typeface="Calibri" pitchFamily="34" charset="0"/>
                <a:ea typeface="Calibri" pitchFamily="34" charset="-122"/>
                <a:cs typeface="Calibri" pitchFamily="34" charset="-120"/>
              </a:rPr>
              <a:t>= D¹[a][b] + D¹[b][a] = 3 − 4 = −1</a:t>
            </a:r>
            <a:endParaRPr lang="en-US" sz="1400" dirty="0"/>
          </a:p>
        </p:txBody>
      </p:sp>
      <p:sp>
        <p:nvSpPr>
          <p:cNvPr id="16" name="Text 11"/>
          <p:cNvSpPr txBox="1"/>
          <p:nvPr/>
        </p:nvSpPr>
        <p:spPr>
          <a:xfrm>
            <a:off x="685800" y="3794760"/>
            <a:ext cx="4754880" cy="329184"/>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D²[a][b] </a:t>
            </a:r>
            <a:r>
              <a:rPr lang="en-US" sz="1400" dirty="0">
                <a:solidFill>
                  <a:schemeClr val="tx1"/>
                </a:solidFill>
                <a:latin typeface="Calibri" pitchFamily="34" charset="0"/>
                <a:ea typeface="Calibri" pitchFamily="34" charset="-122"/>
                <a:cs typeface="Calibri" pitchFamily="34" charset="-120"/>
              </a:rPr>
              <a:t>= D¹[a][b] + D¹[b][b] = 3 − 1 = 2</a:t>
            </a:r>
            <a:endParaRPr lang="en-US" sz="1400" dirty="0"/>
          </a:p>
        </p:txBody>
      </p:sp>
      <p:sp>
        <p:nvSpPr>
          <p:cNvPr id="17" name="Text 12"/>
          <p:cNvSpPr txBox="1"/>
          <p:nvPr/>
        </p:nvSpPr>
        <p:spPr>
          <a:xfrm>
            <a:off x="685800" y="4160520"/>
            <a:ext cx="4754880" cy="329184"/>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D²[b][b] </a:t>
            </a:r>
            <a:r>
              <a:rPr lang="en-US" sz="1400" dirty="0">
                <a:solidFill>
                  <a:schemeClr val="tx1"/>
                </a:solidFill>
                <a:latin typeface="Calibri" pitchFamily="34" charset="0"/>
                <a:ea typeface="Calibri" pitchFamily="34" charset="-122"/>
                <a:cs typeface="Calibri" pitchFamily="34" charset="-120"/>
              </a:rPr>
              <a:t>= D¹[b][b] + D¹[b][b] = −1 − 1 = −2</a:t>
            </a:r>
            <a:endParaRPr lang="en-US" sz="1400" dirty="0"/>
          </a:p>
        </p:txBody>
      </p:sp>
      <p:sp>
        <p:nvSpPr>
          <p:cNvPr id="18" name="Shape 13"/>
          <p:cNvSpPr/>
          <p:nvPr/>
        </p:nvSpPr>
        <p:spPr>
          <a:xfrm>
            <a:off x="5852160" y="2926080"/>
            <a:ext cx="2834640" cy="1645920"/>
          </a:xfrm>
          <a:prstGeom prst="roundRect">
            <a:avLst>
              <a:gd name="adj" fmla="val 4444"/>
            </a:avLst>
          </a:prstGeom>
          <a:solidFill>
            <a:schemeClr val="tx2"/>
          </a:solidFill>
          <a:ln w="12700">
            <a:solidFill>
              <a:schemeClr val="tx2"/>
            </a:solidFill>
            <a:prstDash val="solid"/>
          </a:ln>
        </p:spPr>
        <p:txBody>
          <a:bodyPr/>
          <a:lstStyle/>
          <a:p>
            <a:endParaRPr lang="en-US"/>
          </a:p>
        </p:txBody>
      </p:sp>
      <p:sp>
        <p:nvSpPr>
          <p:cNvPr id="19" name="Text 14"/>
          <p:cNvSpPr txBox="1"/>
          <p:nvPr/>
        </p:nvSpPr>
        <p:spPr>
          <a:xfrm>
            <a:off x="6080760" y="3063240"/>
            <a:ext cx="2377440" cy="320040"/>
          </a:xfrm>
          <a:prstGeom prst="rect">
            <a:avLst/>
          </a:prstGeom>
          <a:noFill/>
          <a:ln/>
        </p:spPr>
        <p:txBody>
          <a:bodyPr wrap="square" lIns="0" tIns="0" rIns="0" bIns="0" rtlCol="0" anchor="t"/>
          <a:lstStyle/>
          <a:p>
            <a:pPr marL="0" indent="0">
              <a:buNone/>
            </a:pPr>
            <a:r>
              <a:rPr lang="en-US" sz="1600" b="1" dirty="0">
                <a:solidFill>
                  <a:schemeClr val="accent2"/>
                </a:solidFill>
              </a:rPr>
              <a:t>Red flag</a:t>
            </a:r>
            <a:endParaRPr lang="en-US" sz="1600" dirty="0"/>
          </a:p>
        </p:txBody>
      </p:sp>
      <p:sp>
        <p:nvSpPr>
          <p:cNvPr id="20" name="Text 15"/>
          <p:cNvSpPr txBox="1"/>
          <p:nvPr/>
        </p:nvSpPr>
        <p:spPr>
          <a:xfrm>
            <a:off x="6080760" y="3429000"/>
            <a:ext cx="2377440" cy="1005840"/>
          </a:xfrm>
          <a:prstGeom prst="rect">
            <a:avLst/>
          </a:prstGeom>
          <a:noFill/>
          <a:ln/>
        </p:spPr>
        <p:txBody>
          <a:bodyPr wrap="square" lIns="0" tIns="0" rIns="0" bIns="0" rtlCol="0" anchor="t"/>
          <a:lstStyle/>
          <a:p>
            <a:pPr marL="0" indent="0">
              <a:buNone/>
            </a:pPr>
            <a:r>
              <a:rPr lang="en-US" sz="1400" dirty="0">
                <a:solidFill>
                  <a:schemeClr val="bg1"/>
                </a:solidFill>
              </a:rPr>
              <a:t>A negative number on the diagonal means a path from a vertex back to itself costs &lt; 0.</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79</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Negative edges OK, negative cycles not</a:t>
            </a:r>
            <a:endParaRPr lang="en-US" sz="2800" dirty="0"/>
          </a:p>
        </p:txBody>
      </p:sp>
      <p:sp>
        <p:nvSpPr>
          <p:cNvPr id="5" name="Shape 3"/>
          <p:cNvSpPr/>
          <p:nvPr/>
        </p:nvSpPr>
        <p:spPr>
          <a:xfrm>
            <a:off x="457200" y="1143000"/>
            <a:ext cx="4023360" cy="1965960"/>
          </a:xfrm>
          <a:prstGeom prst="roundRect">
            <a:avLst>
              <a:gd name="adj" fmla="val 3721"/>
            </a:avLst>
          </a:prstGeom>
          <a:solidFill>
            <a:schemeClr val="bg2"/>
          </a:solidFill>
          <a:ln w="12700">
            <a:solidFill>
              <a:schemeClr val="bg2"/>
            </a:solidFill>
            <a:prstDash val="solid"/>
          </a:ln>
        </p:spPr>
        <p:txBody>
          <a:bodyPr/>
          <a:lstStyle/>
          <a:p>
            <a:endParaRPr lang="en-US"/>
          </a:p>
        </p:txBody>
      </p:sp>
      <p:sp>
        <p:nvSpPr>
          <p:cNvPr id="6" name="Text 4"/>
          <p:cNvSpPr txBox="1"/>
          <p:nvPr/>
        </p:nvSpPr>
        <p:spPr>
          <a:xfrm>
            <a:off x="685800" y="1280160"/>
            <a:ext cx="3566160" cy="329184"/>
          </a:xfrm>
          <a:prstGeom prst="rect">
            <a:avLst/>
          </a:prstGeom>
          <a:noFill/>
          <a:ln/>
        </p:spPr>
        <p:txBody>
          <a:bodyPr wrap="square" lIns="0" tIns="0" rIns="0" bIns="0" rtlCol="0" anchor="t"/>
          <a:lstStyle/>
          <a:p>
            <a:pPr marL="0" indent="0">
              <a:buNone/>
            </a:pPr>
            <a:r>
              <a:rPr lang="en-US" sz="1800" b="1" dirty="0">
                <a:solidFill>
                  <a:schemeClr val="accent4"/>
                </a:solidFill>
                <a:latin typeface="Cambria" pitchFamily="34" charset="0"/>
                <a:ea typeface="Cambria" pitchFamily="34" charset="-122"/>
                <a:cs typeface="Cambria" pitchFamily="34" charset="-120"/>
              </a:rPr>
              <a:t>Left graph</a:t>
            </a:r>
            <a:endParaRPr lang="en-US" sz="1800" dirty="0"/>
          </a:p>
        </p:txBody>
      </p:sp>
      <p:sp>
        <p:nvSpPr>
          <p:cNvPr id="7" name="Text 5"/>
          <p:cNvSpPr txBox="1"/>
          <p:nvPr/>
        </p:nvSpPr>
        <p:spPr>
          <a:xfrm>
            <a:off x="685800" y="1691640"/>
            <a:ext cx="3566160" cy="365760"/>
          </a:xfrm>
          <a:prstGeom prst="rect">
            <a:avLst/>
          </a:prstGeom>
          <a:noFill/>
          <a:ln/>
        </p:spPr>
        <p:txBody>
          <a:bodyPr wrap="square" lIns="0" tIns="0" rIns="0" bIns="0" rtlCol="0" anchor="t"/>
          <a:lstStyle/>
          <a:p>
            <a:pPr marL="0" indent="0">
              <a:buNone/>
            </a:pPr>
            <a:r>
              <a:rPr lang="en-US" sz="1600" b="1" dirty="0">
                <a:solidFill>
                  <a:schemeClr val="tx1"/>
                </a:solidFill>
              </a:rPr>
              <a:t>a → b → a  =  4 + (−3)  =  +1</a:t>
            </a:r>
            <a:endParaRPr lang="en-US" sz="1600" dirty="0"/>
          </a:p>
        </p:txBody>
      </p:sp>
      <p:sp>
        <p:nvSpPr>
          <p:cNvPr id="8" name="Text 6"/>
          <p:cNvSpPr txBox="1"/>
          <p:nvPr/>
        </p:nvSpPr>
        <p:spPr>
          <a:xfrm>
            <a:off x="685800" y="2148840"/>
            <a:ext cx="3566160" cy="822960"/>
          </a:xfrm>
          <a:prstGeom prst="rect">
            <a:avLst/>
          </a:prstGeom>
          <a:noFill/>
          <a:ln/>
        </p:spPr>
        <p:txBody>
          <a:bodyPr wrap="square" lIns="0" tIns="0" rIns="0" bIns="0" rtlCol="0" anchor="t"/>
          <a:lstStyle/>
          <a:p>
            <a:pPr marL="0" indent="0">
              <a:buNone/>
            </a:pPr>
            <a:r>
              <a:rPr lang="en-US" sz="1400" dirty="0">
                <a:solidFill>
                  <a:schemeClr val="tx1"/>
                </a:solidFill>
              </a:rPr>
              <a:t>Going round the cycle only adds cost, so a shortest path exists and Floyd finds it.</a:t>
            </a:r>
            <a:endParaRPr lang="en-US" sz="1400" dirty="0"/>
          </a:p>
        </p:txBody>
      </p:sp>
      <p:sp>
        <p:nvSpPr>
          <p:cNvPr id="9" name="Shape 7"/>
          <p:cNvSpPr/>
          <p:nvPr/>
        </p:nvSpPr>
        <p:spPr>
          <a:xfrm>
            <a:off x="4663440" y="1143000"/>
            <a:ext cx="4023360" cy="1965960"/>
          </a:xfrm>
          <a:prstGeom prst="roundRect">
            <a:avLst>
              <a:gd name="adj" fmla="val 3721"/>
            </a:avLst>
          </a:prstGeom>
          <a:solidFill>
            <a:schemeClr val="bg2"/>
          </a:solidFill>
          <a:ln w="12700">
            <a:solidFill>
              <a:schemeClr val="bg2"/>
            </a:solidFill>
            <a:prstDash val="solid"/>
          </a:ln>
        </p:spPr>
        <p:txBody>
          <a:bodyPr/>
          <a:lstStyle/>
          <a:p>
            <a:endParaRPr lang="en-US"/>
          </a:p>
        </p:txBody>
      </p:sp>
      <p:sp>
        <p:nvSpPr>
          <p:cNvPr id="10" name="Text 8"/>
          <p:cNvSpPr txBox="1"/>
          <p:nvPr/>
        </p:nvSpPr>
        <p:spPr>
          <a:xfrm>
            <a:off x="4892040" y="1280160"/>
            <a:ext cx="3566160" cy="329184"/>
          </a:xfrm>
          <a:prstGeom prst="rect">
            <a:avLst/>
          </a:prstGeom>
          <a:noFill/>
          <a:ln/>
        </p:spPr>
        <p:txBody>
          <a:bodyPr wrap="square" lIns="0" tIns="0" rIns="0" bIns="0" rtlCol="0" anchor="t"/>
          <a:lstStyle/>
          <a:p>
            <a:pPr marL="0" indent="0">
              <a:buNone/>
            </a:pPr>
            <a:r>
              <a:rPr lang="en-US" sz="1800" b="1" dirty="0">
                <a:solidFill>
                  <a:schemeClr val="accent3"/>
                </a:solidFill>
                <a:latin typeface="Cambria" pitchFamily="34" charset="0"/>
                <a:ea typeface="Cambria" pitchFamily="34" charset="-122"/>
                <a:cs typeface="Cambria" pitchFamily="34" charset="-120"/>
              </a:rPr>
              <a:t>Right graph</a:t>
            </a:r>
            <a:endParaRPr lang="en-US" sz="1800" dirty="0"/>
          </a:p>
        </p:txBody>
      </p:sp>
      <p:sp>
        <p:nvSpPr>
          <p:cNvPr id="11" name="Text 9"/>
          <p:cNvSpPr txBox="1"/>
          <p:nvPr/>
        </p:nvSpPr>
        <p:spPr>
          <a:xfrm>
            <a:off x="4892040" y="1691640"/>
            <a:ext cx="3566160" cy="365760"/>
          </a:xfrm>
          <a:prstGeom prst="rect">
            <a:avLst/>
          </a:prstGeom>
          <a:noFill/>
          <a:ln/>
        </p:spPr>
        <p:txBody>
          <a:bodyPr wrap="square" lIns="0" tIns="0" rIns="0" bIns="0" rtlCol="0" anchor="t"/>
          <a:lstStyle/>
          <a:p>
            <a:pPr marL="0" indent="0">
              <a:buNone/>
            </a:pPr>
            <a:r>
              <a:rPr lang="en-US" sz="1600" b="1" dirty="0">
                <a:solidFill>
                  <a:schemeClr val="tx1"/>
                </a:solidFill>
              </a:rPr>
              <a:t>a → b → a  =  3 + (−4)  =  −1</a:t>
            </a:r>
            <a:endParaRPr lang="en-US" sz="1600" dirty="0"/>
          </a:p>
        </p:txBody>
      </p:sp>
      <p:sp>
        <p:nvSpPr>
          <p:cNvPr id="12" name="Text 10"/>
          <p:cNvSpPr txBox="1"/>
          <p:nvPr/>
        </p:nvSpPr>
        <p:spPr>
          <a:xfrm>
            <a:off x="4892040" y="2148840"/>
            <a:ext cx="3566160" cy="822960"/>
          </a:xfrm>
          <a:prstGeom prst="rect">
            <a:avLst/>
          </a:prstGeom>
          <a:noFill/>
          <a:ln/>
        </p:spPr>
        <p:txBody>
          <a:bodyPr wrap="square" lIns="0" tIns="0" rIns="0" bIns="0" rtlCol="0" anchor="t"/>
          <a:lstStyle/>
          <a:p>
            <a:pPr marL="0" indent="0">
              <a:buNone/>
            </a:pPr>
            <a:r>
              <a:rPr lang="en-US" sz="1400" dirty="0">
                <a:solidFill>
                  <a:schemeClr val="tx1"/>
                </a:solidFill>
              </a:rPr>
              <a:t>Each extra lap is 1 cheaper: −1, −2, −3, … The "shortest path" is undefined.</a:t>
            </a:r>
            <a:endParaRPr lang="en-US" sz="1400" dirty="0"/>
          </a:p>
        </p:txBody>
      </p:sp>
      <p:sp>
        <p:nvSpPr>
          <p:cNvPr id="13" name="Shape 11"/>
          <p:cNvSpPr/>
          <p:nvPr/>
        </p:nvSpPr>
        <p:spPr>
          <a:xfrm>
            <a:off x="457200" y="3337560"/>
            <a:ext cx="8229600" cy="1234440"/>
          </a:xfrm>
          <a:prstGeom prst="roundRect">
            <a:avLst>
              <a:gd name="adj" fmla="val 5926"/>
            </a:avLst>
          </a:prstGeom>
          <a:solidFill>
            <a:schemeClr val="tx2"/>
          </a:solidFill>
          <a:ln w="12700">
            <a:solidFill>
              <a:schemeClr val="tx2"/>
            </a:solidFill>
            <a:prstDash val="solid"/>
          </a:ln>
        </p:spPr>
        <p:txBody>
          <a:bodyPr/>
          <a:lstStyle/>
          <a:p>
            <a:endParaRPr lang="en-US"/>
          </a:p>
        </p:txBody>
      </p:sp>
      <p:sp>
        <p:nvSpPr>
          <p:cNvPr id="14" name="Text 12"/>
          <p:cNvSpPr txBox="1"/>
          <p:nvPr/>
        </p:nvSpPr>
        <p:spPr>
          <a:xfrm>
            <a:off x="731520" y="3474720"/>
            <a:ext cx="2743200" cy="320040"/>
          </a:xfrm>
          <a:prstGeom prst="rect">
            <a:avLst/>
          </a:prstGeom>
          <a:noFill/>
          <a:ln/>
        </p:spPr>
        <p:txBody>
          <a:bodyPr wrap="square" lIns="0" tIns="0" rIns="0" bIns="0" rtlCol="0" anchor="t"/>
          <a:lstStyle/>
          <a:p>
            <a:pPr marL="0" indent="0">
              <a:buNone/>
            </a:pPr>
            <a:r>
              <a:rPr lang="en-US" sz="1700" b="1" dirty="0">
                <a:solidFill>
                  <a:schemeClr val="accent2"/>
                </a:solidFill>
              </a:rPr>
              <a:t>Fix for Floyd</a:t>
            </a:r>
            <a:endParaRPr lang="en-US" sz="1700" dirty="0"/>
          </a:p>
        </p:txBody>
      </p:sp>
      <p:sp>
        <p:nvSpPr>
          <p:cNvPr id="15" name="Text 13"/>
          <p:cNvSpPr txBox="1"/>
          <p:nvPr/>
        </p:nvSpPr>
        <p:spPr>
          <a:xfrm>
            <a:off x="731520" y="3822192"/>
            <a:ext cx="7680960" cy="685800"/>
          </a:xfrm>
          <a:prstGeom prst="rect">
            <a:avLst/>
          </a:prstGeom>
          <a:noFill/>
          <a:ln/>
        </p:spPr>
        <p:txBody>
          <a:bodyPr wrap="square" lIns="0" tIns="0" rIns="0" bIns="0" rtlCol="0" anchor="t"/>
          <a:lstStyle/>
          <a:p>
            <a:pPr marL="0" indent="0">
              <a:buNone/>
            </a:pPr>
            <a:r>
              <a:rPr lang="en-US" sz="1400" dirty="0">
                <a:solidFill>
                  <a:schemeClr val="bg1"/>
                </a:solidFill>
              </a:rPr>
              <a:t>After each round k, </a:t>
            </a:r>
            <a:r>
              <a:rPr lang="en-US" sz="1400" b="1" dirty="0">
                <a:solidFill>
                  <a:schemeClr val="bg1"/>
                </a:solidFill>
              </a:rPr>
              <a:t>check the diagonal</a:t>
            </a:r>
            <a:r>
              <a:rPr lang="en-US" sz="1400" dirty="0">
                <a:solidFill>
                  <a:schemeClr val="bg1"/>
                </a:solidFill>
              </a:rPr>
              <a:t>. If any D[i][i] &lt; 0, halt and report "negative-weight cycle". Floyd works with negative edge weights as long as every cycle has non-negative total weight.</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G</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The greedy idea</a:t>
            </a:r>
            <a:endParaRPr lang="en-US" sz="2800" dirty="0"/>
          </a:p>
        </p:txBody>
      </p:sp>
      <p:sp>
        <p:nvSpPr>
          <p:cNvPr id="5" name="Text 3"/>
          <p:cNvSpPr txBox="1"/>
          <p:nvPr/>
        </p:nvSpPr>
        <p:spPr>
          <a:xfrm>
            <a:off x="457200" y="1097280"/>
            <a:ext cx="8229600" cy="457200"/>
          </a:xfrm>
          <a:prstGeom prst="rect">
            <a:avLst/>
          </a:prstGeom>
          <a:noFill/>
          <a:ln/>
        </p:spPr>
        <p:txBody>
          <a:bodyPr wrap="square" lIns="0" tIns="0" rIns="0" bIns="0" rtlCol="0" anchor="t"/>
          <a:lstStyle/>
          <a:p>
            <a:pPr marL="0" indent="0">
              <a:buNone/>
            </a:pPr>
            <a:r>
              <a:rPr lang="en-US" sz="1700" b="1" dirty="0">
                <a:solidFill>
                  <a:schemeClr val="tx2"/>
                </a:solidFill>
              </a:rPr>
              <a:t>Build a solution step by step. At every step, take the option that looks best right now.</a:t>
            </a:r>
            <a:endParaRPr lang="en-US" sz="1700" dirty="0"/>
          </a:p>
        </p:txBody>
      </p:sp>
      <p:sp>
        <p:nvSpPr>
          <p:cNvPr id="6" name="Shape 4"/>
          <p:cNvSpPr/>
          <p:nvPr/>
        </p:nvSpPr>
        <p:spPr>
          <a:xfrm>
            <a:off x="457200" y="1783080"/>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7" name="Text 5"/>
          <p:cNvSpPr txBox="1"/>
          <p:nvPr/>
        </p:nvSpPr>
        <p:spPr>
          <a:xfrm>
            <a:off x="457200" y="17830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6"/>
          <p:cNvSpPr txBox="1"/>
          <p:nvPr/>
        </p:nvSpPr>
        <p:spPr>
          <a:xfrm>
            <a:off x="1097280" y="1764792"/>
            <a:ext cx="2377440" cy="493776"/>
          </a:xfrm>
          <a:prstGeom prst="rect">
            <a:avLst/>
          </a:prstGeom>
          <a:noFill/>
          <a:ln/>
        </p:spPr>
        <p:txBody>
          <a:bodyPr wrap="square" lIns="0" tIns="0" rIns="0" bIns="0" rtlCol="0" anchor="ctr"/>
          <a:lstStyle/>
          <a:p>
            <a:pPr marL="0" indent="0">
              <a:buNone/>
            </a:pPr>
            <a:r>
              <a:rPr lang="en-US" sz="1600" b="1" dirty="0">
                <a:solidFill>
                  <a:schemeClr val="tx2"/>
                </a:solidFill>
              </a:rPr>
              <a:t>Locally optimal</a:t>
            </a:r>
            <a:endParaRPr lang="en-US" sz="1600" dirty="0"/>
          </a:p>
        </p:txBody>
      </p:sp>
      <p:sp>
        <p:nvSpPr>
          <p:cNvPr id="9" name="Text 7"/>
          <p:cNvSpPr txBox="1"/>
          <p:nvPr/>
        </p:nvSpPr>
        <p:spPr>
          <a:xfrm>
            <a:off x="3474720" y="1764792"/>
            <a:ext cx="5212080" cy="493776"/>
          </a:xfrm>
          <a:prstGeom prst="rect">
            <a:avLst/>
          </a:prstGeom>
          <a:noFill/>
          <a:ln/>
        </p:spPr>
        <p:txBody>
          <a:bodyPr wrap="square" lIns="0" tIns="0" rIns="0" bIns="0" rtlCol="0" anchor="ctr"/>
          <a:lstStyle/>
          <a:p>
            <a:pPr marL="0" indent="0">
              <a:buNone/>
            </a:pPr>
            <a:r>
              <a:rPr lang="en-US" sz="1400" dirty="0">
                <a:solidFill>
                  <a:schemeClr val="tx1"/>
                </a:solidFill>
              </a:rPr>
              <a:t>Each choice is the cheapest / most valuable one available at that moment.</a:t>
            </a:r>
            <a:endParaRPr lang="en-US" sz="1400" dirty="0"/>
          </a:p>
        </p:txBody>
      </p:sp>
      <p:sp>
        <p:nvSpPr>
          <p:cNvPr id="10" name="Shape 8"/>
          <p:cNvSpPr/>
          <p:nvPr/>
        </p:nvSpPr>
        <p:spPr>
          <a:xfrm>
            <a:off x="457200" y="2487168"/>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11" name="Text 9"/>
          <p:cNvSpPr txBox="1"/>
          <p:nvPr/>
        </p:nvSpPr>
        <p:spPr>
          <a:xfrm>
            <a:off x="457200" y="248716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2" name="Text 10"/>
          <p:cNvSpPr txBox="1"/>
          <p:nvPr/>
        </p:nvSpPr>
        <p:spPr>
          <a:xfrm>
            <a:off x="1097280" y="2468880"/>
            <a:ext cx="2377440" cy="493776"/>
          </a:xfrm>
          <a:prstGeom prst="rect">
            <a:avLst/>
          </a:prstGeom>
          <a:noFill/>
          <a:ln/>
        </p:spPr>
        <p:txBody>
          <a:bodyPr wrap="square" lIns="0" tIns="0" rIns="0" bIns="0" rtlCol="0" anchor="ctr"/>
          <a:lstStyle/>
          <a:p>
            <a:pPr marL="0" indent="0">
              <a:buNone/>
            </a:pPr>
            <a:r>
              <a:rPr lang="en-US" sz="1600" b="1" dirty="0">
                <a:solidFill>
                  <a:schemeClr val="tx2"/>
                </a:solidFill>
              </a:rPr>
              <a:t>Irrevocable</a:t>
            </a:r>
            <a:endParaRPr lang="en-US" sz="1600" dirty="0"/>
          </a:p>
        </p:txBody>
      </p:sp>
      <p:sp>
        <p:nvSpPr>
          <p:cNvPr id="13" name="Text 11"/>
          <p:cNvSpPr txBox="1"/>
          <p:nvPr/>
        </p:nvSpPr>
        <p:spPr>
          <a:xfrm>
            <a:off x="3474720" y="2468880"/>
            <a:ext cx="5212080" cy="493776"/>
          </a:xfrm>
          <a:prstGeom prst="rect">
            <a:avLst/>
          </a:prstGeom>
          <a:noFill/>
          <a:ln/>
        </p:spPr>
        <p:txBody>
          <a:bodyPr wrap="square" lIns="0" tIns="0" rIns="0" bIns="0" rtlCol="0" anchor="ctr"/>
          <a:lstStyle/>
          <a:p>
            <a:pPr marL="0" indent="0">
              <a:buNone/>
            </a:pPr>
            <a:r>
              <a:rPr lang="en-US" sz="1400" dirty="0">
                <a:solidFill>
                  <a:schemeClr val="tx1"/>
                </a:solidFill>
              </a:rPr>
              <a:t>A choice is never undone — no backtracking, no lookahead.</a:t>
            </a:r>
            <a:endParaRPr lang="en-US" sz="1400" dirty="0"/>
          </a:p>
        </p:txBody>
      </p:sp>
      <p:sp>
        <p:nvSpPr>
          <p:cNvPr id="14" name="Shape 12"/>
          <p:cNvSpPr/>
          <p:nvPr/>
        </p:nvSpPr>
        <p:spPr>
          <a:xfrm>
            <a:off x="457200" y="3191256"/>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15" name="Text 13"/>
          <p:cNvSpPr txBox="1"/>
          <p:nvPr/>
        </p:nvSpPr>
        <p:spPr>
          <a:xfrm>
            <a:off x="457200" y="3191256"/>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1097280" y="3172968"/>
            <a:ext cx="2377440" cy="493776"/>
          </a:xfrm>
          <a:prstGeom prst="rect">
            <a:avLst/>
          </a:prstGeom>
          <a:noFill/>
          <a:ln/>
        </p:spPr>
        <p:txBody>
          <a:bodyPr wrap="square" lIns="0" tIns="0" rIns="0" bIns="0" rtlCol="0" anchor="ctr"/>
          <a:lstStyle/>
          <a:p>
            <a:pPr marL="0" indent="0">
              <a:buNone/>
            </a:pPr>
            <a:r>
              <a:rPr lang="en-US" sz="1600" b="1" dirty="0">
                <a:solidFill>
                  <a:schemeClr val="tx2"/>
                </a:solidFill>
              </a:rPr>
              <a:t>Efficient</a:t>
            </a:r>
            <a:endParaRPr lang="en-US" sz="1600" dirty="0"/>
          </a:p>
        </p:txBody>
      </p:sp>
      <p:sp>
        <p:nvSpPr>
          <p:cNvPr id="17" name="Text 15"/>
          <p:cNvSpPr txBox="1"/>
          <p:nvPr/>
        </p:nvSpPr>
        <p:spPr>
          <a:xfrm>
            <a:off x="3474720" y="3172968"/>
            <a:ext cx="5212080" cy="493776"/>
          </a:xfrm>
          <a:prstGeom prst="rect">
            <a:avLst/>
          </a:prstGeom>
          <a:noFill/>
          <a:ln/>
        </p:spPr>
        <p:txBody>
          <a:bodyPr wrap="square" lIns="0" tIns="0" rIns="0" bIns="0" rtlCol="0" anchor="ctr"/>
          <a:lstStyle/>
          <a:p>
            <a:pPr marL="0" indent="0">
              <a:buNone/>
            </a:pPr>
            <a:r>
              <a:rPr lang="en-US" sz="1400" dirty="0">
                <a:solidFill>
                  <a:schemeClr val="tx1"/>
                </a:solidFill>
              </a:rPr>
              <a:t>Often a single sort or a priority queue: O(n log n) or similar.</a:t>
            </a:r>
            <a:endParaRPr lang="en-US" sz="1400" dirty="0"/>
          </a:p>
        </p:txBody>
      </p:sp>
      <p:sp>
        <p:nvSpPr>
          <p:cNvPr id="18" name="Shape 16"/>
          <p:cNvSpPr/>
          <p:nvPr/>
        </p:nvSpPr>
        <p:spPr>
          <a:xfrm>
            <a:off x="457200" y="3895344"/>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9" name="Text 17"/>
          <p:cNvSpPr txBox="1"/>
          <p:nvPr/>
        </p:nvSpPr>
        <p:spPr>
          <a:xfrm>
            <a:off x="457200" y="3895344"/>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4</a:t>
            </a:r>
            <a:endParaRPr lang="en-US" sz="1600" dirty="0"/>
          </a:p>
        </p:txBody>
      </p:sp>
      <p:sp>
        <p:nvSpPr>
          <p:cNvPr id="20" name="Text 18"/>
          <p:cNvSpPr txBox="1"/>
          <p:nvPr/>
        </p:nvSpPr>
        <p:spPr>
          <a:xfrm>
            <a:off x="1097280" y="3877056"/>
            <a:ext cx="2377440" cy="493776"/>
          </a:xfrm>
          <a:prstGeom prst="rect">
            <a:avLst/>
          </a:prstGeom>
          <a:noFill/>
          <a:ln/>
        </p:spPr>
        <p:txBody>
          <a:bodyPr wrap="square" lIns="0" tIns="0" rIns="0" bIns="0" rtlCol="0" anchor="ctr"/>
          <a:lstStyle/>
          <a:p>
            <a:pPr marL="0" indent="0">
              <a:buNone/>
            </a:pPr>
            <a:r>
              <a:rPr lang="en-US" sz="1600" b="1" dirty="0">
                <a:solidFill>
                  <a:schemeClr val="tx2"/>
                </a:solidFill>
              </a:rPr>
              <a:t>Optimal only sometimes</a:t>
            </a:r>
            <a:endParaRPr lang="en-US" sz="1600" dirty="0"/>
          </a:p>
        </p:txBody>
      </p:sp>
      <p:sp>
        <p:nvSpPr>
          <p:cNvPr id="21" name="Text 19"/>
          <p:cNvSpPr txBox="1"/>
          <p:nvPr/>
        </p:nvSpPr>
        <p:spPr>
          <a:xfrm>
            <a:off x="3474720" y="3877056"/>
            <a:ext cx="5212080" cy="493776"/>
          </a:xfrm>
          <a:prstGeom prst="rect">
            <a:avLst/>
          </a:prstGeom>
          <a:noFill/>
          <a:ln/>
        </p:spPr>
        <p:txBody>
          <a:bodyPr wrap="square" lIns="0" tIns="0" rIns="0" bIns="0" rtlCol="0" anchor="ctr"/>
          <a:lstStyle/>
          <a:p>
            <a:pPr marL="0" indent="0">
              <a:buNone/>
            </a:pPr>
            <a:r>
              <a:rPr lang="en-US" sz="1400" dirty="0">
                <a:solidFill>
                  <a:schemeClr val="tx1"/>
                </a:solidFill>
              </a:rPr>
              <a:t>Needs a proof (e.g. an exchange argument). Without one, hunt for a counterexample.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80</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Wiring black and white points</a:t>
            </a:r>
            <a:endParaRPr lang="en-US" sz="2800" dirty="0"/>
          </a:p>
        </p:txBody>
      </p:sp>
      <p:sp>
        <p:nvSpPr>
          <p:cNvPr id="5" name="Text 3"/>
          <p:cNvSpPr txBox="1"/>
          <p:nvPr/>
        </p:nvSpPr>
        <p:spPr>
          <a:xfrm>
            <a:off x="457200" y="1097280"/>
            <a:ext cx="8229600" cy="594360"/>
          </a:xfrm>
          <a:prstGeom prst="rect">
            <a:avLst/>
          </a:prstGeom>
          <a:noFill/>
          <a:ln/>
        </p:spPr>
        <p:txBody>
          <a:bodyPr wrap="square" lIns="0" tIns="0" rIns="0" bIns="0" rtlCol="0" anchor="t"/>
          <a:lstStyle/>
          <a:p>
            <a:pPr marL="0" indent="0">
              <a:buNone/>
            </a:pPr>
            <a:r>
              <a:rPr lang="en-US" sz="1500" dirty="0">
                <a:solidFill>
                  <a:schemeClr val="tx1"/>
                </a:solidFill>
              </a:rPr>
              <a:t>n white and n black points, evenly spaced (distance 1). Connect each white point to exactly one black point, using as little wire as possible.</a:t>
            </a:r>
            <a:endParaRPr lang="en-US" sz="1500" dirty="0"/>
          </a:p>
        </p:txBody>
      </p:sp>
      <p:sp>
        <p:nvSpPr>
          <p:cNvPr id="6" name="Shape 4"/>
          <p:cNvSpPr/>
          <p:nvPr/>
        </p:nvSpPr>
        <p:spPr>
          <a:xfrm>
            <a:off x="1417320" y="2103120"/>
            <a:ext cx="237744" cy="237744"/>
          </a:xfrm>
          <a:prstGeom prst="rect">
            <a:avLst/>
          </a:prstGeom>
          <a:solidFill>
            <a:schemeClr val="bg1"/>
          </a:solidFill>
          <a:ln w="15875">
            <a:solidFill>
              <a:schemeClr val="tx1"/>
            </a:solidFill>
            <a:prstDash val="solid"/>
          </a:ln>
        </p:spPr>
        <p:txBody>
          <a:bodyPr/>
          <a:lstStyle/>
          <a:p>
            <a:endParaRPr lang="en-US"/>
          </a:p>
        </p:txBody>
      </p:sp>
      <p:sp>
        <p:nvSpPr>
          <p:cNvPr id="7" name="Text 5"/>
          <p:cNvSpPr txBox="1"/>
          <p:nvPr/>
        </p:nvSpPr>
        <p:spPr>
          <a:xfrm>
            <a:off x="1325880" y="2368296"/>
            <a:ext cx="420624" cy="182880"/>
          </a:xfrm>
          <a:prstGeom prst="rect">
            <a:avLst/>
          </a:prstGeom>
          <a:noFill/>
          <a:ln/>
        </p:spPr>
        <p:txBody>
          <a:bodyPr wrap="square" lIns="0" tIns="0" rIns="0" bIns="0" rtlCol="0" anchor="ctr"/>
          <a:lstStyle/>
          <a:p>
            <a:pPr marL="0" indent="0" algn="ctr">
              <a:buNone/>
            </a:pPr>
            <a:r>
              <a:rPr lang="en-US" sz="1000" dirty="0">
                <a:solidFill>
                  <a:schemeClr val="accent5"/>
                </a:solidFill>
              </a:rPr>
              <a:t>1</a:t>
            </a:r>
            <a:endParaRPr lang="en-US" sz="1000" dirty="0"/>
          </a:p>
        </p:txBody>
      </p:sp>
      <p:sp>
        <p:nvSpPr>
          <p:cNvPr id="8" name="Shape 6"/>
          <p:cNvSpPr/>
          <p:nvPr/>
        </p:nvSpPr>
        <p:spPr>
          <a:xfrm>
            <a:off x="1920240" y="2103120"/>
            <a:ext cx="237744" cy="237744"/>
          </a:xfrm>
          <a:prstGeom prst="rect">
            <a:avLst/>
          </a:prstGeom>
          <a:solidFill>
            <a:schemeClr val="bg1"/>
          </a:solidFill>
          <a:ln w="15875">
            <a:solidFill>
              <a:schemeClr val="tx1"/>
            </a:solidFill>
            <a:prstDash val="solid"/>
          </a:ln>
        </p:spPr>
        <p:txBody>
          <a:bodyPr/>
          <a:lstStyle/>
          <a:p>
            <a:endParaRPr lang="en-US"/>
          </a:p>
        </p:txBody>
      </p:sp>
      <p:sp>
        <p:nvSpPr>
          <p:cNvPr id="9" name="Text 7"/>
          <p:cNvSpPr txBox="1"/>
          <p:nvPr/>
        </p:nvSpPr>
        <p:spPr>
          <a:xfrm>
            <a:off x="1828800" y="2368296"/>
            <a:ext cx="420624" cy="182880"/>
          </a:xfrm>
          <a:prstGeom prst="rect">
            <a:avLst/>
          </a:prstGeom>
          <a:noFill/>
          <a:ln/>
        </p:spPr>
        <p:txBody>
          <a:bodyPr wrap="square" lIns="0" tIns="0" rIns="0" bIns="0" rtlCol="0" anchor="ctr"/>
          <a:lstStyle/>
          <a:p>
            <a:pPr marL="0" indent="0" algn="ctr">
              <a:buNone/>
            </a:pPr>
            <a:r>
              <a:rPr lang="en-US" sz="1000" dirty="0">
                <a:solidFill>
                  <a:schemeClr val="accent5"/>
                </a:solidFill>
              </a:rPr>
              <a:t>2</a:t>
            </a:r>
            <a:endParaRPr lang="en-US" sz="1000" dirty="0"/>
          </a:p>
        </p:txBody>
      </p:sp>
      <p:sp>
        <p:nvSpPr>
          <p:cNvPr id="10" name="Shape 8"/>
          <p:cNvSpPr/>
          <p:nvPr/>
        </p:nvSpPr>
        <p:spPr>
          <a:xfrm>
            <a:off x="2423160" y="2103120"/>
            <a:ext cx="237744" cy="237744"/>
          </a:xfrm>
          <a:prstGeom prst="rect">
            <a:avLst/>
          </a:prstGeom>
          <a:solidFill>
            <a:schemeClr val="tx1"/>
          </a:solidFill>
          <a:ln w="15875">
            <a:solidFill>
              <a:schemeClr val="tx1"/>
            </a:solidFill>
            <a:prstDash val="solid"/>
          </a:ln>
        </p:spPr>
        <p:txBody>
          <a:bodyPr/>
          <a:lstStyle/>
          <a:p>
            <a:endParaRPr lang="en-US"/>
          </a:p>
        </p:txBody>
      </p:sp>
      <p:sp>
        <p:nvSpPr>
          <p:cNvPr id="11" name="Text 9"/>
          <p:cNvSpPr txBox="1"/>
          <p:nvPr/>
        </p:nvSpPr>
        <p:spPr>
          <a:xfrm>
            <a:off x="2331720" y="2368296"/>
            <a:ext cx="420624" cy="182880"/>
          </a:xfrm>
          <a:prstGeom prst="rect">
            <a:avLst/>
          </a:prstGeom>
          <a:noFill/>
          <a:ln/>
        </p:spPr>
        <p:txBody>
          <a:bodyPr wrap="square" lIns="0" tIns="0" rIns="0" bIns="0" rtlCol="0" anchor="ctr"/>
          <a:lstStyle/>
          <a:p>
            <a:pPr marL="0" indent="0" algn="ctr">
              <a:buNone/>
            </a:pPr>
            <a:r>
              <a:rPr lang="en-US" sz="1000" dirty="0">
                <a:solidFill>
                  <a:schemeClr val="accent5"/>
                </a:solidFill>
              </a:rPr>
              <a:t>3</a:t>
            </a:r>
            <a:endParaRPr lang="en-US" sz="1000" dirty="0"/>
          </a:p>
        </p:txBody>
      </p:sp>
      <p:sp>
        <p:nvSpPr>
          <p:cNvPr id="12" name="Shape 10"/>
          <p:cNvSpPr/>
          <p:nvPr/>
        </p:nvSpPr>
        <p:spPr>
          <a:xfrm>
            <a:off x="2926080" y="2103120"/>
            <a:ext cx="237744" cy="237744"/>
          </a:xfrm>
          <a:prstGeom prst="rect">
            <a:avLst/>
          </a:prstGeom>
          <a:solidFill>
            <a:schemeClr val="bg1"/>
          </a:solidFill>
          <a:ln w="15875">
            <a:solidFill>
              <a:schemeClr val="tx1"/>
            </a:solidFill>
            <a:prstDash val="solid"/>
          </a:ln>
        </p:spPr>
        <p:txBody>
          <a:bodyPr/>
          <a:lstStyle/>
          <a:p>
            <a:endParaRPr lang="en-US"/>
          </a:p>
        </p:txBody>
      </p:sp>
      <p:sp>
        <p:nvSpPr>
          <p:cNvPr id="13" name="Text 11"/>
          <p:cNvSpPr txBox="1"/>
          <p:nvPr/>
        </p:nvSpPr>
        <p:spPr>
          <a:xfrm>
            <a:off x="2834640" y="2368296"/>
            <a:ext cx="420624" cy="182880"/>
          </a:xfrm>
          <a:prstGeom prst="rect">
            <a:avLst/>
          </a:prstGeom>
          <a:noFill/>
          <a:ln/>
        </p:spPr>
        <p:txBody>
          <a:bodyPr wrap="square" lIns="0" tIns="0" rIns="0" bIns="0" rtlCol="0" anchor="ctr"/>
          <a:lstStyle/>
          <a:p>
            <a:pPr marL="0" indent="0" algn="ctr">
              <a:buNone/>
            </a:pPr>
            <a:r>
              <a:rPr lang="en-US" sz="1000" dirty="0">
                <a:solidFill>
                  <a:schemeClr val="accent5"/>
                </a:solidFill>
              </a:rPr>
              <a:t>4</a:t>
            </a:r>
            <a:endParaRPr lang="en-US" sz="1000" dirty="0"/>
          </a:p>
        </p:txBody>
      </p:sp>
      <p:sp>
        <p:nvSpPr>
          <p:cNvPr id="14" name="Shape 12"/>
          <p:cNvSpPr/>
          <p:nvPr/>
        </p:nvSpPr>
        <p:spPr>
          <a:xfrm>
            <a:off x="3429000" y="2103120"/>
            <a:ext cx="237744" cy="237744"/>
          </a:xfrm>
          <a:prstGeom prst="rect">
            <a:avLst/>
          </a:prstGeom>
          <a:solidFill>
            <a:schemeClr val="tx1"/>
          </a:solidFill>
          <a:ln w="15875">
            <a:solidFill>
              <a:schemeClr val="tx1"/>
            </a:solidFill>
            <a:prstDash val="solid"/>
          </a:ln>
        </p:spPr>
        <p:txBody>
          <a:bodyPr/>
          <a:lstStyle/>
          <a:p>
            <a:endParaRPr lang="en-US"/>
          </a:p>
        </p:txBody>
      </p:sp>
      <p:sp>
        <p:nvSpPr>
          <p:cNvPr id="15" name="Text 13"/>
          <p:cNvSpPr txBox="1"/>
          <p:nvPr/>
        </p:nvSpPr>
        <p:spPr>
          <a:xfrm>
            <a:off x="3337560" y="2368296"/>
            <a:ext cx="420624" cy="182880"/>
          </a:xfrm>
          <a:prstGeom prst="rect">
            <a:avLst/>
          </a:prstGeom>
          <a:noFill/>
          <a:ln/>
        </p:spPr>
        <p:txBody>
          <a:bodyPr wrap="square" lIns="0" tIns="0" rIns="0" bIns="0" rtlCol="0" anchor="ctr"/>
          <a:lstStyle/>
          <a:p>
            <a:pPr marL="0" indent="0" algn="ctr">
              <a:buNone/>
            </a:pPr>
            <a:r>
              <a:rPr lang="en-US" sz="1000" dirty="0">
                <a:solidFill>
                  <a:schemeClr val="accent5"/>
                </a:solidFill>
              </a:rPr>
              <a:t>5</a:t>
            </a:r>
            <a:endParaRPr lang="en-US" sz="1000" dirty="0"/>
          </a:p>
        </p:txBody>
      </p:sp>
      <p:sp>
        <p:nvSpPr>
          <p:cNvPr id="16" name="Shape 14"/>
          <p:cNvSpPr/>
          <p:nvPr/>
        </p:nvSpPr>
        <p:spPr>
          <a:xfrm>
            <a:off x="3931920" y="2103120"/>
            <a:ext cx="237744" cy="237744"/>
          </a:xfrm>
          <a:prstGeom prst="rect">
            <a:avLst/>
          </a:prstGeom>
          <a:solidFill>
            <a:schemeClr val="tx1"/>
          </a:solidFill>
          <a:ln w="15875">
            <a:solidFill>
              <a:schemeClr val="tx1"/>
            </a:solidFill>
            <a:prstDash val="solid"/>
          </a:ln>
        </p:spPr>
        <p:txBody>
          <a:bodyPr/>
          <a:lstStyle/>
          <a:p>
            <a:endParaRPr lang="en-US"/>
          </a:p>
        </p:txBody>
      </p:sp>
      <p:sp>
        <p:nvSpPr>
          <p:cNvPr id="17" name="Text 15"/>
          <p:cNvSpPr txBox="1"/>
          <p:nvPr/>
        </p:nvSpPr>
        <p:spPr>
          <a:xfrm>
            <a:off x="3840480" y="2368296"/>
            <a:ext cx="420624" cy="182880"/>
          </a:xfrm>
          <a:prstGeom prst="rect">
            <a:avLst/>
          </a:prstGeom>
          <a:noFill/>
          <a:ln/>
        </p:spPr>
        <p:txBody>
          <a:bodyPr wrap="square" lIns="0" tIns="0" rIns="0" bIns="0" rtlCol="0" anchor="ctr"/>
          <a:lstStyle/>
          <a:p>
            <a:pPr marL="0" indent="0" algn="ctr">
              <a:buNone/>
            </a:pPr>
            <a:r>
              <a:rPr lang="en-US" sz="1000" dirty="0">
                <a:solidFill>
                  <a:schemeClr val="accent5"/>
                </a:solidFill>
              </a:rPr>
              <a:t>6</a:t>
            </a:r>
            <a:endParaRPr lang="en-US" sz="1000" dirty="0"/>
          </a:p>
        </p:txBody>
      </p:sp>
      <p:sp>
        <p:nvSpPr>
          <p:cNvPr id="18" name="Shape 16"/>
          <p:cNvSpPr/>
          <p:nvPr/>
        </p:nvSpPr>
        <p:spPr>
          <a:xfrm>
            <a:off x="4434840" y="2103120"/>
            <a:ext cx="237744" cy="237744"/>
          </a:xfrm>
          <a:prstGeom prst="rect">
            <a:avLst/>
          </a:prstGeom>
          <a:solidFill>
            <a:schemeClr val="tx1"/>
          </a:solidFill>
          <a:ln w="15875">
            <a:solidFill>
              <a:schemeClr val="tx1"/>
            </a:solidFill>
            <a:prstDash val="solid"/>
          </a:ln>
        </p:spPr>
        <p:txBody>
          <a:bodyPr/>
          <a:lstStyle/>
          <a:p>
            <a:endParaRPr lang="en-US"/>
          </a:p>
        </p:txBody>
      </p:sp>
      <p:sp>
        <p:nvSpPr>
          <p:cNvPr id="19" name="Text 17"/>
          <p:cNvSpPr txBox="1"/>
          <p:nvPr/>
        </p:nvSpPr>
        <p:spPr>
          <a:xfrm>
            <a:off x="4343400" y="2368296"/>
            <a:ext cx="420624" cy="182880"/>
          </a:xfrm>
          <a:prstGeom prst="rect">
            <a:avLst/>
          </a:prstGeom>
          <a:noFill/>
          <a:ln/>
        </p:spPr>
        <p:txBody>
          <a:bodyPr wrap="square" lIns="0" tIns="0" rIns="0" bIns="0" rtlCol="0" anchor="ctr"/>
          <a:lstStyle/>
          <a:p>
            <a:pPr marL="0" indent="0" algn="ctr">
              <a:buNone/>
            </a:pPr>
            <a:r>
              <a:rPr lang="en-US" sz="1000" dirty="0">
                <a:solidFill>
                  <a:schemeClr val="accent5"/>
                </a:solidFill>
              </a:rPr>
              <a:t>7</a:t>
            </a:r>
            <a:endParaRPr lang="en-US" sz="1000" dirty="0"/>
          </a:p>
        </p:txBody>
      </p:sp>
      <p:sp>
        <p:nvSpPr>
          <p:cNvPr id="20" name="Shape 18"/>
          <p:cNvSpPr/>
          <p:nvPr/>
        </p:nvSpPr>
        <p:spPr>
          <a:xfrm>
            <a:off x="4937760" y="2103120"/>
            <a:ext cx="237744" cy="237744"/>
          </a:xfrm>
          <a:prstGeom prst="rect">
            <a:avLst/>
          </a:prstGeom>
          <a:solidFill>
            <a:schemeClr val="bg1"/>
          </a:solidFill>
          <a:ln w="15875">
            <a:solidFill>
              <a:schemeClr val="tx1"/>
            </a:solidFill>
            <a:prstDash val="solid"/>
          </a:ln>
        </p:spPr>
        <p:txBody>
          <a:bodyPr/>
          <a:lstStyle/>
          <a:p>
            <a:endParaRPr lang="en-US"/>
          </a:p>
        </p:txBody>
      </p:sp>
      <p:sp>
        <p:nvSpPr>
          <p:cNvPr id="21" name="Text 19"/>
          <p:cNvSpPr txBox="1"/>
          <p:nvPr/>
        </p:nvSpPr>
        <p:spPr>
          <a:xfrm>
            <a:off x="4846320" y="2368296"/>
            <a:ext cx="420624" cy="182880"/>
          </a:xfrm>
          <a:prstGeom prst="rect">
            <a:avLst/>
          </a:prstGeom>
          <a:noFill/>
          <a:ln/>
        </p:spPr>
        <p:txBody>
          <a:bodyPr wrap="square" lIns="0" tIns="0" rIns="0" bIns="0" rtlCol="0" anchor="ctr"/>
          <a:lstStyle/>
          <a:p>
            <a:pPr marL="0" indent="0" algn="ctr">
              <a:buNone/>
            </a:pPr>
            <a:r>
              <a:rPr lang="en-US" sz="1000" dirty="0">
                <a:solidFill>
                  <a:schemeClr val="accent5"/>
                </a:solidFill>
              </a:rPr>
              <a:t>8</a:t>
            </a:r>
            <a:endParaRPr lang="en-US" sz="1000" dirty="0"/>
          </a:p>
        </p:txBody>
      </p:sp>
      <p:sp>
        <p:nvSpPr>
          <p:cNvPr id="22" name="Shape 20"/>
          <p:cNvSpPr/>
          <p:nvPr/>
        </p:nvSpPr>
        <p:spPr>
          <a:xfrm>
            <a:off x="5440680" y="2103120"/>
            <a:ext cx="237744" cy="237744"/>
          </a:xfrm>
          <a:prstGeom prst="rect">
            <a:avLst/>
          </a:prstGeom>
          <a:solidFill>
            <a:schemeClr val="bg1"/>
          </a:solidFill>
          <a:ln w="15875">
            <a:solidFill>
              <a:schemeClr val="tx1"/>
            </a:solidFill>
            <a:prstDash val="solid"/>
          </a:ln>
        </p:spPr>
        <p:txBody>
          <a:bodyPr/>
          <a:lstStyle/>
          <a:p>
            <a:endParaRPr lang="en-US"/>
          </a:p>
        </p:txBody>
      </p:sp>
      <p:sp>
        <p:nvSpPr>
          <p:cNvPr id="23" name="Text 21"/>
          <p:cNvSpPr txBox="1"/>
          <p:nvPr/>
        </p:nvSpPr>
        <p:spPr>
          <a:xfrm>
            <a:off x="5349240" y="2368296"/>
            <a:ext cx="420624" cy="182880"/>
          </a:xfrm>
          <a:prstGeom prst="rect">
            <a:avLst/>
          </a:prstGeom>
          <a:noFill/>
          <a:ln/>
        </p:spPr>
        <p:txBody>
          <a:bodyPr wrap="square" lIns="0" tIns="0" rIns="0" bIns="0" rtlCol="0" anchor="ctr"/>
          <a:lstStyle/>
          <a:p>
            <a:pPr marL="0" indent="0" algn="ctr">
              <a:buNone/>
            </a:pPr>
            <a:r>
              <a:rPr lang="en-US" sz="1000" dirty="0">
                <a:solidFill>
                  <a:schemeClr val="accent5"/>
                </a:solidFill>
              </a:rPr>
              <a:t>9</a:t>
            </a:r>
            <a:endParaRPr lang="en-US" sz="1000" dirty="0"/>
          </a:p>
        </p:txBody>
      </p:sp>
      <p:sp>
        <p:nvSpPr>
          <p:cNvPr id="24" name="Shape 22"/>
          <p:cNvSpPr/>
          <p:nvPr/>
        </p:nvSpPr>
        <p:spPr>
          <a:xfrm>
            <a:off x="5943600" y="2103120"/>
            <a:ext cx="237744" cy="237744"/>
          </a:xfrm>
          <a:prstGeom prst="rect">
            <a:avLst/>
          </a:prstGeom>
          <a:solidFill>
            <a:schemeClr val="tx1"/>
          </a:solidFill>
          <a:ln w="15875">
            <a:solidFill>
              <a:schemeClr val="tx1"/>
            </a:solidFill>
            <a:prstDash val="solid"/>
          </a:ln>
        </p:spPr>
        <p:txBody>
          <a:bodyPr/>
          <a:lstStyle/>
          <a:p>
            <a:endParaRPr lang="en-US"/>
          </a:p>
        </p:txBody>
      </p:sp>
      <p:sp>
        <p:nvSpPr>
          <p:cNvPr id="25" name="Text 23"/>
          <p:cNvSpPr txBox="1"/>
          <p:nvPr/>
        </p:nvSpPr>
        <p:spPr>
          <a:xfrm>
            <a:off x="5852160" y="2368296"/>
            <a:ext cx="420624" cy="182880"/>
          </a:xfrm>
          <a:prstGeom prst="rect">
            <a:avLst/>
          </a:prstGeom>
          <a:noFill/>
          <a:ln/>
        </p:spPr>
        <p:txBody>
          <a:bodyPr wrap="square" lIns="0" tIns="0" rIns="0" bIns="0" rtlCol="0" anchor="ctr"/>
          <a:lstStyle/>
          <a:p>
            <a:pPr marL="0" indent="0" algn="ctr">
              <a:buNone/>
            </a:pPr>
            <a:r>
              <a:rPr lang="en-US" sz="1000" dirty="0">
                <a:solidFill>
                  <a:schemeClr val="accent5"/>
                </a:solidFill>
              </a:rPr>
              <a:t>10</a:t>
            </a:r>
            <a:endParaRPr lang="en-US" sz="1000" dirty="0"/>
          </a:p>
        </p:txBody>
      </p:sp>
      <p:sp>
        <p:nvSpPr>
          <p:cNvPr id="26" name="Text 24"/>
          <p:cNvSpPr txBox="1"/>
          <p:nvPr/>
        </p:nvSpPr>
        <p:spPr>
          <a:xfrm>
            <a:off x="457200" y="2651760"/>
            <a:ext cx="8229600" cy="274320"/>
          </a:xfrm>
          <a:prstGeom prst="rect">
            <a:avLst/>
          </a:prstGeom>
          <a:noFill/>
          <a:ln/>
        </p:spPr>
        <p:txBody>
          <a:bodyPr wrap="square" lIns="0" tIns="0" rIns="0" bIns="0" rtlCol="0" anchor="t"/>
          <a:lstStyle/>
          <a:p>
            <a:pPr marL="0" indent="0" algn="ctr">
              <a:buNone/>
            </a:pPr>
            <a:r>
              <a:rPr lang="en-US" sz="1200" dirty="0">
                <a:solidFill>
                  <a:schemeClr val="accent5"/>
                </a:solidFill>
              </a:rPr>
              <a:t>Example from the question (n = 5)</a:t>
            </a:r>
            <a:endParaRPr lang="en-US" sz="1200" dirty="0"/>
          </a:p>
        </p:txBody>
      </p:sp>
      <p:sp>
        <p:nvSpPr>
          <p:cNvPr id="27" name="Shape 25"/>
          <p:cNvSpPr/>
          <p:nvPr/>
        </p:nvSpPr>
        <p:spPr>
          <a:xfrm>
            <a:off x="457200" y="3108960"/>
            <a:ext cx="4937760" cy="141732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28" name="Text 26"/>
          <p:cNvSpPr txBox="1"/>
          <p:nvPr/>
        </p:nvSpPr>
        <p:spPr>
          <a:xfrm>
            <a:off x="640080" y="3246120"/>
            <a:ext cx="4572000" cy="1143000"/>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k ← 1</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while there are unconnected points do</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create all connections of length k</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k ← k + 1</a:t>
            </a:r>
            <a:endParaRPr lang="en-US" sz="1300" dirty="0"/>
          </a:p>
        </p:txBody>
      </p:sp>
      <p:sp>
        <p:nvSpPr>
          <p:cNvPr id="29" name="Shape 27"/>
          <p:cNvSpPr/>
          <p:nvPr/>
        </p:nvSpPr>
        <p:spPr>
          <a:xfrm>
            <a:off x="5669280" y="3108960"/>
            <a:ext cx="3017520" cy="1417320"/>
          </a:xfrm>
          <a:prstGeom prst="roundRect">
            <a:avLst>
              <a:gd name="adj" fmla="val 5161"/>
            </a:avLst>
          </a:prstGeom>
          <a:solidFill>
            <a:schemeClr val="bg2"/>
          </a:solidFill>
          <a:ln w="12700">
            <a:solidFill>
              <a:schemeClr val="bg2"/>
            </a:solidFill>
            <a:prstDash val="solid"/>
          </a:ln>
        </p:spPr>
        <p:txBody>
          <a:bodyPr/>
          <a:lstStyle/>
          <a:p>
            <a:endParaRPr lang="en-US"/>
          </a:p>
        </p:txBody>
      </p:sp>
      <p:sp>
        <p:nvSpPr>
          <p:cNvPr id="30" name="Text 28"/>
          <p:cNvSpPr txBox="1"/>
          <p:nvPr/>
        </p:nvSpPr>
        <p:spPr>
          <a:xfrm>
            <a:off x="5897880" y="3218688"/>
            <a:ext cx="2560320" cy="292608"/>
          </a:xfrm>
          <a:prstGeom prst="rect">
            <a:avLst/>
          </a:prstGeom>
          <a:noFill/>
          <a:ln/>
        </p:spPr>
        <p:txBody>
          <a:bodyPr wrap="square" lIns="0" tIns="0" rIns="0" bIns="0" rtlCol="0" anchor="t"/>
          <a:lstStyle/>
          <a:p>
            <a:pPr marL="0" indent="0">
              <a:buNone/>
            </a:pPr>
            <a:r>
              <a:rPr lang="en-US" sz="1500" b="1" dirty="0">
                <a:solidFill>
                  <a:schemeClr val="accent1"/>
                </a:solidFill>
              </a:rPr>
              <a:t>Greedy rule</a:t>
            </a:r>
            <a:endParaRPr lang="en-US" sz="1500" dirty="0"/>
          </a:p>
        </p:txBody>
      </p:sp>
      <p:sp>
        <p:nvSpPr>
          <p:cNvPr id="31" name="Text 29"/>
          <p:cNvSpPr txBox="1"/>
          <p:nvPr/>
        </p:nvSpPr>
        <p:spPr>
          <a:xfrm>
            <a:off x="5897880" y="3547872"/>
            <a:ext cx="2560320" cy="868680"/>
          </a:xfrm>
          <a:prstGeom prst="rect">
            <a:avLst/>
          </a:prstGeom>
          <a:noFill/>
          <a:ln/>
        </p:spPr>
        <p:txBody>
          <a:bodyPr wrap="square" lIns="0" tIns="0" rIns="0" bIns="0" rtlCol="0" anchor="t"/>
          <a:lstStyle/>
          <a:p>
            <a:pPr marL="0" indent="0">
              <a:buNone/>
            </a:pPr>
            <a:r>
              <a:rPr lang="en-US" sz="1400" dirty="0">
                <a:solidFill>
                  <a:schemeClr val="tx1"/>
                </a:solidFill>
              </a:rPr>
              <a:t>Connect the closest pairs first. Correct, or can you break it?</a:t>
            </a:r>
            <a:endParaRPr lang="en-US" sz="1400" dirty="0"/>
          </a:p>
        </p:txBody>
      </p:sp>
      <p:sp>
        <p:nvSpPr>
          <p:cNvPr id="3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80</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Shortest wires first is not optimal</a:t>
            </a:r>
            <a:endParaRPr lang="en-US" sz="2800" dirty="0"/>
          </a:p>
        </p:txBody>
      </p:sp>
      <p:sp>
        <p:nvSpPr>
          <p:cNvPr id="5" name="Shape 3"/>
          <p:cNvSpPr/>
          <p:nvPr/>
        </p:nvSpPr>
        <p:spPr>
          <a:xfrm>
            <a:off x="457200" y="1097280"/>
            <a:ext cx="8229600" cy="1691640"/>
          </a:xfrm>
          <a:prstGeom prst="roundRect">
            <a:avLst>
              <a:gd name="adj" fmla="val 4324"/>
            </a:avLst>
          </a:prstGeom>
          <a:solidFill>
            <a:schemeClr val="bg2"/>
          </a:solidFill>
          <a:ln w="12700">
            <a:solidFill>
              <a:schemeClr val="bg2"/>
            </a:solidFill>
            <a:prstDash val="solid"/>
          </a:ln>
        </p:spPr>
        <p:txBody>
          <a:bodyPr/>
          <a:lstStyle/>
          <a:p>
            <a:endParaRPr lang="en-US"/>
          </a:p>
        </p:txBody>
      </p:sp>
      <p:sp>
        <p:nvSpPr>
          <p:cNvPr id="6" name="Text 4"/>
          <p:cNvSpPr txBox="1"/>
          <p:nvPr/>
        </p:nvSpPr>
        <p:spPr>
          <a:xfrm>
            <a:off x="685800" y="1207008"/>
            <a:ext cx="1828800" cy="292608"/>
          </a:xfrm>
          <a:prstGeom prst="rect">
            <a:avLst/>
          </a:prstGeom>
          <a:noFill/>
          <a:ln/>
        </p:spPr>
        <p:txBody>
          <a:bodyPr wrap="square" lIns="0" tIns="0" rIns="0" bIns="0" rtlCol="0" anchor="t"/>
          <a:lstStyle/>
          <a:p>
            <a:pPr marL="0" indent="0">
              <a:buNone/>
            </a:pPr>
            <a:r>
              <a:rPr lang="en-US" sz="1600" b="1" dirty="0">
                <a:solidFill>
                  <a:schemeClr val="accent3"/>
                </a:solidFill>
              </a:rPr>
              <a:t>Greedy</a:t>
            </a:r>
            <a:endParaRPr lang="en-US" sz="1600" dirty="0"/>
          </a:p>
        </p:txBody>
      </p:sp>
      <p:sp>
        <p:nvSpPr>
          <p:cNvPr id="7" name="Shape 5"/>
          <p:cNvSpPr/>
          <p:nvPr/>
        </p:nvSpPr>
        <p:spPr>
          <a:xfrm flipV="1">
            <a:off x="3063240" y="2084832"/>
            <a:ext cx="0" cy="246888"/>
          </a:xfrm>
          <a:prstGeom prst="line">
            <a:avLst/>
          </a:prstGeom>
          <a:noFill/>
          <a:ln w="28575">
            <a:solidFill>
              <a:schemeClr val="accent3"/>
            </a:solidFill>
            <a:prstDash val="solid"/>
          </a:ln>
        </p:spPr>
        <p:txBody>
          <a:bodyPr/>
          <a:lstStyle/>
          <a:p>
            <a:endParaRPr lang="en-US"/>
          </a:p>
        </p:txBody>
      </p:sp>
      <p:sp>
        <p:nvSpPr>
          <p:cNvPr id="8" name="Shape 6"/>
          <p:cNvSpPr/>
          <p:nvPr/>
        </p:nvSpPr>
        <p:spPr>
          <a:xfrm flipV="1">
            <a:off x="3630168" y="2084832"/>
            <a:ext cx="0" cy="246888"/>
          </a:xfrm>
          <a:prstGeom prst="line">
            <a:avLst/>
          </a:prstGeom>
          <a:noFill/>
          <a:ln w="28575">
            <a:solidFill>
              <a:schemeClr val="accent3"/>
            </a:solidFill>
            <a:prstDash val="solid"/>
          </a:ln>
        </p:spPr>
        <p:txBody>
          <a:bodyPr/>
          <a:lstStyle/>
          <a:p>
            <a:endParaRPr lang="en-US"/>
          </a:p>
        </p:txBody>
      </p:sp>
      <p:sp>
        <p:nvSpPr>
          <p:cNvPr id="9" name="Shape 7"/>
          <p:cNvSpPr/>
          <p:nvPr/>
        </p:nvSpPr>
        <p:spPr>
          <a:xfrm>
            <a:off x="3063240" y="2084832"/>
            <a:ext cx="566928" cy="0"/>
          </a:xfrm>
          <a:prstGeom prst="line">
            <a:avLst/>
          </a:prstGeom>
          <a:noFill/>
          <a:ln w="28575">
            <a:solidFill>
              <a:schemeClr val="accent3"/>
            </a:solidFill>
            <a:prstDash val="solid"/>
          </a:ln>
        </p:spPr>
        <p:txBody>
          <a:bodyPr/>
          <a:lstStyle/>
          <a:p>
            <a:endParaRPr lang="en-US"/>
          </a:p>
        </p:txBody>
      </p:sp>
      <p:sp>
        <p:nvSpPr>
          <p:cNvPr id="10" name="Text 8"/>
          <p:cNvSpPr txBox="1"/>
          <p:nvPr/>
        </p:nvSpPr>
        <p:spPr>
          <a:xfrm>
            <a:off x="3209544" y="1984248"/>
            <a:ext cx="274320" cy="201168"/>
          </a:xfrm>
          <a:prstGeom prst="rect">
            <a:avLst/>
          </a:prstGeom>
          <a:solidFill>
            <a:schemeClr val="bg2"/>
          </a:solidFill>
          <a:ln/>
        </p:spPr>
        <p:txBody>
          <a:bodyPr wrap="square" lIns="0" tIns="0" rIns="0" bIns="0" rtlCol="0" anchor="ctr"/>
          <a:lstStyle/>
          <a:p>
            <a:pPr marL="0" indent="0" algn="ctr">
              <a:buNone/>
            </a:pPr>
            <a:r>
              <a:rPr lang="en-US" sz="1200" b="1" dirty="0">
                <a:solidFill>
                  <a:schemeClr val="accent3"/>
                </a:solidFill>
              </a:rPr>
              <a:t>1</a:t>
            </a:r>
            <a:endParaRPr lang="en-US" sz="1200" dirty="0"/>
          </a:p>
        </p:txBody>
      </p:sp>
      <p:sp>
        <p:nvSpPr>
          <p:cNvPr id="11" name="Shape 9"/>
          <p:cNvSpPr/>
          <p:nvPr/>
        </p:nvSpPr>
        <p:spPr>
          <a:xfrm flipV="1">
            <a:off x="4197096" y="2084832"/>
            <a:ext cx="0" cy="246888"/>
          </a:xfrm>
          <a:prstGeom prst="line">
            <a:avLst/>
          </a:prstGeom>
          <a:noFill/>
          <a:ln w="28575">
            <a:solidFill>
              <a:schemeClr val="accent3"/>
            </a:solidFill>
            <a:prstDash val="solid"/>
          </a:ln>
        </p:spPr>
        <p:txBody>
          <a:bodyPr/>
          <a:lstStyle/>
          <a:p>
            <a:endParaRPr lang="en-US"/>
          </a:p>
        </p:txBody>
      </p:sp>
      <p:sp>
        <p:nvSpPr>
          <p:cNvPr id="12" name="Shape 10"/>
          <p:cNvSpPr/>
          <p:nvPr/>
        </p:nvSpPr>
        <p:spPr>
          <a:xfrm flipV="1">
            <a:off x="4764024" y="2084832"/>
            <a:ext cx="0" cy="246888"/>
          </a:xfrm>
          <a:prstGeom prst="line">
            <a:avLst/>
          </a:prstGeom>
          <a:noFill/>
          <a:ln w="28575">
            <a:solidFill>
              <a:schemeClr val="accent3"/>
            </a:solidFill>
            <a:prstDash val="solid"/>
          </a:ln>
        </p:spPr>
        <p:txBody>
          <a:bodyPr/>
          <a:lstStyle/>
          <a:p>
            <a:endParaRPr lang="en-US"/>
          </a:p>
        </p:txBody>
      </p:sp>
      <p:sp>
        <p:nvSpPr>
          <p:cNvPr id="13" name="Shape 11"/>
          <p:cNvSpPr/>
          <p:nvPr/>
        </p:nvSpPr>
        <p:spPr>
          <a:xfrm>
            <a:off x="4197096" y="2084832"/>
            <a:ext cx="566928" cy="0"/>
          </a:xfrm>
          <a:prstGeom prst="line">
            <a:avLst/>
          </a:prstGeom>
          <a:noFill/>
          <a:ln w="28575">
            <a:solidFill>
              <a:schemeClr val="accent3"/>
            </a:solidFill>
            <a:prstDash val="solid"/>
          </a:ln>
        </p:spPr>
        <p:txBody>
          <a:bodyPr/>
          <a:lstStyle/>
          <a:p>
            <a:endParaRPr lang="en-US"/>
          </a:p>
        </p:txBody>
      </p:sp>
      <p:sp>
        <p:nvSpPr>
          <p:cNvPr id="14" name="Text 12"/>
          <p:cNvSpPr txBox="1"/>
          <p:nvPr/>
        </p:nvSpPr>
        <p:spPr>
          <a:xfrm>
            <a:off x="4343400" y="1984248"/>
            <a:ext cx="274320" cy="201168"/>
          </a:xfrm>
          <a:prstGeom prst="rect">
            <a:avLst/>
          </a:prstGeom>
          <a:solidFill>
            <a:schemeClr val="bg2"/>
          </a:solidFill>
          <a:ln/>
        </p:spPr>
        <p:txBody>
          <a:bodyPr wrap="square" lIns="0" tIns="0" rIns="0" bIns="0" rtlCol="0" anchor="ctr"/>
          <a:lstStyle/>
          <a:p>
            <a:pPr marL="0" indent="0" algn="ctr">
              <a:buNone/>
            </a:pPr>
            <a:r>
              <a:rPr lang="en-US" sz="1200" b="1" dirty="0">
                <a:solidFill>
                  <a:schemeClr val="accent3"/>
                </a:solidFill>
              </a:rPr>
              <a:t>1</a:t>
            </a:r>
            <a:endParaRPr lang="en-US" sz="1200" dirty="0"/>
          </a:p>
        </p:txBody>
      </p:sp>
      <p:sp>
        <p:nvSpPr>
          <p:cNvPr id="15" name="Shape 13"/>
          <p:cNvSpPr/>
          <p:nvPr/>
        </p:nvSpPr>
        <p:spPr>
          <a:xfrm flipV="1">
            <a:off x="5330952" y="2084832"/>
            <a:ext cx="0" cy="246888"/>
          </a:xfrm>
          <a:prstGeom prst="line">
            <a:avLst/>
          </a:prstGeom>
          <a:noFill/>
          <a:ln w="28575">
            <a:solidFill>
              <a:schemeClr val="accent3"/>
            </a:solidFill>
            <a:prstDash val="solid"/>
          </a:ln>
        </p:spPr>
        <p:txBody>
          <a:bodyPr/>
          <a:lstStyle/>
          <a:p>
            <a:endParaRPr lang="en-US"/>
          </a:p>
        </p:txBody>
      </p:sp>
      <p:sp>
        <p:nvSpPr>
          <p:cNvPr id="16" name="Shape 14"/>
          <p:cNvSpPr/>
          <p:nvPr/>
        </p:nvSpPr>
        <p:spPr>
          <a:xfrm flipV="1">
            <a:off x="5897880" y="2084832"/>
            <a:ext cx="0" cy="246888"/>
          </a:xfrm>
          <a:prstGeom prst="line">
            <a:avLst/>
          </a:prstGeom>
          <a:noFill/>
          <a:ln w="28575">
            <a:solidFill>
              <a:schemeClr val="accent3"/>
            </a:solidFill>
            <a:prstDash val="solid"/>
          </a:ln>
        </p:spPr>
        <p:txBody>
          <a:bodyPr/>
          <a:lstStyle/>
          <a:p>
            <a:endParaRPr lang="en-US"/>
          </a:p>
        </p:txBody>
      </p:sp>
      <p:sp>
        <p:nvSpPr>
          <p:cNvPr id="17" name="Shape 15"/>
          <p:cNvSpPr/>
          <p:nvPr/>
        </p:nvSpPr>
        <p:spPr>
          <a:xfrm>
            <a:off x="5330952" y="2084832"/>
            <a:ext cx="566928" cy="0"/>
          </a:xfrm>
          <a:prstGeom prst="line">
            <a:avLst/>
          </a:prstGeom>
          <a:noFill/>
          <a:ln w="28575">
            <a:solidFill>
              <a:schemeClr val="accent3"/>
            </a:solidFill>
            <a:prstDash val="solid"/>
          </a:ln>
        </p:spPr>
        <p:txBody>
          <a:bodyPr/>
          <a:lstStyle/>
          <a:p>
            <a:endParaRPr lang="en-US"/>
          </a:p>
        </p:txBody>
      </p:sp>
      <p:sp>
        <p:nvSpPr>
          <p:cNvPr id="18" name="Text 16"/>
          <p:cNvSpPr txBox="1"/>
          <p:nvPr/>
        </p:nvSpPr>
        <p:spPr>
          <a:xfrm>
            <a:off x="5477256" y="1984248"/>
            <a:ext cx="274320" cy="201168"/>
          </a:xfrm>
          <a:prstGeom prst="rect">
            <a:avLst/>
          </a:prstGeom>
          <a:solidFill>
            <a:schemeClr val="bg2"/>
          </a:solidFill>
          <a:ln/>
        </p:spPr>
        <p:txBody>
          <a:bodyPr wrap="square" lIns="0" tIns="0" rIns="0" bIns="0" rtlCol="0" anchor="ctr"/>
          <a:lstStyle/>
          <a:p>
            <a:pPr marL="0" indent="0" algn="ctr">
              <a:buNone/>
            </a:pPr>
            <a:r>
              <a:rPr lang="en-US" sz="1200" b="1" dirty="0">
                <a:solidFill>
                  <a:schemeClr val="accent3"/>
                </a:solidFill>
              </a:rPr>
              <a:t>1</a:t>
            </a:r>
            <a:endParaRPr lang="en-US" sz="1200" dirty="0"/>
          </a:p>
        </p:txBody>
      </p:sp>
      <p:sp>
        <p:nvSpPr>
          <p:cNvPr id="19" name="Shape 17"/>
          <p:cNvSpPr/>
          <p:nvPr/>
        </p:nvSpPr>
        <p:spPr>
          <a:xfrm flipV="1">
            <a:off x="2496312" y="1426464"/>
            <a:ext cx="0" cy="905256"/>
          </a:xfrm>
          <a:prstGeom prst="line">
            <a:avLst/>
          </a:prstGeom>
          <a:noFill/>
          <a:ln w="28575">
            <a:solidFill>
              <a:schemeClr val="accent3"/>
            </a:solidFill>
            <a:prstDash val="solid"/>
          </a:ln>
        </p:spPr>
        <p:txBody>
          <a:bodyPr/>
          <a:lstStyle/>
          <a:p>
            <a:endParaRPr lang="en-US"/>
          </a:p>
        </p:txBody>
      </p:sp>
      <p:sp>
        <p:nvSpPr>
          <p:cNvPr id="20" name="Shape 18"/>
          <p:cNvSpPr/>
          <p:nvPr/>
        </p:nvSpPr>
        <p:spPr>
          <a:xfrm flipV="1">
            <a:off x="6464808" y="1426464"/>
            <a:ext cx="0" cy="905256"/>
          </a:xfrm>
          <a:prstGeom prst="line">
            <a:avLst/>
          </a:prstGeom>
          <a:noFill/>
          <a:ln w="28575">
            <a:solidFill>
              <a:schemeClr val="accent3"/>
            </a:solidFill>
            <a:prstDash val="solid"/>
          </a:ln>
        </p:spPr>
        <p:txBody>
          <a:bodyPr/>
          <a:lstStyle/>
          <a:p>
            <a:endParaRPr lang="en-US"/>
          </a:p>
        </p:txBody>
      </p:sp>
      <p:sp>
        <p:nvSpPr>
          <p:cNvPr id="21" name="Shape 19"/>
          <p:cNvSpPr/>
          <p:nvPr/>
        </p:nvSpPr>
        <p:spPr>
          <a:xfrm>
            <a:off x="2496312" y="1426464"/>
            <a:ext cx="3968496" cy="0"/>
          </a:xfrm>
          <a:prstGeom prst="line">
            <a:avLst/>
          </a:prstGeom>
          <a:noFill/>
          <a:ln w="28575">
            <a:solidFill>
              <a:schemeClr val="accent3"/>
            </a:solidFill>
            <a:prstDash val="solid"/>
          </a:ln>
        </p:spPr>
        <p:txBody>
          <a:bodyPr/>
          <a:lstStyle/>
          <a:p>
            <a:endParaRPr lang="en-US"/>
          </a:p>
        </p:txBody>
      </p:sp>
      <p:sp>
        <p:nvSpPr>
          <p:cNvPr id="22" name="Text 20"/>
          <p:cNvSpPr txBox="1"/>
          <p:nvPr/>
        </p:nvSpPr>
        <p:spPr>
          <a:xfrm>
            <a:off x="4343400" y="1325880"/>
            <a:ext cx="274320" cy="201168"/>
          </a:xfrm>
          <a:prstGeom prst="rect">
            <a:avLst/>
          </a:prstGeom>
          <a:solidFill>
            <a:schemeClr val="bg2"/>
          </a:solidFill>
          <a:ln/>
        </p:spPr>
        <p:txBody>
          <a:bodyPr wrap="square" lIns="0" tIns="0" rIns="0" bIns="0" rtlCol="0" anchor="ctr"/>
          <a:lstStyle/>
          <a:p>
            <a:pPr marL="0" indent="0" algn="ctr">
              <a:buNone/>
            </a:pPr>
            <a:r>
              <a:rPr lang="en-US" sz="1200" b="1" dirty="0">
                <a:solidFill>
                  <a:schemeClr val="accent3"/>
                </a:solidFill>
              </a:rPr>
              <a:t>7</a:t>
            </a:r>
            <a:endParaRPr lang="en-US" sz="1200" dirty="0"/>
          </a:p>
        </p:txBody>
      </p:sp>
      <p:sp>
        <p:nvSpPr>
          <p:cNvPr id="23" name="Shape 21"/>
          <p:cNvSpPr/>
          <p:nvPr/>
        </p:nvSpPr>
        <p:spPr>
          <a:xfrm>
            <a:off x="2377440" y="2331720"/>
            <a:ext cx="237744" cy="237744"/>
          </a:xfrm>
          <a:prstGeom prst="rect">
            <a:avLst/>
          </a:prstGeom>
          <a:solidFill>
            <a:schemeClr val="bg1"/>
          </a:solidFill>
          <a:ln w="15875">
            <a:solidFill>
              <a:schemeClr val="tx1"/>
            </a:solidFill>
            <a:prstDash val="solid"/>
          </a:ln>
        </p:spPr>
        <p:txBody>
          <a:bodyPr/>
          <a:lstStyle/>
          <a:p>
            <a:endParaRPr lang="en-US"/>
          </a:p>
        </p:txBody>
      </p:sp>
      <p:sp>
        <p:nvSpPr>
          <p:cNvPr id="24" name="Shape 22"/>
          <p:cNvSpPr/>
          <p:nvPr/>
        </p:nvSpPr>
        <p:spPr>
          <a:xfrm>
            <a:off x="2944368" y="2331720"/>
            <a:ext cx="237744" cy="237744"/>
          </a:xfrm>
          <a:prstGeom prst="rect">
            <a:avLst/>
          </a:prstGeom>
          <a:solidFill>
            <a:schemeClr val="bg1"/>
          </a:solidFill>
          <a:ln w="15875">
            <a:solidFill>
              <a:schemeClr val="tx1"/>
            </a:solidFill>
            <a:prstDash val="solid"/>
          </a:ln>
        </p:spPr>
        <p:txBody>
          <a:bodyPr/>
          <a:lstStyle/>
          <a:p>
            <a:endParaRPr lang="en-US"/>
          </a:p>
        </p:txBody>
      </p:sp>
      <p:sp>
        <p:nvSpPr>
          <p:cNvPr id="25" name="Shape 23"/>
          <p:cNvSpPr/>
          <p:nvPr/>
        </p:nvSpPr>
        <p:spPr>
          <a:xfrm>
            <a:off x="3511296" y="2331720"/>
            <a:ext cx="237744" cy="237744"/>
          </a:xfrm>
          <a:prstGeom prst="rect">
            <a:avLst/>
          </a:prstGeom>
          <a:solidFill>
            <a:schemeClr val="tx1"/>
          </a:solidFill>
          <a:ln w="15875">
            <a:solidFill>
              <a:schemeClr val="tx1"/>
            </a:solidFill>
            <a:prstDash val="solid"/>
          </a:ln>
        </p:spPr>
        <p:txBody>
          <a:bodyPr/>
          <a:lstStyle/>
          <a:p>
            <a:endParaRPr lang="en-US"/>
          </a:p>
        </p:txBody>
      </p:sp>
      <p:sp>
        <p:nvSpPr>
          <p:cNvPr id="26" name="Shape 24"/>
          <p:cNvSpPr/>
          <p:nvPr/>
        </p:nvSpPr>
        <p:spPr>
          <a:xfrm>
            <a:off x="4078224" y="2331720"/>
            <a:ext cx="237744" cy="237744"/>
          </a:xfrm>
          <a:prstGeom prst="rect">
            <a:avLst/>
          </a:prstGeom>
          <a:solidFill>
            <a:schemeClr val="tx1"/>
          </a:solidFill>
          <a:ln w="15875">
            <a:solidFill>
              <a:schemeClr val="tx1"/>
            </a:solidFill>
            <a:prstDash val="solid"/>
          </a:ln>
        </p:spPr>
        <p:txBody>
          <a:bodyPr/>
          <a:lstStyle/>
          <a:p>
            <a:endParaRPr lang="en-US"/>
          </a:p>
        </p:txBody>
      </p:sp>
      <p:sp>
        <p:nvSpPr>
          <p:cNvPr id="27" name="Shape 25"/>
          <p:cNvSpPr/>
          <p:nvPr/>
        </p:nvSpPr>
        <p:spPr>
          <a:xfrm>
            <a:off x="4645152" y="2331720"/>
            <a:ext cx="237744" cy="237744"/>
          </a:xfrm>
          <a:prstGeom prst="rect">
            <a:avLst/>
          </a:prstGeom>
          <a:solidFill>
            <a:schemeClr val="bg1"/>
          </a:solidFill>
          <a:ln w="15875">
            <a:solidFill>
              <a:schemeClr val="tx1"/>
            </a:solidFill>
            <a:prstDash val="solid"/>
          </a:ln>
        </p:spPr>
        <p:txBody>
          <a:bodyPr/>
          <a:lstStyle/>
          <a:p>
            <a:endParaRPr lang="en-US"/>
          </a:p>
        </p:txBody>
      </p:sp>
      <p:sp>
        <p:nvSpPr>
          <p:cNvPr id="28" name="Shape 26"/>
          <p:cNvSpPr/>
          <p:nvPr/>
        </p:nvSpPr>
        <p:spPr>
          <a:xfrm>
            <a:off x="5212080" y="2331720"/>
            <a:ext cx="237744" cy="237744"/>
          </a:xfrm>
          <a:prstGeom prst="rect">
            <a:avLst/>
          </a:prstGeom>
          <a:solidFill>
            <a:schemeClr val="bg1"/>
          </a:solidFill>
          <a:ln w="15875">
            <a:solidFill>
              <a:schemeClr val="tx1"/>
            </a:solidFill>
            <a:prstDash val="solid"/>
          </a:ln>
        </p:spPr>
        <p:txBody>
          <a:bodyPr/>
          <a:lstStyle/>
          <a:p>
            <a:endParaRPr lang="en-US"/>
          </a:p>
        </p:txBody>
      </p:sp>
      <p:sp>
        <p:nvSpPr>
          <p:cNvPr id="29" name="Shape 27"/>
          <p:cNvSpPr/>
          <p:nvPr/>
        </p:nvSpPr>
        <p:spPr>
          <a:xfrm>
            <a:off x="5779008" y="2331720"/>
            <a:ext cx="237744" cy="237744"/>
          </a:xfrm>
          <a:prstGeom prst="rect">
            <a:avLst/>
          </a:prstGeom>
          <a:solidFill>
            <a:schemeClr val="tx1"/>
          </a:solidFill>
          <a:ln w="15875">
            <a:solidFill>
              <a:schemeClr val="tx1"/>
            </a:solidFill>
            <a:prstDash val="solid"/>
          </a:ln>
        </p:spPr>
        <p:txBody>
          <a:bodyPr/>
          <a:lstStyle/>
          <a:p>
            <a:endParaRPr lang="en-US"/>
          </a:p>
        </p:txBody>
      </p:sp>
      <p:sp>
        <p:nvSpPr>
          <p:cNvPr id="30" name="Shape 28"/>
          <p:cNvSpPr/>
          <p:nvPr/>
        </p:nvSpPr>
        <p:spPr>
          <a:xfrm>
            <a:off x="6345936" y="2331720"/>
            <a:ext cx="237744" cy="237744"/>
          </a:xfrm>
          <a:prstGeom prst="rect">
            <a:avLst/>
          </a:prstGeom>
          <a:solidFill>
            <a:schemeClr val="tx1"/>
          </a:solidFill>
          <a:ln w="15875">
            <a:solidFill>
              <a:schemeClr val="tx1"/>
            </a:solidFill>
            <a:prstDash val="solid"/>
          </a:ln>
        </p:spPr>
        <p:txBody>
          <a:bodyPr/>
          <a:lstStyle/>
          <a:p>
            <a:endParaRPr lang="en-US"/>
          </a:p>
        </p:txBody>
      </p:sp>
      <p:sp>
        <p:nvSpPr>
          <p:cNvPr id="31" name="Text 29"/>
          <p:cNvSpPr txBox="1"/>
          <p:nvPr/>
        </p:nvSpPr>
        <p:spPr>
          <a:xfrm>
            <a:off x="6995160" y="2148840"/>
            <a:ext cx="1554480" cy="365760"/>
          </a:xfrm>
          <a:prstGeom prst="rect">
            <a:avLst/>
          </a:prstGeom>
          <a:noFill/>
          <a:ln/>
        </p:spPr>
        <p:txBody>
          <a:bodyPr wrap="square" lIns="0" tIns="0" rIns="0" bIns="0" rtlCol="0" anchor="t"/>
          <a:lstStyle/>
          <a:p>
            <a:pPr marL="0" indent="0" algn="r">
              <a:buNone/>
            </a:pPr>
            <a:r>
              <a:rPr lang="en-US" sz="1600" b="1" dirty="0">
                <a:solidFill>
                  <a:schemeClr val="accent3"/>
                </a:solidFill>
              </a:rPr>
              <a:t>1 + 1 + 1 + 7 = 10</a:t>
            </a:r>
            <a:endParaRPr lang="en-US" sz="1600" dirty="0"/>
          </a:p>
        </p:txBody>
      </p:sp>
      <p:sp>
        <p:nvSpPr>
          <p:cNvPr id="32" name="Shape 30"/>
          <p:cNvSpPr/>
          <p:nvPr/>
        </p:nvSpPr>
        <p:spPr>
          <a:xfrm>
            <a:off x="457200" y="2926080"/>
            <a:ext cx="8229600" cy="1691640"/>
          </a:xfrm>
          <a:prstGeom prst="roundRect">
            <a:avLst>
              <a:gd name="adj" fmla="val 4324"/>
            </a:avLst>
          </a:prstGeom>
          <a:solidFill>
            <a:schemeClr val="bg2"/>
          </a:solidFill>
          <a:ln w="12700">
            <a:solidFill>
              <a:schemeClr val="bg2"/>
            </a:solidFill>
            <a:prstDash val="solid"/>
          </a:ln>
        </p:spPr>
        <p:txBody>
          <a:bodyPr/>
          <a:lstStyle/>
          <a:p>
            <a:endParaRPr lang="en-US"/>
          </a:p>
        </p:txBody>
      </p:sp>
      <p:sp>
        <p:nvSpPr>
          <p:cNvPr id="33" name="Text 31"/>
          <p:cNvSpPr txBox="1"/>
          <p:nvPr/>
        </p:nvSpPr>
        <p:spPr>
          <a:xfrm>
            <a:off x="685800" y="3035808"/>
            <a:ext cx="1828800" cy="292608"/>
          </a:xfrm>
          <a:prstGeom prst="rect">
            <a:avLst/>
          </a:prstGeom>
          <a:noFill/>
          <a:ln/>
        </p:spPr>
        <p:txBody>
          <a:bodyPr wrap="square" lIns="0" tIns="0" rIns="0" bIns="0" rtlCol="0" anchor="t"/>
          <a:lstStyle/>
          <a:p>
            <a:pPr marL="0" indent="0">
              <a:buNone/>
            </a:pPr>
            <a:r>
              <a:rPr lang="en-US" sz="1600" b="1" dirty="0">
                <a:solidFill>
                  <a:schemeClr val="accent4"/>
                </a:solidFill>
              </a:rPr>
              <a:t>Optimal</a:t>
            </a:r>
            <a:endParaRPr lang="en-US" sz="1600" dirty="0"/>
          </a:p>
        </p:txBody>
      </p:sp>
      <p:sp>
        <p:nvSpPr>
          <p:cNvPr id="34" name="Shape 32"/>
          <p:cNvSpPr/>
          <p:nvPr/>
        </p:nvSpPr>
        <p:spPr>
          <a:xfrm flipV="1">
            <a:off x="3063240" y="3913632"/>
            <a:ext cx="0" cy="246888"/>
          </a:xfrm>
          <a:prstGeom prst="line">
            <a:avLst/>
          </a:prstGeom>
          <a:noFill/>
          <a:ln w="28575">
            <a:solidFill>
              <a:schemeClr val="accent4"/>
            </a:solidFill>
            <a:prstDash val="solid"/>
          </a:ln>
        </p:spPr>
        <p:txBody>
          <a:bodyPr/>
          <a:lstStyle/>
          <a:p>
            <a:endParaRPr lang="en-US"/>
          </a:p>
        </p:txBody>
      </p:sp>
      <p:sp>
        <p:nvSpPr>
          <p:cNvPr id="35" name="Shape 33"/>
          <p:cNvSpPr/>
          <p:nvPr/>
        </p:nvSpPr>
        <p:spPr>
          <a:xfrm flipV="1">
            <a:off x="3630168" y="3913632"/>
            <a:ext cx="0" cy="246888"/>
          </a:xfrm>
          <a:prstGeom prst="line">
            <a:avLst/>
          </a:prstGeom>
          <a:noFill/>
          <a:ln w="28575">
            <a:solidFill>
              <a:schemeClr val="accent4"/>
            </a:solidFill>
            <a:prstDash val="solid"/>
          </a:ln>
        </p:spPr>
        <p:txBody>
          <a:bodyPr/>
          <a:lstStyle/>
          <a:p>
            <a:endParaRPr lang="en-US"/>
          </a:p>
        </p:txBody>
      </p:sp>
      <p:sp>
        <p:nvSpPr>
          <p:cNvPr id="36" name="Shape 34"/>
          <p:cNvSpPr/>
          <p:nvPr/>
        </p:nvSpPr>
        <p:spPr>
          <a:xfrm>
            <a:off x="3063240" y="3913632"/>
            <a:ext cx="566928" cy="0"/>
          </a:xfrm>
          <a:prstGeom prst="line">
            <a:avLst/>
          </a:prstGeom>
          <a:noFill/>
          <a:ln w="28575">
            <a:solidFill>
              <a:schemeClr val="accent4"/>
            </a:solidFill>
            <a:prstDash val="solid"/>
          </a:ln>
        </p:spPr>
        <p:txBody>
          <a:bodyPr/>
          <a:lstStyle/>
          <a:p>
            <a:endParaRPr lang="en-US"/>
          </a:p>
        </p:txBody>
      </p:sp>
      <p:sp>
        <p:nvSpPr>
          <p:cNvPr id="37" name="Text 35"/>
          <p:cNvSpPr txBox="1"/>
          <p:nvPr/>
        </p:nvSpPr>
        <p:spPr>
          <a:xfrm>
            <a:off x="3209544" y="3813048"/>
            <a:ext cx="274320" cy="201168"/>
          </a:xfrm>
          <a:prstGeom prst="rect">
            <a:avLst/>
          </a:prstGeom>
          <a:solidFill>
            <a:schemeClr val="bg2"/>
          </a:solidFill>
          <a:ln/>
        </p:spPr>
        <p:txBody>
          <a:bodyPr wrap="square" lIns="0" tIns="0" rIns="0" bIns="0" rtlCol="0" anchor="ctr"/>
          <a:lstStyle/>
          <a:p>
            <a:pPr marL="0" indent="0" algn="ctr">
              <a:buNone/>
            </a:pPr>
            <a:r>
              <a:rPr lang="en-US" sz="1200" b="1" dirty="0">
                <a:solidFill>
                  <a:schemeClr val="accent4"/>
                </a:solidFill>
              </a:rPr>
              <a:t>1</a:t>
            </a:r>
            <a:endParaRPr lang="en-US" sz="1200" dirty="0"/>
          </a:p>
        </p:txBody>
      </p:sp>
      <p:sp>
        <p:nvSpPr>
          <p:cNvPr id="38" name="Shape 36"/>
          <p:cNvSpPr/>
          <p:nvPr/>
        </p:nvSpPr>
        <p:spPr>
          <a:xfrm flipV="1">
            <a:off x="2496312" y="3694176"/>
            <a:ext cx="0" cy="466344"/>
          </a:xfrm>
          <a:prstGeom prst="line">
            <a:avLst/>
          </a:prstGeom>
          <a:noFill/>
          <a:ln w="28575">
            <a:solidFill>
              <a:schemeClr val="accent4"/>
            </a:solidFill>
            <a:prstDash val="solid"/>
          </a:ln>
        </p:spPr>
        <p:txBody>
          <a:bodyPr/>
          <a:lstStyle/>
          <a:p>
            <a:endParaRPr lang="en-US"/>
          </a:p>
        </p:txBody>
      </p:sp>
      <p:sp>
        <p:nvSpPr>
          <p:cNvPr id="39" name="Shape 37"/>
          <p:cNvSpPr/>
          <p:nvPr/>
        </p:nvSpPr>
        <p:spPr>
          <a:xfrm flipV="1">
            <a:off x="4197096" y="3694176"/>
            <a:ext cx="0" cy="466344"/>
          </a:xfrm>
          <a:prstGeom prst="line">
            <a:avLst/>
          </a:prstGeom>
          <a:noFill/>
          <a:ln w="28575">
            <a:solidFill>
              <a:schemeClr val="accent4"/>
            </a:solidFill>
            <a:prstDash val="solid"/>
          </a:ln>
        </p:spPr>
        <p:txBody>
          <a:bodyPr/>
          <a:lstStyle/>
          <a:p>
            <a:endParaRPr lang="en-US"/>
          </a:p>
        </p:txBody>
      </p:sp>
      <p:sp>
        <p:nvSpPr>
          <p:cNvPr id="40" name="Shape 38"/>
          <p:cNvSpPr/>
          <p:nvPr/>
        </p:nvSpPr>
        <p:spPr>
          <a:xfrm>
            <a:off x="2496312" y="3694176"/>
            <a:ext cx="1700784" cy="0"/>
          </a:xfrm>
          <a:prstGeom prst="line">
            <a:avLst/>
          </a:prstGeom>
          <a:noFill/>
          <a:ln w="28575">
            <a:solidFill>
              <a:schemeClr val="accent4"/>
            </a:solidFill>
            <a:prstDash val="solid"/>
          </a:ln>
        </p:spPr>
        <p:txBody>
          <a:bodyPr/>
          <a:lstStyle/>
          <a:p>
            <a:endParaRPr lang="en-US"/>
          </a:p>
        </p:txBody>
      </p:sp>
      <p:sp>
        <p:nvSpPr>
          <p:cNvPr id="41" name="Text 39"/>
          <p:cNvSpPr txBox="1"/>
          <p:nvPr/>
        </p:nvSpPr>
        <p:spPr>
          <a:xfrm>
            <a:off x="3209544" y="3593592"/>
            <a:ext cx="274320" cy="201168"/>
          </a:xfrm>
          <a:prstGeom prst="rect">
            <a:avLst/>
          </a:prstGeom>
          <a:solidFill>
            <a:schemeClr val="bg2"/>
          </a:solidFill>
          <a:ln/>
        </p:spPr>
        <p:txBody>
          <a:bodyPr wrap="square" lIns="0" tIns="0" rIns="0" bIns="0" rtlCol="0" anchor="ctr"/>
          <a:lstStyle/>
          <a:p>
            <a:pPr marL="0" indent="0" algn="ctr">
              <a:buNone/>
            </a:pPr>
            <a:r>
              <a:rPr lang="en-US" sz="1200" b="1" dirty="0">
                <a:solidFill>
                  <a:schemeClr val="accent4"/>
                </a:solidFill>
              </a:rPr>
              <a:t>3</a:t>
            </a:r>
            <a:endParaRPr lang="en-US" sz="1200" dirty="0"/>
          </a:p>
        </p:txBody>
      </p:sp>
      <p:sp>
        <p:nvSpPr>
          <p:cNvPr id="42" name="Shape 40"/>
          <p:cNvSpPr/>
          <p:nvPr/>
        </p:nvSpPr>
        <p:spPr>
          <a:xfrm flipV="1">
            <a:off x="5330952" y="3913632"/>
            <a:ext cx="0" cy="246888"/>
          </a:xfrm>
          <a:prstGeom prst="line">
            <a:avLst/>
          </a:prstGeom>
          <a:noFill/>
          <a:ln w="28575">
            <a:solidFill>
              <a:schemeClr val="accent4"/>
            </a:solidFill>
            <a:prstDash val="solid"/>
          </a:ln>
        </p:spPr>
        <p:txBody>
          <a:bodyPr/>
          <a:lstStyle/>
          <a:p>
            <a:endParaRPr lang="en-US"/>
          </a:p>
        </p:txBody>
      </p:sp>
      <p:sp>
        <p:nvSpPr>
          <p:cNvPr id="43" name="Shape 41"/>
          <p:cNvSpPr/>
          <p:nvPr/>
        </p:nvSpPr>
        <p:spPr>
          <a:xfrm flipV="1">
            <a:off x="5897880" y="3913632"/>
            <a:ext cx="0" cy="246888"/>
          </a:xfrm>
          <a:prstGeom prst="line">
            <a:avLst/>
          </a:prstGeom>
          <a:noFill/>
          <a:ln w="28575">
            <a:solidFill>
              <a:schemeClr val="accent4"/>
            </a:solidFill>
            <a:prstDash val="solid"/>
          </a:ln>
        </p:spPr>
        <p:txBody>
          <a:bodyPr/>
          <a:lstStyle/>
          <a:p>
            <a:endParaRPr lang="en-US"/>
          </a:p>
        </p:txBody>
      </p:sp>
      <p:sp>
        <p:nvSpPr>
          <p:cNvPr id="44" name="Shape 42"/>
          <p:cNvSpPr/>
          <p:nvPr/>
        </p:nvSpPr>
        <p:spPr>
          <a:xfrm>
            <a:off x="5330952" y="3913632"/>
            <a:ext cx="566928" cy="0"/>
          </a:xfrm>
          <a:prstGeom prst="line">
            <a:avLst/>
          </a:prstGeom>
          <a:noFill/>
          <a:ln w="28575">
            <a:solidFill>
              <a:schemeClr val="accent4"/>
            </a:solidFill>
            <a:prstDash val="solid"/>
          </a:ln>
        </p:spPr>
        <p:txBody>
          <a:bodyPr/>
          <a:lstStyle/>
          <a:p>
            <a:endParaRPr lang="en-US"/>
          </a:p>
        </p:txBody>
      </p:sp>
      <p:sp>
        <p:nvSpPr>
          <p:cNvPr id="45" name="Text 43"/>
          <p:cNvSpPr txBox="1"/>
          <p:nvPr/>
        </p:nvSpPr>
        <p:spPr>
          <a:xfrm>
            <a:off x="5477256" y="3813048"/>
            <a:ext cx="274320" cy="201168"/>
          </a:xfrm>
          <a:prstGeom prst="rect">
            <a:avLst/>
          </a:prstGeom>
          <a:solidFill>
            <a:schemeClr val="bg2"/>
          </a:solidFill>
          <a:ln/>
        </p:spPr>
        <p:txBody>
          <a:bodyPr wrap="square" lIns="0" tIns="0" rIns="0" bIns="0" rtlCol="0" anchor="ctr"/>
          <a:lstStyle/>
          <a:p>
            <a:pPr marL="0" indent="0" algn="ctr">
              <a:buNone/>
            </a:pPr>
            <a:r>
              <a:rPr lang="en-US" sz="1200" b="1" dirty="0">
                <a:solidFill>
                  <a:schemeClr val="accent4"/>
                </a:solidFill>
              </a:rPr>
              <a:t>1</a:t>
            </a:r>
            <a:endParaRPr lang="en-US" sz="1200" dirty="0"/>
          </a:p>
        </p:txBody>
      </p:sp>
      <p:sp>
        <p:nvSpPr>
          <p:cNvPr id="46" name="Shape 44"/>
          <p:cNvSpPr/>
          <p:nvPr/>
        </p:nvSpPr>
        <p:spPr>
          <a:xfrm flipV="1">
            <a:off x="4764024" y="3694176"/>
            <a:ext cx="0" cy="466344"/>
          </a:xfrm>
          <a:prstGeom prst="line">
            <a:avLst/>
          </a:prstGeom>
          <a:noFill/>
          <a:ln w="28575">
            <a:solidFill>
              <a:schemeClr val="accent4"/>
            </a:solidFill>
            <a:prstDash val="solid"/>
          </a:ln>
        </p:spPr>
        <p:txBody>
          <a:bodyPr/>
          <a:lstStyle/>
          <a:p>
            <a:endParaRPr lang="en-US"/>
          </a:p>
        </p:txBody>
      </p:sp>
      <p:sp>
        <p:nvSpPr>
          <p:cNvPr id="47" name="Shape 45"/>
          <p:cNvSpPr/>
          <p:nvPr/>
        </p:nvSpPr>
        <p:spPr>
          <a:xfrm flipV="1">
            <a:off x="6464808" y="3694176"/>
            <a:ext cx="0" cy="466344"/>
          </a:xfrm>
          <a:prstGeom prst="line">
            <a:avLst/>
          </a:prstGeom>
          <a:noFill/>
          <a:ln w="28575">
            <a:solidFill>
              <a:schemeClr val="accent4"/>
            </a:solidFill>
            <a:prstDash val="solid"/>
          </a:ln>
        </p:spPr>
        <p:txBody>
          <a:bodyPr/>
          <a:lstStyle/>
          <a:p>
            <a:endParaRPr lang="en-US"/>
          </a:p>
        </p:txBody>
      </p:sp>
      <p:sp>
        <p:nvSpPr>
          <p:cNvPr id="48" name="Shape 46"/>
          <p:cNvSpPr/>
          <p:nvPr/>
        </p:nvSpPr>
        <p:spPr>
          <a:xfrm>
            <a:off x="4764024" y="3694176"/>
            <a:ext cx="1700784" cy="0"/>
          </a:xfrm>
          <a:prstGeom prst="line">
            <a:avLst/>
          </a:prstGeom>
          <a:noFill/>
          <a:ln w="28575">
            <a:solidFill>
              <a:schemeClr val="accent4"/>
            </a:solidFill>
            <a:prstDash val="solid"/>
          </a:ln>
        </p:spPr>
        <p:txBody>
          <a:bodyPr/>
          <a:lstStyle/>
          <a:p>
            <a:endParaRPr lang="en-US"/>
          </a:p>
        </p:txBody>
      </p:sp>
      <p:sp>
        <p:nvSpPr>
          <p:cNvPr id="49" name="Text 47"/>
          <p:cNvSpPr txBox="1"/>
          <p:nvPr/>
        </p:nvSpPr>
        <p:spPr>
          <a:xfrm>
            <a:off x="5477256" y="3593592"/>
            <a:ext cx="274320" cy="201168"/>
          </a:xfrm>
          <a:prstGeom prst="rect">
            <a:avLst/>
          </a:prstGeom>
          <a:solidFill>
            <a:schemeClr val="bg2"/>
          </a:solidFill>
          <a:ln/>
        </p:spPr>
        <p:txBody>
          <a:bodyPr wrap="square" lIns="0" tIns="0" rIns="0" bIns="0" rtlCol="0" anchor="ctr"/>
          <a:lstStyle/>
          <a:p>
            <a:pPr marL="0" indent="0" algn="ctr">
              <a:buNone/>
            </a:pPr>
            <a:r>
              <a:rPr lang="en-US" sz="1200" b="1" dirty="0">
                <a:solidFill>
                  <a:schemeClr val="accent4"/>
                </a:solidFill>
              </a:rPr>
              <a:t>3</a:t>
            </a:r>
            <a:endParaRPr lang="en-US" sz="1200" dirty="0"/>
          </a:p>
        </p:txBody>
      </p:sp>
      <p:sp>
        <p:nvSpPr>
          <p:cNvPr id="50" name="Shape 48"/>
          <p:cNvSpPr/>
          <p:nvPr/>
        </p:nvSpPr>
        <p:spPr>
          <a:xfrm>
            <a:off x="2377440" y="4160520"/>
            <a:ext cx="237744" cy="237744"/>
          </a:xfrm>
          <a:prstGeom prst="rect">
            <a:avLst/>
          </a:prstGeom>
          <a:solidFill>
            <a:schemeClr val="bg1"/>
          </a:solidFill>
          <a:ln w="15875">
            <a:solidFill>
              <a:schemeClr val="tx1"/>
            </a:solidFill>
            <a:prstDash val="solid"/>
          </a:ln>
        </p:spPr>
        <p:txBody>
          <a:bodyPr/>
          <a:lstStyle/>
          <a:p>
            <a:endParaRPr lang="en-US"/>
          </a:p>
        </p:txBody>
      </p:sp>
      <p:sp>
        <p:nvSpPr>
          <p:cNvPr id="51" name="Shape 49"/>
          <p:cNvSpPr/>
          <p:nvPr/>
        </p:nvSpPr>
        <p:spPr>
          <a:xfrm>
            <a:off x="2944368" y="4160520"/>
            <a:ext cx="237744" cy="237744"/>
          </a:xfrm>
          <a:prstGeom prst="rect">
            <a:avLst/>
          </a:prstGeom>
          <a:solidFill>
            <a:schemeClr val="bg1"/>
          </a:solidFill>
          <a:ln w="15875">
            <a:solidFill>
              <a:schemeClr val="tx1"/>
            </a:solidFill>
            <a:prstDash val="solid"/>
          </a:ln>
        </p:spPr>
        <p:txBody>
          <a:bodyPr/>
          <a:lstStyle/>
          <a:p>
            <a:endParaRPr lang="en-US"/>
          </a:p>
        </p:txBody>
      </p:sp>
      <p:sp>
        <p:nvSpPr>
          <p:cNvPr id="52" name="Shape 50"/>
          <p:cNvSpPr/>
          <p:nvPr/>
        </p:nvSpPr>
        <p:spPr>
          <a:xfrm>
            <a:off x="3511296" y="4160520"/>
            <a:ext cx="237744" cy="237744"/>
          </a:xfrm>
          <a:prstGeom prst="rect">
            <a:avLst/>
          </a:prstGeom>
          <a:solidFill>
            <a:schemeClr val="tx1"/>
          </a:solidFill>
          <a:ln w="15875">
            <a:solidFill>
              <a:schemeClr val="tx1"/>
            </a:solidFill>
            <a:prstDash val="solid"/>
          </a:ln>
        </p:spPr>
        <p:txBody>
          <a:bodyPr/>
          <a:lstStyle/>
          <a:p>
            <a:endParaRPr lang="en-US"/>
          </a:p>
        </p:txBody>
      </p:sp>
      <p:sp>
        <p:nvSpPr>
          <p:cNvPr id="53" name="Shape 51"/>
          <p:cNvSpPr/>
          <p:nvPr/>
        </p:nvSpPr>
        <p:spPr>
          <a:xfrm>
            <a:off x="4078224" y="4160520"/>
            <a:ext cx="237744" cy="237744"/>
          </a:xfrm>
          <a:prstGeom prst="rect">
            <a:avLst/>
          </a:prstGeom>
          <a:solidFill>
            <a:schemeClr val="tx1"/>
          </a:solidFill>
          <a:ln w="15875">
            <a:solidFill>
              <a:schemeClr val="tx1"/>
            </a:solidFill>
            <a:prstDash val="solid"/>
          </a:ln>
        </p:spPr>
        <p:txBody>
          <a:bodyPr/>
          <a:lstStyle/>
          <a:p>
            <a:endParaRPr lang="en-US"/>
          </a:p>
        </p:txBody>
      </p:sp>
      <p:sp>
        <p:nvSpPr>
          <p:cNvPr id="54" name="Shape 52"/>
          <p:cNvSpPr/>
          <p:nvPr/>
        </p:nvSpPr>
        <p:spPr>
          <a:xfrm>
            <a:off x="4645152" y="4160520"/>
            <a:ext cx="237744" cy="237744"/>
          </a:xfrm>
          <a:prstGeom prst="rect">
            <a:avLst/>
          </a:prstGeom>
          <a:solidFill>
            <a:schemeClr val="bg1"/>
          </a:solidFill>
          <a:ln w="15875">
            <a:solidFill>
              <a:schemeClr val="tx1"/>
            </a:solidFill>
            <a:prstDash val="solid"/>
          </a:ln>
        </p:spPr>
        <p:txBody>
          <a:bodyPr/>
          <a:lstStyle/>
          <a:p>
            <a:endParaRPr lang="en-US"/>
          </a:p>
        </p:txBody>
      </p:sp>
      <p:sp>
        <p:nvSpPr>
          <p:cNvPr id="55" name="Shape 53"/>
          <p:cNvSpPr/>
          <p:nvPr/>
        </p:nvSpPr>
        <p:spPr>
          <a:xfrm>
            <a:off x="5212080" y="4160520"/>
            <a:ext cx="237744" cy="237744"/>
          </a:xfrm>
          <a:prstGeom prst="rect">
            <a:avLst/>
          </a:prstGeom>
          <a:solidFill>
            <a:schemeClr val="bg1"/>
          </a:solidFill>
          <a:ln w="15875">
            <a:solidFill>
              <a:schemeClr val="tx1"/>
            </a:solidFill>
            <a:prstDash val="solid"/>
          </a:ln>
        </p:spPr>
        <p:txBody>
          <a:bodyPr/>
          <a:lstStyle/>
          <a:p>
            <a:endParaRPr lang="en-US"/>
          </a:p>
        </p:txBody>
      </p:sp>
      <p:sp>
        <p:nvSpPr>
          <p:cNvPr id="56" name="Shape 54"/>
          <p:cNvSpPr/>
          <p:nvPr/>
        </p:nvSpPr>
        <p:spPr>
          <a:xfrm>
            <a:off x="5779008" y="4160520"/>
            <a:ext cx="237744" cy="237744"/>
          </a:xfrm>
          <a:prstGeom prst="rect">
            <a:avLst/>
          </a:prstGeom>
          <a:solidFill>
            <a:schemeClr val="tx1"/>
          </a:solidFill>
          <a:ln w="15875">
            <a:solidFill>
              <a:schemeClr val="tx1"/>
            </a:solidFill>
            <a:prstDash val="solid"/>
          </a:ln>
        </p:spPr>
        <p:txBody>
          <a:bodyPr/>
          <a:lstStyle/>
          <a:p>
            <a:endParaRPr lang="en-US"/>
          </a:p>
        </p:txBody>
      </p:sp>
      <p:sp>
        <p:nvSpPr>
          <p:cNvPr id="57" name="Shape 55"/>
          <p:cNvSpPr/>
          <p:nvPr/>
        </p:nvSpPr>
        <p:spPr>
          <a:xfrm>
            <a:off x="6345936" y="4160520"/>
            <a:ext cx="237744" cy="237744"/>
          </a:xfrm>
          <a:prstGeom prst="rect">
            <a:avLst/>
          </a:prstGeom>
          <a:solidFill>
            <a:schemeClr val="tx1"/>
          </a:solidFill>
          <a:ln w="15875">
            <a:solidFill>
              <a:schemeClr val="tx1"/>
            </a:solidFill>
            <a:prstDash val="solid"/>
          </a:ln>
        </p:spPr>
        <p:txBody>
          <a:bodyPr/>
          <a:lstStyle/>
          <a:p>
            <a:endParaRPr lang="en-US"/>
          </a:p>
        </p:txBody>
      </p:sp>
      <p:sp>
        <p:nvSpPr>
          <p:cNvPr id="58" name="Text 56"/>
          <p:cNvSpPr txBox="1"/>
          <p:nvPr/>
        </p:nvSpPr>
        <p:spPr>
          <a:xfrm>
            <a:off x="6995160" y="3977640"/>
            <a:ext cx="1554480" cy="365760"/>
          </a:xfrm>
          <a:prstGeom prst="rect">
            <a:avLst/>
          </a:prstGeom>
          <a:noFill/>
          <a:ln/>
        </p:spPr>
        <p:txBody>
          <a:bodyPr wrap="square" lIns="0" tIns="0" rIns="0" bIns="0" rtlCol="0" anchor="t"/>
          <a:lstStyle/>
          <a:p>
            <a:pPr marL="0" indent="0" algn="r">
              <a:buNone/>
            </a:pPr>
            <a:r>
              <a:rPr lang="en-US" sz="1600" b="1" dirty="0">
                <a:solidFill>
                  <a:schemeClr val="accent4"/>
                </a:solidFill>
              </a:rPr>
              <a:t>1 + 3 + 1 + 3 = 8</a:t>
            </a:r>
            <a:endParaRPr lang="en-US" sz="1600" dirty="0"/>
          </a:p>
        </p:txBody>
      </p:sp>
      <p:sp>
        <p:nvSpPr>
          <p:cNvPr id="59"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80</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An optimal method: a stack</a:t>
            </a:r>
            <a:endParaRPr lang="en-US" sz="2800" dirty="0"/>
          </a:p>
        </p:txBody>
      </p:sp>
      <p:sp>
        <p:nvSpPr>
          <p:cNvPr id="5" name="Shape 3"/>
          <p:cNvSpPr/>
          <p:nvPr/>
        </p:nvSpPr>
        <p:spPr>
          <a:xfrm>
            <a:off x="457200" y="1097280"/>
            <a:ext cx="3291840" cy="2606040"/>
          </a:xfrm>
          <a:prstGeom prst="roundRect">
            <a:avLst>
              <a:gd name="adj" fmla="val 2105"/>
            </a:avLst>
          </a:prstGeom>
          <a:solidFill>
            <a:schemeClr val="tx2"/>
          </a:solidFill>
          <a:ln w="12700">
            <a:solidFill>
              <a:schemeClr val="tx2"/>
            </a:solidFill>
            <a:prstDash val="solid"/>
          </a:ln>
        </p:spPr>
        <p:txBody>
          <a:bodyPr/>
          <a:lstStyle/>
          <a:p>
            <a:endParaRPr lang="en-US"/>
          </a:p>
        </p:txBody>
      </p:sp>
      <p:sp>
        <p:nvSpPr>
          <p:cNvPr id="6" name="Text 4"/>
          <p:cNvSpPr txBox="1"/>
          <p:nvPr/>
        </p:nvSpPr>
        <p:spPr>
          <a:xfrm>
            <a:off x="640080" y="1234440"/>
            <a:ext cx="2926080" cy="2331720"/>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stack ← empty</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for each point p in order:</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if top(stack) has the</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opposite colour:</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q ← pop(stack)</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connect q – p</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else:</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push(stack, p)</a:t>
            </a:r>
            <a:endParaRPr lang="en-US" sz="1300" dirty="0"/>
          </a:p>
        </p:txBody>
      </p:sp>
      <p:sp>
        <p:nvSpPr>
          <p:cNvPr id="7" name="Text 5"/>
          <p:cNvSpPr txBox="1"/>
          <p:nvPr/>
        </p:nvSpPr>
        <p:spPr>
          <a:xfrm>
            <a:off x="457200" y="3840480"/>
            <a:ext cx="3291840" cy="685800"/>
          </a:xfrm>
          <a:prstGeom prst="rect">
            <a:avLst/>
          </a:prstGeom>
          <a:noFill/>
          <a:ln/>
        </p:spPr>
        <p:txBody>
          <a:bodyPr wrap="square" lIns="0" tIns="0" rIns="0" bIns="0" rtlCol="0" anchor="t"/>
          <a:lstStyle/>
          <a:p>
            <a:pPr marL="0" indent="0">
              <a:buNone/>
            </a:pPr>
            <a:r>
              <a:rPr lang="en-US" sz="1400" dirty="0">
                <a:solidFill>
                  <a:schemeClr val="tx2"/>
                </a:solidFill>
              </a:rPr>
              <a:t>O(n) time — one pass, each point pushed and popped at most once.</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023360" y="1097280"/>
          <a:ext cx="4663440" cy="3291840"/>
        </p:xfrm>
        <a:graphic>
          <a:graphicData uri="http://schemas.openxmlformats.org/drawingml/2006/table">
            <a:tbl>
              <a:tblPr/>
              <a:tblGrid>
                <a:gridCol w="6858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29184">
                <a:tc>
                  <a:txBody>
                    <a:bodyPr/>
                    <a:lstStyle/>
                    <a:p>
                      <a:pPr marL="0" indent="0" algn="ctr">
                        <a:buNone/>
                      </a:pPr>
                      <a:r>
                        <a:rPr lang="en-US" sz="1300" b="1" dirty="0">
                          <a:solidFill>
                            <a:schemeClr val="bg1"/>
                          </a:solidFill>
                        </a:rPr>
                        <a:t>Point</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Colour</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Action</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Stack after</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Wire</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29184">
                <a:tc>
                  <a:txBody>
                    <a:bodyPr/>
                    <a:lstStyle/>
                    <a:p>
                      <a:pPr marL="0" indent="0" algn="ctr">
                        <a:buNone/>
                      </a:pPr>
                      <a:r>
                        <a:rPr lang="en-US" sz="1300" dirty="0">
                          <a:solidFill>
                            <a:schemeClr val="tx1"/>
                          </a:solidFill>
                        </a:rPr>
                        <a:t>1</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push</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1W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29184">
                <a:tc>
                  <a:txBody>
                    <a:bodyPr/>
                    <a:lstStyle/>
                    <a:p>
                      <a:pPr marL="0" indent="0" algn="ctr">
                        <a:buNone/>
                      </a:pPr>
                      <a:r>
                        <a:rPr lang="en-US" sz="1300" dirty="0">
                          <a:solidFill>
                            <a:schemeClr val="tx1"/>
                          </a:solidFill>
                        </a:rPr>
                        <a:t>2</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push</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1W 2W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29184">
                <a:tc>
                  <a:txBody>
                    <a:bodyPr/>
                    <a:lstStyle/>
                    <a:p>
                      <a:pPr marL="0" indent="0" algn="ctr">
                        <a:buNone/>
                      </a:pPr>
                      <a:r>
                        <a:rPr lang="en-US" sz="1300" dirty="0">
                          <a:solidFill>
                            <a:schemeClr val="tx1"/>
                          </a:solidFill>
                        </a:rPr>
                        <a:t>3</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B</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pop 2W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1W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4"/>
                          </a:solidFill>
                        </a:rPr>
                        <a:t>2–3 : 1</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29184">
                <a:tc>
                  <a:txBody>
                    <a:bodyPr/>
                    <a:lstStyle/>
                    <a:p>
                      <a:pPr marL="0" indent="0" algn="ctr">
                        <a:buNone/>
                      </a:pPr>
                      <a:r>
                        <a:rPr lang="en-US" sz="1300" dirty="0">
                          <a:solidFill>
                            <a:schemeClr val="tx1"/>
                          </a:solidFill>
                        </a:rPr>
                        <a:t>4</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B</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pop 1W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empty</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4"/>
                          </a:solidFill>
                        </a:rPr>
                        <a:t>1–4 : 3</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29184">
                <a:tc>
                  <a:txBody>
                    <a:bodyPr/>
                    <a:lstStyle/>
                    <a:p>
                      <a:pPr marL="0" indent="0" algn="ctr">
                        <a:buNone/>
                      </a:pPr>
                      <a:r>
                        <a:rPr lang="en-US" sz="1300" dirty="0">
                          <a:solidFill>
                            <a:schemeClr val="tx1"/>
                          </a:solidFill>
                        </a:rPr>
                        <a:t>5</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push</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5W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29184">
                <a:tc>
                  <a:txBody>
                    <a:bodyPr/>
                    <a:lstStyle/>
                    <a:p>
                      <a:pPr marL="0" indent="0" algn="ctr">
                        <a:buNone/>
                      </a:pPr>
                      <a:r>
                        <a:rPr lang="en-US" sz="1300" dirty="0">
                          <a:solidFill>
                            <a:schemeClr val="tx1"/>
                          </a:solidFill>
                        </a:rPr>
                        <a:t>6</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push</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5W 6W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29184">
                <a:tc>
                  <a:txBody>
                    <a:bodyPr/>
                    <a:lstStyle/>
                    <a:p>
                      <a:pPr marL="0" indent="0" algn="ctr">
                        <a:buNone/>
                      </a:pPr>
                      <a:r>
                        <a:rPr lang="en-US" sz="1300" dirty="0">
                          <a:solidFill>
                            <a:schemeClr val="tx1"/>
                          </a:solidFill>
                        </a:rPr>
                        <a:t>7</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B</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pop 6W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5W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4"/>
                          </a:solidFill>
                        </a:rPr>
                        <a:t>6–7 : 1</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329184">
                <a:tc>
                  <a:txBody>
                    <a:bodyPr/>
                    <a:lstStyle/>
                    <a:p>
                      <a:pPr marL="0" indent="0" algn="ctr">
                        <a:buNone/>
                      </a:pPr>
                      <a:r>
                        <a:rPr lang="en-US" sz="1300" dirty="0">
                          <a:solidFill>
                            <a:schemeClr val="tx1"/>
                          </a:solidFill>
                        </a:rPr>
                        <a:t>8</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B</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pop 5W</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empty</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4"/>
                          </a:solidFill>
                        </a:rPr>
                        <a:t>5–8 : 3</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29184">
                <a:tc>
                  <a:txBody>
                    <a:bodyPr/>
                    <a:lstStyle/>
                    <a:p>
                      <a:pPr marL="0" indent="0" algn="ctr">
                        <a:buNone/>
                      </a:pP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lgn="ctr">
                        <a:buNone/>
                      </a:pP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lgn="ctr">
                        <a:buNone/>
                      </a:pP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tx1"/>
                          </a:solidFill>
                        </a:rPr>
                        <a:t>Total</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tc>
                  <a:txBody>
                    <a:bodyPr/>
                    <a:lstStyle/>
                    <a:p>
                      <a:pPr marL="0" indent="0" algn="ctr">
                        <a:buNone/>
                      </a:pPr>
                      <a:r>
                        <a:rPr lang="en-US" sz="1300" b="1" dirty="0">
                          <a:solidFill>
                            <a:schemeClr val="accent4"/>
                          </a:solidFill>
                        </a:rPr>
                        <a:t>8</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81</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Knapsack: greedy by value per weight</a:t>
            </a:r>
            <a:endParaRPr lang="en-US" sz="2800" dirty="0"/>
          </a:p>
        </p:txBody>
      </p:sp>
      <p:sp>
        <p:nvSpPr>
          <p:cNvPr id="5" name="Text 3"/>
          <p:cNvSpPr txBox="1"/>
          <p:nvPr/>
        </p:nvSpPr>
        <p:spPr>
          <a:xfrm>
            <a:off x="457200" y="1097280"/>
            <a:ext cx="8229600" cy="594360"/>
          </a:xfrm>
          <a:prstGeom prst="rect">
            <a:avLst/>
          </a:prstGeom>
          <a:noFill/>
          <a:ln/>
        </p:spPr>
        <p:txBody>
          <a:bodyPr wrap="square" lIns="0" tIns="0" rIns="0" bIns="0" rtlCol="0" anchor="t"/>
          <a:lstStyle/>
          <a:p>
            <a:pPr marL="0" indent="0">
              <a:buNone/>
            </a:pPr>
            <a:r>
              <a:rPr lang="en-US" sz="1500" dirty="0">
                <a:solidFill>
                  <a:schemeClr val="tx1"/>
                </a:solidFill>
              </a:rPr>
              <a:t>Pick items with total weight ≤ W to maximise total value. Greedy: sort by benefit v/w, take items in that order while they fit.</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4206240" cy="1645920"/>
        </p:xfrm>
        <a:graphic>
          <a:graphicData uri="http://schemas.openxmlformats.org/drawingml/2006/table">
            <a:tbl>
              <a:tblPr/>
              <a:tblGrid>
                <a:gridCol w="8229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411480">
                <a:tc>
                  <a:txBody>
                    <a:bodyPr/>
                    <a:lstStyle/>
                    <a:p>
                      <a:pPr marL="0" indent="0" algn="ctr">
                        <a:buNone/>
                      </a:pPr>
                      <a:r>
                        <a:rPr lang="en-US" sz="1200" b="1" dirty="0">
                          <a:solidFill>
                            <a:schemeClr val="bg1"/>
                          </a:solidFill>
                        </a:rPr>
                        <a:t>Item</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rPr>
                        <a:t>Value v</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rPr>
                        <a:t>Weight w</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rPr>
                        <a:t>Benefit v/w</a:t>
                      </a:r>
                      <a:endParaRPr lang="en-US" sz="12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lgn="ctr">
                        <a:buNone/>
                      </a:pPr>
                      <a:r>
                        <a:rPr lang="en-US" sz="1500" b="1" dirty="0">
                          <a:solidFill>
                            <a:schemeClr val="tx1"/>
                          </a:solidFill>
                        </a:rPr>
                        <a:t>i1</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6</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5</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1.20</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11480">
                <a:tc>
                  <a:txBody>
                    <a:bodyPr/>
                    <a:lstStyle/>
                    <a:p>
                      <a:pPr marL="0" indent="0" algn="ctr">
                        <a:buNone/>
                      </a:pPr>
                      <a:r>
                        <a:rPr lang="en-US" sz="1500" b="1" dirty="0">
                          <a:solidFill>
                            <a:schemeClr val="tx1"/>
                          </a:solidFill>
                        </a:rPr>
                        <a:t>i2</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4</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4</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1.00</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lgn="ctr">
                        <a:buNone/>
                      </a:pPr>
                      <a:r>
                        <a:rPr lang="en-US" sz="1500" b="1" dirty="0">
                          <a:solidFill>
                            <a:schemeClr val="tx1"/>
                          </a:solidFill>
                        </a:rPr>
                        <a:t>i3</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3</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rPr>
                        <a:t>4</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0.75</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7" name="Text 4"/>
          <p:cNvSpPr txBox="1"/>
          <p:nvPr/>
        </p:nvSpPr>
        <p:spPr>
          <a:xfrm>
            <a:off x="457200" y="3840480"/>
            <a:ext cx="4206240" cy="365760"/>
          </a:xfrm>
          <a:prstGeom prst="rect">
            <a:avLst/>
          </a:prstGeom>
          <a:noFill/>
          <a:ln/>
        </p:spPr>
        <p:txBody>
          <a:bodyPr wrap="square" lIns="0" tIns="0" rIns="0" bIns="0" rtlCol="0" anchor="t"/>
          <a:lstStyle/>
          <a:p>
            <a:pPr marL="0" indent="0">
              <a:buNone/>
            </a:pPr>
            <a:r>
              <a:rPr lang="en-US" sz="1800" b="1" dirty="0">
                <a:solidFill>
                  <a:schemeClr val="tx2"/>
                </a:solidFill>
              </a:rPr>
              <a:t>Capacity W = 8</a:t>
            </a:r>
            <a:endParaRPr lang="en-US" sz="1800" dirty="0"/>
          </a:p>
        </p:txBody>
      </p:sp>
      <p:sp>
        <p:nvSpPr>
          <p:cNvPr id="8" name="Shape 5"/>
          <p:cNvSpPr/>
          <p:nvPr/>
        </p:nvSpPr>
        <p:spPr>
          <a:xfrm>
            <a:off x="4937760" y="1920240"/>
            <a:ext cx="3749040" cy="2606040"/>
          </a:xfrm>
          <a:prstGeom prst="roundRect">
            <a:avLst>
              <a:gd name="adj" fmla="val 2105"/>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5120640" y="2057400"/>
            <a:ext cx="3383280" cy="2331720"/>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sort items by v/w, descending</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k ← 1; weight ← 0; val ← 0</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while k ≤ n and</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weight + w(A[k]) ≤ W:</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take A[k]</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val ← val + v(A[k])</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weight ← weight + w(A[k])</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k ← k + 1</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81</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Greedy gets 6, the optimum is 7</a:t>
            </a:r>
            <a:endParaRPr lang="en-US" sz="2800" dirty="0"/>
          </a:p>
        </p:txBody>
      </p:sp>
      <p:sp>
        <p:nvSpPr>
          <p:cNvPr id="5" name="Text 3"/>
          <p:cNvSpPr txBox="1"/>
          <p:nvPr/>
        </p:nvSpPr>
        <p:spPr>
          <a:xfrm>
            <a:off x="457200" y="1728216"/>
            <a:ext cx="1554480" cy="548640"/>
          </a:xfrm>
          <a:prstGeom prst="rect">
            <a:avLst/>
          </a:prstGeom>
          <a:noFill/>
          <a:ln/>
        </p:spPr>
        <p:txBody>
          <a:bodyPr wrap="square" lIns="0" tIns="0" rIns="0" bIns="0" rtlCol="0" anchor="ctr"/>
          <a:lstStyle/>
          <a:p>
            <a:pPr marL="0" indent="0">
              <a:buNone/>
            </a:pPr>
            <a:r>
              <a:rPr lang="en-US" sz="1600" b="1" dirty="0">
                <a:solidFill>
                  <a:schemeClr val="accent3"/>
                </a:solidFill>
              </a:rPr>
              <a:t>Greedy</a:t>
            </a:r>
            <a:endParaRPr lang="en-US" sz="1600" dirty="0"/>
          </a:p>
        </p:txBody>
      </p:sp>
      <p:sp>
        <p:nvSpPr>
          <p:cNvPr id="6" name="Shape 4"/>
          <p:cNvSpPr/>
          <p:nvPr/>
        </p:nvSpPr>
        <p:spPr>
          <a:xfrm>
            <a:off x="2103120" y="1728216"/>
            <a:ext cx="548640" cy="548640"/>
          </a:xfrm>
          <a:prstGeom prst="rect">
            <a:avLst/>
          </a:prstGeom>
          <a:solidFill>
            <a:schemeClr val="bg1"/>
          </a:solidFill>
          <a:ln w="12700">
            <a:solidFill>
              <a:schemeClr val="accent6"/>
            </a:solidFill>
            <a:prstDash val="dash"/>
          </a:ln>
        </p:spPr>
        <p:txBody>
          <a:bodyPr/>
          <a:lstStyle/>
          <a:p>
            <a:endParaRPr lang="en-US"/>
          </a:p>
        </p:txBody>
      </p:sp>
      <p:sp>
        <p:nvSpPr>
          <p:cNvPr id="7" name="Shape 5"/>
          <p:cNvSpPr/>
          <p:nvPr/>
        </p:nvSpPr>
        <p:spPr>
          <a:xfrm>
            <a:off x="2651760" y="1728216"/>
            <a:ext cx="548640" cy="548640"/>
          </a:xfrm>
          <a:prstGeom prst="rect">
            <a:avLst/>
          </a:prstGeom>
          <a:solidFill>
            <a:schemeClr val="bg1"/>
          </a:solidFill>
          <a:ln w="12700">
            <a:solidFill>
              <a:schemeClr val="accent6"/>
            </a:solidFill>
            <a:prstDash val="dash"/>
          </a:ln>
        </p:spPr>
        <p:txBody>
          <a:bodyPr/>
          <a:lstStyle/>
          <a:p>
            <a:endParaRPr lang="en-US"/>
          </a:p>
        </p:txBody>
      </p:sp>
      <p:sp>
        <p:nvSpPr>
          <p:cNvPr id="8" name="Shape 6"/>
          <p:cNvSpPr/>
          <p:nvPr/>
        </p:nvSpPr>
        <p:spPr>
          <a:xfrm>
            <a:off x="3200400" y="1728216"/>
            <a:ext cx="548640" cy="548640"/>
          </a:xfrm>
          <a:prstGeom prst="rect">
            <a:avLst/>
          </a:prstGeom>
          <a:solidFill>
            <a:schemeClr val="bg1"/>
          </a:solidFill>
          <a:ln w="12700">
            <a:solidFill>
              <a:schemeClr val="accent6"/>
            </a:solidFill>
            <a:prstDash val="dash"/>
          </a:ln>
        </p:spPr>
        <p:txBody>
          <a:bodyPr/>
          <a:lstStyle/>
          <a:p>
            <a:endParaRPr lang="en-US"/>
          </a:p>
        </p:txBody>
      </p:sp>
      <p:sp>
        <p:nvSpPr>
          <p:cNvPr id="9" name="Shape 7"/>
          <p:cNvSpPr/>
          <p:nvPr/>
        </p:nvSpPr>
        <p:spPr>
          <a:xfrm>
            <a:off x="3749040" y="1728216"/>
            <a:ext cx="548640" cy="548640"/>
          </a:xfrm>
          <a:prstGeom prst="rect">
            <a:avLst/>
          </a:prstGeom>
          <a:solidFill>
            <a:schemeClr val="bg1"/>
          </a:solidFill>
          <a:ln w="12700">
            <a:solidFill>
              <a:schemeClr val="accent6"/>
            </a:solidFill>
            <a:prstDash val="dash"/>
          </a:ln>
        </p:spPr>
        <p:txBody>
          <a:bodyPr/>
          <a:lstStyle/>
          <a:p>
            <a:endParaRPr lang="en-US"/>
          </a:p>
        </p:txBody>
      </p:sp>
      <p:sp>
        <p:nvSpPr>
          <p:cNvPr id="10" name="Shape 8"/>
          <p:cNvSpPr/>
          <p:nvPr/>
        </p:nvSpPr>
        <p:spPr>
          <a:xfrm>
            <a:off x="4297680" y="1728216"/>
            <a:ext cx="548640" cy="548640"/>
          </a:xfrm>
          <a:prstGeom prst="rect">
            <a:avLst/>
          </a:prstGeom>
          <a:solidFill>
            <a:schemeClr val="bg1"/>
          </a:solidFill>
          <a:ln w="12700">
            <a:solidFill>
              <a:schemeClr val="accent6"/>
            </a:solidFill>
            <a:prstDash val="dash"/>
          </a:ln>
        </p:spPr>
        <p:txBody>
          <a:bodyPr/>
          <a:lstStyle/>
          <a:p>
            <a:endParaRPr lang="en-US"/>
          </a:p>
        </p:txBody>
      </p:sp>
      <p:sp>
        <p:nvSpPr>
          <p:cNvPr id="11" name="Shape 9"/>
          <p:cNvSpPr/>
          <p:nvPr/>
        </p:nvSpPr>
        <p:spPr>
          <a:xfrm>
            <a:off x="4846320" y="1728216"/>
            <a:ext cx="548640" cy="548640"/>
          </a:xfrm>
          <a:prstGeom prst="rect">
            <a:avLst/>
          </a:prstGeom>
          <a:solidFill>
            <a:schemeClr val="bg1"/>
          </a:solidFill>
          <a:ln w="12700">
            <a:solidFill>
              <a:schemeClr val="accent6"/>
            </a:solidFill>
            <a:prstDash val="dash"/>
          </a:ln>
        </p:spPr>
        <p:txBody>
          <a:bodyPr/>
          <a:lstStyle/>
          <a:p>
            <a:endParaRPr lang="en-US"/>
          </a:p>
        </p:txBody>
      </p:sp>
      <p:sp>
        <p:nvSpPr>
          <p:cNvPr id="12" name="Shape 10"/>
          <p:cNvSpPr/>
          <p:nvPr/>
        </p:nvSpPr>
        <p:spPr>
          <a:xfrm>
            <a:off x="5394960" y="1728216"/>
            <a:ext cx="548640" cy="548640"/>
          </a:xfrm>
          <a:prstGeom prst="rect">
            <a:avLst/>
          </a:prstGeom>
          <a:solidFill>
            <a:schemeClr val="bg1"/>
          </a:solidFill>
          <a:ln w="12700">
            <a:solidFill>
              <a:schemeClr val="accent6"/>
            </a:solidFill>
            <a:prstDash val="dash"/>
          </a:ln>
        </p:spPr>
        <p:txBody>
          <a:bodyPr/>
          <a:lstStyle/>
          <a:p>
            <a:endParaRPr lang="en-US"/>
          </a:p>
        </p:txBody>
      </p:sp>
      <p:sp>
        <p:nvSpPr>
          <p:cNvPr id="13" name="Shape 11"/>
          <p:cNvSpPr/>
          <p:nvPr/>
        </p:nvSpPr>
        <p:spPr>
          <a:xfrm>
            <a:off x="5943600" y="1728216"/>
            <a:ext cx="548640" cy="548640"/>
          </a:xfrm>
          <a:prstGeom prst="rect">
            <a:avLst/>
          </a:prstGeom>
          <a:solidFill>
            <a:schemeClr val="bg1"/>
          </a:solidFill>
          <a:ln w="12700">
            <a:solidFill>
              <a:schemeClr val="accent6"/>
            </a:solidFill>
            <a:prstDash val="dash"/>
          </a:ln>
        </p:spPr>
        <p:txBody>
          <a:bodyPr/>
          <a:lstStyle/>
          <a:p>
            <a:endParaRPr lang="en-US"/>
          </a:p>
        </p:txBody>
      </p:sp>
      <p:sp>
        <p:nvSpPr>
          <p:cNvPr id="14" name="Shape 12"/>
          <p:cNvSpPr/>
          <p:nvPr/>
        </p:nvSpPr>
        <p:spPr>
          <a:xfrm>
            <a:off x="2103120" y="1728216"/>
            <a:ext cx="2743200" cy="548640"/>
          </a:xfrm>
          <a:prstGeom prst="rect">
            <a:avLst/>
          </a:prstGeom>
          <a:solidFill>
            <a:schemeClr val="accent1"/>
          </a:solidFill>
          <a:ln w="25400">
            <a:solidFill>
              <a:schemeClr val="bg1"/>
            </a:solidFill>
            <a:prstDash val="solid"/>
          </a:ln>
        </p:spPr>
        <p:txBody>
          <a:bodyPr/>
          <a:lstStyle/>
          <a:p>
            <a:endParaRPr lang="en-US"/>
          </a:p>
        </p:txBody>
      </p:sp>
      <p:sp>
        <p:nvSpPr>
          <p:cNvPr id="15" name="Text 13"/>
          <p:cNvSpPr txBox="1"/>
          <p:nvPr/>
        </p:nvSpPr>
        <p:spPr>
          <a:xfrm>
            <a:off x="2103120" y="1728216"/>
            <a:ext cx="2743200" cy="548640"/>
          </a:xfrm>
          <a:prstGeom prst="rect">
            <a:avLst/>
          </a:prstGeom>
          <a:noFill/>
          <a:ln/>
        </p:spPr>
        <p:txBody>
          <a:bodyPr wrap="square" lIns="0" tIns="0" rIns="0" bIns="0" rtlCol="0" anchor="ctr"/>
          <a:lstStyle/>
          <a:p>
            <a:pPr marL="0" indent="0" algn="ctr">
              <a:buNone/>
            </a:pPr>
            <a:r>
              <a:rPr lang="en-US" sz="1400" b="1" dirty="0">
                <a:solidFill>
                  <a:schemeClr val="bg1"/>
                </a:solidFill>
              </a:rPr>
              <a:t>i1  (v=6, w=5)</a:t>
            </a:r>
            <a:endParaRPr lang="en-US" sz="1400" dirty="0"/>
          </a:p>
        </p:txBody>
      </p:sp>
      <p:sp>
        <p:nvSpPr>
          <p:cNvPr id="16" name="Text 14"/>
          <p:cNvSpPr txBox="1"/>
          <p:nvPr/>
        </p:nvSpPr>
        <p:spPr>
          <a:xfrm>
            <a:off x="6720840" y="1728216"/>
            <a:ext cx="1920240" cy="548640"/>
          </a:xfrm>
          <a:prstGeom prst="rect">
            <a:avLst/>
          </a:prstGeom>
          <a:noFill/>
          <a:ln/>
        </p:spPr>
        <p:txBody>
          <a:bodyPr wrap="square" lIns="0" tIns="0" rIns="0" bIns="0" rtlCol="0" anchor="ctr"/>
          <a:lstStyle/>
          <a:p>
            <a:pPr marL="0" indent="0">
              <a:buNone/>
            </a:pPr>
            <a:r>
              <a:rPr lang="en-US" sz="2200" b="1" dirty="0">
                <a:solidFill>
                  <a:schemeClr val="accent3"/>
                </a:solidFill>
              </a:rPr>
              <a:t>value 6</a:t>
            </a:r>
            <a:endParaRPr lang="en-US" sz="2200" dirty="0"/>
          </a:p>
        </p:txBody>
      </p:sp>
      <p:sp>
        <p:nvSpPr>
          <p:cNvPr id="17" name="Text 15"/>
          <p:cNvSpPr txBox="1"/>
          <p:nvPr/>
        </p:nvSpPr>
        <p:spPr>
          <a:xfrm>
            <a:off x="2103120" y="2322576"/>
            <a:ext cx="4389120" cy="274320"/>
          </a:xfrm>
          <a:prstGeom prst="rect">
            <a:avLst/>
          </a:prstGeom>
          <a:noFill/>
          <a:ln/>
        </p:spPr>
        <p:txBody>
          <a:bodyPr wrap="square" lIns="0" tIns="0" rIns="0" bIns="0" rtlCol="0" anchor="t"/>
          <a:lstStyle/>
          <a:p>
            <a:pPr marL="0" indent="0">
              <a:buNone/>
            </a:pPr>
            <a:r>
              <a:rPr lang="en-US" sz="1300" dirty="0">
                <a:solidFill>
                  <a:schemeClr val="accent3"/>
                </a:solidFill>
              </a:rPr>
              <a:t>3 units left, but i2 needs 4: stop.</a:t>
            </a:r>
            <a:endParaRPr lang="en-US" sz="1300" dirty="0"/>
          </a:p>
        </p:txBody>
      </p:sp>
      <p:sp>
        <p:nvSpPr>
          <p:cNvPr id="18" name="Text 16"/>
          <p:cNvSpPr txBox="1"/>
          <p:nvPr/>
        </p:nvSpPr>
        <p:spPr>
          <a:xfrm>
            <a:off x="457200" y="2825496"/>
            <a:ext cx="1554480" cy="548640"/>
          </a:xfrm>
          <a:prstGeom prst="rect">
            <a:avLst/>
          </a:prstGeom>
          <a:noFill/>
          <a:ln/>
        </p:spPr>
        <p:txBody>
          <a:bodyPr wrap="square" lIns="0" tIns="0" rIns="0" bIns="0" rtlCol="0" anchor="ctr"/>
          <a:lstStyle/>
          <a:p>
            <a:pPr marL="0" indent="0">
              <a:buNone/>
            </a:pPr>
            <a:r>
              <a:rPr lang="en-US" sz="1600" b="1" dirty="0">
                <a:solidFill>
                  <a:schemeClr val="accent4"/>
                </a:solidFill>
              </a:rPr>
              <a:t>Optimal</a:t>
            </a:r>
            <a:endParaRPr lang="en-US" sz="1600" dirty="0"/>
          </a:p>
        </p:txBody>
      </p:sp>
      <p:sp>
        <p:nvSpPr>
          <p:cNvPr id="19" name="Shape 17"/>
          <p:cNvSpPr/>
          <p:nvPr/>
        </p:nvSpPr>
        <p:spPr>
          <a:xfrm>
            <a:off x="2103120" y="2825496"/>
            <a:ext cx="548640" cy="548640"/>
          </a:xfrm>
          <a:prstGeom prst="rect">
            <a:avLst/>
          </a:prstGeom>
          <a:solidFill>
            <a:schemeClr val="bg1"/>
          </a:solidFill>
          <a:ln w="12700">
            <a:solidFill>
              <a:schemeClr val="accent6"/>
            </a:solidFill>
            <a:prstDash val="dash"/>
          </a:ln>
        </p:spPr>
        <p:txBody>
          <a:bodyPr/>
          <a:lstStyle/>
          <a:p>
            <a:endParaRPr lang="en-US"/>
          </a:p>
        </p:txBody>
      </p:sp>
      <p:sp>
        <p:nvSpPr>
          <p:cNvPr id="20" name="Shape 18"/>
          <p:cNvSpPr/>
          <p:nvPr/>
        </p:nvSpPr>
        <p:spPr>
          <a:xfrm>
            <a:off x="2651760" y="2825496"/>
            <a:ext cx="548640" cy="548640"/>
          </a:xfrm>
          <a:prstGeom prst="rect">
            <a:avLst/>
          </a:prstGeom>
          <a:solidFill>
            <a:schemeClr val="bg1"/>
          </a:solidFill>
          <a:ln w="12700">
            <a:solidFill>
              <a:schemeClr val="accent6"/>
            </a:solidFill>
            <a:prstDash val="dash"/>
          </a:ln>
        </p:spPr>
        <p:txBody>
          <a:bodyPr/>
          <a:lstStyle/>
          <a:p>
            <a:endParaRPr lang="en-US"/>
          </a:p>
        </p:txBody>
      </p:sp>
      <p:sp>
        <p:nvSpPr>
          <p:cNvPr id="21" name="Shape 19"/>
          <p:cNvSpPr/>
          <p:nvPr/>
        </p:nvSpPr>
        <p:spPr>
          <a:xfrm>
            <a:off x="3200400" y="2825496"/>
            <a:ext cx="548640" cy="548640"/>
          </a:xfrm>
          <a:prstGeom prst="rect">
            <a:avLst/>
          </a:prstGeom>
          <a:solidFill>
            <a:schemeClr val="bg1"/>
          </a:solidFill>
          <a:ln w="12700">
            <a:solidFill>
              <a:schemeClr val="accent6"/>
            </a:solidFill>
            <a:prstDash val="dash"/>
          </a:ln>
        </p:spPr>
        <p:txBody>
          <a:bodyPr/>
          <a:lstStyle/>
          <a:p>
            <a:endParaRPr lang="en-US"/>
          </a:p>
        </p:txBody>
      </p:sp>
      <p:sp>
        <p:nvSpPr>
          <p:cNvPr id="22" name="Shape 20"/>
          <p:cNvSpPr/>
          <p:nvPr/>
        </p:nvSpPr>
        <p:spPr>
          <a:xfrm>
            <a:off x="3749040" y="2825496"/>
            <a:ext cx="548640" cy="548640"/>
          </a:xfrm>
          <a:prstGeom prst="rect">
            <a:avLst/>
          </a:prstGeom>
          <a:solidFill>
            <a:schemeClr val="bg1"/>
          </a:solidFill>
          <a:ln w="12700">
            <a:solidFill>
              <a:schemeClr val="accent6"/>
            </a:solidFill>
            <a:prstDash val="dash"/>
          </a:ln>
        </p:spPr>
        <p:txBody>
          <a:bodyPr/>
          <a:lstStyle/>
          <a:p>
            <a:endParaRPr lang="en-US"/>
          </a:p>
        </p:txBody>
      </p:sp>
      <p:sp>
        <p:nvSpPr>
          <p:cNvPr id="23" name="Shape 21"/>
          <p:cNvSpPr/>
          <p:nvPr/>
        </p:nvSpPr>
        <p:spPr>
          <a:xfrm>
            <a:off x="4297680" y="2825496"/>
            <a:ext cx="548640" cy="548640"/>
          </a:xfrm>
          <a:prstGeom prst="rect">
            <a:avLst/>
          </a:prstGeom>
          <a:solidFill>
            <a:schemeClr val="bg1"/>
          </a:solidFill>
          <a:ln w="12700">
            <a:solidFill>
              <a:schemeClr val="accent6"/>
            </a:solidFill>
            <a:prstDash val="dash"/>
          </a:ln>
        </p:spPr>
        <p:txBody>
          <a:bodyPr/>
          <a:lstStyle/>
          <a:p>
            <a:endParaRPr lang="en-US"/>
          </a:p>
        </p:txBody>
      </p:sp>
      <p:sp>
        <p:nvSpPr>
          <p:cNvPr id="24" name="Shape 22"/>
          <p:cNvSpPr/>
          <p:nvPr/>
        </p:nvSpPr>
        <p:spPr>
          <a:xfrm>
            <a:off x="4846320" y="2825496"/>
            <a:ext cx="548640" cy="548640"/>
          </a:xfrm>
          <a:prstGeom prst="rect">
            <a:avLst/>
          </a:prstGeom>
          <a:solidFill>
            <a:schemeClr val="bg1"/>
          </a:solidFill>
          <a:ln w="12700">
            <a:solidFill>
              <a:schemeClr val="accent6"/>
            </a:solidFill>
            <a:prstDash val="dash"/>
          </a:ln>
        </p:spPr>
        <p:txBody>
          <a:bodyPr/>
          <a:lstStyle/>
          <a:p>
            <a:endParaRPr lang="en-US"/>
          </a:p>
        </p:txBody>
      </p:sp>
      <p:sp>
        <p:nvSpPr>
          <p:cNvPr id="25" name="Shape 23"/>
          <p:cNvSpPr/>
          <p:nvPr/>
        </p:nvSpPr>
        <p:spPr>
          <a:xfrm>
            <a:off x="5394960" y="2825496"/>
            <a:ext cx="548640" cy="548640"/>
          </a:xfrm>
          <a:prstGeom prst="rect">
            <a:avLst/>
          </a:prstGeom>
          <a:solidFill>
            <a:schemeClr val="bg1"/>
          </a:solidFill>
          <a:ln w="12700">
            <a:solidFill>
              <a:schemeClr val="accent6"/>
            </a:solidFill>
            <a:prstDash val="dash"/>
          </a:ln>
        </p:spPr>
        <p:txBody>
          <a:bodyPr/>
          <a:lstStyle/>
          <a:p>
            <a:endParaRPr lang="en-US"/>
          </a:p>
        </p:txBody>
      </p:sp>
      <p:sp>
        <p:nvSpPr>
          <p:cNvPr id="26" name="Shape 24"/>
          <p:cNvSpPr/>
          <p:nvPr/>
        </p:nvSpPr>
        <p:spPr>
          <a:xfrm>
            <a:off x="5943600" y="2825496"/>
            <a:ext cx="548640" cy="548640"/>
          </a:xfrm>
          <a:prstGeom prst="rect">
            <a:avLst/>
          </a:prstGeom>
          <a:solidFill>
            <a:schemeClr val="bg1"/>
          </a:solidFill>
          <a:ln w="12700">
            <a:solidFill>
              <a:schemeClr val="accent6"/>
            </a:solidFill>
            <a:prstDash val="dash"/>
          </a:ln>
        </p:spPr>
        <p:txBody>
          <a:bodyPr/>
          <a:lstStyle/>
          <a:p>
            <a:endParaRPr lang="en-US"/>
          </a:p>
        </p:txBody>
      </p:sp>
      <p:sp>
        <p:nvSpPr>
          <p:cNvPr id="27" name="Shape 25"/>
          <p:cNvSpPr/>
          <p:nvPr/>
        </p:nvSpPr>
        <p:spPr>
          <a:xfrm>
            <a:off x="2103120" y="2825496"/>
            <a:ext cx="2194560" cy="548640"/>
          </a:xfrm>
          <a:prstGeom prst="rect">
            <a:avLst/>
          </a:prstGeom>
          <a:solidFill>
            <a:schemeClr val="accent2"/>
          </a:solidFill>
          <a:ln w="25400">
            <a:solidFill>
              <a:schemeClr val="bg1"/>
            </a:solidFill>
            <a:prstDash val="solid"/>
          </a:ln>
        </p:spPr>
        <p:txBody>
          <a:bodyPr/>
          <a:lstStyle/>
          <a:p>
            <a:endParaRPr lang="en-US"/>
          </a:p>
        </p:txBody>
      </p:sp>
      <p:sp>
        <p:nvSpPr>
          <p:cNvPr id="28" name="Text 26"/>
          <p:cNvSpPr txBox="1"/>
          <p:nvPr/>
        </p:nvSpPr>
        <p:spPr>
          <a:xfrm>
            <a:off x="2103120" y="2825496"/>
            <a:ext cx="2194560" cy="548640"/>
          </a:xfrm>
          <a:prstGeom prst="rect">
            <a:avLst/>
          </a:prstGeom>
          <a:noFill/>
          <a:ln/>
        </p:spPr>
        <p:txBody>
          <a:bodyPr wrap="square" lIns="0" tIns="0" rIns="0" bIns="0" rtlCol="0" anchor="ctr"/>
          <a:lstStyle/>
          <a:p>
            <a:pPr marL="0" indent="0" algn="ctr">
              <a:buNone/>
            </a:pPr>
            <a:r>
              <a:rPr lang="en-US" sz="1400" b="1" dirty="0">
                <a:solidFill>
                  <a:schemeClr val="tx2"/>
                </a:solidFill>
              </a:rPr>
              <a:t>i2  (4, 4)</a:t>
            </a:r>
            <a:endParaRPr lang="en-US" sz="1400" dirty="0"/>
          </a:p>
        </p:txBody>
      </p:sp>
      <p:sp>
        <p:nvSpPr>
          <p:cNvPr id="29" name="Shape 27"/>
          <p:cNvSpPr/>
          <p:nvPr/>
        </p:nvSpPr>
        <p:spPr>
          <a:xfrm>
            <a:off x="4297680" y="2825496"/>
            <a:ext cx="2194560" cy="548640"/>
          </a:xfrm>
          <a:prstGeom prst="rect">
            <a:avLst/>
          </a:prstGeom>
          <a:solidFill>
            <a:schemeClr val="accent2"/>
          </a:solidFill>
          <a:ln w="25400">
            <a:solidFill>
              <a:schemeClr val="bg1"/>
            </a:solidFill>
            <a:prstDash val="solid"/>
          </a:ln>
        </p:spPr>
        <p:txBody>
          <a:bodyPr/>
          <a:lstStyle/>
          <a:p>
            <a:endParaRPr lang="en-US"/>
          </a:p>
        </p:txBody>
      </p:sp>
      <p:sp>
        <p:nvSpPr>
          <p:cNvPr id="30" name="Text 28"/>
          <p:cNvSpPr txBox="1"/>
          <p:nvPr/>
        </p:nvSpPr>
        <p:spPr>
          <a:xfrm>
            <a:off x="4297680" y="2825496"/>
            <a:ext cx="2194560" cy="548640"/>
          </a:xfrm>
          <a:prstGeom prst="rect">
            <a:avLst/>
          </a:prstGeom>
          <a:noFill/>
          <a:ln/>
        </p:spPr>
        <p:txBody>
          <a:bodyPr wrap="square" lIns="0" tIns="0" rIns="0" bIns="0" rtlCol="0" anchor="ctr"/>
          <a:lstStyle/>
          <a:p>
            <a:pPr marL="0" indent="0" algn="ctr">
              <a:buNone/>
            </a:pPr>
            <a:r>
              <a:rPr lang="en-US" sz="1400" b="1" dirty="0">
                <a:solidFill>
                  <a:schemeClr val="tx2"/>
                </a:solidFill>
              </a:rPr>
              <a:t>i3  (3, 4)</a:t>
            </a:r>
            <a:endParaRPr lang="en-US" sz="1400" dirty="0"/>
          </a:p>
        </p:txBody>
      </p:sp>
      <p:sp>
        <p:nvSpPr>
          <p:cNvPr id="31" name="Text 29"/>
          <p:cNvSpPr txBox="1"/>
          <p:nvPr/>
        </p:nvSpPr>
        <p:spPr>
          <a:xfrm>
            <a:off x="6720840" y="2825496"/>
            <a:ext cx="1920240" cy="548640"/>
          </a:xfrm>
          <a:prstGeom prst="rect">
            <a:avLst/>
          </a:prstGeom>
          <a:noFill/>
          <a:ln/>
        </p:spPr>
        <p:txBody>
          <a:bodyPr wrap="square" lIns="0" tIns="0" rIns="0" bIns="0" rtlCol="0" anchor="ctr"/>
          <a:lstStyle/>
          <a:p>
            <a:pPr marL="0" indent="0">
              <a:buNone/>
            </a:pPr>
            <a:r>
              <a:rPr lang="en-US" sz="2200" b="1" dirty="0">
                <a:solidFill>
                  <a:schemeClr val="accent4"/>
                </a:solidFill>
              </a:rPr>
              <a:t>value 7</a:t>
            </a:r>
            <a:endParaRPr lang="en-US" sz="2200" dirty="0"/>
          </a:p>
        </p:txBody>
      </p:sp>
      <p:sp>
        <p:nvSpPr>
          <p:cNvPr id="38"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PQ</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Prim and Dijkstra share a skeleton</a:t>
            </a:r>
            <a:endParaRPr lang="en-US" sz="2800" dirty="0"/>
          </a:p>
        </p:txBody>
      </p:sp>
      <p:sp>
        <p:nvSpPr>
          <p:cNvPr id="5" name="Shape 3"/>
          <p:cNvSpPr/>
          <p:nvPr/>
        </p:nvSpPr>
        <p:spPr>
          <a:xfrm>
            <a:off x="457200" y="1097280"/>
            <a:ext cx="4754880" cy="2606040"/>
          </a:xfrm>
          <a:prstGeom prst="roundRect">
            <a:avLst>
              <a:gd name="adj" fmla="val 2105"/>
            </a:avLst>
          </a:prstGeom>
          <a:solidFill>
            <a:schemeClr val="tx2"/>
          </a:solidFill>
          <a:ln w="12700">
            <a:solidFill>
              <a:schemeClr val="tx2"/>
            </a:solidFill>
            <a:prstDash val="solid"/>
          </a:ln>
        </p:spPr>
        <p:txBody>
          <a:bodyPr/>
          <a:lstStyle/>
          <a:p>
            <a:endParaRPr lang="en-US"/>
          </a:p>
        </p:txBody>
      </p:sp>
      <p:sp>
        <p:nvSpPr>
          <p:cNvPr id="6" name="Text 4"/>
          <p:cNvSpPr txBox="1"/>
          <p:nvPr/>
        </p:nvSpPr>
        <p:spPr>
          <a:xfrm>
            <a:off x="640080" y="1234440"/>
            <a:ext cx="4389120" cy="2331720"/>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for each v: key[v] ← ∞, prev[v] ← nil</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key[s] ← 0;  PQ ← all vertices by key</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while PQ not empty:</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u ← eject-min(PQ)</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for each neighbour v of u still in PQ:</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if NEW &lt; key[v]:</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key[v] ← NEW;  prev[v] ← u</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update(PQ, v)</a:t>
            </a:r>
            <a:endParaRPr lang="en-US" sz="1300" dirty="0"/>
          </a:p>
        </p:txBody>
      </p:sp>
      <p:sp>
        <p:nvSpPr>
          <p:cNvPr id="7" name="Shape 5"/>
          <p:cNvSpPr/>
          <p:nvPr/>
        </p:nvSpPr>
        <p:spPr>
          <a:xfrm>
            <a:off x="5486400" y="1097280"/>
            <a:ext cx="3200400" cy="1261872"/>
          </a:xfrm>
          <a:prstGeom prst="roundRect">
            <a:avLst>
              <a:gd name="adj" fmla="val 5797"/>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5715000" y="1207008"/>
            <a:ext cx="2743200" cy="310896"/>
          </a:xfrm>
          <a:prstGeom prst="rect">
            <a:avLst/>
          </a:prstGeom>
          <a:noFill/>
          <a:ln/>
        </p:spPr>
        <p:txBody>
          <a:bodyPr wrap="square" lIns="0" tIns="0" rIns="0" bIns="0" rtlCol="0" anchor="t"/>
          <a:lstStyle/>
          <a:p>
            <a:pPr marL="0" indent="0">
              <a:buNone/>
            </a:pPr>
            <a:r>
              <a:rPr lang="en-US" sz="1700" b="1" dirty="0">
                <a:solidFill>
                  <a:schemeClr val="accent1"/>
                </a:solidFill>
                <a:latin typeface="Cambria" pitchFamily="34" charset="0"/>
                <a:ea typeface="Cambria" pitchFamily="34" charset="-122"/>
                <a:cs typeface="Cambria" pitchFamily="34" charset="-120"/>
              </a:rPr>
              <a:t>Prim</a:t>
            </a:r>
            <a:endParaRPr lang="en-US" sz="1700" dirty="0"/>
          </a:p>
        </p:txBody>
      </p:sp>
      <p:sp>
        <p:nvSpPr>
          <p:cNvPr id="9" name="Text 7"/>
          <p:cNvSpPr txBox="1"/>
          <p:nvPr/>
        </p:nvSpPr>
        <p:spPr>
          <a:xfrm>
            <a:off x="5715000" y="1554480"/>
            <a:ext cx="2834640" cy="292608"/>
          </a:xfrm>
          <a:prstGeom prst="rect">
            <a:avLst/>
          </a:prstGeom>
          <a:noFill/>
          <a:ln/>
        </p:spPr>
        <p:txBody>
          <a:bodyPr wrap="square" lIns="0" tIns="0" rIns="0" bIns="0" rtlCol="0" anchor="t"/>
          <a:lstStyle/>
          <a:p>
            <a:pPr marL="0" indent="0">
              <a:buNone/>
            </a:pPr>
            <a:r>
              <a:rPr lang="en-US" sz="1300" b="1" dirty="0">
                <a:solidFill>
                  <a:schemeClr val="tx2"/>
                </a:solidFill>
                <a:latin typeface="Courier New" pitchFamily="34" charset="0"/>
                <a:ea typeface="Courier New" pitchFamily="34" charset="-122"/>
                <a:cs typeface="Courier New" pitchFamily="34" charset="-120"/>
              </a:rPr>
              <a:t>NEW = w(u, v)</a:t>
            </a:r>
            <a:endParaRPr lang="en-US" sz="1300" dirty="0"/>
          </a:p>
        </p:txBody>
      </p:sp>
      <p:sp>
        <p:nvSpPr>
          <p:cNvPr id="10" name="Text 8"/>
          <p:cNvSpPr txBox="1"/>
          <p:nvPr/>
        </p:nvSpPr>
        <p:spPr>
          <a:xfrm>
            <a:off x="5715000" y="1874520"/>
            <a:ext cx="2834640" cy="411480"/>
          </a:xfrm>
          <a:prstGeom prst="rect">
            <a:avLst/>
          </a:prstGeom>
          <a:noFill/>
          <a:ln/>
        </p:spPr>
        <p:txBody>
          <a:bodyPr wrap="square" lIns="0" tIns="0" rIns="0" bIns="0" rtlCol="0" anchor="t"/>
          <a:lstStyle/>
          <a:p>
            <a:pPr marL="0" indent="0">
              <a:buNone/>
            </a:pPr>
            <a:r>
              <a:rPr lang="en-US" sz="1300" dirty="0">
                <a:solidFill>
                  <a:schemeClr val="tx1"/>
                </a:solidFill>
              </a:rPr>
              <a:t>key = cheapest edge joining v to the tree</a:t>
            </a:r>
            <a:endParaRPr lang="en-US" sz="1300" dirty="0"/>
          </a:p>
        </p:txBody>
      </p:sp>
      <p:sp>
        <p:nvSpPr>
          <p:cNvPr id="11" name="Shape 9"/>
          <p:cNvSpPr/>
          <p:nvPr/>
        </p:nvSpPr>
        <p:spPr>
          <a:xfrm>
            <a:off x="5486400" y="2441448"/>
            <a:ext cx="3200400" cy="1261872"/>
          </a:xfrm>
          <a:prstGeom prst="roundRect">
            <a:avLst>
              <a:gd name="adj" fmla="val 5797"/>
            </a:avLst>
          </a:prstGeom>
          <a:solidFill>
            <a:schemeClr val="bg2"/>
          </a:solidFill>
          <a:ln w="12700">
            <a:solidFill>
              <a:schemeClr val="bg2"/>
            </a:solidFill>
            <a:prstDash val="solid"/>
          </a:ln>
        </p:spPr>
        <p:txBody>
          <a:bodyPr/>
          <a:lstStyle/>
          <a:p>
            <a:endParaRPr lang="en-US"/>
          </a:p>
        </p:txBody>
      </p:sp>
      <p:sp>
        <p:nvSpPr>
          <p:cNvPr id="12" name="Text 10"/>
          <p:cNvSpPr txBox="1"/>
          <p:nvPr/>
        </p:nvSpPr>
        <p:spPr>
          <a:xfrm>
            <a:off x="5715000" y="2551176"/>
            <a:ext cx="2743200" cy="310896"/>
          </a:xfrm>
          <a:prstGeom prst="rect">
            <a:avLst/>
          </a:prstGeom>
          <a:noFill/>
          <a:ln/>
        </p:spPr>
        <p:txBody>
          <a:bodyPr wrap="square" lIns="0" tIns="0" rIns="0" bIns="0" rtlCol="0" anchor="t"/>
          <a:lstStyle/>
          <a:p>
            <a:pPr marL="0" indent="0">
              <a:buNone/>
            </a:pPr>
            <a:r>
              <a:rPr lang="en-US" sz="1700" b="1" dirty="0">
                <a:solidFill>
                  <a:schemeClr val="accent1"/>
                </a:solidFill>
                <a:latin typeface="Cambria" pitchFamily="34" charset="0"/>
                <a:ea typeface="Cambria" pitchFamily="34" charset="-122"/>
                <a:cs typeface="Cambria" pitchFamily="34" charset="-120"/>
              </a:rPr>
              <a:t>Dijkstra</a:t>
            </a:r>
            <a:endParaRPr lang="en-US" sz="1700" dirty="0"/>
          </a:p>
        </p:txBody>
      </p:sp>
      <p:sp>
        <p:nvSpPr>
          <p:cNvPr id="13" name="Text 11"/>
          <p:cNvSpPr txBox="1"/>
          <p:nvPr/>
        </p:nvSpPr>
        <p:spPr>
          <a:xfrm>
            <a:off x="5715000" y="2898648"/>
            <a:ext cx="2834640" cy="292608"/>
          </a:xfrm>
          <a:prstGeom prst="rect">
            <a:avLst/>
          </a:prstGeom>
          <a:noFill/>
          <a:ln/>
        </p:spPr>
        <p:txBody>
          <a:bodyPr wrap="square" lIns="0" tIns="0" rIns="0" bIns="0" rtlCol="0" anchor="t"/>
          <a:lstStyle/>
          <a:p>
            <a:pPr marL="0" indent="0">
              <a:buNone/>
            </a:pPr>
            <a:r>
              <a:rPr lang="en-US" sz="1300" b="1" dirty="0">
                <a:solidFill>
                  <a:schemeClr val="tx2"/>
                </a:solidFill>
                <a:latin typeface="Courier New" pitchFamily="34" charset="0"/>
                <a:ea typeface="Courier New" pitchFamily="34" charset="-122"/>
                <a:cs typeface="Courier New" pitchFamily="34" charset="-120"/>
              </a:rPr>
              <a:t>NEW = dist[u] + w(u, v)</a:t>
            </a:r>
            <a:endParaRPr lang="en-US" sz="1300" dirty="0"/>
          </a:p>
        </p:txBody>
      </p:sp>
      <p:sp>
        <p:nvSpPr>
          <p:cNvPr id="14" name="Text 12"/>
          <p:cNvSpPr txBox="1"/>
          <p:nvPr/>
        </p:nvSpPr>
        <p:spPr>
          <a:xfrm>
            <a:off x="5715000" y="3218688"/>
            <a:ext cx="2834640" cy="411480"/>
          </a:xfrm>
          <a:prstGeom prst="rect">
            <a:avLst/>
          </a:prstGeom>
          <a:noFill/>
          <a:ln/>
        </p:spPr>
        <p:txBody>
          <a:bodyPr wrap="square" lIns="0" tIns="0" rIns="0" bIns="0" rtlCol="0" anchor="t"/>
          <a:lstStyle/>
          <a:p>
            <a:pPr marL="0" indent="0">
              <a:buNone/>
            </a:pPr>
            <a:r>
              <a:rPr lang="en-US" sz="1300" dirty="0">
                <a:solidFill>
                  <a:schemeClr val="tx1"/>
                </a:solidFill>
              </a:rPr>
              <a:t>key = shortest known distance from the source</a:t>
            </a:r>
            <a:endParaRPr lang="en-US" sz="1300" dirty="0"/>
          </a:p>
        </p:txBody>
      </p:sp>
      <p:sp>
        <p:nvSpPr>
          <p:cNvPr id="15" name="Text 13"/>
          <p:cNvSpPr txBox="1"/>
          <p:nvPr/>
        </p:nvSpPr>
        <p:spPr>
          <a:xfrm>
            <a:off x="457200" y="3931920"/>
            <a:ext cx="8229600" cy="548640"/>
          </a:xfrm>
          <a:prstGeom prst="rect">
            <a:avLst/>
          </a:prstGeom>
          <a:noFill/>
          <a:ln/>
        </p:spPr>
        <p:txBody>
          <a:bodyPr wrap="square" lIns="0" tIns="0" rIns="0" bIns="0" rtlCol="0" anchor="ctr"/>
          <a:lstStyle/>
          <a:p>
            <a:pPr marL="0" indent="0">
              <a:buNone/>
            </a:pPr>
            <a:r>
              <a:rPr lang="en-US" sz="1400" b="1" dirty="0">
                <a:solidFill>
                  <a:schemeClr val="accent1"/>
                </a:solidFill>
              </a:rPr>
              <a:t>Cost with a binary heap: </a:t>
            </a:r>
            <a:r>
              <a:rPr lang="en-US" sz="1400" dirty="0">
                <a:solidFill>
                  <a:schemeClr val="tx1"/>
                </a:solidFill>
              </a:rPr>
              <a:t>O((|V| + |E|) log |V|). Both are greedy: once a vertex is ejected, its decision is final.</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82</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Prim from a: priority-queue trace</a:t>
            </a:r>
            <a:endParaRPr lang="en-US" sz="2800" dirty="0"/>
          </a:p>
        </p:txBody>
      </p:sp>
      <p:sp>
        <p:nvSpPr>
          <p:cNvPr id="5" name="Shape 3"/>
          <p:cNvSpPr/>
          <p:nvPr/>
        </p:nvSpPr>
        <p:spPr>
          <a:xfrm>
            <a:off x="1357884" y="1389888"/>
            <a:ext cx="1490472" cy="0"/>
          </a:xfrm>
          <a:prstGeom prst="line">
            <a:avLst/>
          </a:prstGeom>
          <a:noFill/>
          <a:ln w="19050">
            <a:solidFill>
              <a:schemeClr val="accent5"/>
            </a:solidFill>
            <a:prstDash val="solid"/>
          </a:ln>
        </p:spPr>
        <p:txBody>
          <a:bodyPr/>
          <a:lstStyle/>
          <a:p>
            <a:endParaRPr lang="en-US"/>
          </a:p>
        </p:txBody>
      </p:sp>
      <p:sp>
        <p:nvSpPr>
          <p:cNvPr id="6" name="Shape 4"/>
          <p:cNvSpPr/>
          <p:nvPr/>
        </p:nvSpPr>
        <p:spPr>
          <a:xfrm flipH="1">
            <a:off x="612648" y="1389888"/>
            <a:ext cx="745236" cy="1033272"/>
          </a:xfrm>
          <a:prstGeom prst="line">
            <a:avLst/>
          </a:prstGeom>
          <a:noFill/>
          <a:ln w="19050">
            <a:solidFill>
              <a:schemeClr val="accent5"/>
            </a:solidFill>
            <a:prstDash val="solid"/>
          </a:ln>
        </p:spPr>
        <p:txBody>
          <a:bodyPr/>
          <a:lstStyle/>
          <a:p>
            <a:endParaRPr lang="en-US"/>
          </a:p>
        </p:txBody>
      </p:sp>
      <p:sp>
        <p:nvSpPr>
          <p:cNvPr id="7" name="Shape 5"/>
          <p:cNvSpPr/>
          <p:nvPr/>
        </p:nvSpPr>
        <p:spPr>
          <a:xfrm>
            <a:off x="1357884" y="1389888"/>
            <a:ext cx="745236" cy="1033272"/>
          </a:xfrm>
          <a:prstGeom prst="line">
            <a:avLst/>
          </a:prstGeom>
          <a:noFill/>
          <a:ln w="19050">
            <a:solidFill>
              <a:schemeClr val="accent5"/>
            </a:solidFill>
            <a:prstDash val="solid"/>
          </a:ln>
        </p:spPr>
        <p:txBody>
          <a:bodyPr/>
          <a:lstStyle/>
          <a:p>
            <a:endParaRPr lang="en-US"/>
          </a:p>
        </p:txBody>
      </p:sp>
      <p:sp>
        <p:nvSpPr>
          <p:cNvPr id="8" name="Shape 6"/>
          <p:cNvSpPr/>
          <p:nvPr/>
        </p:nvSpPr>
        <p:spPr>
          <a:xfrm flipH="1">
            <a:off x="2103120" y="1389888"/>
            <a:ext cx="745236" cy="1033272"/>
          </a:xfrm>
          <a:prstGeom prst="line">
            <a:avLst/>
          </a:prstGeom>
          <a:noFill/>
          <a:ln w="19050">
            <a:solidFill>
              <a:schemeClr val="accent5"/>
            </a:solidFill>
            <a:prstDash val="solid"/>
          </a:ln>
        </p:spPr>
        <p:txBody>
          <a:bodyPr/>
          <a:lstStyle/>
          <a:p>
            <a:endParaRPr lang="en-US"/>
          </a:p>
        </p:txBody>
      </p:sp>
      <p:sp>
        <p:nvSpPr>
          <p:cNvPr id="9" name="Shape 7"/>
          <p:cNvSpPr/>
          <p:nvPr/>
        </p:nvSpPr>
        <p:spPr>
          <a:xfrm>
            <a:off x="2848356" y="1389888"/>
            <a:ext cx="745236" cy="1033272"/>
          </a:xfrm>
          <a:prstGeom prst="line">
            <a:avLst/>
          </a:prstGeom>
          <a:noFill/>
          <a:ln w="19050">
            <a:solidFill>
              <a:schemeClr val="accent5"/>
            </a:solidFill>
            <a:prstDash val="solid"/>
          </a:ln>
        </p:spPr>
        <p:txBody>
          <a:bodyPr/>
          <a:lstStyle/>
          <a:p>
            <a:endParaRPr lang="en-US"/>
          </a:p>
        </p:txBody>
      </p:sp>
      <p:sp>
        <p:nvSpPr>
          <p:cNvPr id="10" name="Shape 8"/>
          <p:cNvSpPr/>
          <p:nvPr/>
        </p:nvSpPr>
        <p:spPr>
          <a:xfrm>
            <a:off x="612648" y="2423160"/>
            <a:ext cx="1490472" cy="0"/>
          </a:xfrm>
          <a:prstGeom prst="line">
            <a:avLst/>
          </a:prstGeom>
          <a:noFill/>
          <a:ln w="19050">
            <a:solidFill>
              <a:schemeClr val="accent5"/>
            </a:solidFill>
            <a:prstDash val="solid"/>
          </a:ln>
        </p:spPr>
        <p:txBody>
          <a:bodyPr/>
          <a:lstStyle/>
          <a:p>
            <a:endParaRPr lang="en-US"/>
          </a:p>
        </p:txBody>
      </p:sp>
      <p:sp>
        <p:nvSpPr>
          <p:cNvPr id="11" name="Shape 9"/>
          <p:cNvSpPr/>
          <p:nvPr/>
        </p:nvSpPr>
        <p:spPr>
          <a:xfrm>
            <a:off x="2103120" y="2423160"/>
            <a:ext cx="1490472" cy="0"/>
          </a:xfrm>
          <a:prstGeom prst="line">
            <a:avLst/>
          </a:prstGeom>
          <a:noFill/>
          <a:ln w="19050">
            <a:solidFill>
              <a:schemeClr val="accent5"/>
            </a:solidFill>
            <a:prstDash val="solid"/>
          </a:ln>
        </p:spPr>
        <p:txBody>
          <a:bodyPr/>
          <a:lstStyle/>
          <a:p>
            <a:endParaRPr lang="en-US"/>
          </a:p>
        </p:txBody>
      </p:sp>
      <p:sp>
        <p:nvSpPr>
          <p:cNvPr id="12" name="Shape 10"/>
          <p:cNvSpPr/>
          <p:nvPr/>
        </p:nvSpPr>
        <p:spPr>
          <a:xfrm>
            <a:off x="612648" y="2423160"/>
            <a:ext cx="745236" cy="1033272"/>
          </a:xfrm>
          <a:prstGeom prst="line">
            <a:avLst/>
          </a:prstGeom>
          <a:noFill/>
          <a:ln w="19050">
            <a:solidFill>
              <a:schemeClr val="accent5"/>
            </a:solidFill>
            <a:prstDash val="solid"/>
          </a:ln>
        </p:spPr>
        <p:txBody>
          <a:bodyPr/>
          <a:lstStyle/>
          <a:p>
            <a:endParaRPr lang="en-US"/>
          </a:p>
        </p:txBody>
      </p:sp>
      <p:sp>
        <p:nvSpPr>
          <p:cNvPr id="13" name="Shape 11"/>
          <p:cNvSpPr/>
          <p:nvPr/>
        </p:nvSpPr>
        <p:spPr>
          <a:xfrm flipH="1">
            <a:off x="1357884" y="2423160"/>
            <a:ext cx="745236" cy="1033272"/>
          </a:xfrm>
          <a:prstGeom prst="line">
            <a:avLst/>
          </a:prstGeom>
          <a:noFill/>
          <a:ln w="19050">
            <a:solidFill>
              <a:schemeClr val="accent5"/>
            </a:solidFill>
            <a:prstDash val="solid"/>
          </a:ln>
        </p:spPr>
        <p:txBody>
          <a:bodyPr/>
          <a:lstStyle/>
          <a:p>
            <a:endParaRPr lang="en-US"/>
          </a:p>
        </p:txBody>
      </p:sp>
      <p:sp>
        <p:nvSpPr>
          <p:cNvPr id="14" name="Shape 12"/>
          <p:cNvSpPr/>
          <p:nvPr/>
        </p:nvSpPr>
        <p:spPr>
          <a:xfrm>
            <a:off x="2103120" y="2423160"/>
            <a:ext cx="745236" cy="1033272"/>
          </a:xfrm>
          <a:prstGeom prst="line">
            <a:avLst/>
          </a:prstGeom>
          <a:noFill/>
          <a:ln w="19050">
            <a:solidFill>
              <a:schemeClr val="accent5"/>
            </a:solidFill>
            <a:prstDash val="solid"/>
          </a:ln>
        </p:spPr>
        <p:txBody>
          <a:bodyPr/>
          <a:lstStyle/>
          <a:p>
            <a:endParaRPr lang="en-US"/>
          </a:p>
        </p:txBody>
      </p:sp>
      <p:sp>
        <p:nvSpPr>
          <p:cNvPr id="15" name="Shape 13"/>
          <p:cNvSpPr/>
          <p:nvPr/>
        </p:nvSpPr>
        <p:spPr>
          <a:xfrm flipH="1">
            <a:off x="2848356" y="2423160"/>
            <a:ext cx="745236" cy="1033272"/>
          </a:xfrm>
          <a:prstGeom prst="line">
            <a:avLst/>
          </a:prstGeom>
          <a:noFill/>
          <a:ln w="19050">
            <a:solidFill>
              <a:schemeClr val="accent5"/>
            </a:solidFill>
            <a:prstDash val="solid"/>
          </a:ln>
        </p:spPr>
        <p:txBody>
          <a:bodyPr/>
          <a:lstStyle/>
          <a:p>
            <a:endParaRPr lang="en-US"/>
          </a:p>
        </p:txBody>
      </p:sp>
      <p:sp>
        <p:nvSpPr>
          <p:cNvPr id="16" name="Shape 14"/>
          <p:cNvSpPr/>
          <p:nvPr/>
        </p:nvSpPr>
        <p:spPr>
          <a:xfrm>
            <a:off x="1357884" y="3456432"/>
            <a:ext cx="1490472" cy="0"/>
          </a:xfrm>
          <a:prstGeom prst="line">
            <a:avLst/>
          </a:prstGeom>
          <a:noFill/>
          <a:ln w="19050">
            <a:solidFill>
              <a:schemeClr val="accent5"/>
            </a:solidFill>
            <a:prstDash val="solid"/>
          </a:ln>
        </p:spPr>
        <p:txBody>
          <a:bodyPr/>
          <a:lstStyle/>
          <a:p>
            <a:endParaRPr lang="en-US"/>
          </a:p>
        </p:txBody>
      </p:sp>
      <p:sp>
        <p:nvSpPr>
          <p:cNvPr id="17" name="Text 15"/>
          <p:cNvSpPr txBox="1"/>
          <p:nvPr/>
        </p:nvSpPr>
        <p:spPr>
          <a:xfrm>
            <a:off x="1947672" y="1280160"/>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2</a:t>
            </a:r>
            <a:endParaRPr lang="en-US" sz="1200" dirty="0"/>
          </a:p>
        </p:txBody>
      </p:sp>
      <p:sp>
        <p:nvSpPr>
          <p:cNvPr id="18" name="Text 16"/>
          <p:cNvSpPr txBox="1"/>
          <p:nvPr/>
        </p:nvSpPr>
        <p:spPr>
          <a:xfrm>
            <a:off x="756666" y="1723644"/>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4</a:t>
            </a:r>
            <a:endParaRPr lang="en-US" sz="1200" dirty="0"/>
          </a:p>
        </p:txBody>
      </p:sp>
      <p:sp>
        <p:nvSpPr>
          <p:cNvPr id="19" name="Text 17"/>
          <p:cNvSpPr txBox="1"/>
          <p:nvPr/>
        </p:nvSpPr>
        <p:spPr>
          <a:xfrm>
            <a:off x="1666494" y="1723644"/>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1</a:t>
            </a:r>
            <a:endParaRPr lang="en-US" sz="1200" dirty="0"/>
          </a:p>
        </p:txBody>
      </p:sp>
      <p:sp>
        <p:nvSpPr>
          <p:cNvPr id="20" name="Text 18"/>
          <p:cNvSpPr txBox="1"/>
          <p:nvPr/>
        </p:nvSpPr>
        <p:spPr>
          <a:xfrm>
            <a:off x="2228850" y="1723644"/>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3</a:t>
            </a:r>
            <a:endParaRPr lang="en-US" sz="1200" dirty="0"/>
          </a:p>
        </p:txBody>
      </p:sp>
      <p:sp>
        <p:nvSpPr>
          <p:cNvPr id="21" name="Text 19"/>
          <p:cNvSpPr txBox="1"/>
          <p:nvPr/>
        </p:nvSpPr>
        <p:spPr>
          <a:xfrm>
            <a:off x="3156966" y="1723644"/>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9</a:t>
            </a:r>
            <a:endParaRPr lang="en-US" sz="1200" dirty="0"/>
          </a:p>
        </p:txBody>
      </p:sp>
      <p:sp>
        <p:nvSpPr>
          <p:cNvPr id="22" name="Text 20"/>
          <p:cNvSpPr txBox="1"/>
          <p:nvPr/>
        </p:nvSpPr>
        <p:spPr>
          <a:xfrm>
            <a:off x="1202436" y="2313432"/>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2</a:t>
            </a:r>
            <a:endParaRPr lang="en-US" sz="1200" dirty="0"/>
          </a:p>
        </p:txBody>
      </p:sp>
      <p:sp>
        <p:nvSpPr>
          <p:cNvPr id="23" name="Text 21"/>
          <p:cNvSpPr txBox="1"/>
          <p:nvPr/>
        </p:nvSpPr>
        <p:spPr>
          <a:xfrm>
            <a:off x="2692908" y="2313432"/>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7</a:t>
            </a:r>
            <a:endParaRPr lang="en-US" sz="1200" dirty="0"/>
          </a:p>
        </p:txBody>
      </p:sp>
      <p:sp>
        <p:nvSpPr>
          <p:cNvPr id="24" name="Text 22"/>
          <p:cNvSpPr txBox="1"/>
          <p:nvPr/>
        </p:nvSpPr>
        <p:spPr>
          <a:xfrm>
            <a:off x="738378" y="2903220"/>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5</a:t>
            </a:r>
            <a:endParaRPr lang="en-US" sz="1200" dirty="0"/>
          </a:p>
        </p:txBody>
      </p:sp>
      <p:sp>
        <p:nvSpPr>
          <p:cNvPr id="25" name="Text 23"/>
          <p:cNvSpPr txBox="1"/>
          <p:nvPr/>
        </p:nvSpPr>
        <p:spPr>
          <a:xfrm>
            <a:off x="1501902" y="2884932"/>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8</a:t>
            </a:r>
            <a:endParaRPr lang="en-US" sz="1200" dirty="0"/>
          </a:p>
        </p:txBody>
      </p:sp>
      <p:sp>
        <p:nvSpPr>
          <p:cNvPr id="26" name="Text 24"/>
          <p:cNvSpPr txBox="1"/>
          <p:nvPr/>
        </p:nvSpPr>
        <p:spPr>
          <a:xfrm>
            <a:off x="2393442" y="2884932"/>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4</a:t>
            </a:r>
            <a:endParaRPr lang="en-US" sz="1200" dirty="0"/>
          </a:p>
        </p:txBody>
      </p:sp>
      <p:sp>
        <p:nvSpPr>
          <p:cNvPr id="27" name="Text 25"/>
          <p:cNvSpPr txBox="1"/>
          <p:nvPr/>
        </p:nvSpPr>
        <p:spPr>
          <a:xfrm>
            <a:off x="3156966" y="2903220"/>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6</a:t>
            </a:r>
            <a:endParaRPr lang="en-US" sz="1200" dirty="0"/>
          </a:p>
        </p:txBody>
      </p:sp>
      <p:sp>
        <p:nvSpPr>
          <p:cNvPr id="28" name="Text 26"/>
          <p:cNvSpPr txBox="1"/>
          <p:nvPr/>
        </p:nvSpPr>
        <p:spPr>
          <a:xfrm>
            <a:off x="1947672" y="3346704"/>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1</a:t>
            </a:r>
            <a:endParaRPr lang="en-US" sz="1200" dirty="0"/>
          </a:p>
        </p:txBody>
      </p:sp>
      <p:sp>
        <p:nvSpPr>
          <p:cNvPr id="29" name="Shape 27"/>
          <p:cNvSpPr/>
          <p:nvPr/>
        </p:nvSpPr>
        <p:spPr>
          <a:xfrm>
            <a:off x="1202436" y="1234440"/>
            <a:ext cx="310896" cy="310896"/>
          </a:xfrm>
          <a:prstGeom prst="ellipse">
            <a:avLst/>
          </a:prstGeom>
          <a:solidFill>
            <a:schemeClr val="accent1"/>
          </a:solidFill>
          <a:ln w="19050">
            <a:solidFill>
              <a:schemeClr val="accent1"/>
            </a:solidFill>
            <a:prstDash val="solid"/>
          </a:ln>
        </p:spPr>
        <p:txBody>
          <a:bodyPr/>
          <a:lstStyle/>
          <a:p>
            <a:endParaRPr lang="en-US"/>
          </a:p>
        </p:txBody>
      </p:sp>
      <p:sp>
        <p:nvSpPr>
          <p:cNvPr id="30" name="Text 28"/>
          <p:cNvSpPr txBox="1"/>
          <p:nvPr/>
        </p:nvSpPr>
        <p:spPr>
          <a:xfrm>
            <a:off x="1202436" y="1234440"/>
            <a:ext cx="310896" cy="310896"/>
          </a:xfrm>
          <a:prstGeom prst="rect">
            <a:avLst/>
          </a:prstGeom>
          <a:noFill/>
          <a:ln/>
        </p:spPr>
        <p:txBody>
          <a:bodyPr wrap="square" lIns="0" tIns="0" rIns="0" bIns="0" rtlCol="0" anchor="ctr"/>
          <a:lstStyle/>
          <a:p>
            <a:pPr marL="0" indent="0" algn="ctr">
              <a:buNone/>
            </a:pPr>
            <a:r>
              <a:rPr lang="en-US" sz="1300" b="1" i="1" dirty="0">
                <a:solidFill>
                  <a:schemeClr val="bg1"/>
                </a:solidFill>
              </a:rPr>
              <a:t>a</a:t>
            </a:r>
            <a:endParaRPr lang="en-US" sz="1300" dirty="0"/>
          </a:p>
        </p:txBody>
      </p:sp>
      <p:sp>
        <p:nvSpPr>
          <p:cNvPr id="31" name="Shape 29"/>
          <p:cNvSpPr/>
          <p:nvPr/>
        </p:nvSpPr>
        <p:spPr>
          <a:xfrm>
            <a:off x="2692908" y="1234440"/>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2" name="Text 30"/>
          <p:cNvSpPr txBox="1"/>
          <p:nvPr/>
        </p:nvSpPr>
        <p:spPr>
          <a:xfrm>
            <a:off x="2692908" y="1234440"/>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b</a:t>
            </a:r>
            <a:endParaRPr lang="en-US" sz="1300" dirty="0"/>
          </a:p>
        </p:txBody>
      </p:sp>
      <p:sp>
        <p:nvSpPr>
          <p:cNvPr id="33" name="Shape 31"/>
          <p:cNvSpPr/>
          <p:nvPr/>
        </p:nvSpPr>
        <p:spPr>
          <a:xfrm>
            <a:off x="457200" y="2267712"/>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4" name="Text 32"/>
          <p:cNvSpPr txBox="1"/>
          <p:nvPr/>
        </p:nvSpPr>
        <p:spPr>
          <a:xfrm>
            <a:off x="457200" y="2267712"/>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c</a:t>
            </a:r>
            <a:endParaRPr lang="en-US" sz="1300" dirty="0"/>
          </a:p>
        </p:txBody>
      </p:sp>
      <p:sp>
        <p:nvSpPr>
          <p:cNvPr id="35" name="Shape 33"/>
          <p:cNvSpPr/>
          <p:nvPr/>
        </p:nvSpPr>
        <p:spPr>
          <a:xfrm>
            <a:off x="1947672" y="2267712"/>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6" name="Text 34"/>
          <p:cNvSpPr txBox="1"/>
          <p:nvPr/>
        </p:nvSpPr>
        <p:spPr>
          <a:xfrm>
            <a:off x="1947672" y="2267712"/>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d</a:t>
            </a:r>
            <a:endParaRPr lang="en-US" sz="1300" dirty="0"/>
          </a:p>
        </p:txBody>
      </p:sp>
      <p:sp>
        <p:nvSpPr>
          <p:cNvPr id="37" name="Shape 35"/>
          <p:cNvSpPr/>
          <p:nvPr/>
        </p:nvSpPr>
        <p:spPr>
          <a:xfrm>
            <a:off x="3438144" y="2267712"/>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8" name="Text 36"/>
          <p:cNvSpPr txBox="1"/>
          <p:nvPr/>
        </p:nvSpPr>
        <p:spPr>
          <a:xfrm>
            <a:off x="3438144" y="2267712"/>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e</a:t>
            </a:r>
            <a:endParaRPr lang="en-US" sz="1300" dirty="0"/>
          </a:p>
        </p:txBody>
      </p:sp>
      <p:sp>
        <p:nvSpPr>
          <p:cNvPr id="39" name="Shape 37"/>
          <p:cNvSpPr/>
          <p:nvPr/>
        </p:nvSpPr>
        <p:spPr>
          <a:xfrm>
            <a:off x="1202436" y="3300984"/>
            <a:ext cx="310896" cy="310896"/>
          </a:xfrm>
          <a:prstGeom prst="ellipse">
            <a:avLst/>
          </a:prstGeom>
          <a:solidFill>
            <a:schemeClr val="bg1"/>
          </a:solidFill>
          <a:ln w="19050">
            <a:solidFill>
              <a:schemeClr val="accent1"/>
            </a:solidFill>
            <a:prstDash val="solid"/>
          </a:ln>
        </p:spPr>
        <p:txBody>
          <a:bodyPr/>
          <a:lstStyle/>
          <a:p>
            <a:endParaRPr lang="en-US"/>
          </a:p>
        </p:txBody>
      </p:sp>
      <p:sp>
        <p:nvSpPr>
          <p:cNvPr id="40" name="Text 38"/>
          <p:cNvSpPr txBox="1"/>
          <p:nvPr/>
        </p:nvSpPr>
        <p:spPr>
          <a:xfrm>
            <a:off x="1202436" y="3300984"/>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f</a:t>
            </a:r>
            <a:endParaRPr lang="en-US" sz="1300" dirty="0"/>
          </a:p>
        </p:txBody>
      </p:sp>
      <p:sp>
        <p:nvSpPr>
          <p:cNvPr id="41" name="Shape 39"/>
          <p:cNvSpPr/>
          <p:nvPr/>
        </p:nvSpPr>
        <p:spPr>
          <a:xfrm>
            <a:off x="2692908" y="3300984"/>
            <a:ext cx="310896" cy="310896"/>
          </a:xfrm>
          <a:prstGeom prst="ellipse">
            <a:avLst/>
          </a:prstGeom>
          <a:solidFill>
            <a:schemeClr val="bg1"/>
          </a:solidFill>
          <a:ln w="19050">
            <a:solidFill>
              <a:schemeClr val="accent1"/>
            </a:solidFill>
            <a:prstDash val="solid"/>
          </a:ln>
        </p:spPr>
        <p:txBody>
          <a:bodyPr/>
          <a:lstStyle/>
          <a:p>
            <a:endParaRPr lang="en-US"/>
          </a:p>
        </p:txBody>
      </p:sp>
      <p:sp>
        <p:nvSpPr>
          <p:cNvPr id="42" name="Text 40"/>
          <p:cNvSpPr txBox="1"/>
          <p:nvPr/>
        </p:nvSpPr>
        <p:spPr>
          <a:xfrm>
            <a:off x="2692908" y="3300984"/>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g</a:t>
            </a:r>
            <a:endParaRPr lang="en-US" sz="1300" dirty="0"/>
          </a:p>
        </p:txBody>
      </p:sp>
      <p:sp>
        <p:nvSpPr>
          <p:cNvPr id="43" name="Text 41"/>
          <p:cNvSpPr txBox="1"/>
          <p:nvPr/>
        </p:nvSpPr>
        <p:spPr>
          <a:xfrm>
            <a:off x="457200" y="3886200"/>
            <a:ext cx="3291840" cy="548640"/>
          </a:xfrm>
          <a:prstGeom prst="rect">
            <a:avLst/>
          </a:prstGeom>
          <a:noFill/>
          <a:ln/>
        </p:spPr>
        <p:txBody>
          <a:bodyPr wrap="square" lIns="0" tIns="0" rIns="0" bIns="0" rtlCol="0" anchor="t"/>
          <a:lstStyle/>
          <a:p>
            <a:pPr marL="0" indent="0">
              <a:buNone/>
            </a:pPr>
            <a:r>
              <a:rPr lang="en-US" sz="1300" dirty="0">
                <a:solidFill>
                  <a:schemeClr val="accent5"/>
                </a:solidFill>
              </a:rPr>
              <a:t>Entries are key(prev). Ties may go either way.</a:t>
            </a:r>
            <a:endParaRPr lang="en-US" sz="13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023360" y="1097280"/>
          <a:ext cx="4663440" cy="3072384"/>
        </p:xfrm>
        <a:graphic>
          <a:graphicData uri="http://schemas.openxmlformats.org/drawingml/2006/table">
            <a:tbl>
              <a:tblPr/>
              <a:tblGrid>
                <a:gridCol w="6400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84048">
                <a:tc>
                  <a:txBody>
                    <a:bodyPr/>
                    <a:lstStyle/>
                    <a:p>
                      <a:pPr marL="0" indent="0" algn="ctr">
                        <a:buNone/>
                      </a:pPr>
                      <a:r>
                        <a:rPr lang="en-US" sz="1300" b="1" dirty="0">
                          <a:solidFill>
                            <a:schemeClr val="bg1"/>
                          </a:solidFill>
                        </a:rPr>
                        <a:t>Eject</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Tree edge</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l">
                        <a:buNone/>
                      </a:pPr>
                      <a:r>
                        <a:rPr lang="en-US" sz="1300" b="1" dirty="0">
                          <a:solidFill>
                            <a:schemeClr val="bg1"/>
                          </a:solidFill>
                        </a:rPr>
                        <a:t>Priority queue after updates</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lgn="ctr">
                        <a:buNone/>
                      </a:pPr>
                      <a:r>
                        <a:rPr lang="en-US" sz="1300" b="1" i="1" dirty="0">
                          <a:solidFill>
                            <a:schemeClr val="tx1"/>
                          </a:solidFill>
                        </a:rPr>
                        <a:t>a</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d:1(a) b:2(a) c:4(a)</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84048">
                <a:tc>
                  <a:txBody>
                    <a:bodyPr/>
                    <a:lstStyle/>
                    <a:p>
                      <a:pPr marL="0" indent="0" algn="ctr">
                        <a:buNone/>
                      </a:pPr>
                      <a:r>
                        <a:rPr lang="en-US" sz="1300" b="1" i="1" dirty="0">
                          <a:solidFill>
                            <a:schemeClr val="tx1"/>
                          </a:solidFill>
                        </a:rPr>
                        <a:t>d</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a–d  1</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b:2(a) c:2(d) g:4(d) e:7(d) f:8(d)</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lgn="ctr">
                        <a:buNone/>
                      </a:pPr>
                      <a:r>
                        <a:rPr lang="en-US" sz="1300" b="1" i="1" dirty="0">
                          <a:solidFill>
                            <a:schemeClr val="tx1"/>
                          </a:solidFill>
                        </a:rPr>
                        <a:t>b</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a–b  2</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c:2(d) g:4(d) e:7(d) f:8(d)</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84048">
                <a:tc>
                  <a:txBody>
                    <a:bodyPr/>
                    <a:lstStyle/>
                    <a:p>
                      <a:pPr marL="0" indent="0" algn="ctr">
                        <a:buNone/>
                      </a:pPr>
                      <a:r>
                        <a:rPr lang="en-US" sz="1300" b="1" i="1" dirty="0">
                          <a:solidFill>
                            <a:schemeClr val="tx1"/>
                          </a:solidFill>
                        </a:rPr>
                        <a:t>c</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c–d  2</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g:4(d) f:5(c) e:7(d)</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84048">
                <a:tc>
                  <a:txBody>
                    <a:bodyPr/>
                    <a:lstStyle/>
                    <a:p>
                      <a:pPr marL="0" indent="0" algn="ctr">
                        <a:buNone/>
                      </a:pPr>
                      <a:r>
                        <a:rPr lang="en-US" sz="1300" b="1" i="1" dirty="0">
                          <a:solidFill>
                            <a:schemeClr val="tx1"/>
                          </a:solidFill>
                        </a:rPr>
                        <a:t>g</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d–g  4</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f:1(g) e:6(g)</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84048">
                <a:tc>
                  <a:txBody>
                    <a:bodyPr/>
                    <a:lstStyle/>
                    <a:p>
                      <a:pPr marL="0" indent="0" algn="ctr">
                        <a:buNone/>
                      </a:pPr>
                      <a:r>
                        <a:rPr lang="en-US" sz="1300" b="1" i="1" dirty="0">
                          <a:solidFill>
                            <a:schemeClr val="tx1"/>
                          </a:solidFill>
                        </a:rPr>
                        <a:t>f</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f–g  1</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e:6(g)</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84048">
                <a:tc>
                  <a:txBody>
                    <a:bodyPr/>
                    <a:lstStyle/>
                    <a:p>
                      <a:pPr marL="0" indent="0" algn="ctr">
                        <a:buNone/>
                      </a:pPr>
                      <a:r>
                        <a:rPr lang="en-US" sz="1300" b="1" i="1" dirty="0">
                          <a:solidFill>
                            <a:schemeClr val="tx1"/>
                          </a:solidFill>
                        </a:rPr>
                        <a:t>e</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e–g  6</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empty</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4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82</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Minimum spanning tree: cost 16</a:t>
            </a:r>
            <a:endParaRPr lang="en-US" sz="2800" dirty="0"/>
          </a:p>
        </p:txBody>
      </p:sp>
      <p:sp>
        <p:nvSpPr>
          <p:cNvPr id="5" name="Shape 3"/>
          <p:cNvSpPr/>
          <p:nvPr/>
        </p:nvSpPr>
        <p:spPr>
          <a:xfrm>
            <a:off x="1769364" y="1344168"/>
            <a:ext cx="2130552" cy="0"/>
          </a:xfrm>
          <a:prstGeom prst="line">
            <a:avLst/>
          </a:prstGeom>
          <a:noFill/>
          <a:ln w="50800">
            <a:solidFill>
              <a:schemeClr val="accent2"/>
            </a:solidFill>
            <a:prstDash val="solid"/>
          </a:ln>
        </p:spPr>
        <p:txBody>
          <a:bodyPr/>
          <a:lstStyle/>
          <a:p>
            <a:endParaRPr lang="en-US"/>
          </a:p>
        </p:txBody>
      </p:sp>
      <p:sp>
        <p:nvSpPr>
          <p:cNvPr id="6" name="Shape 4"/>
          <p:cNvSpPr/>
          <p:nvPr/>
        </p:nvSpPr>
        <p:spPr>
          <a:xfrm flipH="1">
            <a:off x="704088" y="1344168"/>
            <a:ext cx="1065276" cy="1444752"/>
          </a:xfrm>
          <a:prstGeom prst="line">
            <a:avLst/>
          </a:prstGeom>
          <a:noFill/>
          <a:ln w="19050">
            <a:solidFill>
              <a:schemeClr val="accent6"/>
            </a:solidFill>
            <a:prstDash val="solid"/>
          </a:ln>
        </p:spPr>
        <p:txBody>
          <a:bodyPr/>
          <a:lstStyle/>
          <a:p>
            <a:endParaRPr lang="en-US"/>
          </a:p>
        </p:txBody>
      </p:sp>
      <p:sp>
        <p:nvSpPr>
          <p:cNvPr id="7" name="Shape 5"/>
          <p:cNvSpPr/>
          <p:nvPr/>
        </p:nvSpPr>
        <p:spPr>
          <a:xfrm>
            <a:off x="1769364" y="1344168"/>
            <a:ext cx="1065276" cy="1444752"/>
          </a:xfrm>
          <a:prstGeom prst="line">
            <a:avLst/>
          </a:prstGeom>
          <a:noFill/>
          <a:ln w="50800">
            <a:solidFill>
              <a:schemeClr val="accent2"/>
            </a:solidFill>
            <a:prstDash val="solid"/>
          </a:ln>
        </p:spPr>
        <p:txBody>
          <a:bodyPr/>
          <a:lstStyle/>
          <a:p>
            <a:endParaRPr lang="en-US"/>
          </a:p>
        </p:txBody>
      </p:sp>
      <p:sp>
        <p:nvSpPr>
          <p:cNvPr id="8" name="Shape 6"/>
          <p:cNvSpPr/>
          <p:nvPr/>
        </p:nvSpPr>
        <p:spPr>
          <a:xfrm flipH="1">
            <a:off x="2834640" y="1344168"/>
            <a:ext cx="1065276" cy="1444752"/>
          </a:xfrm>
          <a:prstGeom prst="line">
            <a:avLst/>
          </a:prstGeom>
          <a:noFill/>
          <a:ln w="19050">
            <a:solidFill>
              <a:schemeClr val="accent6"/>
            </a:solidFill>
            <a:prstDash val="solid"/>
          </a:ln>
        </p:spPr>
        <p:txBody>
          <a:bodyPr/>
          <a:lstStyle/>
          <a:p>
            <a:endParaRPr lang="en-US"/>
          </a:p>
        </p:txBody>
      </p:sp>
      <p:sp>
        <p:nvSpPr>
          <p:cNvPr id="9" name="Shape 7"/>
          <p:cNvSpPr/>
          <p:nvPr/>
        </p:nvSpPr>
        <p:spPr>
          <a:xfrm>
            <a:off x="3899916" y="1344168"/>
            <a:ext cx="1065276" cy="1444752"/>
          </a:xfrm>
          <a:prstGeom prst="line">
            <a:avLst/>
          </a:prstGeom>
          <a:noFill/>
          <a:ln w="19050">
            <a:solidFill>
              <a:schemeClr val="accent6"/>
            </a:solidFill>
            <a:prstDash val="solid"/>
          </a:ln>
        </p:spPr>
        <p:txBody>
          <a:bodyPr/>
          <a:lstStyle/>
          <a:p>
            <a:endParaRPr lang="en-US"/>
          </a:p>
        </p:txBody>
      </p:sp>
      <p:sp>
        <p:nvSpPr>
          <p:cNvPr id="10" name="Shape 8"/>
          <p:cNvSpPr/>
          <p:nvPr/>
        </p:nvSpPr>
        <p:spPr>
          <a:xfrm>
            <a:off x="704088" y="2788920"/>
            <a:ext cx="2130552" cy="0"/>
          </a:xfrm>
          <a:prstGeom prst="line">
            <a:avLst/>
          </a:prstGeom>
          <a:noFill/>
          <a:ln w="50800">
            <a:solidFill>
              <a:schemeClr val="accent2"/>
            </a:solidFill>
            <a:prstDash val="solid"/>
          </a:ln>
        </p:spPr>
        <p:txBody>
          <a:bodyPr/>
          <a:lstStyle/>
          <a:p>
            <a:endParaRPr lang="en-US"/>
          </a:p>
        </p:txBody>
      </p:sp>
      <p:sp>
        <p:nvSpPr>
          <p:cNvPr id="11" name="Shape 9"/>
          <p:cNvSpPr/>
          <p:nvPr/>
        </p:nvSpPr>
        <p:spPr>
          <a:xfrm>
            <a:off x="2834640" y="2788920"/>
            <a:ext cx="2130552" cy="0"/>
          </a:xfrm>
          <a:prstGeom prst="line">
            <a:avLst/>
          </a:prstGeom>
          <a:noFill/>
          <a:ln w="19050">
            <a:solidFill>
              <a:schemeClr val="accent6"/>
            </a:solidFill>
            <a:prstDash val="solid"/>
          </a:ln>
        </p:spPr>
        <p:txBody>
          <a:bodyPr/>
          <a:lstStyle/>
          <a:p>
            <a:endParaRPr lang="en-US"/>
          </a:p>
        </p:txBody>
      </p:sp>
      <p:sp>
        <p:nvSpPr>
          <p:cNvPr id="12" name="Shape 10"/>
          <p:cNvSpPr/>
          <p:nvPr/>
        </p:nvSpPr>
        <p:spPr>
          <a:xfrm>
            <a:off x="704088" y="2788920"/>
            <a:ext cx="1065276" cy="1444752"/>
          </a:xfrm>
          <a:prstGeom prst="line">
            <a:avLst/>
          </a:prstGeom>
          <a:noFill/>
          <a:ln w="19050">
            <a:solidFill>
              <a:schemeClr val="accent6"/>
            </a:solidFill>
            <a:prstDash val="solid"/>
          </a:ln>
        </p:spPr>
        <p:txBody>
          <a:bodyPr/>
          <a:lstStyle/>
          <a:p>
            <a:endParaRPr lang="en-US"/>
          </a:p>
        </p:txBody>
      </p:sp>
      <p:sp>
        <p:nvSpPr>
          <p:cNvPr id="13" name="Shape 11"/>
          <p:cNvSpPr/>
          <p:nvPr/>
        </p:nvSpPr>
        <p:spPr>
          <a:xfrm flipH="1">
            <a:off x="1769364" y="2788920"/>
            <a:ext cx="1065276" cy="1444752"/>
          </a:xfrm>
          <a:prstGeom prst="line">
            <a:avLst/>
          </a:prstGeom>
          <a:noFill/>
          <a:ln w="19050">
            <a:solidFill>
              <a:schemeClr val="accent6"/>
            </a:solidFill>
            <a:prstDash val="solid"/>
          </a:ln>
        </p:spPr>
        <p:txBody>
          <a:bodyPr/>
          <a:lstStyle/>
          <a:p>
            <a:endParaRPr lang="en-US"/>
          </a:p>
        </p:txBody>
      </p:sp>
      <p:sp>
        <p:nvSpPr>
          <p:cNvPr id="14" name="Shape 12"/>
          <p:cNvSpPr/>
          <p:nvPr/>
        </p:nvSpPr>
        <p:spPr>
          <a:xfrm>
            <a:off x="2834640" y="2788920"/>
            <a:ext cx="1065276" cy="1444752"/>
          </a:xfrm>
          <a:prstGeom prst="line">
            <a:avLst/>
          </a:prstGeom>
          <a:noFill/>
          <a:ln w="50800">
            <a:solidFill>
              <a:schemeClr val="accent2"/>
            </a:solidFill>
            <a:prstDash val="solid"/>
          </a:ln>
        </p:spPr>
        <p:txBody>
          <a:bodyPr/>
          <a:lstStyle/>
          <a:p>
            <a:endParaRPr lang="en-US"/>
          </a:p>
        </p:txBody>
      </p:sp>
      <p:sp>
        <p:nvSpPr>
          <p:cNvPr id="15" name="Shape 13"/>
          <p:cNvSpPr/>
          <p:nvPr/>
        </p:nvSpPr>
        <p:spPr>
          <a:xfrm flipH="1">
            <a:off x="3899916" y="2788920"/>
            <a:ext cx="1065276" cy="1444752"/>
          </a:xfrm>
          <a:prstGeom prst="line">
            <a:avLst/>
          </a:prstGeom>
          <a:noFill/>
          <a:ln w="50800">
            <a:solidFill>
              <a:schemeClr val="accent2"/>
            </a:solidFill>
            <a:prstDash val="solid"/>
          </a:ln>
        </p:spPr>
        <p:txBody>
          <a:bodyPr/>
          <a:lstStyle/>
          <a:p>
            <a:endParaRPr lang="en-US"/>
          </a:p>
        </p:txBody>
      </p:sp>
      <p:sp>
        <p:nvSpPr>
          <p:cNvPr id="16" name="Shape 14"/>
          <p:cNvSpPr/>
          <p:nvPr/>
        </p:nvSpPr>
        <p:spPr>
          <a:xfrm>
            <a:off x="1769364" y="4233672"/>
            <a:ext cx="2130552" cy="0"/>
          </a:xfrm>
          <a:prstGeom prst="line">
            <a:avLst/>
          </a:prstGeom>
          <a:noFill/>
          <a:ln w="50800">
            <a:solidFill>
              <a:schemeClr val="accent2"/>
            </a:solidFill>
            <a:prstDash val="solid"/>
          </a:ln>
        </p:spPr>
        <p:txBody>
          <a:bodyPr/>
          <a:lstStyle/>
          <a:p>
            <a:endParaRPr lang="en-US"/>
          </a:p>
        </p:txBody>
      </p:sp>
      <p:sp>
        <p:nvSpPr>
          <p:cNvPr id="17" name="Text 15"/>
          <p:cNvSpPr txBox="1"/>
          <p:nvPr/>
        </p:nvSpPr>
        <p:spPr>
          <a:xfrm>
            <a:off x="2679192" y="1234440"/>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2</a:t>
            </a:r>
            <a:endParaRPr lang="en-US" sz="1200" dirty="0"/>
          </a:p>
        </p:txBody>
      </p:sp>
      <p:sp>
        <p:nvSpPr>
          <p:cNvPr id="18" name="Text 16"/>
          <p:cNvSpPr txBox="1"/>
          <p:nvPr/>
        </p:nvSpPr>
        <p:spPr>
          <a:xfrm>
            <a:off x="1008126" y="1883664"/>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accent5"/>
                </a:solidFill>
              </a:rPr>
              <a:t>4</a:t>
            </a:r>
            <a:endParaRPr lang="en-US" sz="1200" dirty="0"/>
          </a:p>
        </p:txBody>
      </p:sp>
      <p:sp>
        <p:nvSpPr>
          <p:cNvPr id="19" name="Text 17"/>
          <p:cNvSpPr txBox="1"/>
          <p:nvPr/>
        </p:nvSpPr>
        <p:spPr>
          <a:xfrm>
            <a:off x="2237994" y="1883664"/>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20" name="Text 18"/>
          <p:cNvSpPr txBox="1"/>
          <p:nvPr/>
        </p:nvSpPr>
        <p:spPr>
          <a:xfrm>
            <a:off x="3120390" y="1883664"/>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accent5"/>
                </a:solidFill>
              </a:rPr>
              <a:t>3</a:t>
            </a:r>
            <a:endParaRPr lang="en-US" sz="1200" dirty="0"/>
          </a:p>
        </p:txBody>
      </p:sp>
      <p:sp>
        <p:nvSpPr>
          <p:cNvPr id="21" name="Text 19"/>
          <p:cNvSpPr txBox="1"/>
          <p:nvPr/>
        </p:nvSpPr>
        <p:spPr>
          <a:xfrm>
            <a:off x="4368546" y="1883664"/>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accent5"/>
                </a:solidFill>
              </a:rPr>
              <a:t>9</a:t>
            </a:r>
            <a:endParaRPr lang="en-US" sz="1200" dirty="0"/>
          </a:p>
        </p:txBody>
      </p:sp>
      <p:sp>
        <p:nvSpPr>
          <p:cNvPr id="22" name="Text 20"/>
          <p:cNvSpPr txBox="1"/>
          <p:nvPr/>
        </p:nvSpPr>
        <p:spPr>
          <a:xfrm>
            <a:off x="1613916" y="2679192"/>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2</a:t>
            </a:r>
            <a:endParaRPr lang="en-US" sz="1200" dirty="0"/>
          </a:p>
        </p:txBody>
      </p:sp>
      <p:sp>
        <p:nvSpPr>
          <p:cNvPr id="23" name="Text 21"/>
          <p:cNvSpPr txBox="1"/>
          <p:nvPr/>
        </p:nvSpPr>
        <p:spPr>
          <a:xfrm>
            <a:off x="3744468" y="2679192"/>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accent5"/>
                </a:solidFill>
              </a:rPr>
              <a:t>7</a:t>
            </a:r>
            <a:endParaRPr lang="en-US" sz="1200" dirty="0"/>
          </a:p>
        </p:txBody>
      </p:sp>
      <p:sp>
        <p:nvSpPr>
          <p:cNvPr id="24" name="Text 22"/>
          <p:cNvSpPr txBox="1"/>
          <p:nvPr/>
        </p:nvSpPr>
        <p:spPr>
          <a:xfrm>
            <a:off x="989838" y="3474720"/>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accent5"/>
                </a:solidFill>
              </a:rPr>
              <a:t>5</a:t>
            </a:r>
            <a:endParaRPr lang="en-US" sz="1200" dirty="0"/>
          </a:p>
        </p:txBody>
      </p:sp>
      <p:sp>
        <p:nvSpPr>
          <p:cNvPr id="25" name="Text 23"/>
          <p:cNvSpPr txBox="1"/>
          <p:nvPr/>
        </p:nvSpPr>
        <p:spPr>
          <a:xfrm>
            <a:off x="2073402" y="3456432"/>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accent5"/>
                </a:solidFill>
              </a:rPr>
              <a:t>8</a:t>
            </a:r>
            <a:endParaRPr lang="en-US" sz="1200" dirty="0"/>
          </a:p>
        </p:txBody>
      </p:sp>
      <p:sp>
        <p:nvSpPr>
          <p:cNvPr id="26" name="Text 24"/>
          <p:cNvSpPr txBox="1"/>
          <p:nvPr/>
        </p:nvSpPr>
        <p:spPr>
          <a:xfrm>
            <a:off x="3284982" y="3456432"/>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4</a:t>
            </a:r>
            <a:endParaRPr lang="en-US" sz="1200" dirty="0"/>
          </a:p>
        </p:txBody>
      </p:sp>
      <p:sp>
        <p:nvSpPr>
          <p:cNvPr id="27" name="Text 25"/>
          <p:cNvSpPr txBox="1"/>
          <p:nvPr/>
        </p:nvSpPr>
        <p:spPr>
          <a:xfrm>
            <a:off x="4368546" y="3474720"/>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6</a:t>
            </a:r>
            <a:endParaRPr lang="en-US" sz="1200" dirty="0"/>
          </a:p>
        </p:txBody>
      </p:sp>
      <p:sp>
        <p:nvSpPr>
          <p:cNvPr id="28" name="Text 26"/>
          <p:cNvSpPr txBox="1"/>
          <p:nvPr/>
        </p:nvSpPr>
        <p:spPr>
          <a:xfrm>
            <a:off x="2679192" y="4123944"/>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29" name="Shape 27"/>
          <p:cNvSpPr/>
          <p:nvPr/>
        </p:nvSpPr>
        <p:spPr>
          <a:xfrm>
            <a:off x="1613916" y="1188720"/>
            <a:ext cx="310896" cy="310896"/>
          </a:xfrm>
          <a:prstGeom prst="ellipse">
            <a:avLst/>
          </a:prstGeom>
          <a:solidFill>
            <a:schemeClr val="accent1"/>
          </a:solidFill>
          <a:ln w="19050">
            <a:solidFill>
              <a:schemeClr val="accent1"/>
            </a:solidFill>
            <a:prstDash val="solid"/>
          </a:ln>
        </p:spPr>
        <p:txBody>
          <a:bodyPr/>
          <a:lstStyle/>
          <a:p>
            <a:endParaRPr lang="en-US"/>
          </a:p>
        </p:txBody>
      </p:sp>
      <p:sp>
        <p:nvSpPr>
          <p:cNvPr id="30" name="Text 28"/>
          <p:cNvSpPr txBox="1"/>
          <p:nvPr/>
        </p:nvSpPr>
        <p:spPr>
          <a:xfrm>
            <a:off x="1613916" y="1188720"/>
            <a:ext cx="310896" cy="310896"/>
          </a:xfrm>
          <a:prstGeom prst="rect">
            <a:avLst/>
          </a:prstGeom>
          <a:noFill/>
          <a:ln/>
        </p:spPr>
        <p:txBody>
          <a:bodyPr wrap="square" lIns="0" tIns="0" rIns="0" bIns="0" rtlCol="0" anchor="ctr"/>
          <a:lstStyle/>
          <a:p>
            <a:pPr marL="0" indent="0" algn="ctr">
              <a:buNone/>
            </a:pPr>
            <a:r>
              <a:rPr lang="en-US" sz="1300" b="1" i="1" dirty="0">
                <a:solidFill>
                  <a:schemeClr val="bg1"/>
                </a:solidFill>
              </a:rPr>
              <a:t>a</a:t>
            </a:r>
            <a:endParaRPr lang="en-US" sz="1300" dirty="0"/>
          </a:p>
        </p:txBody>
      </p:sp>
      <p:sp>
        <p:nvSpPr>
          <p:cNvPr id="31" name="Shape 29"/>
          <p:cNvSpPr/>
          <p:nvPr/>
        </p:nvSpPr>
        <p:spPr>
          <a:xfrm>
            <a:off x="3744468" y="1188720"/>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2" name="Text 30"/>
          <p:cNvSpPr txBox="1"/>
          <p:nvPr/>
        </p:nvSpPr>
        <p:spPr>
          <a:xfrm>
            <a:off x="3744468" y="1188720"/>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b</a:t>
            </a:r>
            <a:endParaRPr lang="en-US" sz="1300" dirty="0"/>
          </a:p>
        </p:txBody>
      </p:sp>
      <p:sp>
        <p:nvSpPr>
          <p:cNvPr id="33" name="Shape 31"/>
          <p:cNvSpPr/>
          <p:nvPr/>
        </p:nvSpPr>
        <p:spPr>
          <a:xfrm>
            <a:off x="548640" y="2633472"/>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4" name="Text 32"/>
          <p:cNvSpPr txBox="1"/>
          <p:nvPr/>
        </p:nvSpPr>
        <p:spPr>
          <a:xfrm>
            <a:off x="548640" y="2633472"/>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c</a:t>
            </a:r>
            <a:endParaRPr lang="en-US" sz="1300" dirty="0"/>
          </a:p>
        </p:txBody>
      </p:sp>
      <p:sp>
        <p:nvSpPr>
          <p:cNvPr id="35" name="Shape 33"/>
          <p:cNvSpPr/>
          <p:nvPr/>
        </p:nvSpPr>
        <p:spPr>
          <a:xfrm>
            <a:off x="2679192" y="2633472"/>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6" name="Text 34"/>
          <p:cNvSpPr txBox="1"/>
          <p:nvPr/>
        </p:nvSpPr>
        <p:spPr>
          <a:xfrm>
            <a:off x="2679192" y="2633472"/>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d</a:t>
            </a:r>
            <a:endParaRPr lang="en-US" sz="1300" dirty="0"/>
          </a:p>
        </p:txBody>
      </p:sp>
      <p:sp>
        <p:nvSpPr>
          <p:cNvPr id="37" name="Shape 35"/>
          <p:cNvSpPr/>
          <p:nvPr/>
        </p:nvSpPr>
        <p:spPr>
          <a:xfrm>
            <a:off x="4809744" y="2633472"/>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8" name="Text 36"/>
          <p:cNvSpPr txBox="1"/>
          <p:nvPr/>
        </p:nvSpPr>
        <p:spPr>
          <a:xfrm>
            <a:off x="4809744" y="2633472"/>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e</a:t>
            </a:r>
            <a:endParaRPr lang="en-US" sz="1300" dirty="0"/>
          </a:p>
        </p:txBody>
      </p:sp>
      <p:sp>
        <p:nvSpPr>
          <p:cNvPr id="39" name="Shape 37"/>
          <p:cNvSpPr/>
          <p:nvPr/>
        </p:nvSpPr>
        <p:spPr>
          <a:xfrm>
            <a:off x="1613916" y="4078224"/>
            <a:ext cx="310896" cy="310896"/>
          </a:xfrm>
          <a:prstGeom prst="ellipse">
            <a:avLst/>
          </a:prstGeom>
          <a:solidFill>
            <a:schemeClr val="bg1"/>
          </a:solidFill>
          <a:ln w="19050">
            <a:solidFill>
              <a:schemeClr val="accent1"/>
            </a:solidFill>
            <a:prstDash val="solid"/>
          </a:ln>
        </p:spPr>
        <p:txBody>
          <a:bodyPr/>
          <a:lstStyle/>
          <a:p>
            <a:endParaRPr lang="en-US"/>
          </a:p>
        </p:txBody>
      </p:sp>
      <p:sp>
        <p:nvSpPr>
          <p:cNvPr id="40" name="Text 38"/>
          <p:cNvSpPr txBox="1"/>
          <p:nvPr/>
        </p:nvSpPr>
        <p:spPr>
          <a:xfrm>
            <a:off x="1613916" y="4078224"/>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f</a:t>
            </a:r>
            <a:endParaRPr lang="en-US" sz="1300" dirty="0"/>
          </a:p>
        </p:txBody>
      </p:sp>
      <p:sp>
        <p:nvSpPr>
          <p:cNvPr id="41" name="Shape 39"/>
          <p:cNvSpPr/>
          <p:nvPr/>
        </p:nvSpPr>
        <p:spPr>
          <a:xfrm>
            <a:off x="3744468" y="4078224"/>
            <a:ext cx="310896" cy="310896"/>
          </a:xfrm>
          <a:prstGeom prst="ellipse">
            <a:avLst/>
          </a:prstGeom>
          <a:solidFill>
            <a:schemeClr val="bg1"/>
          </a:solidFill>
          <a:ln w="19050">
            <a:solidFill>
              <a:schemeClr val="accent1"/>
            </a:solidFill>
            <a:prstDash val="solid"/>
          </a:ln>
        </p:spPr>
        <p:txBody>
          <a:bodyPr/>
          <a:lstStyle/>
          <a:p>
            <a:endParaRPr lang="en-US"/>
          </a:p>
        </p:txBody>
      </p:sp>
      <p:sp>
        <p:nvSpPr>
          <p:cNvPr id="42" name="Text 40"/>
          <p:cNvSpPr txBox="1"/>
          <p:nvPr/>
        </p:nvSpPr>
        <p:spPr>
          <a:xfrm>
            <a:off x="3744468" y="4078224"/>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g</a:t>
            </a:r>
            <a:endParaRPr lang="en-US" sz="1300" dirty="0"/>
          </a:p>
        </p:txBody>
      </p:sp>
      <p:sp>
        <p:nvSpPr>
          <p:cNvPr id="43" name="Shape 41"/>
          <p:cNvSpPr/>
          <p:nvPr/>
        </p:nvSpPr>
        <p:spPr>
          <a:xfrm>
            <a:off x="5577840" y="1188720"/>
            <a:ext cx="3108960" cy="1417320"/>
          </a:xfrm>
          <a:prstGeom prst="roundRect">
            <a:avLst>
              <a:gd name="adj" fmla="val 5161"/>
            </a:avLst>
          </a:prstGeom>
          <a:solidFill>
            <a:schemeClr val="tx2"/>
          </a:solidFill>
          <a:ln w="12700">
            <a:solidFill>
              <a:schemeClr val="tx2"/>
            </a:solidFill>
            <a:prstDash val="solid"/>
          </a:ln>
        </p:spPr>
        <p:txBody>
          <a:bodyPr/>
          <a:lstStyle/>
          <a:p>
            <a:endParaRPr lang="en-US"/>
          </a:p>
        </p:txBody>
      </p:sp>
      <p:sp>
        <p:nvSpPr>
          <p:cNvPr id="44" name="Text 42"/>
          <p:cNvSpPr txBox="1"/>
          <p:nvPr/>
        </p:nvSpPr>
        <p:spPr>
          <a:xfrm>
            <a:off x="5806440" y="1261872"/>
            <a:ext cx="2651760" cy="822960"/>
          </a:xfrm>
          <a:prstGeom prst="rect">
            <a:avLst/>
          </a:prstGeom>
          <a:noFill/>
          <a:ln/>
        </p:spPr>
        <p:txBody>
          <a:bodyPr wrap="square" lIns="0" tIns="0" rIns="0" bIns="0" rtlCol="0" anchor="ctr"/>
          <a:lstStyle/>
          <a:p>
            <a:pPr marL="0" indent="0">
              <a:buNone/>
            </a:pPr>
            <a:r>
              <a:rPr lang="en-US" sz="5400" b="1" dirty="0">
                <a:solidFill>
                  <a:schemeClr val="accent2"/>
                </a:solidFill>
                <a:latin typeface="Cambria" pitchFamily="34" charset="0"/>
                <a:ea typeface="Cambria" pitchFamily="34" charset="-122"/>
                <a:cs typeface="Cambria" pitchFamily="34" charset="-120"/>
              </a:rPr>
              <a:t>16</a:t>
            </a:r>
            <a:endParaRPr lang="en-US" sz="5400" dirty="0"/>
          </a:p>
        </p:txBody>
      </p:sp>
      <p:sp>
        <p:nvSpPr>
          <p:cNvPr id="45" name="Text 43"/>
          <p:cNvSpPr txBox="1"/>
          <p:nvPr/>
        </p:nvSpPr>
        <p:spPr>
          <a:xfrm>
            <a:off x="5806440" y="2103120"/>
            <a:ext cx="2651760" cy="411480"/>
          </a:xfrm>
          <a:prstGeom prst="rect">
            <a:avLst/>
          </a:prstGeom>
          <a:noFill/>
          <a:ln/>
        </p:spPr>
        <p:txBody>
          <a:bodyPr wrap="square" lIns="0" tIns="0" rIns="0" bIns="0" rtlCol="0" anchor="t"/>
          <a:lstStyle/>
          <a:p>
            <a:pPr marL="0" indent="0">
              <a:buNone/>
            </a:pPr>
            <a:r>
              <a:rPr lang="en-US" sz="1300" dirty="0">
                <a:solidFill>
                  <a:schemeClr val="bg1"/>
                </a:solidFill>
              </a:rPr>
              <a:t>total weight, 6 edges for 7 vertices</a:t>
            </a:r>
            <a:endParaRPr lang="en-US" sz="1300" dirty="0"/>
          </a:p>
        </p:txBody>
      </p:sp>
      <p:sp>
        <p:nvSpPr>
          <p:cNvPr id="46" name="Text 44"/>
          <p:cNvSpPr txBox="1"/>
          <p:nvPr/>
        </p:nvSpPr>
        <p:spPr>
          <a:xfrm>
            <a:off x="5577840" y="2788920"/>
            <a:ext cx="3108960" cy="292608"/>
          </a:xfrm>
          <a:prstGeom prst="rect">
            <a:avLst/>
          </a:prstGeom>
          <a:noFill/>
          <a:ln/>
        </p:spPr>
        <p:txBody>
          <a:bodyPr wrap="square" lIns="0" tIns="0" rIns="0" bIns="0" rtlCol="0" anchor="t"/>
          <a:lstStyle/>
          <a:p>
            <a:pPr marL="0" indent="0">
              <a:buNone/>
            </a:pPr>
            <a:r>
              <a:rPr lang="en-US" sz="1500" b="1" dirty="0">
                <a:solidFill>
                  <a:schemeClr val="tx2"/>
                </a:solidFill>
              </a:rPr>
              <a:t>Order added</a:t>
            </a:r>
            <a:endParaRPr lang="en-US" sz="1500" dirty="0"/>
          </a:p>
        </p:txBody>
      </p:sp>
      <p:sp>
        <p:nvSpPr>
          <p:cNvPr id="47" name="Shape 45"/>
          <p:cNvSpPr/>
          <p:nvPr/>
        </p:nvSpPr>
        <p:spPr>
          <a:xfrm>
            <a:off x="5577840" y="3154680"/>
            <a:ext cx="1463040" cy="347472"/>
          </a:xfrm>
          <a:prstGeom prst="roundRect">
            <a:avLst>
              <a:gd name="adj" fmla="val 21053"/>
            </a:avLst>
          </a:prstGeom>
          <a:solidFill>
            <a:schemeClr val="bg2"/>
          </a:solidFill>
          <a:ln w="12700">
            <a:solidFill>
              <a:schemeClr val="bg2"/>
            </a:solidFill>
            <a:prstDash val="solid"/>
          </a:ln>
        </p:spPr>
        <p:txBody>
          <a:bodyPr/>
          <a:lstStyle/>
          <a:p>
            <a:endParaRPr lang="en-US"/>
          </a:p>
        </p:txBody>
      </p:sp>
      <p:sp>
        <p:nvSpPr>
          <p:cNvPr id="48" name="Text 46"/>
          <p:cNvSpPr txBox="1"/>
          <p:nvPr/>
        </p:nvSpPr>
        <p:spPr>
          <a:xfrm>
            <a:off x="5687568" y="3154680"/>
            <a:ext cx="1280160" cy="347472"/>
          </a:xfrm>
          <a:prstGeom prst="rect">
            <a:avLst/>
          </a:prstGeom>
          <a:noFill/>
          <a:ln/>
        </p:spPr>
        <p:txBody>
          <a:bodyPr wrap="square" lIns="0" tIns="0" rIns="0" bIns="0" rtlCol="0" anchor="ctr"/>
          <a:lstStyle/>
          <a:p>
            <a:pPr marL="0" indent="0">
              <a:buNone/>
            </a:pPr>
            <a:r>
              <a:rPr lang="en-US" sz="1300" b="1" dirty="0">
                <a:solidFill>
                  <a:schemeClr val="tx1"/>
                </a:solidFill>
              </a:rPr>
              <a:t>1.  a–d  1</a:t>
            </a:r>
            <a:endParaRPr lang="en-US" sz="1300" dirty="0"/>
          </a:p>
        </p:txBody>
      </p:sp>
      <p:sp>
        <p:nvSpPr>
          <p:cNvPr id="49" name="Shape 47"/>
          <p:cNvSpPr/>
          <p:nvPr/>
        </p:nvSpPr>
        <p:spPr>
          <a:xfrm>
            <a:off x="7178040" y="3154680"/>
            <a:ext cx="1463040" cy="347472"/>
          </a:xfrm>
          <a:prstGeom prst="roundRect">
            <a:avLst>
              <a:gd name="adj" fmla="val 21053"/>
            </a:avLst>
          </a:prstGeom>
          <a:solidFill>
            <a:schemeClr val="bg2"/>
          </a:solidFill>
          <a:ln w="12700">
            <a:solidFill>
              <a:schemeClr val="bg2"/>
            </a:solidFill>
            <a:prstDash val="solid"/>
          </a:ln>
        </p:spPr>
        <p:txBody>
          <a:bodyPr/>
          <a:lstStyle/>
          <a:p>
            <a:endParaRPr lang="en-US"/>
          </a:p>
        </p:txBody>
      </p:sp>
      <p:sp>
        <p:nvSpPr>
          <p:cNvPr id="50" name="Text 48"/>
          <p:cNvSpPr txBox="1"/>
          <p:nvPr/>
        </p:nvSpPr>
        <p:spPr>
          <a:xfrm>
            <a:off x="7287768" y="3154680"/>
            <a:ext cx="1280160" cy="347472"/>
          </a:xfrm>
          <a:prstGeom prst="rect">
            <a:avLst/>
          </a:prstGeom>
          <a:noFill/>
          <a:ln/>
        </p:spPr>
        <p:txBody>
          <a:bodyPr wrap="square" lIns="0" tIns="0" rIns="0" bIns="0" rtlCol="0" anchor="ctr"/>
          <a:lstStyle/>
          <a:p>
            <a:pPr marL="0" indent="0">
              <a:buNone/>
            </a:pPr>
            <a:r>
              <a:rPr lang="en-US" sz="1300" dirty="0">
                <a:solidFill>
                  <a:schemeClr val="tx1"/>
                </a:solidFill>
              </a:rPr>
              <a:t>2.  a–b  2</a:t>
            </a:r>
            <a:endParaRPr lang="en-US" sz="1300" dirty="0"/>
          </a:p>
        </p:txBody>
      </p:sp>
      <p:sp>
        <p:nvSpPr>
          <p:cNvPr id="51" name="Shape 49"/>
          <p:cNvSpPr/>
          <p:nvPr/>
        </p:nvSpPr>
        <p:spPr>
          <a:xfrm>
            <a:off x="5577840" y="3593592"/>
            <a:ext cx="1463040" cy="347472"/>
          </a:xfrm>
          <a:prstGeom prst="roundRect">
            <a:avLst>
              <a:gd name="adj" fmla="val 21053"/>
            </a:avLst>
          </a:prstGeom>
          <a:solidFill>
            <a:schemeClr val="bg2"/>
          </a:solidFill>
          <a:ln w="12700">
            <a:solidFill>
              <a:schemeClr val="bg2"/>
            </a:solidFill>
            <a:prstDash val="solid"/>
          </a:ln>
        </p:spPr>
        <p:txBody>
          <a:bodyPr/>
          <a:lstStyle/>
          <a:p>
            <a:endParaRPr lang="en-US"/>
          </a:p>
        </p:txBody>
      </p:sp>
      <p:sp>
        <p:nvSpPr>
          <p:cNvPr id="52" name="Text 50"/>
          <p:cNvSpPr txBox="1"/>
          <p:nvPr/>
        </p:nvSpPr>
        <p:spPr>
          <a:xfrm>
            <a:off x="5687568" y="3593592"/>
            <a:ext cx="1280160" cy="347472"/>
          </a:xfrm>
          <a:prstGeom prst="rect">
            <a:avLst/>
          </a:prstGeom>
          <a:noFill/>
          <a:ln/>
        </p:spPr>
        <p:txBody>
          <a:bodyPr wrap="square" lIns="0" tIns="0" rIns="0" bIns="0" rtlCol="0" anchor="ctr"/>
          <a:lstStyle/>
          <a:p>
            <a:pPr marL="0" indent="0">
              <a:buNone/>
            </a:pPr>
            <a:r>
              <a:rPr lang="en-US" sz="1300" dirty="0">
                <a:solidFill>
                  <a:schemeClr val="tx1"/>
                </a:solidFill>
              </a:rPr>
              <a:t>3.  c–d  2</a:t>
            </a:r>
            <a:endParaRPr lang="en-US" sz="1300" dirty="0"/>
          </a:p>
        </p:txBody>
      </p:sp>
      <p:sp>
        <p:nvSpPr>
          <p:cNvPr id="53" name="Shape 51"/>
          <p:cNvSpPr/>
          <p:nvPr/>
        </p:nvSpPr>
        <p:spPr>
          <a:xfrm>
            <a:off x="7178040" y="3593592"/>
            <a:ext cx="1463040" cy="347472"/>
          </a:xfrm>
          <a:prstGeom prst="roundRect">
            <a:avLst>
              <a:gd name="adj" fmla="val 21053"/>
            </a:avLst>
          </a:prstGeom>
          <a:solidFill>
            <a:schemeClr val="bg2"/>
          </a:solidFill>
          <a:ln w="12700">
            <a:solidFill>
              <a:schemeClr val="bg2"/>
            </a:solidFill>
            <a:prstDash val="solid"/>
          </a:ln>
        </p:spPr>
        <p:txBody>
          <a:bodyPr/>
          <a:lstStyle/>
          <a:p>
            <a:endParaRPr lang="en-US"/>
          </a:p>
        </p:txBody>
      </p:sp>
      <p:sp>
        <p:nvSpPr>
          <p:cNvPr id="54" name="Text 52"/>
          <p:cNvSpPr txBox="1"/>
          <p:nvPr/>
        </p:nvSpPr>
        <p:spPr>
          <a:xfrm>
            <a:off x="7287768" y="3593592"/>
            <a:ext cx="1280160" cy="347472"/>
          </a:xfrm>
          <a:prstGeom prst="rect">
            <a:avLst/>
          </a:prstGeom>
          <a:noFill/>
          <a:ln/>
        </p:spPr>
        <p:txBody>
          <a:bodyPr wrap="square" lIns="0" tIns="0" rIns="0" bIns="0" rtlCol="0" anchor="ctr"/>
          <a:lstStyle/>
          <a:p>
            <a:pPr marL="0" indent="0">
              <a:buNone/>
            </a:pPr>
            <a:r>
              <a:rPr lang="en-US" sz="1300" dirty="0">
                <a:solidFill>
                  <a:schemeClr val="tx1"/>
                </a:solidFill>
              </a:rPr>
              <a:t>4.  d–g  4</a:t>
            </a:r>
            <a:endParaRPr lang="en-US" sz="1300" dirty="0"/>
          </a:p>
        </p:txBody>
      </p:sp>
      <p:sp>
        <p:nvSpPr>
          <p:cNvPr id="55" name="Shape 53"/>
          <p:cNvSpPr/>
          <p:nvPr/>
        </p:nvSpPr>
        <p:spPr>
          <a:xfrm>
            <a:off x="5577840" y="4032504"/>
            <a:ext cx="1463040" cy="347472"/>
          </a:xfrm>
          <a:prstGeom prst="roundRect">
            <a:avLst>
              <a:gd name="adj" fmla="val 21053"/>
            </a:avLst>
          </a:prstGeom>
          <a:solidFill>
            <a:schemeClr val="bg2"/>
          </a:solidFill>
          <a:ln w="12700">
            <a:solidFill>
              <a:schemeClr val="bg2"/>
            </a:solidFill>
            <a:prstDash val="solid"/>
          </a:ln>
        </p:spPr>
        <p:txBody>
          <a:bodyPr/>
          <a:lstStyle/>
          <a:p>
            <a:endParaRPr lang="en-US"/>
          </a:p>
        </p:txBody>
      </p:sp>
      <p:sp>
        <p:nvSpPr>
          <p:cNvPr id="56" name="Text 54"/>
          <p:cNvSpPr txBox="1"/>
          <p:nvPr/>
        </p:nvSpPr>
        <p:spPr>
          <a:xfrm>
            <a:off x="5687568" y="4032504"/>
            <a:ext cx="1280160" cy="347472"/>
          </a:xfrm>
          <a:prstGeom prst="rect">
            <a:avLst/>
          </a:prstGeom>
          <a:noFill/>
          <a:ln/>
        </p:spPr>
        <p:txBody>
          <a:bodyPr wrap="square" lIns="0" tIns="0" rIns="0" bIns="0" rtlCol="0" anchor="ctr"/>
          <a:lstStyle/>
          <a:p>
            <a:pPr marL="0" indent="0">
              <a:buNone/>
            </a:pPr>
            <a:r>
              <a:rPr lang="en-US" sz="1300" dirty="0">
                <a:solidFill>
                  <a:schemeClr val="tx1"/>
                </a:solidFill>
              </a:rPr>
              <a:t>5.  g–f  1</a:t>
            </a:r>
            <a:endParaRPr lang="en-US" sz="1300" dirty="0"/>
          </a:p>
        </p:txBody>
      </p:sp>
      <p:sp>
        <p:nvSpPr>
          <p:cNvPr id="57" name="Shape 55"/>
          <p:cNvSpPr/>
          <p:nvPr/>
        </p:nvSpPr>
        <p:spPr>
          <a:xfrm>
            <a:off x="7178040" y="4032504"/>
            <a:ext cx="1463040" cy="347472"/>
          </a:xfrm>
          <a:prstGeom prst="roundRect">
            <a:avLst>
              <a:gd name="adj" fmla="val 21053"/>
            </a:avLst>
          </a:prstGeom>
          <a:solidFill>
            <a:schemeClr val="bg2"/>
          </a:solidFill>
          <a:ln w="12700">
            <a:solidFill>
              <a:schemeClr val="bg2"/>
            </a:solidFill>
            <a:prstDash val="solid"/>
          </a:ln>
        </p:spPr>
        <p:txBody>
          <a:bodyPr/>
          <a:lstStyle/>
          <a:p>
            <a:endParaRPr lang="en-US"/>
          </a:p>
        </p:txBody>
      </p:sp>
      <p:sp>
        <p:nvSpPr>
          <p:cNvPr id="58" name="Text 56"/>
          <p:cNvSpPr txBox="1"/>
          <p:nvPr/>
        </p:nvSpPr>
        <p:spPr>
          <a:xfrm>
            <a:off x="7287768" y="4032504"/>
            <a:ext cx="1280160" cy="347472"/>
          </a:xfrm>
          <a:prstGeom prst="rect">
            <a:avLst/>
          </a:prstGeom>
          <a:noFill/>
          <a:ln/>
        </p:spPr>
        <p:txBody>
          <a:bodyPr wrap="square" lIns="0" tIns="0" rIns="0" bIns="0" rtlCol="0" anchor="ctr"/>
          <a:lstStyle/>
          <a:p>
            <a:pPr marL="0" indent="0">
              <a:buNone/>
            </a:pPr>
            <a:r>
              <a:rPr lang="en-US" sz="1300" dirty="0">
                <a:solidFill>
                  <a:schemeClr val="tx1"/>
                </a:solidFill>
              </a:rPr>
              <a:t>6.  e–g  6</a:t>
            </a:r>
            <a:endParaRPr lang="en-US" sz="1300" dirty="0"/>
          </a:p>
        </p:txBody>
      </p:sp>
      <p:sp>
        <p:nvSpPr>
          <p:cNvPr id="59"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83</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Dijkstra from e: priority-queue trace</a:t>
            </a:r>
            <a:endParaRPr lang="en-US" sz="2800" dirty="0"/>
          </a:p>
        </p:txBody>
      </p:sp>
      <p:sp>
        <p:nvSpPr>
          <p:cNvPr id="5" name="Shape 3"/>
          <p:cNvSpPr/>
          <p:nvPr/>
        </p:nvSpPr>
        <p:spPr>
          <a:xfrm>
            <a:off x="1357884" y="1389888"/>
            <a:ext cx="1490472" cy="0"/>
          </a:xfrm>
          <a:prstGeom prst="line">
            <a:avLst/>
          </a:prstGeom>
          <a:noFill/>
          <a:ln w="19050">
            <a:solidFill>
              <a:schemeClr val="accent5"/>
            </a:solidFill>
            <a:prstDash val="solid"/>
          </a:ln>
        </p:spPr>
        <p:txBody>
          <a:bodyPr/>
          <a:lstStyle/>
          <a:p>
            <a:endParaRPr lang="en-US"/>
          </a:p>
        </p:txBody>
      </p:sp>
      <p:sp>
        <p:nvSpPr>
          <p:cNvPr id="6" name="Shape 4"/>
          <p:cNvSpPr/>
          <p:nvPr/>
        </p:nvSpPr>
        <p:spPr>
          <a:xfrm flipH="1">
            <a:off x="612648" y="1389888"/>
            <a:ext cx="745236" cy="1033272"/>
          </a:xfrm>
          <a:prstGeom prst="line">
            <a:avLst/>
          </a:prstGeom>
          <a:noFill/>
          <a:ln w="19050">
            <a:solidFill>
              <a:schemeClr val="accent5"/>
            </a:solidFill>
            <a:prstDash val="solid"/>
          </a:ln>
        </p:spPr>
        <p:txBody>
          <a:bodyPr/>
          <a:lstStyle/>
          <a:p>
            <a:endParaRPr lang="en-US"/>
          </a:p>
        </p:txBody>
      </p:sp>
      <p:sp>
        <p:nvSpPr>
          <p:cNvPr id="7" name="Shape 5"/>
          <p:cNvSpPr/>
          <p:nvPr/>
        </p:nvSpPr>
        <p:spPr>
          <a:xfrm>
            <a:off x="1357884" y="1389888"/>
            <a:ext cx="745236" cy="1033272"/>
          </a:xfrm>
          <a:prstGeom prst="line">
            <a:avLst/>
          </a:prstGeom>
          <a:noFill/>
          <a:ln w="19050">
            <a:solidFill>
              <a:schemeClr val="accent5"/>
            </a:solidFill>
            <a:prstDash val="solid"/>
          </a:ln>
        </p:spPr>
        <p:txBody>
          <a:bodyPr/>
          <a:lstStyle/>
          <a:p>
            <a:endParaRPr lang="en-US"/>
          </a:p>
        </p:txBody>
      </p:sp>
      <p:sp>
        <p:nvSpPr>
          <p:cNvPr id="8" name="Shape 6"/>
          <p:cNvSpPr/>
          <p:nvPr/>
        </p:nvSpPr>
        <p:spPr>
          <a:xfrm flipH="1">
            <a:off x="2103120" y="1389888"/>
            <a:ext cx="745236" cy="1033272"/>
          </a:xfrm>
          <a:prstGeom prst="line">
            <a:avLst/>
          </a:prstGeom>
          <a:noFill/>
          <a:ln w="19050">
            <a:solidFill>
              <a:schemeClr val="accent5"/>
            </a:solidFill>
            <a:prstDash val="solid"/>
          </a:ln>
        </p:spPr>
        <p:txBody>
          <a:bodyPr/>
          <a:lstStyle/>
          <a:p>
            <a:endParaRPr lang="en-US"/>
          </a:p>
        </p:txBody>
      </p:sp>
      <p:sp>
        <p:nvSpPr>
          <p:cNvPr id="9" name="Shape 7"/>
          <p:cNvSpPr/>
          <p:nvPr/>
        </p:nvSpPr>
        <p:spPr>
          <a:xfrm>
            <a:off x="2848356" y="1389888"/>
            <a:ext cx="745236" cy="1033272"/>
          </a:xfrm>
          <a:prstGeom prst="line">
            <a:avLst/>
          </a:prstGeom>
          <a:noFill/>
          <a:ln w="19050">
            <a:solidFill>
              <a:schemeClr val="accent5"/>
            </a:solidFill>
            <a:prstDash val="solid"/>
          </a:ln>
        </p:spPr>
        <p:txBody>
          <a:bodyPr/>
          <a:lstStyle/>
          <a:p>
            <a:endParaRPr lang="en-US"/>
          </a:p>
        </p:txBody>
      </p:sp>
      <p:sp>
        <p:nvSpPr>
          <p:cNvPr id="10" name="Shape 8"/>
          <p:cNvSpPr/>
          <p:nvPr/>
        </p:nvSpPr>
        <p:spPr>
          <a:xfrm>
            <a:off x="612648" y="2423160"/>
            <a:ext cx="1490472" cy="0"/>
          </a:xfrm>
          <a:prstGeom prst="line">
            <a:avLst/>
          </a:prstGeom>
          <a:noFill/>
          <a:ln w="19050">
            <a:solidFill>
              <a:schemeClr val="accent5"/>
            </a:solidFill>
            <a:prstDash val="solid"/>
          </a:ln>
        </p:spPr>
        <p:txBody>
          <a:bodyPr/>
          <a:lstStyle/>
          <a:p>
            <a:endParaRPr lang="en-US"/>
          </a:p>
        </p:txBody>
      </p:sp>
      <p:sp>
        <p:nvSpPr>
          <p:cNvPr id="11" name="Shape 9"/>
          <p:cNvSpPr/>
          <p:nvPr/>
        </p:nvSpPr>
        <p:spPr>
          <a:xfrm>
            <a:off x="2103120" y="2423160"/>
            <a:ext cx="1490472" cy="0"/>
          </a:xfrm>
          <a:prstGeom prst="line">
            <a:avLst/>
          </a:prstGeom>
          <a:noFill/>
          <a:ln w="19050">
            <a:solidFill>
              <a:schemeClr val="accent5"/>
            </a:solidFill>
            <a:prstDash val="solid"/>
          </a:ln>
        </p:spPr>
        <p:txBody>
          <a:bodyPr/>
          <a:lstStyle/>
          <a:p>
            <a:endParaRPr lang="en-US"/>
          </a:p>
        </p:txBody>
      </p:sp>
      <p:sp>
        <p:nvSpPr>
          <p:cNvPr id="12" name="Shape 10"/>
          <p:cNvSpPr/>
          <p:nvPr/>
        </p:nvSpPr>
        <p:spPr>
          <a:xfrm>
            <a:off x="612648" y="2423160"/>
            <a:ext cx="745236" cy="1033272"/>
          </a:xfrm>
          <a:prstGeom prst="line">
            <a:avLst/>
          </a:prstGeom>
          <a:noFill/>
          <a:ln w="19050">
            <a:solidFill>
              <a:schemeClr val="accent5"/>
            </a:solidFill>
            <a:prstDash val="solid"/>
          </a:ln>
        </p:spPr>
        <p:txBody>
          <a:bodyPr/>
          <a:lstStyle/>
          <a:p>
            <a:endParaRPr lang="en-US"/>
          </a:p>
        </p:txBody>
      </p:sp>
      <p:sp>
        <p:nvSpPr>
          <p:cNvPr id="13" name="Shape 11"/>
          <p:cNvSpPr/>
          <p:nvPr/>
        </p:nvSpPr>
        <p:spPr>
          <a:xfrm flipH="1">
            <a:off x="1357884" y="2423160"/>
            <a:ext cx="745236" cy="1033272"/>
          </a:xfrm>
          <a:prstGeom prst="line">
            <a:avLst/>
          </a:prstGeom>
          <a:noFill/>
          <a:ln w="19050">
            <a:solidFill>
              <a:schemeClr val="accent5"/>
            </a:solidFill>
            <a:prstDash val="solid"/>
          </a:ln>
        </p:spPr>
        <p:txBody>
          <a:bodyPr/>
          <a:lstStyle/>
          <a:p>
            <a:endParaRPr lang="en-US"/>
          </a:p>
        </p:txBody>
      </p:sp>
      <p:sp>
        <p:nvSpPr>
          <p:cNvPr id="14" name="Shape 12"/>
          <p:cNvSpPr/>
          <p:nvPr/>
        </p:nvSpPr>
        <p:spPr>
          <a:xfrm>
            <a:off x="2103120" y="2423160"/>
            <a:ext cx="745236" cy="1033272"/>
          </a:xfrm>
          <a:prstGeom prst="line">
            <a:avLst/>
          </a:prstGeom>
          <a:noFill/>
          <a:ln w="19050">
            <a:solidFill>
              <a:schemeClr val="accent5"/>
            </a:solidFill>
            <a:prstDash val="solid"/>
          </a:ln>
        </p:spPr>
        <p:txBody>
          <a:bodyPr/>
          <a:lstStyle/>
          <a:p>
            <a:endParaRPr lang="en-US"/>
          </a:p>
        </p:txBody>
      </p:sp>
      <p:sp>
        <p:nvSpPr>
          <p:cNvPr id="15" name="Shape 13"/>
          <p:cNvSpPr/>
          <p:nvPr/>
        </p:nvSpPr>
        <p:spPr>
          <a:xfrm flipH="1">
            <a:off x="2848356" y="2423160"/>
            <a:ext cx="745236" cy="1033272"/>
          </a:xfrm>
          <a:prstGeom prst="line">
            <a:avLst/>
          </a:prstGeom>
          <a:noFill/>
          <a:ln w="19050">
            <a:solidFill>
              <a:schemeClr val="accent5"/>
            </a:solidFill>
            <a:prstDash val="solid"/>
          </a:ln>
        </p:spPr>
        <p:txBody>
          <a:bodyPr/>
          <a:lstStyle/>
          <a:p>
            <a:endParaRPr lang="en-US"/>
          </a:p>
        </p:txBody>
      </p:sp>
      <p:sp>
        <p:nvSpPr>
          <p:cNvPr id="16" name="Shape 14"/>
          <p:cNvSpPr/>
          <p:nvPr/>
        </p:nvSpPr>
        <p:spPr>
          <a:xfrm>
            <a:off x="1357884" y="3456432"/>
            <a:ext cx="1490472" cy="0"/>
          </a:xfrm>
          <a:prstGeom prst="line">
            <a:avLst/>
          </a:prstGeom>
          <a:noFill/>
          <a:ln w="19050">
            <a:solidFill>
              <a:schemeClr val="accent5"/>
            </a:solidFill>
            <a:prstDash val="solid"/>
          </a:ln>
        </p:spPr>
        <p:txBody>
          <a:bodyPr/>
          <a:lstStyle/>
          <a:p>
            <a:endParaRPr lang="en-US"/>
          </a:p>
        </p:txBody>
      </p:sp>
      <p:sp>
        <p:nvSpPr>
          <p:cNvPr id="17" name="Text 15"/>
          <p:cNvSpPr txBox="1"/>
          <p:nvPr/>
        </p:nvSpPr>
        <p:spPr>
          <a:xfrm>
            <a:off x="1947672" y="1280160"/>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2</a:t>
            </a:r>
            <a:endParaRPr lang="en-US" sz="1200" dirty="0"/>
          </a:p>
        </p:txBody>
      </p:sp>
      <p:sp>
        <p:nvSpPr>
          <p:cNvPr id="18" name="Text 16"/>
          <p:cNvSpPr txBox="1"/>
          <p:nvPr/>
        </p:nvSpPr>
        <p:spPr>
          <a:xfrm>
            <a:off x="756666" y="1723644"/>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4</a:t>
            </a:r>
            <a:endParaRPr lang="en-US" sz="1200" dirty="0"/>
          </a:p>
        </p:txBody>
      </p:sp>
      <p:sp>
        <p:nvSpPr>
          <p:cNvPr id="19" name="Text 17"/>
          <p:cNvSpPr txBox="1"/>
          <p:nvPr/>
        </p:nvSpPr>
        <p:spPr>
          <a:xfrm>
            <a:off x="1666494" y="1723644"/>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1</a:t>
            </a:r>
            <a:endParaRPr lang="en-US" sz="1200" dirty="0"/>
          </a:p>
        </p:txBody>
      </p:sp>
      <p:sp>
        <p:nvSpPr>
          <p:cNvPr id="20" name="Text 18"/>
          <p:cNvSpPr txBox="1"/>
          <p:nvPr/>
        </p:nvSpPr>
        <p:spPr>
          <a:xfrm>
            <a:off x="2228850" y="1723644"/>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3</a:t>
            </a:r>
            <a:endParaRPr lang="en-US" sz="1200" dirty="0"/>
          </a:p>
        </p:txBody>
      </p:sp>
      <p:sp>
        <p:nvSpPr>
          <p:cNvPr id="21" name="Text 19"/>
          <p:cNvSpPr txBox="1"/>
          <p:nvPr/>
        </p:nvSpPr>
        <p:spPr>
          <a:xfrm>
            <a:off x="3156966" y="1723644"/>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9</a:t>
            </a:r>
            <a:endParaRPr lang="en-US" sz="1200" dirty="0"/>
          </a:p>
        </p:txBody>
      </p:sp>
      <p:sp>
        <p:nvSpPr>
          <p:cNvPr id="22" name="Text 20"/>
          <p:cNvSpPr txBox="1"/>
          <p:nvPr/>
        </p:nvSpPr>
        <p:spPr>
          <a:xfrm>
            <a:off x="1202436" y="2313432"/>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2</a:t>
            </a:r>
            <a:endParaRPr lang="en-US" sz="1200" dirty="0"/>
          </a:p>
        </p:txBody>
      </p:sp>
      <p:sp>
        <p:nvSpPr>
          <p:cNvPr id="23" name="Text 21"/>
          <p:cNvSpPr txBox="1"/>
          <p:nvPr/>
        </p:nvSpPr>
        <p:spPr>
          <a:xfrm>
            <a:off x="2692908" y="2313432"/>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7</a:t>
            </a:r>
            <a:endParaRPr lang="en-US" sz="1200" dirty="0"/>
          </a:p>
        </p:txBody>
      </p:sp>
      <p:sp>
        <p:nvSpPr>
          <p:cNvPr id="24" name="Text 22"/>
          <p:cNvSpPr txBox="1"/>
          <p:nvPr/>
        </p:nvSpPr>
        <p:spPr>
          <a:xfrm>
            <a:off x="738378" y="2903220"/>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5</a:t>
            </a:r>
            <a:endParaRPr lang="en-US" sz="1200" dirty="0"/>
          </a:p>
        </p:txBody>
      </p:sp>
      <p:sp>
        <p:nvSpPr>
          <p:cNvPr id="25" name="Text 23"/>
          <p:cNvSpPr txBox="1"/>
          <p:nvPr/>
        </p:nvSpPr>
        <p:spPr>
          <a:xfrm>
            <a:off x="1501902" y="2884932"/>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8</a:t>
            </a:r>
            <a:endParaRPr lang="en-US" sz="1200" dirty="0"/>
          </a:p>
        </p:txBody>
      </p:sp>
      <p:sp>
        <p:nvSpPr>
          <p:cNvPr id="26" name="Text 24"/>
          <p:cNvSpPr txBox="1"/>
          <p:nvPr/>
        </p:nvSpPr>
        <p:spPr>
          <a:xfrm>
            <a:off x="2393442" y="2884932"/>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4</a:t>
            </a:r>
            <a:endParaRPr lang="en-US" sz="1200" dirty="0"/>
          </a:p>
        </p:txBody>
      </p:sp>
      <p:sp>
        <p:nvSpPr>
          <p:cNvPr id="27" name="Text 25"/>
          <p:cNvSpPr txBox="1"/>
          <p:nvPr/>
        </p:nvSpPr>
        <p:spPr>
          <a:xfrm>
            <a:off x="3156966" y="2903220"/>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6</a:t>
            </a:r>
            <a:endParaRPr lang="en-US" sz="1200" dirty="0"/>
          </a:p>
        </p:txBody>
      </p:sp>
      <p:sp>
        <p:nvSpPr>
          <p:cNvPr id="28" name="Text 26"/>
          <p:cNvSpPr txBox="1"/>
          <p:nvPr/>
        </p:nvSpPr>
        <p:spPr>
          <a:xfrm>
            <a:off x="1947672" y="3346704"/>
            <a:ext cx="310896" cy="219456"/>
          </a:xfrm>
          <a:prstGeom prst="rect">
            <a:avLst/>
          </a:prstGeom>
          <a:solidFill>
            <a:schemeClr val="bg1"/>
          </a:solidFill>
          <a:ln/>
        </p:spPr>
        <p:txBody>
          <a:bodyPr wrap="square" lIns="0" tIns="0" rIns="0" bIns="0" rtlCol="0" anchor="ctr"/>
          <a:lstStyle/>
          <a:p>
            <a:pPr marL="0" indent="0" algn="ctr">
              <a:buNone/>
            </a:pPr>
            <a:r>
              <a:rPr lang="en-US" sz="1200" dirty="0">
                <a:solidFill>
                  <a:schemeClr val="tx1"/>
                </a:solidFill>
              </a:rPr>
              <a:t>1</a:t>
            </a:r>
            <a:endParaRPr lang="en-US" sz="1200" dirty="0"/>
          </a:p>
        </p:txBody>
      </p:sp>
      <p:sp>
        <p:nvSpPr>
          <p:cNvPr id="29" name="Shape 27"/>
          <p:cNvSpPr/>
          <p:nvPr/>
        </p:nvSpPr>
        <p:spPr>
          <a:xfrm>
            <a:off x="1202436" y="1234440"/>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0" name="Text 28"/>
          <p:cNvSpPr txBox="1"/>
          <p:nvPr/>
        </p:nvSpPr>
        <p:spPr>
          <a:xfrm>
            <a:off x="1202436" y="1234440"/>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a</a:t>
            </a:r>
            <a:endParaRPr lang="en-US" sz="1300" dirty="0"/>
          </a:p>
        </p:txBody>
      </p:sp>
      <p:sp>
        <p:nvSpPr>
          <p:cNvPr id="31" name="Shape 29"/>
          <p:cNvSpPr/>
          <p:nvPr/>
        </p:nvSpPr>
        <p:spPr>
          <a:xfrm>
            <a:off x="2692908" y="1234440"/>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2" name="Text 30"/>
          <p:cNvSpPr txBox="1"/>
          <p:nvPr/>
        </p:nvSpPr>
        <p:spPr>
          <a:xfrm>
            <a:off x="2692908" y="1234440"/>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b</a:t>
            </a:r>
            <a:endParaRPr lang="en-US" sz="1300" dirty="0"/>
          </a:p>
        </p:txBody>
      </p:sp>
      <p:sp>
        <p:nvSpPr>
          <p:cNvPr id="33" name="Shape 31"/>
          <p:cNvSpPr/>
          <p:nvPr/>
        </p:nvSpPr>
        <p:spPr>
          <a:xfrm>
            <a:off x="457200" y="2267712"/>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4" name="Text 32"/>
          <p:cNvSpPr txBox="1"/>
          <p:nvPr/>
        </p:nvSpPr>
        <p:spPr>
          <a:xfrm>
            <a:off x="457200" y="2267712"/>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c</a:t>
            </a:r>
            <a:endParaRPr lang="en-US" sz="1300" dirty="0"/>
          </a:p>
        </p:txBody>
      </p:sp>
      <p:sp>
        <p:nvSpPr>
          <p:cNvPr id="35" name="Shape 33"/>
          <p:cNvSpPr/>
          <p:nvPr/>
        </p:nvSpPr>
        <p:spPr>
          <a:xfrm>
            <a:off x="1947672" y="2267712"/>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6" name="Text 34"/>
          <p:cNvSpPr txBox="1"/>
          <p:nvPr/>
        </p:nvSpPr>
        <p:spPr>
          <a:xfrm>
            <a:off x="1947672" y="2267712"/>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d</a:t>
            </a:r>
            <a:endParaRPr lang="en-US" sz="1300" dirty="0"/>
          </a:p>
        </p:txBody>
      </p:sp>
      <p:sp>
        <p:nvSpPr>
          <p:cNvPr id="37" name="Shape 35"/>
          <p:cNvSpPr/>
          <p:nvPr/>
        </p:nvSpPr>
        <p:spPr>
          <a:xfrm>
            <a:off x="3438144" y="2267712"/>
            <a:ext cx="310896" cy="310896"/>
          </a:xfrm>
          <a:prstGeom prst="ellipse">
            <a:avLst/>
          </a:prstGeom>
          <a:solidFill>
            <a:schemeClr val="accent1"/>
          </a:solidFill>
          <a:ln w="19050">
            <a:solidFill>
              <a:schemeClr val="accent1"/>
            </a:solidFill>
            <a:prstDash val="solid"/>
          </a:ln>
        </p:spPr>
        <p:txBody>
          <a:bodyPr/>
          <a:lstStyle/>
          <a:p>
            <a:endParaRPr lang="en-US"/>
          </a:p>
        </p:txBody>
      </p:sp>
      <p:sp>
        <p:nvSpPr>
          <p:cNvPr id="38" name="Text 36"/>
          <p:cNvSpPr txBox="1"/>
          <p:nvPr/>
        </p:nvSpPr>
        <p:spPr>
          <a:xfrm>
            <a:off x="3438144" y="2267712"/>
            <a:ext cx="310896" cy="310896"/>
          </a:xfrm>
          <a:prstGeom prst="rect">
            <a:avLst/>
          </a:prstGeom>
          <a:noFill/>
          <a:ln/>
        </p:spPr>
        <p:txBody>
          <a:bodyPr wrap="square" lIns="0" tIns="0" rIns="0" bIns="0" rtlCol="0" anchor="ctr"/>
          <a:lstStyle/>
          <a:p>
            <a:pPr marL="0" indent="0" algn="ctr">
              <a:buNone/>
            </a:pPr>
            <a:r>
              <a:rPr lang="en-US" sz="1300" b="1" i="1" dirty="0">
                <a:solidFill>
                  <a:schemeClr val="bg1"/>
                </a:solidFill>
              </a:rPr>
              <a:t>e</a:t>
            </a:r>
            <a:endParaRPr lang="en-US" sz="1300" dirty="0"/>
          </a:p>
        </p:txBody>
      </p:sp>
      <p:sp>
        <p:nvSpPr>
          <p:cNvPr id="39" name="Shape 37"/>
          <p:cNvSpPr/>
          <p:nvPr/>
        </p:nvSpPr>
        <p:spPr>
          <a:xfrm>
            <a:off x="1202436" y="3300984"/>
            <a:ext cx="310896" cy="310896"/>
          </a:xfrm>
          <a:prstGeom prst="ellipse">
            <a:avLst/>
          </a:prstGeom>
          <a:solidFill>
            <a:schemeClr val="bg1"/>
          </a:solidFill>
          <a:ln w="19050">
            <a:solidFill>
              <a:schemeClr val="accent1"/>
            </a:solidFill>
            <a:prstDash val="solid"/>
          </a:ln>
        </p:spPr>
        <p:txBody>
          <a:bodyPr/>
          <a:lstStyle/>
          <a:p>
            <a:endParaRPr lang="en-US"/>
          </a:p>
        </p:txBody>
      </p:sp>
      <p:sp>
        <p:nvSpPr>
          <p:cNvPr id="40" name="Text 38"/>
          <p:cNvSpPr txBox="1"/>
          <p:nvPr/>
        </p:nvSpPr>
        <p:spPr>
          <a:xfrm>
            <a:off x="1202436" y="3300984"/>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f</a:t>
            </a:r>
            <a:endParaRPr lang="en-US" sz="1300" dirty="0"/>
          </a:p>
        </p:txBody>
      </p:sp>
      <p:sp>
        <p:nvSpPr>
          <p:cNvPr id="41" name="Shape 39"/>
          <p:cNvSpPr/>
          <p:nvPr/>
        </p:nvSpPr>
        <p:spPr>
          <a:xfrm>
            <a:off x="2692908" y="3300984"/>
            <a:ext cx="310896" cy="310896"/>
          </a:xfrm>
          <a:prstGeom prst="ellipse">
            <a:avLst/>
          </a:prstGeom>
          <a:solidFill>
            <a:schemeClr val="bg1"/>
          </a:solidFill>
          <a:ln w="19050">
            <a:solidFill>
              <a:schemeClr val="accent1"/>
            </a:solidFill>
            <a:prstDash val="solid"/>
          </a:ln>
        </p:spPr>
        <p:txBody>
          <a:bodyPr/>
          <a:lstStyle/>
          <a:p>
            <a:endParaRPr lang="en-US"/>
          </a:p>
        </p:txBody>
      </p:sp>
      <p:sp>
        <p:nvSpPr>
          <p:cNvPr id="42" name="Text 40"/>
          <p:cNvSpPr txBox="1"/>
          <p:nvPr/>
        </p:nvSpPr>
        <p:spPr>
          <a:xfrm>
            <a:off x="2692908" y="3300984"/>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g</a:t>
            </a:r>
            <a:endParaRPr lang="en-US" sz="1300" dirty="0"/>
          </a:p>
        </p:txBody>
      </p:sp>
      <p:sp>
        <p:nvSpPr>
          <p:cNvPr id="43" name="Text 41"/>
          <p:cNvSpPr txBox="1"/>
          <p:nvPr/>
        </p:nvSpPr>
        <p:spPr>
          <a:xfrm>
            <a:off x="457200" y="3886200"/>
            <a:ext cx="3291840" cy="548640"/>
          </a:xfrm>
          <a:prstGeom prst="rect">
            <a:avLst/>
          </a:prstGeom>
          <a:noFill/>
          <a:ln/>
        </p:spPr>
        <p:txBody>
          <a:bodyPr wrap="square" lIns="0" tIns="0" rIns="0" bIns="0" rtlCol="0" anchor="t"/>
          <a:lstStyle/>
          <a:p>
            <a:pPr marL="0" indent="0">
              <a:buNone/>
            </a:pPr>
            <a:r>
              <a:rPr lang="en-US" sz="1300" dirty="0">
                <a:solidFill>
                  <a:schemeClr val="accent5"/>
                </a:solidFill>
              </a:rPr>
              <a:t>Entries are dist(prev). Only improvements are listed.</a:t>
            </a:r>
            <a:endParaRPr lang="en-US" sz="13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023360" y="1097280"/>
          <a:ext cx="4663440" cy="3072384"/>
        </p:xfrm>
        <a:graphic>
          <a:graphicData uri="http://schemas.openxmlformats.org/drawingml/2006/table">
            <a:tbl>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84048">
                <a:tc>
                  <a:txBody>
                    <a:bodyPr/>
                    <a:lstStyle/>
                    <a:p>
                      <a:pPr marL="0" indent="0" algn="ctr">
                        <a:buNone/>
                      </a:pPr>
                      <a:r>
                        <a:rPr lang="en-US" sz="1300" b="1" dirty="0">
                          <a:solidFill>
                            <a:schemeClr val="bg1"/>
                          </a:solidFill>
                        </a:rPr>
                        <a:t>Eject</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dist</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l">
                        <a:buNone/>
                      </a:pPr>
                      <a:r>
                        <a:rPr lang="en-US" sz="1300" b="1" dirty="0">
                          <a:solidFill>
                            <a:schemeClr val="bg1"/>
                          </a:solidFill>
                        </a:rPr>
                        <a:t>Updates to the queue</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lgn="ctr">
                        <a:buNone/>
                      </a:pPr>
                      <a:r>
                        <a:rPr lang="en-US" sz="1300" b="1" i="1" dirty="0">
                          <a:solidFill>
                            <a:schemeClr val="tx1"/>
                          </a:solidFill>
                        </a:rPr>
                        <a:t>e</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0</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g:6(e) d:7(e) b:9(e)</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84048">
                <a:tc>
                  <a:txBody>
                    <a:bodyPr/>
                    <a:lstStyle/>
                    <a:p>
                      <a:pPr marL="0" indent="0" algn="ctr">
                        <a:buNone/>
                      </a:pPr>
                      <a:r>
                        <a:rPr lang="en-US" sz="1300" b="1" i="1" dirty="0">
                          <a:solidFill>
                            <a:schemeClr val="tx1"/>
                          </a:solidFill>
                        </a:rPr>
                        <a:t>g</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6</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f:7(g) [d: 6+4=10, no]</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lgn="ctr">
                        <a:buNone/>
                      </a:pPr>
                      <a:r>
                        <a:rPr lang="en-US" sz="1300" b="1" i="1" dirty="0">
                          <a:solidFill>
                            <a:schemeClr val="tx1"/>
                          </a:solidFill>
                        </a:rPr>
                        <a:t>d</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7</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a:8(d) c:9(d) [b: 10, no]</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84048">
                <a:tc>
                  <a:txBody>
                    <a:bodyPr/>
                    <a:lstStyle/>
                    <a:p>
                      <a:pPr marL="0" indent="0" algn="ctr">
                        <a:buNone/>
                      </a:pPr>
                      <a:r>
                        <a:rPr lang="en-US" sz="1300" b="1" i="1" dirty="0">
                          <a:solidFill>
                            <a:schemeClr val="tx1"/>
                          </a:solidFill>
                        </a:rPr>
                        <a:t>f</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7</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[c: 7+5=12, no]</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84048">
                <a:tc>
                  <a:txBody>
                    <a:bodyPr/>
                    <a:lstStyle/>
                    <a:p>
                      <a:pPr marL="0" indent="0" algn="ctr">
                        <a:buNone/>
                      </a:pPr>
                      <a:r>
                        <a:rPr lang="en-US" sz="1300" b="1" i="1" dirty="0">
                          <a:solidFill>
                            <a:schemeClr val="tx1"/>
                          </a:solidFill>
                        </a:rPr>
                        <a:t>a</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8</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[b: 10, c: 12, no]</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84048">
                <a:tc>
                  <a:txBody>
                    <a:bodyPr/>
                    <a:lstStyle/>
                    <a:p>
                      <a:pPr marL="0" indent="0" algn="ctr">
                        <a:buNone/>
                      </a:pPr>
                      <a:r>
                        <a:rPr lang="en-US" sz="1300" b="1" i="1" dirty="0">
                          <a:solidFill>
                            <a:schemeClr val="tx1"/>
                          </a:solidFill>
                        </a:rPr>
                        <a:t>b</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9</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84048">
                <a:tc>
                  <a:txBody>
                    <a:bodyPr/>
                    <a:lstStyle/>
                    <a:p>
                      <a:pPr marL="0" indent="0" algn="ctr">
                        <a:buNone/>
                      </a:pPr>
                      <a:r>
                        <a:rPr lang="en-US" sz="1300" b="1" i="1" dirty="0">
                          <a:solidFill>
                            <a:schemeClr val="tx1"/>
                          </a:solidFill>
                        </a:rPr>
                        <a:t>c</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accent1"/>
                          </a:solidFill>
                        </a:rPr>
                        <a:t>9</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4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83</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Shortest-path tree vs MST</a:t>
            </a:r>
            <a:endParaRPr lang="en-US" sz="2800" dirty="0"/>
          </a:p>
        </p:txBody>
      </p:sp>
      <p:sp>
        <p:nvSpPr>
          <p:cNvPr id="5" name="Text 3"/>
          <p:cNvSpPr txBox="1"/>
          <p:nvPr/>
        </p:nvSpPr>
        <p:spPr>
          <a:xfrm>
            <a:off x="457200" y="1051560"/>
            <a:ext cx="3931920" cy="292608"/>
          </a:xfrm>
          <a:prstGeom prst="rect">
            <a:avLst/>
          </a:prstGeom>
          <a:noFill/>
          <a:ln/>
        </p:spPr>
        <p:txBody>
          <a:bodyPr wrap="square" lIns="0" tIns="0" rIns="0" bIns="0" rtlCol="0" anchor="t"/>
          <a:lstStyle/>
          <a:p>
            <a:pPr marL="0" indent="0" algn="ctr">
              <a:buNone/>
            </a:pPr>
            <a:r>
              <a:rPr lang="en-US" sz="1500" b="1" dirty="0">
                <a:solidFill>
                  <a:schemeClr val="tx2"/>
                </a:solidFill>
              </a:rPr>
              <a:t>Shortest paths from e</a:t>
            </a:r>
            <a:endParaRPr lang="en-US" sz="1500" dirty="0"/>
          </a:p>
        </p:txBody>
      </p:sp>
      <p:sp>
        <p:nvSpPr>
          <p:cNvPr id="6" name="Shape 4"/>
          <p:cNvSpPr/>
          <p:nvPr/>
        </p:nvSpPr>
        <p:spPr>
          <a:xfrm>
            <a:off x="1609344" y="1755648"/>
            <a:ext cx="1627632" cy="0"/>
          </a:xfrm>
          <a:prstGeom prst="line">
            <a:avLst/>
          </a:prstGeom>
          <a:noFill/>
          <a:ln w="19050">
            <a:solidFill>
              <a:schemeClr val="accent6"/>
            </a:solidFill>
            <a:prstDash val="solid"/>
          </a:ln>
        </p:spPr>
        <p:txBody>
          <a:bodyPr/>
          <a:lstStyle/>
          <a:p>
            <a:endParaRPr lang="en-US"/>
          </a:p>
        </p:txBody>
      </p:sp>
      <p:sp>
        <p:nvSpPr>
          <p:cNvPr id="7" name="Shape 5"/>
          <p:cNvSpPr/>
          <p:nvPr/>
        </p:nvSpPr>
        <p:spPr>
          <a:xfrm flipH="1">
            <a:off x="795528" y="1755648"/>
            <a:ext cx="813816" cy="964692"/>
          </a:xfrm>
          <a:prstGeom prst="line">
            <a:avLst/>
          </a:prstGeom>
          <a:noFill/>
          <a:ln w="19050">
            <a:solidFill>
              <a:schemeClr val="accent6"/>
            </a:solidFill>
            <a:prstDash val="solid"/>
          </a:ln>
        </p:spPr>
        <p:txBody>
          <a:bodyPr/>
          <a:lstStyle/>
          <a:p>
            <a:endParaRPr lang="en-US"/>
          </a:p>
        </p:txBody>
      </p:sp>
      <p:sp>
        <p:nvSpPr>
          <p:cNvPr id="8" name="Shape 6"/>
          <p:cNvSpPr/>
          <p:nvPr/>
        </p:nvSpPr>
        <p:spPr>
          <a:xfrm>
            <a:off x="1609344" y="1755648"/>
            <a:ext cx="813816" cy="964692"/>
          </a:xfrm>
          <a:prstGeom prst="line">
            <a:avLst/>
          </a:prstGeom>
          <a:noFill/>
          <a:ln w="50800">
            <a:solidFill>
              <a:schemeClr val="accent2"/>
            </a:solidFill>
            <a:prstDash val="solid"/>
          </a:ln>
        </p:spPr>
        <p:txBody>
          <a:bodyPr/>
          <a:lstStyle/>
          <a:p>
            <a:endParaRPr lang="en-US"/>
          </a:p>
        </p:txBody>
      </p:sp>
      <p:sp>
        <p:nvSpPr>
          <p:cNvPr id="9" name="Shape 7"/>
          <p:cNvSpPr/>
          <p:nvPr/>
        </p:nvSpPr>
        <p:spPr>
          <a:xfrm flipH="1">
            <a:off x="2423160" y="1755648"/>
            <a:ext cx="813816" cy="964692"/>
          </a:xfrm>
          <a:prstGeom prst="line">
            <a:avLst/>
          </a:prstGeom>
          <a:noFill/>
          <a:ln w="19050">
            <a:solidFill>
              <a:schemeClr val="accent6"/>
            </a:solidFill>
            <a:prstDash val="solid"/>
          </a:ln>
        </p:spPr>
        <p:txBody>
          <a:bodyPr/>
          <a:lstStyle/>
          <a:p>
            <a:endParaRPr lang="en-US"/>
          </a:p>
        </p:txBody>
      </p:sp>
      <p:sp>
        <p:nvSpPr>
          <p:cNvPr id="10" name="Shape 8"/>
          <p:cNvSpPr/>
          <p:nvPr/>
        </p:nvSpPr>
        <p:spPr>
          <a:xfrm>
            <a:off x="3236976" y="1755648"/>
            <a:ext cx="813816" cy="964692"/>
          </a:xfrm>
          <a:prstGeom prst="line">
            <a:avLst/>
          </a:prstGeom>
          <a:noFill/>
          <a:ln w="50800">
            <a:solidFill>
              <a:schemeClr val="accent2"/>
            </a:solidFill>
            <a:prstDash val="solid"/>
          </a:ln>
        </p:spPr>
        <p:txBody>
          <a:bodyPr/>
          <a:lstStyle/>
          <a:p>
            <a:endParaRPr lang="en-US"/>
          </a:p>
        </p:txBody>
      </p:sp>
      <p:sp>
        <p:nvSpPr>
          <p:cNvPr id="11" name="Shape 9"/>
          <p:cNvSpPr/>
          <p:nvPr/>
        </p:nvSpPr>
        <p:spPr>
          <a:xfrm>
            <a:off x="795528" y="2720340"/>
            <a:ext cx="1627632" cy="0"/>
          </a:xfrm>
          <a:prstGeom prst="line">
            <a:avLst/>
          </a:prstGeom>
          <a:noFill/>
          <a:ln w="50800">
            <a:solidFill>
              <a:schemeClr val="accent2"/>
            </a:solidFill>
            <a:prstDash val="solid"/>
          </a:ln>
        </p:spPr>
        <p:txBody>
          <a:bodyPr/>
          <a:lstStyle/>
          <a:p>
            <a:endParaRPr lang="en-US"/>
          </a:p>
        </p:txBody>
      </p:sp>
      <p:sp>
        <p:nvSpPr>
          <p:cNvPr id="12" name="Shape 10"/>
          <p:cNvSpPr/>
          <p:nvPr/>
        </p:nvSpPr>
        <p:spPr>
          <a:xfrm>
            <a:off x="2423160" y="2720340"/>
            <a:ext cx="1627632" cy="0"/>
          </a:xfrm>
          <a:prstGeom prst="line">
            <a:avLst/>
          </a:prstGeom>
          <a:noFill/>
          <a:ln w="50800">
            <a:solidFill>
              <a:schemeClr val="accent2"/>
            </a:solidFill>
            <a:prstDash val="solid"/>
          </a:ln>
        </p:spPr>
        <p:txBody>
          <a:bodyPr/>
          <a:lstStyle/>
          <a:p>
            <a:endParaRPr lang="en-US"/>
          </a:p>
        </p:txBody>
      </p:sp>
      <p:sp>
        <p:nvSpPr>
          <p:cNvPr id="13" name="Shape 11"/>
          <p:cNvSpPr/>
          <p:nvPr/>
        </p:nvSpPr>
        <p:spPr>
          <a:xfrm>
            <a:off x="795528" y="2720340"/>
            <a:ext cx="813816" cy="964692"/>
          </a:xfrm>
          <a:prstGeom prst="line">
            <a:avLst/>
          </a:prstGeom>
          <a:noFill/>
          <a:ln w="19050">
            <a:solidFill>
              <a:schemeClr val="accent6"/>
            </a:solidFill>
            <a:prstDash val="solid"/>
          </a:ln>
        </p:spPr>
        <p:txBody>
          <a:bodyPr/>
          <a:lstStyle/>
          <a:p>
            <a:endParaRPr lang="en-US"/>
          </a:p>
        </p:txBody>
      </p:sp>
      <p:sp>
        <p:nvSpPr>
          <p:cNvPr id="14" name="Shape 12"/>
          <p:cNvSpPr/>
          <p:nvPr/>
        </p:nvSpPr>
        <p:spPr>
          <a:xfrm flipH="1">
            <a:off x="1609344" y="2720340"/>
            <a:ext cx="813816" cy="964692"/>
          </a:xfrm>
          <a:prstGeom prst="line">
            <a:avLst/>
          </a:prstGeom>
          <a:noFill/>
          <a:ln w="19050">
            <a:solidFill>
              <a:schemeClr val="accent6"/>
            </a:solidFill>
            <a:prstDash val="solid"/>
          </a:ln>
        </p:spPr>
        <p:txBody>
          <a:bodyPr/>
          <a:lstStyle/>
          <a:p>
            <a:endParaRPr lang="en-US"/>
          </a:p>
        </p:txBody>
      </p:sp>
      <p:sp>
        <p:nvSpPr>
          <p:cNvPr id="15" name="Shape 13"/>
          <p:cNvSpPr/>
          <p:nvPr/>
        </p:nvSpPr>
        <p:spPr>
          <a:xfrm>
            <a:off x="2423160" y="2720340"/>
            <a:ext cx="813816" cy="964692"/>
          </a:xfrm>
          <a:prstGeom prst="line">
            <a:avLst/>
          </a:prstGeom>
          <a:noFill/>
          <a:ln w="19050">
            <a:solidFill>
              <a:schemeClr val="accent6"/>
            </a:solidFill>
            <a:prstDash val="solid"/>
          </a:ln>
        </p:spPr>
        <p:txBody>
          <a:bodyPr/>
          <a:lstStyle/>
          <a:p>
            <a:endParaRPr lang="en-US"/>
          </a:p>
        </p:txBody>
      </p:sp>
      <p:sp>
        <p:nvSpPr>
          <p:cNvPr id="16" name="Shape 14"/>
          <p:cNvSpPr/>
          <p:nvPr/>
        </p:nvSpPr>
        <p:spPr>
          <a:xfrm flipH="1">
            <a:off x="3236976" y="2720340"/>
            <a:ext cx="813816" cy="964692"/>
          </a:xfrm>
          <a:prstGeom prst="line">
            <a:avLst/>
          </a:prstGeom>
          <a:noFill/>
          <a:ln w="50800">
            <a:solidFill>
              <a:schemeClr val="accent2"/>
            </a:solidFill>
            <a:prstDash val="solid"/>
          </a:ln>
        </p:spPr>
        <p:txBody>
          <a:bodyPr/>
          <a:lstStyle/>
          <a:p>
            <a:endParaRPr lang="en-US"/>
          </a:p>
        </p:txBody>
      </p:sp>
      <p:sp>
        <p:nvSpPr>
          <p:cNvPr id="17" name="Shape 15"/>
          <p:cNvSpPr/>
          <p:nvPr/>
        </p:nvSpPr>
        <p:spPr>
          <a:xfrm>
            <a:off x="1609344" y="3685032"/>
            <a:ext cx="1627632" cy="0"/>
          </a:xfrm>
          <a:prstGeom prst="line">
            <a:avLst/>
          </a:prstGeom>
          <a:noFill/>
          <a:ln w="50800">
            <a:solidFill>
              <a:schemeClr val="accent2"/>
            </a:solidFill>
            <a:prstDash val="solid"/>
          </a:ln>
        </p:spPr>
        <p:txBody>
          <a:bodyPr/>
          <a:lstStyle/>
          <a:p>
            <a:endParaRPr lang="en-US"/>
          </a:p>
        </p:txBody>
      </p:sp>
      <p:sp>
        <p:nvSpPr>
          <p:cNvPr id="18" name="Text 16"/>
          <p:cNvSpPr txBox="1"/>
          <p:nvPr/>
        </p:nvSpPr>
        <p:spPr>
          <a:xfrm>
            <a:off x="1952244" y="2055114"/>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19" name="Text 17"/>
          <p:cNvSpPr txBox="1"/>
          <p:nvPr/>
        </p:nvSpPr>
        <p:spPr>
          <a:xfrm>
            <a:off x="3579876" y="2055114"/>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9</a:t>
            </a:r>
            <a:endParaRPr lang="en-US" sz="1200" dirty="0"/>
          </a:p>
        </p:txBody>
      </p:sp>
      <p:sp>
        <p:nvSpPr>
          <p:cNvPr id="20" name="Text 18"/>
          <p:cNvSpPr txBox="1"/>
          <p:nvPr/>
        </p:nvSpPr>
        <p:spPr>
          <a:xfrm>
            <a:off x="1453896" y="2610612"/>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2</a:t>
            </a:r>
            <a:endParaRPr lang="en-US" sz="1200" dirty="0"/>
          </a:p>
        </p:txBody>
      </p:sp>
      <p:sp>
        <p:nvSpPr>
          <p:cNvPr id="21" name="Text 19"/>
          <p:cNvSpPr txBox="1"/>
          <p:nvPr/>
        </p:nvSpPr>
        <p:spPr>
          <a:xfrm>
            <a:off x="3081528" y="2610612"/>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7</a:t>
            </a:r>
            <a:endParaRPr lang="en-US" sz="1200" dirty="0"/>
          </a:p>
        </p:txBody>
      </p:sp>
      <p:sp>
        <p:nvSpPr>
          <p:cNvPr id="22" name="Text 20"/>
          <p:cNvSpPr txBox="1"/>
          <p:nvPr/>
        </p:nvSpPr>
        <p:spPr>
          <a:xfrm>
            <a:off x="3579876" y="3166110"/>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6</a:t>
            </a:r>
            <a:endParaRPr lang="en-US" sz="1200" dirty="0"/>
          </a:p>
        </p:txBody>
      </p:sp>
      <p:sp>
        <p:nvSpPr>
          <p:cNvPr id="23" name="Text 21"/>
          <p:cNvSpPr txBox="1"/>
          <p:nvPr/>
        </p:nvSpPr>
        <p:spPr>
          <a:xfrm>
            <a:off x="2267712" y="3575304"/>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24" name="Shape 22"/>
          <p:cNvSpPr/>
          <p:nvPr/>
        </p:nvSpPr>
        <p:spPr>
          <a:xfrm>
            <a:off x="1453896" y="1600200"/>
            <a:ext cx="310896" cy="310896"/>
          </a:xfrm>
          <a:prstGeom prst="ellipse">
            <a:avLst/>
          </a:prstGeom>
          <a:solidFill>
            <a:schemeClr val="bg1"/>
          </a:solidFill>
          <a:ln w="19050">
            <a:solidFill>
              <a:schemeClr val="accent1"/>
            </a:solidFill>
            <a:prstDash val="solid"/>
          </a:ln>
        </p:spPr>
        <p:txBody>
          <a:bodyPr/>
          <a:lstStyle/>
          <a:p>
            <a:endParaRPr lang="en-US"/>
          </a:p>
        </p:txBody>
      </p:sp>
      <p:sp>
        <p:nvSpPr>
          <p:cNvPr id="25" name="Text 23"/>
          <p:cNvSpPr txBox="1"/>
          <p:nvPr/>
        </p:nvSpPr>
        <p:spPr>
          <a:xfrm>
            <a:off x="1453896" y="1600200"/>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a</a:t>
            </a:r>
            <a:endParaRPr lang="en-US" sz="1300" dirty="0"/>
          </a:p>
        </p:txBody>
      </p:sp>
      <p:sp>
        <p:nvSpPr>
          <p:cNvPr id="26" name="Shape 24"/>
          <p:cNvSpPr/>
          <p:nvPr/>
        </p:nvSpPr>
        <p:spPr>
          <a:xfrm>
            <a:off x="3081528" y="1600200"/>
            <a:ext cx="310896" cy="310896"/>
          </a:xfrm>
          <a:prstGeom prst="ellipse">
            <a:avLst/>
          </a:prstGeom>
          <a:solidFill>
            <a:schemeClr val="bg1"/>
          </a:solidFill>
          <a:ln w="19050">
            <a:solidFill>
              <a:schemeClr val="accent1"/>
            </a:solidFill>
            <a:prstDash val="solid"/>
          </a:ln>
        </p:spPr>
        <p:txBody>
          <a:bodyPr/>
          <a:lstStyle/>
          <a:p>
            <a:endParaRPr lang="en-US"/>
          </a:p>
        </p:txBody>
      </p:sp>
      <p:sp>
        <p:nvSpPr>
          <p:cNvPr id="27" name="Text 25"/>
          <p:cNvSpPr txBox="1"/>
          <p:nvPr/>
        </p:nvSpPr>
        <p:spPr>
          <a:xfrm>
            <a:off x="3081528" y="1600200"/>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b</a:t>
            </a:r>
            <a:endParaRPr lang="en-US" sz="1300" dirty="0"/>
          </a:p>
        </p:txBody>
      </p:sp>
      <p:sp>
        <p:nvSpPr>
          <p:cNvPr id="28" name="Shape 26"/>
          <p:cNvSpPr/>
          <p:nvPr/>
        </p:nvSpPr>
        <p:spPr>
          <a:xfrm>
            <a:off x="640080" y="2564892"/>
            <a:ext cx="310896" cy="310896"/>
          </a:xfrm>
          <a:prstGeom prst="ellipse">
            <a:avLst/>
          </a:prstGeom>
          <a:solidFill>
            <a:schemeClr val="bg1"/>
          </a:solidFill>
          <a:ln w="19050">
            <a:solidFill>
              <a:schemeClr val="accent1"/>
            </a:solidFill>
            <a:prstDash val="solid"/>
          </a:ln>
        </p:spPr>
        <p:txBody>
          <a:bodyPr/>
          <a:lstStyle/>
          <a:p>
            <a:endParaRPr lang="en-US"/>
          </a:p>
        </p:txBody>
      </p:sp>
      <p:sp>
        <p:nvSpPr>
          <p:cNvPr id="29" name="Text 27"/>
          <p:cNvSpPr txBox="1"/>
          <p:nvPr/>
        </p:nvSpPr>
        <p:spPr>
          <a:xfrm>
            <a:off x="640080" y="2564892"/>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c</a:t>
            </a:r>
            <a:endParaRPr lang="en-US" sz="1300" dirty="0"/>
          </a:p>
        </p:txBody>
      </p:sp>
      <p:sp>
        <p:nvSpPr>
          <p:cNvPr id="30" name="Shape 28"/>
          <p:cNvSpPr/>
          <p:nvPr/>
        </p:nvSpPr>
        <p:spPr>
          <a:xfrm>
            <a:off x="2267712" y="2564892"/>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1" name="Text 29"/>
          <p:cNvSpPr txBox="1"/>
          <p:nvPr/>
        </p:nvSpPr>
        <p:spPr>
          <a:xfrm>
            <a:off x="2267712" y="2564892"/>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d</a:t>
            </a:r>
            <a:endParaRPr lang="en-US" sz="1300" dirty="0"/>
          </a:p>
        </p:txBody>
      </p:sp>
      <p:sp>
        <p:nvSpPr>
          <p:cNvPr id="32" name="Shape 30"/>
          <p:cNvSpPr/>
          <p:nvPr/>
        </p:nvSpPr>
        <p:spPr>
          <a:xfrm>
            <a:off x="3895344" y="2564892"/>
            <a:ext cx="310896" cy="310896"/>
          </a:xfrm>
          <a:prstGeom prst="ellipse">
            <a:avLst/>
          </a:prstGeom>
          <a:solidFill>
            <a:schemeClr val="accent1"/>
          </a:solidFill>
          <a:ln w="19050">
            <a:solidFill>
              <a:schemeClr val="accent1"/>
            </a:solidFill>
            <a:prstDash val="solid"/>
          </a:ln>
        </p:spPr>
        <p:txBody>
          <a:bodyPr/>
          <a:lstStyle/>
          <a:p>
            <a:endParaRPr lang="en-US"/>
          </a:p>
        </p:txBody>
      </p:sp>
      <p:sp>
        <p:nvSpPr>
          <p:cNvPr id="33" name="Text 31"/>
          <p:cNvSpPr txBox="1"/>
          <p:nvPr/>
        </p:nvSpPr>
        <p:spPr>
          <a:xfrm>
            <a:off x="3895344" y="2564892"/>
            <a:ext cx="310896" cy="310896"/>
          </a:xfrm>
          <a:prstGeom prst="rect">
            <a:avLst/>
          </a:prstGeom>
          <a:noFill/>
          <a:ln/>
        </p:spPr>
        <p:txBody>
          <a:bodyPr wrap="square" lIns="0" tIns="0" rIns="0" bIns="0" rtlCol="0" anchor="ctr"/>
          <a:lstStyle/>
          <a:p>
            <a:pPr marL="0" indent="0" algn="ctr">
              <a:buNone/>
            </a:pPr>
            <a:r>
              <a:rPr lang="en-US" sz="1300" b="1" i="1" dirty="0">
                <a:solidFill>
                  <a:schemeClr val="bg1"/>
                </a:solidFill>
              </a:rPr>
              <a:t>e</a:t>
            </a:r>
            <a:endParaRPr lang="en-US" sz="1300" dirty="0"/>
          </a:p>
        </p:txBody>
      </p:sp>
      <p:sp>
        <p:nvSpPr>
          <p:cNvPr id="34" name="Shape 32"/>
          <p:cNvSpPr/>
          <p:nvPr/>
        </p:nvSpPr>
        <p:spPr>
          <a:xfrm>
            <a:off x="1453896" y="3529584"/>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5" name="Text 33"/>
          <p:cNvSpPr txBox="1"/>
          <p:nvPr/>
        </p:nvSpPr>
        <p:spPr>
          <a:xfrm>
            <a:off x="1453896" y="3529584"/>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f</a:t>
            </a:r>
            <a:endParaRPr lang="en-US" sz="1300" dirty="0"/>
          </a:p>
        </p:txBody>
      </p:sp>
      <p:sp>
        <p:nvSpPr>
          <p:cNvPr id="36" name="Shape 34"/>
          <p:cNvSpPr/>
          <p:nvPr/>
        </p:nvSpPr>
        <p:spPr>
          <a:xfrm>
            <a:off x="3081528" y="3529584"/>
            <a:ext cx="310896" cy="310896"/>
          </a:xfrm>
          <a:prstGeom prst="ellipse">
            <a:avLst/>
          </a:prstGeom>
          <a:solidFill>
            <a:schemeClr val="bg1"/>
          </a:solidFill>
          <a:ln w="19050">
            <a:solidFill>
              <a:schemeClr val="accent1"/>
            </a:solidFill>
            <a:prstDash val="solid"/>
          </a:ln>
        </p:spPr>
        <p:txBody>
          <a:bodyPr/>
          <a:lstStyle/>
          <a:p>
            <a:endParaRPr lang="en-US"/>
          </a:p>
        </p:txBody>
      </p:sp>
      <p:sp>
        <p:nvSpPr>
          <p:cNvPr id="37" name="Text 35"/>
          <p:cNvSpPr txBox="1"/>
          <p:nvPr/>
        </p:nvSpPr>
        <p:spPr>
          <a:xfrm>
            <a:off x="3081528" y="3529584"/>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g</a:t>
            </a:r>
            <a:endParaRPr lang="en-US" sz="1300" dirty="0"/>
          </a:p>
        </p:txBody>
      </p:sp>
      <p:sp>
        <p:nvSpPr>
          <p:cNvPr id="38" name="Text 36"/>
          <p:cNvSpPr txBox="1"/>
          <p:nvPr/>
        </p:nvSpPr>
        <p:spPr>
          <a:xfrm>
            <a:off x="457200" y="1325880"/>
            <a:ext cx="3931920" cy="256032"/>
          </a:xfrm>
          <a:prstGeom prst="rect">
            <a:avLst/>
          </a:prstGeom>
          <a:noFill/>
          <a:ln/>
        </p:spPr>
        <p:txBody>
          <a:bodyPr wrap="square" lIns="0" tIns="0" rIns="0" bIns="0" rtlCol="0" anchor="t"/>
          <a:lstStyle/>
          <a:p>
            <a:pPr marL="0" indent="0" algn="ctr">
              <a:buNone/>
            </a:pPr>
            <a:r>
              <a:rPr lang="en-US" sz="1300" b="1" dirty="0">
                <a:solidFill>
                  <a:schemeClr val="accent3"/>
                </a:solidFill>
              </a:rPr>
              <a:t>dist:  a 8 · b 9 · c 9 · d 7 · e 0 · f 7 · g 6</a:t>
            </a:r>
            <a:endParaRPr lang="en-US" sz="1300" dirty="0"/>
          </a:p>
        </p:txBody>
      </p:sp>
      <p:sp>
        <p:nvSpPr>
          <p:cNvPr id="39" name="Text 37"/>
          <p:cNvSpPr txBox="1"/>
          <p:nvPr/>
        </p:nvSpPr>
        <p:spPr>
          <a:xfrm>
            <a:off x="4754880" y="1051560"/>
            <a:ext cx="3931920" cy="292608"/>
          </a:xfrm>
          <a:prstGeom prst="rect">
            <a:avLst/>
          </a:prstGeom>
          <a:noFill/>
          <a:ln/>
        </p:spPr>
        <p:txBody>
          <a:bodyPr wrap="square" lIns="0" tIns="0" rIns="0" bIns="0" rtlCol="0" anchor="t"/>
          <a:lstStyle/>
          <a:p>
            <a:pPr marL="0" indent="0" algn="ctr">
              <a:buNone/>
            </a:pPr>
            <a:r>
              <a:rPr lang="en-US" sz="1500" b="1" dirty="0">
                <a:solidFill>
                  <a:schemeClr val="tx2"/>
                </a:solidFill>
              </a:rPr>
              <a:t>MST from Q82</a:t>
            </a:r>
            <a:endParaRPr lang="en-US" sz="1500" dirty="0"/>
          </a:p>
        </p:txBody>
      </p:sp>
      <p:sp>
        <p:nvSpPr>
          <p:cNvPr id="40" name="Shape 38"/>
          <p:cNvSpPr/>
          <p:nvPr/>
        </p:nvSpPr>
        <p:spPr>
          <a:xfrm>
            <a:off x="5907024" y="1755648"/>
            <a:ext cx="1627632" cy="0"/>
          </a:xfrm>
          <a:prstGeom prst="line">
            <a:avLst/>
          </a:prstGeom>
          <a:noFill/>
          <a:ln w="50800">
            <a:solidFill>
              <a:schemeClr val="accent2"/>
            </a:solidFill>
            <a:prstDash val="solid"/>
          </a:ln>
        </p:spPr>
        <p:txBody>
          <a:bodyPr/>
          <a:lstStyle/>
          <a:p>
            <a:endParaRPr lang="en-US"/>
          </a:p>
        </p:txBody>
      </p:sp>
      <p:sp>
        <p:nvSpPr>
          <p:cNvPr id="41" name="Shape 39"/>
          <p:cNvSpPr/>
          <p:nvPr/>
        </p:nvSpPr>
        <p:spPr>
          <a:xfrm flipH="1">
            <a:off x="5093208" y="1755648"/>
            <a:ext cx="813816" cy="964692"/>
          </a:xfrm>
          <a:prstGeom prst="line">
            <a:avLst/>
          </a:prstGeom>
          <a:noFill/>
          <a:ln w="19050">
            <a:solidFill>
              <a:schemeClr val="accent6"/>
            </a:solidFill>
            <a:prstDash val="solid"/>
          </a:ln>
        </p:spPr>
        <p:txBody>
          <a:bodyPr/>
          <a:lstStyle/>
          <a:p>
            <a:endParaRPr lang="en-US"/>
          </a:p>
        </p:txBody>
      </p:sp>
      <p:sp>
        <p:nvSpPr>
          <p:cNvPr id="42" name="Shape 40"/>
          <p:cNvSpPr/>
          <p:nvPr/>
        </p:nvSpPr>
        <p:spPr>
          <a:xfrm>
            <a:off x="5907024" y="1755648"/>
            <a:ext cx="813816" cy="964692"/>
          </a:xfrm>
          <a:prstGeom prst="line">
            <a:avLst/>
          </a:prstGeom>
          <a:noFill/>
          <a:ln w="50800">
            <a:solidFill>
              <a:schemeClr val="accent2"/>
            </a:solidFill>
            <a:prstDash val="solid"/>
          </a:ln>
        </p:spPr>
        <p:txBody>
          <a:bodyPr/>
          <a:lstStyle/>
          <a:p>
            <a:endParaRPr lang="en-US"/>
          </a:p>
        </p:txBody>
      </p:sp>
      <p:sp>
        <p:nvSpPr>
          <p:cNvPr id="43" name="Shape 41"/>
          <p:cNvSpPr/>
          <p:nvPr/>
        </p:nvSpPr>
        <p:spPr>
          <a:xfrm flipH="1">
            <a:off x="6720840" y="1755648"/>
            <a:ext cx="813816" cy="964692"/>
          </a:xfrm>
          <a:prstGeom prst="line">
            <a:avLst/>
          </a:prstGeom>
          <a:noFill/>
          <a:ln w="19050">
            <a:solidFill>
              <a:schemeClr val="accent6"/>
            </a:solidFill>
            <a:prstDash val="solid"/>
          </a:ln>
        </p:spPr>
        <p:txBody>
          <a:bodyPr/>
          <a:lstStyle/>
          <a:p>
            <a:endParaRPr lang="en-US"/>
          </a:p>
        </p:txBody>
      </p:sp>
      <p:sp>
        <p:nvSpPr>
          <p:cNvPr id="44" name="Shape 42"/>
          <p:cNvSpPr/>
          <p:nvPr/>
        </p:nvSpPr>
        <p:spPr>
          <a:xfrm>
            <a:off x="7534656" y="1755648"/>
            <a:ext cx="813816" cy="964692"/>
          </a:xfrm>
          <a:prstGeom prst="line">
            <a:avLst/>
          </a:prstGeom>
          <a:noFill/>
          <a:ln w="19050">
            <a:solidFill>
              <a:schemeClr val="accent6"/>
            </a:solidFill>
            <a:prstDash val="solid"/>
          </a:ln>
        </p:spPr>
        <p:txBody>
          <a:bodyPr/>
          <a:lstStyle/>
          <a:p>
            <a:endParaRPr lang="en-US"/>
          </a:p>
        </p:txBody>
      </p:sp>
      <p:sp>
        <p:nvSpPr>
          <p:cNvPr id="45" name="Shape 43"/>
          <p:cNvSpPr/>
          <p:nvPr/>
        </p:nvSpPr>
        <p:spPr>
          <a:xfrm>
            <a:off x="5093208" y="2720340"/>
            <a:ext cx="1627632" cy="0"/>
          </a:xfrm>
          <a:prstGeom prst="line">
            <a:avLst/>
          </a:prstGeom>
          <a:noFill/>
          <a:ln w="50800">
            <a:solidFill>
              <a:schemeClr val="accent2"/>
            </a:solidFill>
            <a:prstDash val="solid"/>
          </a:ln>
        </p:spPr>
        <p:txBody>
          <a:bodyPr/>
          <a:lstStyle/>
          <a:p>
            <a:endParaRPr lang="en-US"/>
          </a:p>
        </p:txBody>
      </p:sp>
      <p:sp>
        <p:nvSpPr>
          <p:cNvPr id="46" name="Shape 44"/>
          <p:cNvSpPr/>
          <p:nvPr/>
        </p:nvSpPr>
        <p:spPr>
          <a:xfrm>
            <a:off x="6720840" y="2720340"/>
            <a:ext cx="1627632" cy="0"/>
          </a:xfrm>
          <a:prstGeom prst="line">
            <a:avLst/>
          </a:prstGeom>
          <a:noFill/>
          <a:ln w="19050">
            <a:solidFill>
              <a:schemeClr val="accent6"/>
            </a:solidFill>
            <a:prstDash val="solid"/>
          </a:ln>
        </p:spPr>
        <p:txBody>
          <a:bodyPr/>
          <a:lstStyle/>
          <a:p>
            <a:endParaRPr lang="en-US"/>
          </a:p>
        </p:txBody>
      </p:sp>
      <p:sp>
        <p:nvSpPr>
          <p:cNvPr id="47" name="Shape 45"/>
          <p:cNvSpPr/>
          <p:nvPr/>
        </p:nvSpPr>
        <p:spPr>
          <a:xfrm>
            <a:off x="5093208" y="2720340"/>
            <a:ext cx="813816" cy="964692"/>
          </a:xfrm>
          <a:prstGeom prst="line">
            <a:avLst/>
          </a:prstGeom>
          <a:noFill/>
          <a:ln w="19050">
            <a:solidFill>
              <a:schemeClr val="accent6"/>
            </a:solidFill>
            <a:prstDash val="solid"/>
          </a:ln>
        </p:spPr>
        <p:txBody>
          <a:bodyPr/>
          <a:lstStyle/>
          <a:p>
            <a:endParaRPr lang="en-US"/>
          </a:p>
        </p:txBody>
      </p:sp>
      <p:sp>
        <p:nvSpPr>
          <p:cNvPr id="48" name="Shape 46"/>
          <p:cNvSpPr/>
          <p:nvPr/>
        </p:nvSpPr>
        <p:spPr>
          <a:xfrm flipH="1">
            <a:off x="5907024" y="2720340"/>
            <a:ext cx="813816" cy="964692"/>
          </a:xfrm>
          <a:prstGeom prst="line">
            <a:avLst/>
          </a:prstGeom>
          <a:noFill/>
          <a:ln w="19050">
            <a:solidFill>
              <a:schemeClr val="accent6"/>
            </a:solidFill>
            <a:prstDash val="solid"/>
          </a:ln>
        </p:spPr>
        <p:txBody>
          <a:bodyPr/>
          <a:lstStyle/>
          <a:p>
            <a:endParaRPr lang="en-US"/>
          </a:p>
        </p:txBody>
      </p:sp>
      <p:sp>
        <p:nvSpPr>
          <p:cNvPr id="49" name="Shape 47"/>
          <p:cNvSpPr/>
          <p:nvPr/>
        </p:nvSpPr>
        <p:spPr>
          <a:xfrm>
            <a:off x="6720840" y="2720340"/>
            <a:ext cx="813816" cy="964692"/>
          </a:xfrm>
          <a:prstGeom prst="line">
            <a:avLst/>
          </a:prstGeom>
          <a:noFill/>
          <a:ln w="50800">
            <a:solidFill>
              <a:schemeClr val="accent2"/>
            </a:solidFill>
            <a:prstDash val="solid"/>
          </a:ln>
        </p:spPr>
        <p:txBody>
          <a:bodyPr/>
          <a:lstStyle/>
          <a:p>
            <a:endParaRPr lang="en-US"/>
          </a:p>
        </p:txBody>
      </p:sp>
      <p:sp>
        <p:nvSpPr>
          <p:cNvPr id="50" name="Shape 48"/>
          <p:cNvSpPr/>
          <p:nvPr/>
        </p:nvSpPr>
        <p:spPr>
          <a:xfrm flipH="1">
            <a:off x="7534656" y="2720340"/>
            <a:ext cx="813816" cy="964692"/>
          </a:xfrm>
          <a:prstGeom prst="line">
            <a:avLst/>
          </a:prstGeom>
          <a:noFill/>
          <a:ln w="50800">
            <a:solidFill>
              <a:schemeClr val="accent2"/>
            </a:solidFill>
            <a:prstDash val="solid"/>
          </a:ln>
        </p:spPr>
        <p:txBody>
          <a:bodyPr/>
          <a:lstStyle/>
          <a:p>
            <a:endParaRPr lang="en-US"/>
          </a:p>
        </p:txBody>
      </p:sp>
      <p:sp>
        <p:nvSpPr>
          <p:cNvPr id="51" name="Shape 49"/>
          <p:cNvSpPr/>
          <p:nvPr/>
        </p:nvSpPr>
        <p:spPr>
          <a:xfrm>
            <a:off x="5907024" y="3685032"/>
            <a:ext cx="1627632" cy="0"/>
          </a:xfrm>
          <a:prstGeom prst="line">
            <a:avLst/>
          </a:prstGeom>
          <a:noFill/>
          <a:ln w="50800">
            <a:solidFill>
              <a:schemeClr val="accent2"/>
            </a:solidFill>
            <a:prstDash val="solid"/>
          </a:ln>
        </p:spPr>
        <p:txBody>
          <a:bodyPr/>
          <a:lstStyle/>
          <a:p>
            <a:endParaRPr lang="en-US"/>
          </a:p>
        </p:txBody>
      </p:sp>
      <p:sp>
        <p:nvSpPr>
          <p:cNvPr id="52" name="Text 50"/>
          <p:cNvSpPr txBox="1"/>
          <p:nvPr/>
        </p:nvSpPr>
        <p:spPr>
          <a:xfrm>
            <a:off x="6565392" y="1645920"/>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2</a:t>
            </a:r>
            <a:endParaRPr lang="en-US" sz="1200" dirty="0"/>
          </a:p>
        </p:txBody>
      </p:sp>
      <p:sp>
        <p:nvSpPr>
          <p:cNvPr id="53" name="Text 51"/>
          <p:cNvSpPr txBox="1"/>
          <p:nvPr/>
        </p:nvSpPr>
        <p:spPr>
          <a:xfrm>
            <a:off x="6249924" y="2055114"/>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54" name="Text 52"/>
          <p:cNvSpPr txBox="1"/>
          <p:nvPr/>
        </p:nvSpPr>
        <p:spPr>
          <a:xfrm>
            <a:off x="5751576" y="2610612"/>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2</a:t>
            </a:r>
            <a:endParaRPr lang="en-US" sz="1200" dirty="0"/>
          </a:p>
        </p:txBody>
      </p:sp>
      <p:sp>
        <p:nvSpPr>
          <p:cNvPr id="55" name="Text 53"/>
          <p:cNvSpPr txBox="1"/>
          <p:nvPr/>
        </p:nvSpPr>
        <p:spPr>
          <a:xfrm>
            <a:off x="7045452" y="3147822"/>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4</a:t>
            </a:r>
            <a:endParaRPr lang="en-US" sz="1200" dirty="0"/>
          </a:p>
        </p:txBody>
      </p:sp>
      <p:sp>
        <p:nvSpPr>
          <p:cNvPr id="56" name="Text 54"/>
          <p:cNvSpPr txBox="1"/>
          <p:nvPr/>
        </p:nvSpPr>
        <p:spPr>
          <a:xfrm>
            <a:off x="7877556" y="3166110"/>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6</a:t>
            </a:r>
            <a:endParaRPr lang="en-US" sz="1200" dirty="0"/>
          </a:p>
        </p:txBody>
      </p:sp>
      <p:sp>
        <p:nvSpPr>
          <p:cNvPr id="57" name="Text 55"/>
          <p:cNvSpPr txBox="1"/>
          <p:nvPr/>
        </p:nvSpPr>
        <p:spPr>
          <a:xfrm>
            <a:off x="6565392" y="3575304"/>
            <a:ext cx="310896" cy="219456"/>
          </a:xfrm>
          <a:prstGeom prst="rect">
            <a:avLst/>
          </a:prstGeom>
          <a:solidFill>
            <a:schemeClr val="bg1"/>
          </a:solid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58" name="Shape 56"/>
          <p:cNvSpPr/>
          <p:nvPr/>
        </p:nvSpPr>
        <p:spPr>
          <a:xfrm>
            <a:off x="5751576" y="1600200"/>
            <a:ext cx="310896" cy="310896"/>
          </a:xfrm>
          <a:prstGeom prst="ellipse">
            <a:avLst/>
          </a:prstGeom>
          <a:solidFill>
            <a:schemeClr val="bg1"/>
          </a:solidFill>
          <a:ln w="19050">
            <a:solidFill>
              <a:schemeClr val="accent1"/>
            </a:solidFill>
            <a:prstDash val="solid"/>
          </a:ln>
        </p:spPr>
        <p:txBody>
          <a:bodyPr/>
          <a:lstStyle/>
          <a:p>
            <a:endParaRPr lang="en-US"/>
          </a:p>
        </p:txBody>
      </p:sp>
      <p:sp>
        <p:nvSpPr>
          <p:cNvPr id="59" name="Text 57"/>
          <p:cNvSpPr txBox="1"/>
          <p:nvPr/>
        </p:nvSpPr>
        <p:spPr>
          <a:xfrm>
            <a:off x="5751576" y="1600200"/>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a</a:t>
            </a:r>
            <a:endParaRPr lang="en-US" sz="1300" dirty="0"/>
          </a:p>
        </p:txBody>
      </p:sp>
      <p:sp>
        <p:nvSpPr>
          <p:cNvPr id="60" name="Shape 58"/>
          <p:cNvSpPr/>
          <p:nvPr/>
        </p:nvSpPr>
        <p:spPr>
          <a:xfrm>
            <a:off x="7379208" y="1600200"/>
            <a:ext cx="310896" cy="310896"/>
          </a:xfrm>
          <a:prstGeom prst="ellipse">
            <a:avLst/>
          </a:prstGeom>
          <a:solidFill>
            <a:schemeClr val="bg1"/>
          </a:solidFill>
          <a:ln w="19050">
            <a:solidFill>
              <a:schemeClr val="accent1"/>
            </a:solidFill>
            <a:prstDash val="solid"/>
          </a:ln>
        </p:spPr>
        <p:txBody>
          <a:bodyPr/>
          <a:lstStyle/>
          <a:p>
            <a:endParaRPr lang="en-US"/>
          </a:p>
        </p:txBody>
      </p:sp>
      <p:sp>
        <p:nvSpPr>
          <p:cNvPr id="61" name="Text 59"/>
          <p:cNvSpPr txBox="1"/>
          <p:nvPr/>
        </p:nvSpPr>
        <p:spPr>
          <a:xfrm>
            <a:off x="7379208" y="1600200"/>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b</a:t>
            </a:r>
            <a:endParaRPr lang="en-US" sz="1300" dirty="0"/>
          </a:p>
        </p:txBody>
      </p:sp>
      <p:sp>
        <p:nvSpPr>
          <p:cNvPr id="62" name="Shape 60"/>
          <p:cNvSpPr/>
          <p:nvPr/>
        </p:nvSpPr>
        <p:spPr>
          <a:xfrm>
            <a:off x="4937760" y="2564892"/>
            <a:ext cx="310896" cy="310896"/>
          </a:xfrm>
          <a:prstGeom prst="ellipse">
            <a:avLst/>
          </a:prstGeom>
          <a:solidFill>
            <a:schemeClr val="bg1"/>
          </a:solidFill>
          <a:ln w="19050">
            <a:solidFill>
              <a:schemeClr val="accent1"/>
            </a:solidFill>
            <a:prstDash val="solid"/>
          </a:ln>
        </p:spPr>
        <p:txBody>
          <a:bodyPr/>
          <a:lstStyle/>
          <a:p>
            <a:endParaRPr lang="en-US"/>
          </a:p>
        </p:txBody>
      </p:sp>
      <p:sp>
        <p:nvSpPr>
          <p:cNvPr id="63" name="Text 61"/>
          <p:cNvSpPr txBox="1"/>
          <p:nvPr/>
        </p:nvSpPr>
        <p:spPr>
          <a:xfrm>
            <a:off x="4937760" y="2564892"/>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c</a:t>
            </a:r>
            <a:endParaRPr lang="en-US" sz="1300" dirty="0"/>
          </a:p>
        </p:txBody>
      </p:sp>
      <p:sp>
        <p:nvSpPr>
          <p:cNvPr id="64" name="Shape 62"/>
          <p:cNvSpPr/>
          <p:nvPr/>
        </p:nvSpPr>
        <p:spPr>
          <a:xfrm>
            <a:off x="6565392" y="2564892"/>
            <a:ext cx="310896" cy="310896"/>
          </a:xfrm>
          <a:prstGeom prst="ellipse">
            <a:avLst/>
          </a:prstGeom>
          <a:solidFill>
            <a:schemeClr val="bg1"/>
          </a:solidFill>
          <a:ln w="19050">
            <a:solidFill>
              <a:schemeClr val="accent1"/>
            </a:solidFill>
            <a:prstDash val="solid"/>
          </a:ln>
        </p:spPr>
        <p:txBody>
          <a:bodyPr/>
          <a:lstStyle/>
          <a:p>
            <a:endParaRPr lang="en-US"/>
          </a:p>
        </p:txBody>
      </p:sp>
      <p:sp>
        <p:nvSpPr>
          <p:cNvPr id="65" name="Text 63"/>
          <p:cNvSpPr txBox="1"/>
          <p:nvPr/>
        </p:nvSpPr>
        <p:spPr>
          <a:xfrm>
            <a:off x="6565392" y="2564892"/>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d</a:t>
            </a:r>
            <a:endParaRPr lang="en-US" sz="1300" dirty="0"/>
          </a:p>
        </p:txBody>
      </p:sp>
      <p:sp>
        <p:nvSpPr>
          <p:cNvPr id="66" name="Shape 64"/>
          <p:cNvSpPr/>
          <p:nvPr/>
        </p:nvSpPr>
        <p:spPr>
          <a:xfrm>
            <a:off x="8193024" y="2564892"/>
            <a:ext cx="310896" cy="310896"/>
          </a:xfrm>
          <a:prstGeom prst="ellipse">
            <a:avLst/>
          </a:prstGeom>
          <a:solidFill>
            <a:schemeClr val="bg1"/>
          </a:solidFill>
          <a:ln w="19050">
            <a:solidFill>
              <a:schemeClr val="accent1"/>
            </a:solidFill>
            <a:prstDash val="solid"/>
          </a:ln>
        </p:spPr>
        <p:txBody>
          <a:bodyPr/>
          <a:lstStyle/>
          <a:p>
            <a:endParaRPr lang="en-US"/>
          </a:p>
        </p:txBody>
      </p:sp>
      <p:sp>
        <p:nvSpPr>
          <p:cNvPr id="67" name="Text 65"/>
          <p:cNvSpPr txBox="1"/>
          <p:nvPr/>
        </p:nvSpPr>
        <p:spPr>
          <a:xfrm>
            <a:off x="8193024" y="2564892"/>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e</a:t>
            </a:r>
            <a:endParaRPr lang="en-US" sz="1300" dirty="0"/>
          </a:p>
        </p:txBody>
      </p:sp>
      <p:sp>
        <p:nvSpPr>
          <p:cNvPr id="68" name="Shape 66"/>
          <p:cNvSpPr/>
          <p:nvPr/>
        </p:nvSpPr>
        <p:spPr>
          <a:xfrm>
            <a:off x="5751576" y="3529584"/>
            <a:ext cx="310896" cy="310896"/>
          </a:xfrm>
          <a:prstGeom prst="ellipse">
            <a:avLst/>
          </a:prstGeom>
          <a:solidFill>
            <a:schemeClr val="bg1"/>
          </a:solidFill>
          <a:ln w="19050">
            <a:solidFill>
              <a:schemeClr val="accent1"/>
            </a:solidFill>
            <a:prstDash val="solid"/>
          </a:ln>
        </p:spPr>
        <p:txBody>
          <a:bodyPr/>
          <a:lstStyle/>
          <a:p>
            <a:endParaRPr lang="en-US"/>
          </a:p>
        </p:txBody>
      </p:sp>
      <p:sp>
        <p:nvSpPr>
          <p:cNvPr id="69" name="Text 67"/>
          <p:cNvSpPr txBox="1"/>
          <p:nvPr/>
        </p:nvSpPr>
        <p:spPr>
          <a:xfrm>
            <a:off x="5751576" y="3529584"/>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f</a:t>
            </a:r>
            <a:endParaRPr lang="en-US" sz="1300" dirty="0"/>
          </a:p>
        </p:txBody>
      </p:sp>
      <p:sp>
        <p:nvSpPr>
          <p:cNvPr id="70" name="Shape 68"/>
          <p:cNvSpPr/>
          <p:nvPr/>
        </p:nvSpPr>
        <p:spPr>
          <a:xfrm>
            <a:off x="7379208" y="3529584"/>
            <a:ext cx="310896" cy="310896"/>
          </a:xfrm>
          <a:prstGeom prst="ellipse">
            <a:avLst/>
          </a:prstGeom>
          <a:solidFill>
            <a:schemeClr val="bg1"/>
          </a:solidFill>
          <a:ln w="19050">
            <a:solidFill>
              <a:schemeClr val="accent1"/>
            </a:solidFill>
            <a:prstDash val="solid"/>
          </a:ln>
        </p:spPr>
        <p:txBody>
          <a:bodyPr/>
          <a:lstStyle/>
          <a:p>
            <a:endParaRPr lang="en-US"/>
          </a:p>
        </p:txBody>
      </p:sp>
      <p:sp>
        <p:nvSpPr>
          <p:cNvPr id="71" name="Text 69"/>
          <p:cNvSpPr txBox="1"/>
          <p:nvPr/>
        </p:nvSpPr>
        <p:spPr>
          <a:xfrm>
            <a:off x="7379208" y="3529584"/>
            <a:ext cx="310896" cy="310896"/>
          </a:xfrm>
          <a:prstGeom prst="rect">
            <a:avLst/>
          </a:prstGeom>
          <a:noFill/>
          <a:ln/>
        </p:spPr>
        <p:txBody>
          <a:bodyPr wrap="square" lIns="0" tIns="0" rIns="0" bIns="0" rtlCol="0" anchor="ctr"/>
          <a:lstStyle/>
          <a:p>
            <a:pPr marL="0" indent="0" algn="ctr">
              <a:buNone/>
            </a:pPr>
            <a:r>
              <a:rPr lang="en-US" sz="1300" i="1" dirty="0">
                <a:solidFill>
                  <a:schemeClr val="tx2"/>
                </a:solidFill>
              </a:rPr>
              <a:t>g</a:t>
            </a:r>
            <a:endParaRPr lang="en-US" sz="1300" dirty="0"/>
          </a:p>
        </p:txBody>
      </p:sp>
      <p:sp>
        <p:nvSpPr>
          <p:cNvPr id="72" name="Shape 70"/>
          <p:cNvSpPr/>
          <p:nvPr/>
        </p:nvSpPr>
        <p:spPr>
          <a:xfrm>
            <a:off x="457200" y="4114800"/>
            <a:ext cx="8229600" cy="548640"/>
          </a:xfrm>
          <a:prstGeom prst="roundRect">
            <a:avLst>
              <a:gd name="adj" fmla="val 13333"/>
            </a:avLst>
          </a:prstGeom>
          <a:solidFill>
            <a:schemeClr val="bg2"/>
          </a:solidFill>
          <a:ln w="12700">
            <a:solidFill>
              <a:schemeClr val="bg2"/>
            </a:solidFill>
            <a:prstDash val="solid"/>
          </a:ln>
        </p:spPr>
        <p:txBody>
          <a:bodyPr/>
          <a:lstStyle/>
          <a:p>
            <a:endParaRPr lang="en-US"/>
          </a:p>
        </p:txBody>
      </p:sp>
      <p:sp>
        <p:nvSpPr>
          <p:cNvPr id="73" name="Text 71"/>
          <p:cNvSpPr txBox="1"/>
          <p:nvPr/>
        </p:nvSpPr>
        <p:spPr>
          <a:xfrm>
            <a:off x="685800" y="4114800"/>
            <a:ext cx="7772400" cy="548640"/>
          </a:xfrm>
          <a:prstGeom prst="rect">
            <a:avLst/>
          </a:prstGeom>
          <a:noFill/>
          <a:ln/>
        </p:spPr>
        <p:txBody>
          <a:bodyPr wrap="square" lIns="0" tIns="0" rIns="0" bIns="0" rtlCol="0" anchor="ctr"/>
          <a:lstStyle/>
          <a:p>
            <a:pPr marL="0" indent="0">
              <a:buNone/>
            </a:pPr>
            <a:r>
              <a:rPr lang="en-US" sz="1400" b="1" dirty="0">
                <a:solidFill>
                  <a:schemeClr val="tx2"/>
                </a:solidFill>
              </a:rPr>
              <a:t>Is the shortest path e → b in the MST? </a:t>
            </a:r>
            <a:r>
              <a:rPr lang="en-US" sz="1400" dirty="0">
                <a:solidFill>
                  <a:schemeClr val="tx1"/>
                </a:solidFill>
              </a:rPr>
              <a:t>No. It is the direct edge e–b (9), which the MST leaves out; the MST route e–g–d–a–b costs 13.</a:t>
            </a:r>
            <a:endParaRPr lang="en-US" sz="1400" dirty="0"/>
          </a:p>
        </p:txBody>
      </p:sp>
      <p:sp>
        <p:nvSpPr>
          <p:cNvPr id="7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84</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Huffman coding: the input</a:t>
            </a:r>
            <a:endParaRPr lang="en-US" sz="2800" dirty="0"/>
          </a:p>
        </p:txBody>
      </p:sp>
      <p:sp>
        <p:nvSpPr>
          <p:cNvPr id="5" name="Text 3"/>
          <p:cNvSpPr txBox="1"/>
          <p:nvPr/>
        </p:nvSpPr>
        <p:spPr>
          <a:xfrm>
            <a:off x="457200" y="1097280"/>
            <a:ext cx="8229600" cy="365760"/>
          </a:xfrm>
          <a:prstGeom prst="rect">
            <a:avLst/>
          </a:prstGeom>
          <a:noFill/>
          <a:ln/>
        </p:spPr>
        <p:txBody>
          <a:bodyPr wrap="square" lIns="0" tIns="0" rIns="0" bIns="0" rtlCol="0" anchor="t"/>
          <a:lstStyle/>
          <a:p>
            <a:pPr marL="0" indent="0">
              <a:buNone/>
            </a:pPr>
            <a:r>
              <a:rPr lang="en-US" sz="1500" dirty="0">
                <a:solidFill>
                  <a:schemeClr val="tx1"/>
                </a:solidFill>
              </a:rPr>
              <a:t>Encode  "all big endians and all small endians"  (37 characters, 11 distinct).</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8271658" cy="841248"/>
        </p:xfrm>
        <a:graphic>
          <a:graphicData uri="http://schemas.openxmlformats.org/drawingml/2006/table">
            <a:tbl>
              <a:tblPr/>
              <a:tblGrid>
                <a:gridCol w="768096">
                  <a:extLst>
                    <a:ext uri="{9D8B030D-6E8A-4147-A177-3AD203B41FA5}">
                      <a16:colId xmlns:a16="http://schemas.microsoft.com/office/drawing/2014/main" val="20000"/>
                    </a:ext>
                  </a:extLst>
                </a:gridCol>
                <a:gridCol w="682142">
                  <a:extLst>
                    <a:ext uri="{9D8B030D-6E8A-4147-A177-3AD203B41FA5}">
                      <a16:colId xmlns:a16="http://schemas.microsoft.com/office/drawing/2014/main" val="20001"/>
                    </a:ext>
                  </a:extLst>
                </a:gridCol>
                <a:gridCol w="682142">
                  <a:extLst>
                    <a:ext uri="{9D8B030D-6E8A-4147-A177-3AD203B41FA5}">
                      <a16:colId xmlns:a16="http://schemas.microsoft.com/office/drawing/2014/main" val="20002"/>
                    </a:ext>
                  </a:extLst>
                </a:gridCol>
                <a:gridCol w="682142">
                  <a:extLst>
                    <a:ext uri="{9D8B030D-6E8A-4147-A177-3AD203B41FA5}">
                      <a16:colId xmlns:a16="http://schemas.microsoft.com/office/drawing/2014/main" val="20003"/>
                    </a:ext>
                  </a:extLst>
                </a:gridCol>
                <a:gridCol w="682142">
                  <a:extLst>
                    <a:ext uri="{9D8B030D-6E8A-4147-A177-3AD203B41FA5}">
                      <a16:colId xmlns:a16="http://schemas.microsoft.com/office/drawing/2014/main" val="20004"/>
                    </a:ext>
                  </a:extLst>
                </a:gridCol>
                <a:gridCol w="682142">
                  <a:extLst>
                    <a:ext uri="{9D8B030D-6E8A-4147-A177-3AD203B41FA5}">
                      <a16:colId xmlns:a16="http://schemas.microsoft.com/office/drawing/2014/main" val="20005"/>
                    </a:ext>
                  </a:extLst>
                </a:gridCol>
                <a:gridCol w="682142">
                  <a:extLst>
                    <a:ext uri="{9D8B030D-6E8A-4147-A177-3AD203B41FA5}">
                      <a16:colId xmlns:a16="http://schemas.microsoft.com/office/drawing/2014/main" val="20006"/>
                    </a:ext>
                  </a:extLst>
                </a:gridCol>
                <a:gridCol w="682142">
                  <a:extLst>
                    <a:ext uri="{9D8B030D-6E8A-4147-A177-3AD203B41FA5}">
                      <a16:colId xmlns:a16="http://schemas.microsoft.com/office/drawing/2014/main" val="20007"/>
                    </a:ext>
                  </a:extLst>
                </a:gridCol>
                <a:gridCol w="682142">
                  <a:extLst>
                    <a:ext uri="{9D8B030D-6E8A-4147-A177-3AD203B41FA5}">
                      <a16:colId xmlns:a16="http://schemas.microsoft.com/office/drawing/2014/main" val="20008"/>
                    </a:ext>
                  </a:extLst>
                </a:gridCol>
                <a:gridCol w="682142">
                  <a:extLst>
                    <a:ext uri="{9D8B030D-6E8A-4147-A177-3AD203B41FA5}">
                      <a16:colId xmlns:a16="http://schemas.microsoft.com/office/drawing/2014/main" val="20009"/>
                    </a:ext>
                  </a:extLst>
                </a:gridCol>
                <a:gridCol w="682142">
                  <a:extLst>
                    <a:ext uri="{9D8B030D-6E8A-4147-A177-3AD203B41FA5}">
                      <a16:colId xmlns:a16="http://schemas.microsoft.com/office/drawing/2014/main" val="20010"/>
                    </a:ext>
                  </a:extLst>
                </a:gridCol>
                <a:gridCol w="682142">
                  <a:extLst>
                    <a:ext uri="{9D8B030D-6E8A-4147-A177-3AD203B41FA5}">
                      <a16:colId xmlns:a16="http://schemas.microsoft.com/office/drawing/2014/main" val="20011"/>
                    </a:ext>
                  </a:extLst>
                </a:gridCol>
              </a:tblGrid>
              <a:tr h="420624">
                <a:tc>
                  <a:txBody>
                    <a:bodyPr/>
                    <a:lstStyle/>
                    <a:p>
                      <a:pPr marL="0" indent="0" algn="ctr">
                        <a:buNone/>
                      </a:pPr>
                      <a:r>
                        <a:rPr lang="en-US" sz="1500" b="1" dirty="0">
                          <a:solidFill>
                            <a:schemeClr val="bg1"/>
                          </a:solidFill>
                        </a:rPr>
                        <a:t>char</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indent="0" algn="ctr">
                        <a:buNone/>
                      </a:pPr>
                      <a:r>
                        <a:rPr lang="en-US" sz="1500" b="1" i="1" dirty="0">
                          <a:solidFill>
                            <a:schemeClr val="bg1"/>
                          </a:solidFill>
                        </a:rPr>
                        <a:t>a</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b="1" i="1" dirty="0">
                          <a:solidFill>
                            <a:schemeClr val="bg1"/>
                          </a:solidFill>
                        </a:rPr>
                        <a:t>b</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b="1" i="1" dirty="0">
                          <a:solidFill>
                            <a:schemeClr val="bg1"/>
                          </a:solidFill>
                        </a:rPr>
                        <a:t>d</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b="1" i="1" dirty="0">
                          <a:solidFill>
                            <a:schemeClr val="bg1"/>
                          </a:solidFill>
                        </a:rPr>
                        <a:t>e</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b="1" i="1" dirty="0">
                          <a:solidFill>
                            <a:schemeClr val="bg1"/>
                          </a:solidFill>
                        </a:rPr>
                        <a:t>g</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b="1" i="1" dirty="0">
                          <a:solidFill>
                            <a:schemeClr val="bg1"/>
                          </a:solidFill>
                        </a:rPr>
                        <a:t>i</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b="1" i="1" dirty="0">
                          <a:solidFill>
                            <a:schemeClr val="bg1"/>
                          </a:solidFill>
                        </a:rPr>
                        <a:t>l</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b="1" i="1" dirty="0">
                          <a:solidFill>
                            <a:schemeClr val="bg1"/>
                          </a:solidFill>
                        </a:rPr>
                        <a:t>m</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b="1" i="1" dirty="0">
                          <a:solidFill>
                            <a:schemeClr val="bg1"/>
                          </a:solidFill>
                        </a:rPr>
                        <a:t>n</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b="1" i="1" dirty="0">
                          <a:solidFill>
                            <a:schemeClr val="bg1"/>
                          </a:solidFill>
                        </a:rPr>
                        <a:t>s</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rPr>
                        <a:t>sp</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20624">
                <a:tc>
                  <a:txBody>
                    <a:bodyPr/>
                    <a:lstStyle/>
                    <a:p>
                      <a:pPr marL="0" indent="0" algn="ctr">
                        <a:buNone/>
                      </a:pPr>
                      <a:r>
                        <a:rPr lang="en-US" sz="1500" b="1" dirty="0">
                          <a:solidFill>
                            <a:schemeClr val="tx1"/>
                          </a:solidFill>
                        </a:rPr>
                        <a:t>freq</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tc>
                  <a:txBody>
                    <a:bodyPr/>
                    <a:lstStyle/>
                    <a:p>
                      <a:pPr marL="0" indent="0" algn="ctr">
                        <a:buNone/>
                      </a:pPr>
                      <a:r>
                        <a:rPr lang="en-US" sz="1500" b="1" dirty="0">
                          <a:solidFill>
                            <a:schemeClr val="tx1"/>
                          </a:solidFill>
                        </a:rPr>
                        <a:t>6</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1</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3</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2</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1</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3</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6</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1</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5</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3</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1"/>
                          </a:solidFill>
                        </a:rPr>
                        <a:t>6</a:t>
                      </a:r>
                      <a:endParaRPr lang="en-US" sz="15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bl>
          </a:graphicData>
        </a:graphic>
      </p:graphicFrame>
      <p:sp>
        <p:nvSpPr>
          <p:cNvPr id="7" name="Text 4"/>
          <p:cNvSpPr txBox="1"/>
          <p:nvPr/>
        </p:nvSpPr>
        <p:spPr>
          <a:xfrm>
            <a:off x="457200" y="2542032"/>
            <a:ext cx="8229600" cy="256032"/>
          </a:xfrm>
          <a:prstGeom prst="rect">
            <a:avLst/>
          </a:prstGeom>
          <a:noFill/>
          <a:ln/>
        </p:spPr>
        <p:txBody>
          <a:bodyPr wrap="square" lIns="0" tIns="0" rIns="0" bIns="0" rtlCol="0" anchor="t"/>
          <a:lstStyle/>
          <a:p>
            <a:pPr marL="0" indent="0">
              <a:buNone/>
            </a:pPr>
            <a:r>
              <a:rPr lang="en-US" sz="1200" dirty="0">
                <a:solidFill>
                  <a:schemeClr val="accent5"/>
                </a:solidFill>
              </a:rPr>
              <a:t>sp = space character</a:t>
            </a:r>
            <a:endParaRPr lang="en-US" sz="1200" dirty="0"/>
          </a:p>
        </p:txBody>
      </p:sp>
      <p:sp>
        <p:nvSpPr>
          <p:cNvPr id="8" name="Shape 5"/>
          <p:cNvSpPr/>
          <p:nvPr/>
        </p:nvSpPr>
        <p:spPr>
          <a:xfrm>
            <a:off x="457200" y="2971800"/>
            <a:ext cx="402336" cy="402336"/>
          </a:xfrm>
          <a:prstGeom prst="ellipse">
            <a:avLst/>
          </a:prstGeom>
          <a:solidFill>
            <a:schemeClr val="accent2"/>
          </a:solidFill>
          <a:ln w="12700">
            <a:solidFill>
              <a:schemeClr val="accent2"/>
            </a:solidFill>
            <a:prstDash val="solid"/>
          </a:ln>
        </p:spPr>
        <p:txBody>
          <a:bodyPr/>
          <a:lstStyle/>
          <a:p>
            <a:endParaRPr lang="en-US"/>
          </a:p>
        </p:txBody>
      </p:sp>
      <p:sp>
        <p:nvSpPr>
          <p:cNvPr id="9" name="Text 6"/>
          <p:cNvSpPr txBox="1"/>
          <p:nvPr/>
        </p:nvSpPr>
        <p:spPr>
          <a:xfrm>
            <a:off x="457200" y="2971800"/>
            <a:ext cx="402336" cy="402336"/>
          </a:xfrm>
          <a:prstGeom prst="rect">
            <a:avLst/>
          </a:prstGeom>
          <a:noFill/>
          <a:ln/>
        </p:spPr>
        <p:txBody>
          <a:bodyPr wrap="square" lIns="0" tIns="0" rIns="0" bIns="0" rtlCol="0" anchor="ctr"/>
          <a:lstStyle/>
          <a:p>
            <a:pPr marL="0" indent="0" algn="ctr">
              <a:buNone/>
            </a:pPr>
            <a:r>
              <a:rPr lang="en-US" sz="1500" b="1" dirty="0">
                <a:solidFill>
                  <a:schemeClr val="tx2"/>
                </a:solidFill>
              </a:rPr>
              <a:t>1</a:t>
            </a:r>
            <a:endParaRPr lang="en-US" sz="1500" dirty="0"/>
          </a:p>
        </p:txBody>
      </p:sp>
      <p:sp>
        <p:nvSpPr>
          <p:cNvPr id="10" name="Text 7"/>
          <p:cNvSpPr txBox="1"/>
          <p:nvPr/>
        </p:nvSpPr>
        <p:spPr>
          <a:xfrm>
            <a:off x="1051560" y="2971800"/>
            <a:ext cx="7589520" cy="402336"/>
          </a:xfrm>
          <a:prstGeom prst="rect">
            <a:avLst/>
          </a:prstGeom>
          <a:noFill/>
          <a:ln/>
        </p:spPr>
        <p:txBody>
          <a:bodyPr wrap="square" lIns="0" tIns="0" rIns="0" bIns="0" rtlCol="0" anchor="ctr"/>
          <a:lstStyle/>
          <a:p>
            <a:pPr marL="0" indent="0">
              <a:buNone/>
            </a:pPr>
            <a:r>
              <a:rPr lang="en-US" sz="1500" dirty="0">
                <a:solidFill>
                  <a:schemeClr val="tx1"/>
                </a:solidFill>
              </a:rPr>
              <a:t>Make every character a one-node tree, weighted by its frequency.</a:t>
            </a:r>
            <a:endParaRPr lang="en-US" sz="1500" dirty="0"/>
          </a:p>
        </p:txBody>
      </p:sp>
      <p:sp>
        <p:nvSpPr>
          <p:cNvPr id="11" name="Shape 8"/>
          <p:cNvSpPr/>
          <p:nvPr/>
        </p:nvSpPr>
        <p:spPr>
          <a:xfrm>
            <a:off x="457200" y="3520440"/>
            <a:ext cx="402336" cy="402336"/>
          </a:xfrm>
          <a:prstGeom prst="ellipse">
            <a:avLst/>
          </a:prstGeom>
          <a:solidFill>
            <a:schemeClr val="accent2"/>
          </a:solidFill>
          <a:ln w="12700">
            <a:solidFill>
              <a:schemeClr val="accent2"/>
            </a:solidFill>
            <a:prstDash val="solid"/>
          </a:ln>
        </p:spPr>
        <p:txBody>
          <a:bodyPr/>
          <a:lstStyle/>
          <a:p>
            <a:endParaRPr lang="en-US"/>
          </a:p>
        </p:txBody>
      </p:sp>
      <p:sp>
        <p:nvSpPr>
          <p:cNvPr id="12" name="Text 9"/>
          <p:cNvSpPr txBox="1"/>
          <p:nvPr/>
        </p:nvSpPr>
        <p:spPr>
          <a:xfrm>
            <a:off x="457200" y="3520440"/>
            <a:ext cx="402336" cy="402336"/>
          </a:xfrm>
          <a:prstGeom prst="rect">
            <a:avLst/>
          </a:prstGeom>
          <a:noFill/>
          <a:ln/>
        </p:spPr>
        <p:txBody>
          <a:bodyPr wrap="square" lIns="0" tIns="0" rIns="0" bIns="0" rtlCol="0" anchor="ctr"/>
          <a:lstStyle/>
          <a:p>
            <a:pPr marL="0" indent="0" algn="ctr">
              <a:buNone/>
            </a:pPr>
            <a:r>
              <a:rPr lang="en-US" sz="1500" b="1" dirty="0">
                <a:solidFill>
                  <a:schemeClr val="tx2"/>
                </a:solidFill>
              </a:rPr>
              <a:t>2</a:t>
            </a:r>
            <a:endParaRPr lang="en-US" sz="1500" dirty="0"/>
          </a:p>
        </p:txBody>
      </p:sp>
      <p:sp>
        <p:nvSpPr>
          <p:cNvPr id="13" name="Text 10"/>
          <p:cNvSpPr txBox="1"/>
          <p:nvPr/>
        </p:nvSpPr>
        <p:spPr>
          <a:xfrm>
            <a:off x="1051560" y="3520440"/>
            <a:ext cx="7589520" cy="402336"/>
          </a:xfrm>
          <a:prstGeom prst="rect">
            <a:avLst/>
          </a:prstGeom>
          <a:noFill/>
          <a:ln/>
        </p:spPr>
        <p:txBody>
          <a:bodyPr wrap="square" lIns="0" tIns="0" rIns="0" bIns="0" rtlCol="0" anchor="ctr"/>
          <a:lstStyle/>
          <a:p>
            <a:pPr marL="0" indent="0">
              <a:buNone/>
            </a:pPr>
            <a:r>
              <a:rPr lang="en-US" sz="1500" dirty="0">
                <a:solidFill>
                  <a:schemeClr val="tx1"/>
                </a:solidFill>
              </a:rPr>
              <a:t>Remove the two lightest trees; join them under a new root whose weight is their sum.</a:t>
            </a:r>
            <a:endParaRPr lang="en-US" sz="1500" dirty="0"/>
          </a:p>
        </p:txBody>
      </p:sp>
      <p:sp>
        <p:nvSpPr>
          <p:cNvPr id="14" name="Shape 11"/>
          <p:cNvSpPr/>
          <p:nvPr/>
        </p:nvSpPr>
        <p:spPr>
          <a:xfrm>
            <a:off x="457200" y="4069080"/>
            <a:ext cx="402336" cy="402336"/>
          </a:xfrm>
          <a:prstGeom prst="ellipse">
            <a:avLst/>
          </a:prstGeom>
          <a:solidFill>
            <a:schemeClr val="accent2"/>
          </a:solidFill>
          <a:ln w="12700">
            <a:solidFill>
              <a:schemeClr val="accent2"/>
            </a:solidFill>
            <a:prstDash val="solid"/>
          </a:ln>
        </p:spPr>
        <p:txBody>
          <a:bodyPr/>
          <a:lstStyle/>
          <a:p>
            <a:endParaRPr lang="en-US"/>
          </a:p>
        </p:txBody>
      </p:sp>
      <p:sp>
        <p:nvSpPr>
          <p:cNvPr id="15" name="Text 12"/>
          <p:cNvSpPr txBox="1"/>
          <p:nvPr/>
        </p:nvSpPr>
        <p:spPr>
          <a:xfrm>
            <a:off x="457200" y="4069080"/>
            <a:ext cx="402336" cy="402336"/>
          </a:xfrm>
          <a:prstGeom prst="rect">
            <a:avLst/>
          </a:prstGeom>
          <a:noFill/>
          <a:ln/>
        </p:spPr>
        <p:txBody>
          <a:bodyPr wrap="square" lIns="0" tIns="0" rIns="0" bIns="0" rtlCol="0" anchor="ctr"/>
          <a:lstStyle/>
          <a:p>
            <a:pPr marL="0" indent="0" algn="ctr">
              <a:buNone/>
            </a:pPr>
            <a:r>
              <a:rPr lang="en-US" sz="1500" b="1" dirty="0">
                <a:solidFill>
                  <a:schemeClr val="tx2"/>
                </a:solidFill>
              </a:rPr>
              <a:t>3</a:t>
            </a:r>
            <a:endParaRPr lang="en-US" sz="1500" dirty="0"/>
          </a:p>
        </p:txBody>
      </p:sp>
      <p:sp>
        <p:nvSpPr>
          <p:cNvPr id="16" name="Text 13"/>
          <p:cNvSpPr txBox="1"/>
          <p:nvPr/>
        </p:nvSpPr>
        <p:spPr>
          <a:xfrm>
            <a:off x="1051560" y="4069080"/>
            <a:ext cx="7589520" cy="402336"/>
          </a:xfrm>
          <a:prstGeom prst="rect">
            <a:avLst/>
          </a:prstGeom>
          <a:noFill/>
          <a:ln/>
        </p:spPr>
        <p:txBody>
          <a:bodyPr wrap="square" lIns="0" tIns="0" rIns="0" bIns="0" rtlCol="0" anchor="ctr"/>
          <a:lstStyle/>
          <a:p>
            <a:pPr marL="0" indent="0">
              <a:buNone/>
            </a:pPr>
            <a:r>
              <a:rPr lang="en-US" sz="1500" dirty="0">
                <a:solidFill>
                  <a:schemeClr val="tx1"/>
                </a:solidFill>
              </a:rPr>
              <a:t>Repeat until one tree is left. Left edge = 0, right edge = 1.</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84</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The Huffman tree and its codes</a:t>
            </a:r>
            <a:endParaRPr lang="en-US" sz="2800" dirty="0"/>
          </a:p>
        </p:txBody>
      </p:sp>
      <p:sp>
        <p:nvSpPr>
          <p:cNvPr id="5" name="Shape 3"/>
          <p:cNvSpPr/>
          <p:nvPr/>
        </p:nvSpPr>
        <p:spPr>
          <a:xfrm flipH="1">
            <a:off x="1200150" y="1188720"/>
            <a:ext cx="1657350" cy="603504"/>
          </a:xfrm>
          <a:prstGeom prst="line">
            <a:avLst/>
          </a:prstGeom>
          <a:noFill/>
          <a:ln w="15875">
            <a:solidFill>
              <a:schemeClr val="accent5"/>
            </a:solidFill>
            <a:prstDash val="solid"/>
          </a:ln>
        </p:spPr>
        <p:txBody>
          <a:bodyPr/>
          <a:lstStyle/>
          <a:p>
            <a:endParaRPr lang="en-US"/>
          </a:p>
        </p:txBody>
      </p:sp>
      <p:sp>
        <p:nvSpPr>
          <p:cNvPr id="6" name="Text 4"/>
          <p:cNvSpPr txBox="1"/>
          <p:nvPr/>
        </p:nvSpPr>
        <p:spPr>
          <a:xfrm>
            <a:off x="1827657" y="1307592"/>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0</a:t>
            </a:r>
            <a:endParaRPr lang="en-US" sz="1000" dirty="0"/>
          </a:p>
        </p:txBody>
      </p:sp>
      <p:sp>
        <p:nvSpPr>
          <p:cNvPr id="7" name="Shape 5"/>
          <p:cNvSpPr/>
          <p:nvPr/>
        </p:nvSpPr>
        <p:spPr>
          <a:xfrm>
            <a:off x="2857500" y="1188720"/>
            <a:ext cx="1657350" cy="603504"/>
          </a:xfrm>
          <a:prstGeom prst="line">
            <a:avLst/>
          </a:prstGeom>
          <a:noFill/>
          <a:ln w="15875">
            <a:solidFill>
              <a:schemeClr val="accent5"/>
            </a:solidFill>
            <a:prstDash val="solid"/>
          </a:ln>
        </p:spPr>
        <p:txBody>
          <a:bodyPr/>
          <a:lstStyle/>
          <a:p>
            <a:endParaRPr lang="en-US"/>
          </a:p>
        </p:txBody>
      </p:sp>
      <p:sp>
        <p:nvSpPr>
          <p:cNvPr id="8" name="Text 6"/>
          <p:cNvSpPr txBox="1"/>
          <p:nvPr/>
        </p:nvSpPr>
        <p:spPr>
          <a:xfrm>
            <a:off x="3722751" y="1307592"/>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1</a:t>
            </a:r>
            <a:endParaRPr lang="en-US" sz="1000" dirty="0"/>
          </a:p>
        </p:txBody>
      </p:sp>
      <p:sp>
        <p:nvSpPr>
          <p:cNvPr id="9" name="Shape 7"/>
          <p:cNvSpPr/>
          <p:nvPr/>
        </p:nvSpPr>
        <p:spPr>
          <a:xfrm flipH="1">
            <a:off x="685800" y="1792224"/>
            <a:ext cx="514350" cy="603504"/>
          </a:xfrm>
          <a:prstGeom prst="line">
            <a:avLst/>
          </a:prstGeom>
          <a:noFill/>
          <a:ln w="15875">
            <a:solidFill>
              <a:schemeClr val="accent5"/>
            </a:solidFill>
            <a:prstDash val="solid"/>
          </a:ln>
        </p:spPr>
        <p:txBody>
          <a:bodyPr/>
          <a:lstStyle/>
          <a:p>
            <a:endParaRPr lang="en-US"/>
          </a:p>
        </p:txBody>
      </p:sp>
      <p:sp>
        <p:nvSpPr>
          <p:cNvPr id="10" name="Text 8"/>
          <p:cNvSpPr txBox="1"/>
          <p:nvPr/>
        </p:nvSpPr>
        <p:spPr>
          <a:xfrm>
            <a:off x="741807" y="1911096"/>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0</a:t>
            </a:r>
            <a:endParaRPr lang="en-US" sz="1000" dirty="0"/>
          </a:p>
        </p:txBody>
      </p:sp>
      <p:sp>
        <p:nvSpPr>
          <p:cNvPr id="11" name="Shape 9"/>
          <p:cNvSpPr/>
          <p:nvPr/>
        </p:nvSpPr>
        <p:spPr>
          <a:xfrm>
            <a:off x="1200150" y="1792224"/>
            <a:ext cx="514350" cy="603504"/>
          </a:xfrm>
          <a:prstGeom prst="line">
            <a:avLst/>
          </a:prstGeom>
          <a:noFill/>
          <a:ln w="15875">
            <a:solidFill>
              <a:schemeClr val="accent5"/>
            </a:solidFill>
            <a:prstDash val="solid"/>
          </a:ln>
        </p:spPr>
        <p:txBody>
          <a:bodyPr/>
          <a:lstStyle/>
          <a:p>
            <a:endParaRPr lang="en-US"/>
          </a:p>
        </p:txBody>
      </p:sp>
      <p:sp>
        <p:nvSpPr>
          <p:cNvPr id="12" name="Text 10"/>
          <p:cNvSpPr txBox="1"/>
          <p:nvPr/>
        </p:nvSpPr>
        <p:spPr>
          <a:xfrm>
            <a:off x="1493901" y="1911096"/>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1</a:t>
            </a:r>
            <a:endParaRPr lang="en-US" sz="1000" dirty="0"/>
          </a:p>
        </p:txBody>
      </p:sp>
      <p:sp>
        <p:nvSpPr>
          <p:cNvPr id="13" name="Shape 11"/>
          <p:cNvSpPr/>
          <p:nvPr/>
        </p:nvSpPr>
        <p:spPr>
          <a:xfrm flipH="1">
            <a:off x="4000500" y="1792224"/>
            <a:ext cx="514350" cy="603504"/>
          </a:xfrm>
          <a:prstGeom prst="line">
            <a:avLst/>
          </a:prstGeom>
          <a:noFill/>
          <a:ln w="15875">
            <a:solidFill>
              <a:schemeClr val="accent5"/>
            </a:solidFill>
            <a:prstDash val="solid"/>
          </a:ln>
        </p:spPr>
        <p:txBody>
          <a:bodyPr/>
          <a:lstStyle/>
          <a:p>
            <a:endParaRPr lang="en-US"/>
          </a:p>
        </p:txBody>
      </p:sp>
      <p:sp>
        <p:nvSpPr>
          <p:cNvPr id="14" name="Text 12"/>
          <p:cNvSpPr txBox="1"/>
          <p:nvPr/>
        </p:nvSpPr>
        <p:spPr>
          <a:xfrm>
            <a:off x="4056507" y="1911096"/>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0</a:t>
            </a:r>
            <a:endParaRPr lang="en-US" sz="1000" dirty="0"/>
          </a:p>
        </p:txBody>
      </p:sp>
      <p:sp>
        <p:nvSpPr>
          <p:cNvPr id="15" name="Shape 13"/>
          <p:cNvSpPr/>
          <p:nvPr/>
        </p:nvSpPr>
        <p:spPr>
          <a:xfrm>
            <a:off x="4514850" y="1792224"/>
            <a:ext cx="514350" cy="603504"/>
          </a:xfrm>
          <a:prstGeom prst="line">
            <a:avLst/>
          </a:prstGeom>
          <a:noFill/>
          <a:ln w="15875">
            <a:solidFill>
              <a:schemeClr val="accent5"/>
            </a:solidFill>
            <a:prstDash val="solid"/>
          </a:ln>
        </p:spPr>
        <p:txBody>
          <a:bodyPr/>
          <a:lstStyle/>
          <a:p>
            <a:endParaRPr lang="en-US"/>
          </a:p>
        </p:txBody>
      </p:sp>
      <p:sp>
        <p:nvSpPr>
          <p:cNvPr id="16" name="Text 14"/>
          <p:cNvSpPr txBox="1"/>
          <p:nvPr/>
        </p:nvSpPr>
        <p:spPr>
          <a:xfrm>
            <a:off x="4808601" y="1911096"/>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1</a:t>
            </a:r>
            <a:endParaRPr lang="en-US" sz="1000" dirty="0"/>
          </a:p>
        </p:txBody>
      </p:sp>
      <p:sp>
        <p:nvSpPr>
          <p:cNvPr id="17" name="Shape 15"/>
          <p:cNvSpPr/>
          <p:nvPr/>
        </p:nvSpPr>
        <p:spPr>
          <a:xfrm flipH="1">
            <a:off x="1143000" y="2395728"/>
            <a:ext cx="571500" cy="603504"/>
          </a:xfrm>
          <a:prstGeom prst="line">
            <a:avLst/>
          </a:prstGeom>
          <a:noFill/>
          <a:ln w="15875">
            <a:solidFill>
              <a:schemeClr val="accent5"/>
            </a:solidFill>
            <a:prstDash val="solid"/>
          </a:ln>
        </p:spPr>
        <p:txBody>
          <a:bodyPr/>
          <a:lstStyle/>
          <a:p>
            <a:endParaRPr lang="en-US"/>
          </a:p>
        </p:txBody>
      </p:sp>
      <p:sp>
        <p:nvSpPr>
          <p:cNvPr id="18" name="Text 16"/>
          <p:cNvSpPr txBox="1"/>
          <p:nvPr/>
        </p:nvSpPr>
        <p:spPr>
          <a:xfrm>
            <a:off x="1227582" y="2514600"/>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0</a:t>
            </a:r>
            <a:endParaRPr lang="en-US" sz="1000" dirty="0"/>
          </a:p>
        </p:txBody>
      </p:sp>
      <p:sp>
        <p:nvSpPr>
          <p:cNvPr id="19" name="Shape 17"/>
          <p:cNvSpPr/>
          <p:nvPr/>
        </p:nvSpPr>
        <p:spPr>
          <a:xfrm>
            <a:off x="1714500" y="2395728"/>
            <a:ext cx="571500" cy="603504"/>
          </a:xfrm>
          <a:prstGeom prst="line">
            <a:avLst/>
          </a:prstGeom>
          <a:noFill/>
          <a:ln w="15875">
            <a:solidFill>
              <a:schemeClr val="accent5"/>
            </a:solidFill>
            <a:prstDash val="solid"/>
          </a:ln>
        </p:spPr>
        <p:txBody>
          <a:bodyPr/>
          <a:lstStyle/>
          <a:p>
            <a:endParaRPr lang="en-US"/>
          </a:p>
        </p:txBody>
      </p:sp>
      <p:sp>
        <p:nvSpPr>
          <p:cNvPr id="20" name="Text 18"/>
          <p:cNvSpPr txBox="1"/>
          <p:nvPr/>
        </p:nvSpPr>
        <p:spPr>
          <a:xfrm>
            <a:off x="2036826" y="2514600"/>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1</a:t>
            </a:r>
            <a:endParaRPr lang="en-US" sz="1000" dirty="0"/>
          </a:p>
        </p:txBody>
      </p:sp>
      <p:sp>
        <p:nvSpPr>
          <p:cNvPr id="21" name="Shape 19"/>
          <p:cNvSpPr/>
          <p:nvPr/>
        </p:nvSpPr>
        <p:spPr>
          <a:xfrm flipH="1">
            <a:off x="1828800" y="2999232"/>
            <a:ext cx="457200" cy="603504"/>
          </a:xfrm>
          <a:prstGeom prst="line">
            <a:avLst/>
          </a:prstGeom>
          <a:noFill/>
          <a:ln w="15875">
            <a:solidFill>
              <a:schemeClr val="accent5"/>
            </a:solidFill>
            <a:prstDash val="solid"/>
          </a:ln>
        </p:spPr>
        <p:txBody>
          <a:bodyPr/>
          <a:lstStyle/>
          <a:p>
            <a:endParaRPr lang="en-US"/>
          </a:p>
        </p:txBody>
      </p:sp>
      <p:sp>
        <p:nvSpPr>
          <p:cNvPr id="22" name="Text 20"/>
          <p:cNvSpPr txBox="1"/>
          <p:nvPr/>
        </p:nvSpPr>
        <p:spPr>
          <a:xfrm>
            <a:off x="1856232" y="3118104"/>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0</a:t>
            </a:r>
            <a:endParaRPr lang="en-US" sz="1000" dirty="0"/>
          </a:p>
        </p:txBody>
      </p:sp>
      <p:sp>
        <p:nvSpPr>
          <p:cNvPr id="23" name="Shape 21"/>
          <p:cNvSpPr/>
          <p:nvPr/>
        </p:nvSpPr>
        <p:spPr>
          <a:xfrm>
            <a:off x="2286000" y="2999232"/>
            <a:ext cx="457200" cy="603504"/>
          </a:xfrm>
          <a:prstGeom prst="line">
            <a:avLst/>
          </a:prstGeom>
          <a:noFill/>
          <a:ln w="15875">
            <a:solidFill>
              <a:schemeClr val="accent5"/>
            </a:solidFill>
            <a:prstDash val="solid"/>
          </a:ln>
        </p:spPr>
        <p:txBody>
          <a:bodyPr/>
          <a:lstStyle/>
          <a:p>
            <a:endParaRPr lang="en-US"/>
          </a:p>
        </p:txBody>
      </p:sp>
      <p:sp>
        <p:nvSpPr>
          <p:cNvPr id="24" name="Text 22"/>
          <p:cNvSpPr txBox="1"/>
          <p:nvPr/>
        </p:nvSpPr>
        <p:spPr>
          <a:xfrm>
            <a:off x="2551176" y="3118104"/>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1</a:t>
            </a:r>
            <a:endParaRPr lang="en-US" sz="1000" dirty="0"/>
          </a:p>
        </p:txBody>
      </p:sp>
      <p:sp>
        <p:nvSpPr>
          <p:cNvPr id="25" name="Shape 23"/>
          <p:cNvSpPr/>
          <p:nvPr/>
        </p:nvSpPr>
        <p:spPr>
          <a:xfrm flipH="1">
            <a:off x="1600200" y="3602736"/>
            <a:ext cx="228600" cy="603504"/>
          </a:xfrm>
          <a:prstGeom prst="line">
            <a:avLst/>
          </a:prstGeom>
          <a:noFill/>
          <a:ln w="15875">
            <a:solidFill>
              <a:schemeClr val="accent5"/>
            </a:solidFill>
            <a:prstDash val="solid"/>
          </a:ln>
        </p:spPr>
        <p:txBody>
          <a:bodyPr/>
          <a:lstStyle/>
          <a:p>
            <a:endParaRPr lang="en-US"/>
          </a:p>
        </p:txBody>
      </p:sp>
      <p:sp>
        <p:nvSpPr>
          <p:cNvPr id="26" name="Text 24"/>
          <p:cNvSpPr txBox="1"/>
          <p:nvPr/>
        </p:nvSpPr>
        <p:spPr>
          <a:xfrm>
            <a:off x="1513332" y="3721608"/>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0</a:t>
            </a:r>
            <a:endParaRPr lang="en-US" sz="1000" dirty="0"/>
          </a:p>
        </p:txBody>
      </p:sp>
      <p:sp>
        <p:nvSpPr>
          <p:cNvPr id="27" name="Shape 25"/>
          <p:cNvSpPr/>
          <p:nvPr/>
        </p:nvSpPr>
        <p:spPr>
          <a:xfrm>
            <a:off x="1828800" y="3602736"/>
            <a:ext cx="228600" cy="603504"/>
          </a:xfrm>
          <a:prstGeom prst="line">
            <a:avLst/>
          </a:prstGeom>
          <a:noFill/>
          <a:ln w="15875">
            <a:solidFill>
              <a:schemeClr val="accent5"/>
            </a:solidFill>
            <a:prstDash val="solid"/>
          </a:ln>
        </p:spPr>
        <p:txBody>
          <a:bodyPr/>
          <a:lstStyle/>
          <a:p>
            <a:endParaRPr lang="en-US"/>
          </a:p>
        </p:txBody>
      </p:sp>
      <p:sp>
        <p:nvSpPr>
          <p:cNvPr id="28" name="Text 26"/>
          <p:cNvSpPr txBox="1"/>
          <p:nvPr/>
        </p:nvSpPr>
        <p:spPr>
          <a:xfrm>
            <a:off x="1979676" y="3721608"/>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1</a:t>
            </a:r>
            <a:endParaRPr lang="en-US" sz="1000" dirty="0"/>
          </a:p>
        </p:txBody>
      </p:sp>
      <p:sp>
        <p:nvSpPr>
          <p:cNvPr id="29" name="Shape 27"/>
          <p:cNvSpPr/>
          <p:nvPr/>
        </p:nvSpPr>
        <p:spPr>
          <a:xfrm flipH="1">
            <a:off x="2514600" y="3602736"/>
            <a:ext cx="228600" cy="603504"/>
          </a:xfrm>
          <a:prstGeom prst="line">
            <a:avLst/>
          </a:prstGeom>
          <a:noFill/>
          <a:ln w="15875">
            <a:solidFill>
              <a:schemeClr val="accent5"/>
            </a:solidFill>
            <a:prstDash val="solid"/>
          </a:ln>
        </p:spPr>
        <p:txBody>
          <a:bodyPr/>
          <a:lstStyle/>
          <a:p>
            <a:endParaRPr lang="en-US"/>
          </a:p>
        </p:txBody>
      </p:sp>
      <p:sp>
        <p:nvSpPr>
          <p:cNvPr id="30" name="Text 28"/>
          <p:cNvSpPr txBox="1"/>
          <p:nvPr/>
        </p:nvSpPr>
        <p:spPr>
          <a:xfrm>
            <a:off x="2427732" y="3721608"/>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0</a:t>
            </a:r>
            <a:endParaRPr lang="en-US" sz="1000" dirty="0"/>
          </a:p>
        </p:txBody>
      </p:sp>
      <p:sp>
        <p:nvSpPr>
          <p:cNvPr id="31" name="Shape 29"/>
          <p:cNvSpPr/>
          <p:nvPr/>
        </p:nvSpPr>
        <p:spPr>
          <a:xfrm>
            <a:off x="2743200" y="3602736"/>
            <a:ext cx="228600" cy="603504"/>
          </a:xfrm>
          <a:prstGeom prst="line">
            <a:avLst/>
          </a:prstGeom>
          <a:noFill/>
          <a:ln w="15875">
            <a:solidFill>
              <a:schemeClr val="accent5"/>
            </a:solidFill>
            <a:prstDash val="solid"/>
          </a:ln>
        </p:spPr>
        <p:txBody>
          <a:bodyPr/>
          <a:lstStyle/>
          <a:p>
            <a:endParaRPr lang="en-US"/>
          </a:p>
        </p:txBody>
      </p:sp>
      <p:sp>
        <p:nvSpPr>
          <p:cNvPr id="32" name="Text 30"/>
          <p:cNvSpPr txBox="1"/>
          <p:nvPr/>
        </p:nvSpPr>
        <p:spPr>
          <a:xfrm>
            <a:off x="2894076" y="3721608"/>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1</a:t>
            </a:r>
            <a:endParaRPr lang="en-US" sz="1000" dirty="0"/>
          </a:p>
        </p:txBody>
      </p:sp>
      <p:sp>
        <p:nvSpPr>
          <p:cNvPr id="33" name="Shape 31"/>
          <p:cNvSpPr/>
          <p:nvPr/>
        </p:nvSpPr>
        <p:spPr>
          <a:xfrm flipH="1">
            <a:off x="3657600" y="2395728"/>
            <a:ext cx="342900" cy="603504"/>
          </a:xfrm>
          <a:prstGeom prst="line">
            <a:avLst/>
          </a:prstGeom>
          <a:noFill/>
          <a:ln w="15875">
            <a:solidFill>
              <a:schemeClr val="accent5"/>
            </a:solidFill>
            <a:prstDash val="solid"/>
          </a:ln>
        </p:spPr>
        <p:txBody>
          <a:bodyPr/>
          <a:lstStyle/>
          <a:p>
            <a:endParaRPr lang="en-US"/>
          </a:p>
        </p:txBody>
      </p:sp>
      <p:sp>
        <p:nvSpPr>
          <p:cNvPr id="34" name="Text 32"/>
          <p:cNvSpPr txBox="1"/>
          <p:nvPr/>
        </p:nvSpPr>
        <p:spPr>
          <a:xfrm>
            <a:off x="3627882" y="2514600"/>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0</a:t>
            </a:r>
            <a:endParaRPr lang="en-US" sz="1000" dirty="0"/>
          </a:p>
        </p:txBody>
      </p:sp>
      <p:sp>
        <p:nvSpPr>
          <p:cNvPr id="35" name="Shape 33"/>
          <p:cNvSpPr/>
          <p:nvPr/>
        </p:nvSpPr>
        <p:spPr>
          <a:xfrm>
            <a:off x="4000500" y="2395728"/>
            <a:ext cx="342900" cy="603504"/>
          </a:xfrm>
          <a:prstGeom prst="line">
            <a:avLst/>
          </a:prstGeom>
          <a:noFill/>
          <a:ln w="15875">
            <a:solidFill>
              <a:schemeClr val="accent5"/>
            </a:solidFill>
            <a:prstDash val="solid"/>
          </a:ln>
        </p:spPr>
        <p:txBody>
          <a:bodyPr/>
          <a:lstStyle/>
          <a:p>
            <a:endParaRPr lang="en-US"/>
          </a:p>
        </p:txBody>
      </p:sp>
      <p:sp>
        <p:nvSpPr>
          <p:cNvPr id="36" name="Text 34"/>
          <p:cNvSpPr txBox="1"/>
          <p:nvPr/>
        </p:nvSpPr>
        <p:spPr>
          <a:xfrm>
            <a:off x="4208526" y="2514600"/>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1</a:t>
            </a:r>
            <a:endParaRPr lang="en-US" sz="1000" dirty="0"/>
          </a:p>
        </p:txBody>
      </p:sp>
      <p:sp>
        <p:nvSpPr>
          <p:cNvPr id="37" name="Shape 35"/>
          <p:cNvSpPr/>
          <p:nvPr/>
        </p:nvSpPr>
        <p:spPr>
          <a:xfrm flipH="1">
            <a:off x="3429000" y="2999232"/>
            <a:ext cx="228600" cy="603504"/>
          </a:xfrm>
          <a:prstGeom prst="line">
            <a:avLst/>
          </a:prstGeom>
          <a:noFill/>
          <a:ln w="15875">
            <a:solidFill>
              <a:schemeClr val="accent5"/>
            </a:solidFill>
            <a:prstDash val="solid"/>
          </a:ln>
        </p:spPr>
        <p:txBody>
          <a:bodyPr/>
          <a:lstStyle/>
          <a:p>
            <a:endParaRPr lang="en-US"/>
          </a:p>
        </p:txBody>
      </p:sp>
      <p:sp>
        <p:nvSpPr>
          <p:cNvPr id="38" name="Text 36"/>
          <p:cNvSpPr txBox="1"/>
          <p:nvPr/>
        </p:nvSpPr>
        <p:spPr>
          <a:xfrm>
            <a:off x="3342132" y="3118104"/>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0</a:t>
            </a:r>
            <a:endParaRPr lang="en-US" sz="1000" dirty="0"/>
          </a:p>
        </p:txBody>
      </p:sp>
      <p:sp>
        <p:nvSpPr>
          <p:cNvPr id="39" name="Shape 37"/>
          <p:cNvSpPr/>
          <p:nvPr/>
        </p:nvSpPr>
        <p:spPr>
          <a:xfrm>
            <a:off x="3657600" y="2999232"/>
            <a:ext cx="228600" cy="603504"/>
          </a:xfrm>
          <a:prstGeom prst="line">
            <a:avLst/>
          </a:prstGeom>
          <a:noFill/>
          <a:ln w="15875">
            <a:solidFill>
              <a:schemeClr val="accent5"/>
            </a:solidFill>
            <a:prstDash val="solid"/>
          </a:ln>
        </p:spPr>
        <p:txBody>
          <a:bodyPr/>
          <a:lstStyle/>
          <a:p>
            <a:endParaRPr lang="en-US"/>
          </a:p>
        </p:txBody>
      </p:sp>
      <p:sp>
        <p:nvSpPr>
          <p:cNvPr id="40" name="Text 38"/>
          <p:cNvSpPr txBox="1"/>
          <p:nvPr/>
        </p:nvSpPr>
        <p:spPr>
          <a:xfrm>
            <a:off x="3808476" y="3118104"/>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1</a:t>
            </a:r>
            <a:endParaRPr lang="en-US" sz="1000" dirty="0"/>
          </a:p>
        </p:txBody>
      </p:sp>
      <p:sp>
        <p:nvSpPr>
          <p:cNvPr id="41" name="Shape 39"/>
          <p:cNvSpPr/>
          <p:nvPr/>
        </p:nvSpPr>
        <p:spPr>
          <a:xfrm flipH="1">
            <a:off x="4800600" y="2395728"/>
            <a:ext cx="228600" cy="603504"/>
          </a:xfrm>
          <a:prstGeom prst="line">
            <a:avLst/>
          </a:prstGeom>
          <a:noFill/>
          <a:ln w="15875">
            <a:solidFill>
              <a:schemeClr val="accent5"/>
            </a:solidFill>
            <a:prstDash val="solid"/>
          </a:ln>
        </p:spPr>
        <p:txBody>
          <a:bodyPr/>
          <a:lstStyle/>
          <a:p>
            <a:endParaRPr lang="en-US"/>
          </a:p>
        </p:txBody>
      </p:sp>
      <p:sp>
        <p:nvSpPr>
          <p:cNvPr id="42" name="Text 40"/>
          <p:cNvSpPr txBox="1"/>
          <p:nvPr/>
        </p:nvSpPr>
        <p:spPr>
          <a:xfrm>
            <a:off x="4713732" y="2514600"/>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0</a:t>
            </a:r>
            <a:endParaRPr lang="en-US" sz="1000" dirty="0"/>
          </a:p>
        </p:txBody>
      </p:sp>
      <p:sp>
        <p:nvSpPr>
          <p:cNvPr id="43" name="Shape 41"/>
          <p:cNvSpPr/>
          <p:nvPr/>
        </p:nvSpPr>
        <p:spPr>
          <a:xfrm>
            <a:off x="5029200" y="2395728"/>
            <a:ext cx="228600" cy="603504"/>
          </a:xfrm>
          <a:prstGeom prst="line">
            <a:avLst/>
          </a:prstGeom>
          <a:noFill/>
          <a:ln w="15875">
            <a:solidFill>
              <a:schemeClr val="accent5"/>
            </a:solidFill>
            <a:prstDash val="solid"/>
          </a:ln>
        </p:spPr>
        <p:txBody>
          <a:bodyPr/>
          <a:lstStyle/>
          <a:p>
            <a:endParaRPr lang="en-US"/>
          </a:p>
        </p:txBody>
      </p:sp>
      <p:sp>
        <p:nvSpPr>
          <p:cNvPr id="44" name="Text 42"/>
          <p:cNvSpPr txBox="1"/>
          <p:nvPr/>
        </p:nvSpPr>
        <p:spPr>
          <a:xfrm>
            <a:off x="5180076" y="2514600"/>
            <a:ext cx="164592" cy="164592"/>
          </a:xfrm>
          <a:prstGeom prst="rect">
            <a:avLst/>
          </a:prstGeom>
          <a:noFill/>
          <a:ln/>
        </p:spPr>
        <p:txBody>
          <a:bodyPr wrap="square" lIns="0" tIns="0" rIns="0" bIns="0" rtlCol="0" anchor="ctr"/>
          <a:lstStyle/>
          <a:p>
            <a:pPr marL="0" indent="0" algn="ctr">
              <a:buNone/>
            </a:pPr>
            <a:r>
              <a:rPr lang="en-US" sz="1000" b="1" dirty="0">
                <a:solidFill>
                  <a:schemeClr val="accent1"/>
                </a:solidFill>
              </a:rPr>
              <a:t>1</a:t>
            </a:r>
            <a:endParaRPr lang="en-US" sz="1000" dirty="0"/>
          </a:p>
        </p:txBody>
      </p:sp>
      <p:sp>
        <p:nvSpPr>
          <p:cNvPr id="45" name="Shape 43"/>
          <p:cNvSpPr/>
          <p:nvPr/>
        </p:nvSpPr>
        <p:spPr>
          <a:xfrm>
            <a:off x="2702052" y="1033272"/>
            <a:ext cx="310896" cy="310896"/>
          </a:xfrm>
          <a:prstGeom prst="ellipse">
            <a:avLst/>
          </a:prstGeom>
          <a:solidFill>
            <a:schemeClr val="bg2"/>
          </a:solidFill>
          <a:ln w="12700">
            <a:solidFill>
              <a:schemeClr val="accent1"/>
            </a:solidFill>
            <a:prstDash val="solid"/>
          </a:ln>
        </p:spPr>
        <p:txBody>
          <a:bodyPr/>
          <a:lstStyle/>
          <a:p>
            <a:endParaRPr lang="en-US"/>
          </a:p>
        </p:txBody>
      </p:sp>
      <p:sp>
        <p:nvSpPr>
          <p:cNvPr id="46" name="Text 44"/>
          <p:cNvSpPr txBox="1"/>
          <p:nvPr/>
        </p:nvSpPr>
        <p:spPr>
          <a:xfrm>
            <a:off x="2702052" y="1033272"/>
            <a:ext cx="310896" cy="310896"/>
          </a:xfrm>
          <a:prstGeom prst="rect">
            <a:avLst/>
          </a:prstGeom>
          <a:noFill/>
          <a:ln/>
        </p:spPr>
        <p:txBody>
          <a:bodyPr wrap="square" lIns="0" tIns="0" rIns="0" bIns="0" rtlCol="0" anchor="ctr"/>
          <a:lstStyle/>
          <a:p>
            <a:pPr marL="0" indent="0" algn="ctr">
              <a:buNone/>
            </a:pPr>
            <a:r>
              <a:rPr lang="en-US" sz="1000" b="1" dirty="0">
                <a:solidFill>
                  <a:schemeClr val="tx2"/>
                </a:solidFill>
              </a:rPr>
              <a:t>37</a:t>
            </a:r>
            <a:endParaRPr lang="en-US" sz="1000" dirty="0"/>
          </a:p>
        </p:txBody>
      </p:sp>
      <p:sp>
        <p:nvSpPr>
          <p:cNvPr id="47" name="Shape 45"/>
          <p:cNvSpPr/>
          <p:nvPr/>
        </p:nvSpPr>
        <p:spPr>
          <a:xfrm>
            <a:off x="1044702" y="1636776"/>
            <a:ext cx="310896" cy="310896"/>
          </a:xfrm>
          <a:prstGeom prst="ellipse">
            <a:avLst/>
          </a:prstGeom>
          <a:solidFill>
            <a:schemeClr val="bg2"/>
          </a:solidFill>
          <a:ln w="12700">
            <a:solidFill>
              <a:schemeClr val="accent1"/>
            </a:solidFill>
            <a:prstDash val="solid"/>
          </a:ln>
        </p:spPr>
        <p:txBody>
          <a:bodyPr/>
          <a:lstStyle/>
          <a:p>
            <a:endParaRPr lang="en-US"/>
          </a:p>
        </p:txBody>
      </p:sp>
      <p:sp>
        <p:nvSpPr>
          <p:cNvPr id="48" name="Text 46"/>
          <p:cNvSpPr txBox="1"/>
          <p:nvPr/>
        </p:nvSpPr>
        <p:spPr>
          <a:xfrm>
            <a:off x="1044702" y="1636776"/>
            <a:ext cx="310896" cy="310896"/>
          </a:xfrm>
          <a:prstGeom prst="rect">
            <a:avLst/>
          </a:prstGeom>
          <a:noFill/>
          <a:ln/>
        </p:spPr>
        <p:txBody>
          <a:bodyPr wrap="square" lIns="0" tIns="0" rIns="0" bIns="0" rtlCol="0" anchor="ctr"/>
          <a:lstStyle/>
          <a:p>
            <a:pPr marL="0" indent="0" algn="ctr">
              <a:buNone/>
            </a:pPr>
            <a:r>
              <a:rPr lang="en-US" sz="1000" b="1" dirty="0">
                <a:solidFill>
                  <a:schemeClr val="tx2"/>
                </a:solidFill>
              </a:rPr>
              <a:t>14</a:t>
            </a:r>
            <a:endParaRPr lang="en-US" sz="1000" dirty="0"/>
          </a:p>
        </p:txBody>
      </p:sp>
      <p:sp>
        <p:nvSpPr>
          <p:cNvPr id="49" name="Shape 47"/>
          <p:cNvSpPr/>
          <p:nvPr/>
        </p:nvSpPr>
        <p:spPr>
          <a:xfrm>
            <a:off x="4359402" y="1636776"/>
            <a:ext cx="310896" cy="310896"/>
          </a:xfrm>
          <a:prstGeom prst="ellipse">
            <a:avLst/>
          </a:prstGeom>
          <a:solidFill>
            <a:schemeClr val="bg2"/>
          </a:solidFill>
          <a:ln w="12700">
            <a:solidFill>
              <a:schemeClr val="accent1"/>
            </a:solidFill>
            <a:prstDash val="solid"/>
          </a:ln>
        </p:spPr>
        <p:txBody>
          <a:bodyPr/>
          <a:lstStyle/>
          <a:p>
            <a:endParaRPr lang="en-US"/>
          </a:p>
        </p:txBody>
      </p:sp>
      <p:sp>
        <p:nvSpPr>
          <p:cNvPr id="50" name="Text 48"/>
          <p:cNvSpPr txBox="1"/>
          <p:nvPr/>
        </p:nvSpPr>
        <p:spPr>
          <a:xfrm>
            <a:off x="4359402" y="1636776"/>
            <a:ext cx="310896" cy="310896"/>
          </a:xfrm>
          <a:prstGeom prst="rect">
            <a:avLst/>
          </a:prstGeom>
          <a:noFill/>
          <a:ln/>
        </p:spPr>
        <p:txBody>
          <a:bodyPr wrap="square" lIns="0" tIns="0" rIns="0" bIns="0" rtlCol="0" anchor="ctr"/>
          <a:lstStyle/>
          <a:p>
            <a:pPr marL="0" indent="0" algn="ctr">
              <a:buNone/>
            </a:pPr>
            <a:r>
              <a:rPr lang="en-US" sz="1000" b="1" dirty="0">
                <a:solidFill>
                  <a:schemeClr val="tx2"/>
                </a:solidFill>
              </a:rPr>
              <a:t>23</a:t>
            </a:r>
            <a:endParaRPr lang="en-US" sz="1000" dirty="0"/>
          </a:p>
        </p:txBody>
      </p:sp>
      <p:sp>
        <p:nvSpPr>
          <p:cNvPr id="51" name="Shape 49"/>
          <p:cNvSpPr/>
          <p:nvPr/>
        </p:nvSpPr>
        <p:spPr>
          <a:xfrm>
            <a:off x="1559052" y="2240280"/>
            <a:ext cx="310896" cy="310896"/>
          </a:xfrm>
          <a:prstGeom prst="ellipse">
            <a:avLst/>
          </a:prstGeom>
          <a:solidFill>
            <a:schemeClr val="bg2"/>
          </a:solidFill>
          <a:ln w="12700">
            <a:solidFill>
              <a:schemeClr val="accent1"/>
            </a:solidFill>
            <a:prstDash val="solid"/>
          </a:ln>
        </p:spPr>
        <p:txBody>
          <a:bodyPr/>
          <a:lstStyle/>
          <a:p>
            <a:endParaRPr lang="en-US"/>
          </a:p>
        </p:txBody>
      </p:sp>
      <p:sp>
        <p:nvSpPr>
          <p:cNvPr id="52" name="Text 50"/>
          <p:cNvSpPr txBox="1"/>
          <p:nvPr/>
        </p:nvSpPr>
        <p:spPr>
          <a:xfrm>
            <a:off x="1559052" y="2240280"/>
            <a:ext cx="310896" cy="310896"/>
          </a:xfrm>
          <a:prstGeom prst="rect">
            <a:avLst/>
          </a:prstGeom>
          <a:noFill/>
          <a:ln/>
        </p:spPr>
        <p:txBody>
          <a:bodyPr wrap="square" lIns="0" tIns="0" rIns="0" bIns="0" rtlCol="0" anchor="ctr"/>
          <a:lstStyle/>
          <a:p>
            <a:pPr marL="0" indent="0" algn="ctr">
              <a:buNone/>
            </a:pPr>
            <a:r>
              <a:rPr lang="en-US" sz="1000" b="1" dirty="0">
                <a:solidFill>
                  <a:schemeClr val="tx2"/>
                </a:solidFill>
              </a:rPr>
              <a:t>8</a:t>
            </a:r>
            <a:endParaRPr lang="en-US" sz="1000" dirty="0"/>
          </a:p>
        </p:txBody>
      </p:sp>
      <p:sp>
        <p:nvSpPr>
          <p:cNvPr id="53" name="Shape 51"/>
          <p:cNvSpPr/>
          <p:nvPr/>
        </p:nvSpPr>
        <p:spPr>
          <a:xfrm>
            <a:off x="2130552" y="2843784"/>
            <a:ext cx="310896" cy="310896"/>
          </a:xfrm>
          <a:prstGeom prst="ellipse">
            <a:avLst/>
          </a:prstGeom>
          <a:solidFill>
            <a:schemeClr val="bg2"/>
          </a:solidFill>
          <a:ln w="12700">
            <a:solidFill>
              <a:schemeClr val="accent1"/>
            </a:solidFill>
            <a:prstDash val="solid"/>
          </a:ln>
        </p:spPr>
        <p:txBody>
          <a:bodyPr/>
          <a:lstStyle/>
          <a:p>
            <a:endParaRPr lang="en-US"/>
          </a:p>
        </p:txBody>
      </p:sp>
      <p:sp>
        <p:nvSpPr>
          <p:cNvPr id="54" name="Text 52"/>
          <p:cNvSpPr txBox="1"/>
          <p:nvPr/>
        </p:nvSpPr>
        <p:spPr>
          <a:xfrm>
            <a:off x="2130552" y="2843784"/>
            <a:ext cx="310896" cy="310896"/>
          </a:xfrm>
          <a:prstGeom prst="rect">
            <a:avLst/>
          </a:prstGeom>
          <a:noFill/>
          <a:ln/>
        </p:spPr>
        <p:txBody>
          <a:bodyPr wrap="square" lIns="0" tIns="0" rIns="0" bIns="0" rtlCol="0" anchor="ctr"/>
          <a:lstStyle/>
          <a:p>
            <a:pPr marL="0" indent="0" algn="ctr">
              <a:buNone/>
            </a:pPr>
            <a:r>
              <a:rPr lang="en-US" sz="1000" b="1" dirty="0">
                <a:solidFill>
                  <a:schemeClr val="tx2"/>
                </a:solidFill>
              </a:rPr>
              <a:t>5</a:t>
            </a:r>
            <a:endParaRPr lang="en-US" sz="1000" dirty="0"/>
          </a:p>
        </p:txBody>
      </p:sp>
      <p:sp>
        <p:nvSpPr>
          <p:cNvPr id="55" name="Shape 53"/>
          <p:cNvSpPr/>
          <p:nvPr/>
        </p:nvSpPr>
        <p:spPr>
          <a:xfrm>
            <a:off x="1673352" y="3447288"/>
            <a:ext cx="310896" cy="310896"/>
          </a:xfrm>
          <a:prstGeom prst="ellipse">
            <a:avLst/>
          </a:prstGeom>
          <a:solidFill>
            <a:schemeClr val="bg2"/>
          </a:solidFill>
          <a:ln w="12700">
            <a:solidFill>
              <a:schemeClr val="accent1"/>
            </a:solidFill>
            <a:prstDash val="solid"/>
          </a:ln>
        </p:spPr>
        <p:txBody>
          <a:bodyPr/>
          <a:lstStyle/>
          <a:p>
            <a:endParaRPr lang="en-US"/>
          </a:p>
        </p:txBody>
      </p:sp>
      <p:sp>
        <p:nvSpPr>
          <p:cNvPr id="56" name="Text 54"/>
          <p:cNvSpPr txBox="1"/>
          <p:nvPr/>
        </p:nvSpPr>
        <p:spPr>
          <a:xfrm>
            <a:off x="1673352" y="3447288"/>
            <a:ext cx="310896" cy="310896"/>
          </a:xfrm>
          <a:prstGeom prst="rect">
            <a:avLst/>
          </a:prstGeom>
          <a:noFill/>
          <a:ln/>
        </p:spPr>
        <p:txBody>
          <a:bodyPr wrap="square" lIns="0" tIns="0" rIns="0" bIns="0" rtlCol="0" anchor="ctr"/>
          <a:lstStyle/>
          <a:p>
            <a:pPr marL="0" indent="0" algn="ctr">
              <a:buNone/>
            </a:pPr>
            <a:r>
              <a:rPr lang="en-US" sz="1000" b="1" dirty="0">
                <a:solidFill>
                  <a:schemeClr val="tx2"/>
                </a:solidFill>
              </a:rPr>
              <a:t>2</a:t>
            </a:r>
            <a:endParaRPr lang="en-US" sz="1000" dirty="0"/>
          </a:p>
        </p:txBody>
      </p:sp>
      <p:sp>
        <p:nvSpPr>
          <p:cNvPr id="57" name="Shape 55"/>
          <p:cNvSpPr/>
          <p:nvPr/>
        </p:nvSpPr>
        <p:spPr>
          <a:xfrm>
            <a:off x="2587752" y="3447288"/>
            <a:ext cx="310896" cy="310896"/>
          </a:xfrm>
          <a:prstGeom prst="ellipse">
            <a:avLst/>
          </a:prstGeom>
          <a:solidFill>
            <a:schemeClr val="bg2"/>
          </a:solidFill>
          <a:ln w="12700">
            <a:solidFill>
              <a:schemeClr val="accent1"/>
            </a:solidFill>
            <a:prstDash val="solid"/>
          </a:ln>
        </p:spPr>
        <p:txBody>
          <a:bodyPr/>
          <a:lstStyle/>
          <a:p>
            <a:endParaRPr lang="en-US"/>
          </a:p>
        </p:txBody>
      </p:sp>
      <p:sp>
        <p:nvSpPr>
          <p:cNvPr id="58" name="Text 56"/>
          <p:cNvSpPr txBox="1"/>
          <p:nvPr/>
        </p:nvSpPr>
        <p:spPr>
          <a:xfrm>
            <a:off x="2587752" y="3447288"/>
            <a:ext cx="310896" cy="310896"/>
          </a:xfrm>
          <a:prstGeom prst="rect">
            <a:avLst/>
          </a:prstGeom>
          <a:noFill/>
          <a:ln/>
        </p:spPr>
        <p:txBody>
          <a:bodyPr wrap="square" lIns="0" tIns="0" rIns="0" bIns="0" rtlCol="0" anchor="ctr"/>
          <a:lstStyle/>
          <a:p>
            <a:pPr marL="0" indent="0" algn="ctr">
              <a:buNone/>
            </a:pPr>
            <a:r>
              <a:rPr lang="en-US" sz="1000" b="1" dirty="0">
                <a:solidFill>
                  <a:schemeClr val="tx2"/>
                </a:solidFill>
              </a:rPr>
              <a:t>3</a:t>
            </a:r>
            <a:endParaRPr lang="en-US" sz="1000" dirty="0"/>
          </a:p>
        </p:txBody>
      </p:sp>
      <p:sp>
        <p:nvSpPr>
          <p:cNvPr id="59" name="Shape 57"/>
          <p:cNvSpPr/>
          <p:nvPr/>
        </p:nvSpPr>
        <p:spPr>
          <a:xfrm>
            <a:off x="3845052" y="2240280"/>
            <a:ext cx="310896" cy="310896"/>
          </a:xfrm>
          <a:prstGeom prst="ellipse">
            <a:avLst/>
          </a:prstGeom>
          <a:solidFill>
            <a:schemeClr val="bg2"/>
          </a:solidFill>
          <a:ln w="12700">
            <a:solidFill>
              <a:schemeClr val="accent1"/>
            </a:solidFill>
            <a:prstDash val="solid"/>
          </a:ln>
        </p:spPr>
        <p:txBody>
          <a:bodyPr/>
          <a:lstStyle/>
          <a:p>
            <a:endParaRPr lang="en-US"/>
          </a:p>
        </p:txBody>
      </p:sp>
      <p:sp>
        <p:nvSpPr>
          <p:cNvPr id="60" name="Text 58"/>
          <p:cNvSpPr txBox="1"/>
          <p:nvPr/>
        </p:nvSpPr>
        <p:spPr>
          <a:xfrm>
            <a:off x="3845052" y="2240280"/>
            <a:ext cx="310896" cy="310896"/>
          </a:xfrm>
          <a:prstGeom prst="rect">
            <a:avLst/>
          </a:prstGeom>
          <a:noFill/>
          <a:ln/>
        </p:spPr>
        <p:txBody>
          <a:bodyPr wrap="square" lIns="0" tIns="0" rIns="0" bIns="0" rtlCol="0" anchor="ctr"/>
          <a:lstStyle/>
          <a:p>
            <a:pPr marL="0" indent="0" algn="ctr">
              <a:buNone/>
            </a:pPr>
            <a:r>
              <a:rPr lang="en-US" sz="1000" b="1" dirty="0">
                <a:solidFill>
                  <a:schemeClr val="tx2"/>
                </a:solidFill>
              </a:rPr>
              <a:t>11</a:t>
            </a:r>
            <a:endParaRPr lang="en-US" sz="1000" dirty="0"/>
          </a:p>
        </p:txBody>
      </p:sp>
      <p:sp>
        <p:nvSpPr>
          <p:cNvPr id="61" name="Shape 59"/>
          <p:cNvSpPr/>
          <p:nvPr/>
        </p:nvSpPr>
        <p:spPr>
          <a:xfrm>
            <a:off x="3502152" y="2843784"/>
            <a:ext cx="310896" cy="310896"/>
          </a:xfrm>
          <a:prstGeom prst="ellipse">
            <a:avLst/>
          </a:prstGeom>
          <a:solidFill>
            <a:schemeClr val="bg2"/>
          </a:solidFill>
          <a:ln w="12700">
            <a:solidFill>
              <a:schemeClr val="accent1"/>
            </a:solidFill>
            <a:prstDash val="solid"/>
          </a:ln>
        </p:spPr>
        <p:txBody>
          <a:bodyPr/>
          <a:lstStyle/>
          <a:p>
            <a:endParaRPr lang="en-US"/>
          </a:p>
        </p:txBody>
      </p:sp>
      <p:sp>
        <p:nvSpPr>
          <p:cNvPr id="62" name="Text 60"/>
          <p:cNvSpPr txBox="1"/>
          <p:nvPr/>
        </p:nvSpPr>
        <p:spPr>
          <a:xfrm>
            <a:off x="3502152" y="2843784"/>
            <a:ext cx="310896" cy="310896"/>
          </a:xfrm>
          <a:prstGeom prst="rect">
            <a:avLst/>
          </a:prstGeom>
          <a:noFill/>
          <a:ln/>
        </p:spPr>
        <p:txBody>
          <a:bodyPr wrap="square" lIns="0" tIns="0" rIns="0" bIns="0" rtlCol="0" anchor="ctr"/>
          <a:lstStyle/>
          <a:p>
            <a:pPr marL="0" indent="0" algn="ctr">
              <a:buNone/>
            </a:pPr>
            <a:r>
              <a:rPr lang="en-US" sz="1000" b="1" dirty="0">
                <a:solidFill>
                  <a:schemeClr val="tx2"/>
                </a:solidFill>
              </a:rPr>
              <a:t>6</a:t>
            </a:r>
            <a:endParaRPr lang="en-US" sz="1000" dirty="0"/>
          </a:p>
        </p:txBody>
      </p:sp>
      <p:sp>
        <p:nvSpPr>
          <p:cNvPr id="63" name="Shape 61"/>
          <p:cNvSpPr/>
          <p:nvPr/>
        </p:nvSpPr>
        <p:spPr>
          <a:xfrm>
            <a:off x="4873752" y="2240280"/>
            <a:ext cx="310896" cy="310896"/>
          </a:xfrm>
          <a:prstGeom prst="ellipse">
            <a:avLst/>
          </a:prstGeom>
          <a:solidFill>
            <a:schemeClr val="bg2"/>
          </a:solidFill>
          <a:ln w="12700">
            <a:solidFill>
              <a:schemeClr val="accent1"/>
            </a:solidFill>
            <a:prstDash val="solid"/>
          </a:ln>
        </p:spPr>
        <p:txBody>
          <a:bodyPr/>
          <a:lstStyle/>
          <a:p>
            <a:endParaRPr lang="en-US"/>
          </a:p>
        </p:txBody>
      </p:sp>
      <p:sp>
        <p:nvSpPr>
          <p:cNvPr id="64" name="Text 62"/>
          <p:cNvSpPr txBox="1"/>
          <p:nvPr/>
        </p:nvSpPr>
        <p:spPr>
          <a:xfrm>
            <a:off x="4873752" y="2240280"/>
            <a:ext cx="310896" cy="310896"/>
          </a:xfrm>
          <a:prstGeom prst="rect">
            <a:avLst/>
          </a:prstGeom>
          <a:noFill/>
          <a:ln/>
        </p:spPr>
        <p:txBody>
          <a:bodyPr wrap="square" lIns="0" tIns="0" rIns="0" bIns="0" rtlCol="0" anchor="ctr"/>
          <a:lstStyle/>
          <a:p>
            <a:pPr marL="0" indent="0" algn="ctr">
              <a:buNone/>
            </a:pPr>
            <a:r>
              <a:rPr lang="en-US" sz="1000" b="1" dirty="0">
                <a:solidFill>
                  <a:schemeClr val="tx2"/>
                </a:solidFill>
              </a:rPr>
              <a:t>12</a:t>
            </a:r>
            <a:endParaRPr lang="en-US" sz="1000" dirty="0"/>
          </a:p>
        </p:txBody>
      </p:sp>
      <p:sp>
        <p:nvSpPr>
          <p:cNvPr id="65" name="Shape 63"/>
          <p:cNvSpPr/>
          <p:nvPr/>
        </p:nvSpPr>
        <p:spPr>
          <a:xfrm>
            <a:off x="521208" y="2258568"/>
            <a:ext cx="329184" cy="274320"/>
          </a:xfrm>
          <a:prstGeom prst="roundRect">
            <a:avLst>
              <a:gd name="adj" fmla="val 16667"/>
            </a:avLst>
          </a:prstGeom>
          <a:solidFill>
            <a:schemeClr val="accent2"/>
          </a:solidFill>
          <a:ln w="12700">
            <a:solidFill>
              <a:schemeClr val="accent2"/>
            </a:solidFill>
            <a:prstDash val="solid"/>
          </a:ln>
        </p:spPr>
        <p:txBody>
          <a:bodyPr/>
          <a:lstStyle/>
          <a:p>
            <a:endParaRPr lang="en-US"/>
          </a:p>
        </p:txBody>
      </p:sp>
      <p:sp>
        <p:nvSpPr>
          <p:cNvPr id="66" name="Text 64"/>
          <p:cNvSpPr txBox="1"/>
          <p:nvPr/>
        </p:nvSpPr>
        <p:spPr>
          <a:xfrm>
            <a:off x="521208" y="2258568"/>
            <a:ext cx="329184" cy="274320"/>
          </a:xfrm>
          <a:prstGeom prst="rect">
            <a:avLst/>
          </a:prstGeom>
          <a:noFill/>
          <a:ln/>
        </p:spPr>
        <p:txBody>
          <a:bodyPr wrap="square" lIns="0" tIns="0" rIns="0" bIns="0" rtlCol="0" anchor="ctr"/>
          <a:lstStyle/>
          <a:p>
            <a:pPr marL="0" indent="0" algn="ctr">
              <a:buNone/>
            </a:pPr>
            <a:r>
              <a:rPr lang="en-US" sz="1100" b="1" dirty="0">
                <a:solidFill>
                  <a:schemeClr val="tx2"/>
                </a:solidFill>
              </a:rPr>
              <a:t>sp</a:t>
            </a:r>
            <a:endParaRPr lang="en-US" sz="1100" dirty="0"/>
          </a:p>
        </p:txBody>
      </p:sp>
      <p:sp>
        <p:nvSpPr>
          <p:cNvPr id="67" name="Shape 65"/>
          <p:cNvSpPr/>
          <p:nvPr/>
        </p:nvSpPr>
        <p:spPr>
          <a:xfrm>
            <a:off x="978408" y="2862072"/>
            <a:ext cx="329184" cy="274320"/>
          </a:xfrm>
          <a:prstGeom prst="roundRect">
            <a:avLst>
              <a:gd name="adj" fmla="val 16667"/>
            </a:avLst>
          </a:prstGeom>
          <a:solidFill>
            <a:schemeClr val="accent2"/>
          </a:solidFill>
          <a:ln w="12700">
            <a:solidFill>
              <a:schemeClr val="accent2"/>
            </a:solidFill>
            <a:prstDash val="solid"/>
          </a:ln>
        </p:spPr>
        <p:txBody>
          <a:bodyPr/>
          <a:lstStyle/>
          <a:p>
            <a:endParaRPr lang="en-US"/>
          </a:p>
        </p:txBody>
      </p:sp>
      <p:sp>
        <p:nvSpPr>
          <p:cNvPr id="68" name="Text 66"/>
          <p:cNvSpPr txBox="1"/>
          <p:nvPr/>
        </p:nvSpPr>
        <p:spPr>
          <a:xfrm>
            <a:off x="978408" y="2862072"/>
            <a:ext cx="329184" cy="274320"/>
          </a:xfrm>
          <a:prstGeom prst="rect">
            <a:avLst/>
          </a:prstGeom>
          <a:noFill/>
          <a:ln/>
        </p:spPr>
        <p:txBody>
          <a:bodyPr wrap="square" lIns="0" tIns="0" rIns="0" bIns="0" rtlCol="0" anchor="ctr"/>
          <a:lstStyle/>
          <a:p>
            <a:pPr marL="0" indent="0" algn="ctr">
              <a:buNone/>
            </a:pPr>
            <a:r>
              <a:rPr lang="en-US" sz="1300" b="1" i="1" dirty="0">
                <a:solidFill>
                  <a:schemeClr val="tx2"/>
                </a:solidFill>
              </a:rPr>
              <a:t>s</a:t>
            </a:r>
            <a:endParaRPr lang="en-US" sz="1300" dirty="0"/>
          </a:p>
        </p:txBody>
      </p:sp>
      <p:sp>
        <p:nvSpPr>
          <p:cNvPr id="69" name="Shape 67"/>
          <p:cNvSpPr/>
          <p:nvPr/>
        </p:nvSpPr>
        <p:spPr>
          <a:xfrm>
            <a:off x="1435608" y="4069080"/>
            <a:ext cx="329184" cy="274320"/>
          </a:xfrm>
          <a:prstGeom prst="roundRect">
            <a:avLst>
              <a:gd name="adj" fmla="val 16667"/>
            </a:avLst>
          </a:prstGeom>
          <a:solidFill>
            <a:schemeClr val="accent2"/>
          </a:solidFill>
          <a:ln w="12700">
            <a:solidFill>
              <a:schemeClr val="accent2"/>
            </a:solidFill>
            <a:prstDash val="solid"/>
          </a:ln>
        </p:spPr>
        <p:txBody>
          <a:bodyPr/>
          <a:lstStyle/>
          <a:p>
            <a:endParaRPr lang="en-US"/>
          </a:p>
        </p:txBody>
      </p:sp>
      <p:sp>
        <p:nvSpPr>
          <p:cNvPr id="70" name="Text 68"/>
          <p:cNvSpPr txBox="1"/>
          <p:nvPr/>
        </p:nvSpPr>
        <p:spPr>
          <a:xfrm>
            <a:off x="1435608" y="4069080"/>
            <a:ext cx="329184" cy="274320"/>
          </a:xfrm>
          <a:prstGeom prst="rect">
            <a:avLst/>
          </a:prstGeom>
          <a:noFill/>
          <a:ln/>
        </p:spPr>
        <p:txBody>
          <a:bodyPr wrap="square" lIns="0" tIns="0" rIns="0" bIns="0" rtlCol="0" anchor="ctr"/>
          <a:lstStyle/>
          <a:p>
            <a:pPr marL="0" indent="0" algn="ctr">
              <a:buNone/>
            </a:pPr>
            <a:r>
              <a:rPr lang="en-US" sz="1300" b="1" i="1" dirty="0">
                <a:solidFill>
                  <a:schemeClr val="tx2"/>
                </a:solidFill>
              </a:rPr>
              <a:t>b</a:t>
            </a:r>
            <a:endParaRPr lang="en-US" sz="1300" dirty="0"/>
          </a:p>
        </p:txBody>
      </p:sp>
      <p:sp>
        <p:nvSpPr>
          <p:cNvPr id="71" name="Shape 69"/>
          <p:cNvSpPr/>
          <p:nvPr/>
        </p:nvSpPr>
        <p:spPr>
          <a:xfrm>
            <a:off x="1892808" y="4069080"/>
            <a:ext cx="329184" cy="274320"/>
          </a:xfrm>
          <a:prstGeom prst="roundRect">
            <a:avLst>
              <a:gd name="adj" fmla="val 16667"/>
            </a:avLst>
          </a:prstGeom>
          <a:solidFill>
            <a:schemeClr val="accent2"/>
          </a:solidFill>
          <a:ln w="12700">
            <a:solidFill>
              <a:schemeClr val="accent2"/>
            </a:solidFill>
            <a:prstDash val="solid"/>
          </a:ln>
        </p:spPr>
        <p:txBody>
          <a:bodyPr/>
          <a:lstStyle/>
          <a:p>
            <a:endParaRPr lang="en-US"/>
          </a:p>
        </p:txBody>
      </p:sp>
      <p:sp>
        <p:nvSpPr>
          <p:cNvPr id="72" name="Text 70"/>
          <p:cNvSpPr txBox="1"/>
          <p:nvPr/>
        </p:nvSpPr>
        <p:spPr>
          <a:xfrm>
            <a:off x="1892808" y="4069080"/>
            <a:ext cx="329184" cy="274320"/>
          </a:xfrm>
          <a:prstGeom prst="rect">
            <a:avLst/>
          </a:prstGeom>
          <a:noFill/>
          <a:ln/>
        </p:spPr>
        <p:txBody>
          <a:bodyPr wrap="square" lIns="0" tIns="0" rIns="0" bIns="0" rtlCol="0" anchor="ctr"/>
          <a:lstStyle/>
          <a:p>
            <a:pPr marL="0" indent="0" algn="ctr">
              <a:buNone/>
            </a:pPr>
            <a:r>
              <a:rPr lang="en-US" sz="1300" b="1" i="1" dirty="0">
                <a:solidFill>
                  <a:schemeClr val="tx2"/>
                </a:solidFill>
              </a:rPr>
              <a:t>g</a:t>
            </a:r>
            <a:endParaRPr lang="en-US" sz="1300" dirty="0"/>
          </a:p>
        </p:txBody>
      </p:sp>
      <p:sp>
        <p:nvSpPr>
          <p:cNvPr id="73" name="Shape 71"/>
          <p:cNvSpPr/>
          <p:nvPr/>
        </p:nvSpPr>
        <p:spPr>
          <a:xfrm>
            <a:off x="2350008" y="4069080"/>
            <a:ext cx="329184" cy="274320"/>
          </a:xfrm>
          <a:prstGeom prst="roundRect">
            <a:avLst>
              <a:gd name="adj" fmla="val 16667"/>
            </a:avLst>
          </a:prstGeom>
          <a:solidFill>
            <a:schemeClr val="accent2"/>
          </a:solidFill>
          <a:ln w="12700">
            <a:solidFill>
              <a:schemeClr val="accent2"/>
            </a:solidFill>
            <a:prstDash val="solid"/>
          </a:ln>
        </p:spPr>
        <p:txBody>
          <a:bodyPr/>
          <a:lstStyle/>
          <a:p>
            <a:endParaRPr lang="en-US"/>
          </a:p>
        </p:txBody>
      </p:sp>
      <p:sp>
        <p:nvSpPr>
          <p:cNvPr id="74" name="Text 72"/>
          <p:cNvSpPr txBox="1"/>
          <p:nvPr/>
        </p:nvSpPr>
        <p:spPr>
          <a:xfrm>
            <a:off x="2350008" y="4069080"/>
            <a:ext cx="329184" cy="274320"/>
          </a:xfrm>
          <a:prstGeom prst="rect">
            <a:avLst/>
          </a:prstGeom>
          <a:noFill/>
          <a:ln/>
        </p:spPr>
        <p:txBody>
          <a:bodyPr wrap="square" lIns="0" tIns="0" rIns="0" bIns="0" rtlCol="0" anchor="ctr"/>
          <a:lstStyle/>
          <a:p>
            <a:pPr marL="0" indent="0" algn="ctr">
              <a:buNone/>
            </a:pPr>
            <a:r>
              <a:rPr lang="en-US" sz="1300" b="1" i="1" dirty="0">
                <a:solidFill>
                  <a:schemeClr val="tx2"/>
                </a:solidFill>
              </a:rPr>
              <a:t>e</a:t>
            </a:r>
            <a:endParaRPr lang="en-US" sz="1300" dirty="0"/>
          </a:p>
        </p:txBody>
      </p:sp>
      <p:sp>
        <p:nvSpPr>
          <p:cNvPr id="75" name="Shape 73"/>
          <p:cNvSpPr/>
          <p:nvPr/>
        </p:nvSpPr>
        <p:spPr>
          <a:xfrm>
            <a:off x="2807208" y="4069080"/>
            <a:ext cx="329184" cy="274320"/>
          </a:xfrm>
          <a:prstGeom prst="roundRect">
            <a:avLst>
              <a:gd name="adj" fmla="val 16667"/>
            </a:avLst>
          </a:prstGeom>
          <a:solidFill>
            <a:schemeClr val="accent2"/>
          </a:solidFill>
          <a:ln w="12700">
            <a:solidFill>
              <a:schemeClr val="accent2"/>
            </a:solidFill>
            <a:prstDash val="solid"/>
          </a:ln>
        </p:spPr>
        <p:txBody>
          <a:bodyPr/>
          <a:lstStyle/>
          <a:p>
            <a:endParaRPr lang="en-US"/>
          </a:p>
        </p:txBody>
      </p:sp>
      <p:sp>
        <p:nvSpPr>
          <p:cNvPr id="76" name="Text 74"/>
          <p:cNvSpPr txBox="1"/>
          <p:nvPr/>
        </p:nvSpPr>
        <p:spPr>
          <a:xfrm>
            <a:off x="2807208" y="4069080"/>
            <a:ext cx="329184" cy="274320"/>
          </a:xfrm>
          <a:prstGeom prst="rect">
            <a:avLst/>
          </a:prstGeom>
          <a:noFill/>
          <a:ln/>
        </p:spPr>
        <p:txBody>
          <a:bodyPr wrap="square" lIns="0" tIns="0" rIns="0" bIns="0" rtlCol="0" anchor="ctr"/>
          <a:lstStyle/>
          <a:p>
            <a:pPr marL="0" indent="0" algn="ctr">
              <a:buNone/>
            </a:pPr>
            <a:r>
              <a:rPr lang="en-US" sz="1300" b="1" i="1" dirty="0">
                <a:solidFill>
                  <a:schemeClr val="tx2"/>
                </a:solidFill>
              </a:rPr>
              <a:t>m</a:t>
            </a:r>
            <a:endParaRPr lang="en-US" sz="1300" dirty="0"/>
          </a:p>
        </p:txBody>
      </p:sp>
      <p:sp>
        <p:nvSpPr>
          <p:cNvPr id="77" name="Shape 75"/>
          <p:cNvSpPr/>
          <p:nvPr/>
        </p:nvSpPr>
        <p:spPr>
          <a:xfrm>
            <a:off x="3264408" y="3465576"/>
            <a:ext cx="329184" cy="274320"/>
          </a:xfrm>
          <a:prstGeom prst="roundRect">
            <a:avLst>
              <a:gd name="adj" fmla="val 16667"/>
            </a:avLst>
          </a:prstGeom>
          <a:solidFill>
            <a:schemeClr val="accent2"/>
          </a:solidFill>
          <a:ln w="12700">
            <a:solidFill>
              <a:schemeClr val="accent2"/>
            </a:solidFill>
            <a:prstDash val="solid"/>
          </a:ln>
        </p:spPr>
        <p:txBody>
          <a:bodyPr/>
          <a:lstStyle/>
          <a:p>
            <a:endParaRPr lang="en-US"/>
          </a:p>
        </p:txBody>
      </p:sp>
      <p:sp>
        <p:nvSpPr>
          <p:cNvPr id="78" name="Text 76"/>
          <p:cNvSpPr txBox="1"/>
          <p:nvPr/>
        </p:nvSpPr>
        <p:spPr>
          <a:xfrm>
            <a:off x="3264408" y="3465576"/>
            <a:ext cx="329184" cy="274320"/>
          </a:xfrm>
          <a:prstGeom prst="rect">
            <a:avLst/>
          </a:prstGeom>
          <a:noFill/>
          <a:ln/>
        </p:spPr>
        <p:txBody>
          <a:bodyPr wrap="square" lIns="0" tIns="0" rIns="0" bIns="0" rtlCol="0" anchor="ctr"/>
          <a:lstStyle/>
          <a:p>
            <a:pPr marL="0" indent="0" algn="ctr">
              <a:buNone/>
            </a:pPr>
            <a:r>
              <a:rPr lang="en-US" sz="1300" b="1" i="1" dirty="0">
                <a:solidFill>
                  <a:schemeClr val="tx2"/>
                </a:solidFill>
              </a:rPr>
              <a:t>d</a:t>
            </a:r>
            <a:endParaRPr lang="en-US" sz="1300" dirty="0"/>
          </a:p>
        </p:txBody>
      </p:sp>
      <p:sp>
        <p:nvSpPr>
          <p:cNvPr id="79" name="Shape 77"/>
          <p:cNvSpPr/>
          <p:nvPr/>
        </p:nvSpPr>
        <p:spPr>
          <a:xfrm>
            <a:off x="3721608" y="3465576"/>
            <a:ext cx="329184" cy="274320"/>
          </a:xfrm>
          <a:prstGeom prst="roundRect">
            <a:avLst>
              <a:gd name="adj" fmla="val 16667"/>
            </a:avLst>
          </a:prstGeom>
          <a:solidFill>
            <a:schemeClr val="accent2"/>
          </a:solidFill>
          <a:ln w="12700">
            <a:solidFill>
              <a:schemeClr val="accent2"/>
            </a:solidFill>
            <a:prstDash val="solid"/>
          </a:ln>
        </p:spPr>
        <p:txBody>
          <a:bodyPr/>
          <a:lstStyle/>
          <a:p>
            <a:endParaRPr lang="en-US"/>
          </a:p>
        </p:txBody>
      </p:sp>
      <p:sp>
        <p:nvSpPr>
          <p:cNvPr id="80" name="Text 78"/>
          <p:cNvSpPr txBox="1"/>
          <p:nvPr/>
        </p:nvSpPr>
        <p:spPr>
          <a:xfrm>
            <a:off x="3721608" y="3465576"/>
            <a:ext cx="329184" cy="274320"/>
          </a:xfrm>
          <a:prstGeom prst="rect">
            <a:avLst/>
          </a:prstGeom>
          <a:noFill/>
          <a:ln/>
        </p:spPr>
        <p:txBody>
          <a:bodyPr wrap="square" lIns="0" tIns="0" rIns="0" bIns="0" rtlCol="0" anchor="ctr"/>
          <a:lstStyle/>
          <a:p>
            <a:pPr marL="0" indent="0" algn="ctr">
              <a:buNone/>
            </a:pPr>
            <a:r>
              <a:rPr lang="en-US" sz="1300" b="1" i="1" dirty="0">
                <a:solidFill>
                  <a:schemeClr val="tx2"/>
                </a:solidFill>
              </a:rPr>
              <a:t>i</a:t>
            </a:r>
            <a:endParaRPr lang="en-US" sz="1300" dirty="0"/>
          </a:p>
        </p:txBody>
      </p:sp>
      <p:sp>
        <p:nvSpPr>
          <p:cNvPr id="81" name="Shape 79"/>
          <p:cNvSpPr/>
          <p:nvPr/>
        </p:nvSpPr>
        <p:spPr>
          <a:xfrm>
            <a:off x="4178808" y="2862072"/>
            <a:ext cx="329184" cy="274320"/>
          </a:xfrm>
          <a:prstGeom prst="roundRect">
            <a:avLst>
              <a:gd name="adj" fmla="val 16667"/>
            </a:avLst>
          </a:prstGeom>
          <a:solidFill>
            <a:schemeClr val="accent2"/>
          </a:solidFill>
          <a:ln w="12700">
            <a:solidFill>
              <a:schemeClr val="accent2"/>
            </a:solidFill>
            <a:prstDash val="solid"/>
          </a:ln>
        </p:spPr>
        <p:txBody>
          <a:bodyPr/>
          <a:lstStyle/>
          <a:p>
            <a:endParaRPr lang="en-US"/>
          </a:p>
        </p:txBody>
      </p:sp>
      <p:sp>
        <p:nvSpPr>
          <p:cNvPr id="82" name="Text 80"/>
          <p:cNvSpPr txBox="1"/>
          <p:nvPr/>
        </p:nvSpPr>
        <p:spPr>
          <a:xfrm>
            <a:off x="4178808" y="2862072"/>
            <a:ext cx="329184" cy="274320"/>
          </a:xfrm>
          <a:prstGeom prst="rect">
            <a:avLst/>
          </a:prstGeom>
          <a:noFill/>
          <a:ln/>
        </p:spPr>
        <p:txBody>
          <a:bodyPr wrap="square" lIns="0" tIns="0" rIns="0" bIns="0" rtlCol="0" anchor="ctr"/>
          <a:lstStyle/>
          <a:p>
            <a:pPr marL="0" indent="0" algn="ctr">
              <a:buNone/>
            </a:pPr>
            <a:r>
              <a:rPr lang="en-US" sz="1300" b="1" i="1" dirty="0">
                <a:solidFill>
                  <a:schemeClr val="tx2"/>
                </a:solidFill>
              </a:rPr>
              <a:t>n</a:t>
            </a:r>
            <a:endParaRPr lang="en-US" sz="1300" dirty="0"/>
          </a:p>
        </p:txBody>
      </p:sp>
      <p:sp>
        <p:nvSpPr>
          <p:cNvPr id="83" name="Shape 81"/>
          <p:cNvSpPr/>
          <p:nvPr/>
        </p:nvSpPr>
        <p:spPr>
          <a:xfrm>
            <a:off x="4636008" y="2862072"/>
            <a:ext cx="329184" cy="274320"/>
          </a:xfrm>
          <a:prstGeom prst="roundRect">
            <a:avLst>
              <a:gd name="adj" fmla="val 16667"/>
            </a:avLst>
          </a:prstGeom>
          <a:solidFill>
            <a:schemeClr val="accent2"/>
          </a:solidFill>
          <a:ln w="12700">
            <a:solidFill>
              <a:schemeClr val="accent2"/>
            </a:solidFill>
            <a:prstDash val="solid"/>
          </a:ln>
        </p:spPr>
        <p:txBody>
          <a:bodyPr/>
          <a:lstStyle/>
          <a:p>
            <a:endParaRPr lang="en-US"/>
          </a:p>
        </p:txBody>
      </p:sp>
      <p:sp>
        <p:nvSpPr>
          <p:cNvPr id="84" name="Text 82"/>
          <p:cNvSpPr txBox="1"/>
          <p:nvPr/>
        </p:nvSpPr>
        <p:spPr>
          <a:xfrm>
            <a:off x="4636008" y="2862072"/>
            <a:ext cx="329184" cy="274320"/>
          </a:xfrm>
          <a:prstGeom prst="rect">
            <a:avLst/>
          </a:prstGeom>
          <a:noFill/>
          <a:ln/>
        </p:spPr>
        <p:txBody>
          <a:bodyPr wrap="square" lIns="0" tIns="0" rIns="0" bIns="0" rtlCol="0" anchor="ctr"/>
          <a:lstStyle/>
          <a:p>
            <a:pPr marL="0" indent="0" algn="ctr">
              <a:buNone/>
            </a:pPr>
            <a:r>
              <a:rPr lang="en-US" sz="1300" b="1" i="1" dirty="0">
                <a:solidFill>
                  <a:schemeClr val="tx2"/>
                </a:solidFill>
              </a:rPr>
              <a:t>a</a:t>
            </a:r>
            <a:endParaRPr lang="en-US" sz="1300" dirty="0"/>
          </a:p>
        </p:txBody>
      </p:sp>
      <p:sp>
        <p:nvSpPr>
          <p:cNvPr id="85" name="Shape 83"/>
          <p:cNvSpPr/>
          <p:nvPr/>
        </p:nvSpPr>
        <p:spPr>
          <a:xfrm>
            <a:off x="5093208" y="2862072"/>
            <a:ext cx="329184" cy="274320"/>
          </a:xfrm>
          <a:prstGeom prst="roundRect">
            <a:avLst>
              <a:gd name="adj" fmla="val 16667"/>
            </a:avLst>
          </a:prstGeom>
          <a:solidFill>
            <a:schemeClr val="accent2"/>
          </a:solidFill>
          <a:ln w="12700">
            <a:solidFill>
              <a:schemeClr val="accent2"/>
            </a:solidFill>
            <a:prstDash val="solid"/>
          </a:ln>
        </p:spPr>
        <p:txBody>
          <a:bodyPr/>
          <a:lstStyle/>
          <a:p>
            <a:endParaRPr lang="en-US"/>
          </a:p>
        </p:txBody>
      </p:sp>
      <p:sp>
        <p:nvSpPr>
          <p:cNvPr id="86" name="Text 84"/>
          <p:cNvSpPr txBox="1"/>
          <p:nvPr/>
        </p:nvSpPr>
        <p:spPr>
          <a:xfrm>
            <a:off x="5093208" y="2862072"/>
            <a:ext cx="329184" cy="274320"/>
          </a:xfrm>
          <a:prstGeom prst="rect">
            <a:avLst/>
          </a:prstGeom>
          <a:noFill/>
          <a:ln/>
        </p:spPr>
        <p:txBody>
          <a:bodyPr wrap="square" lIns="0" tIns="0" rIns="0" bIns="0" rtlCol="0" anchor="ctr"/>
          <a:lstStyle/>
          <a:p>
            <a:pPr marL="0" indent="0" algn="ctr">
              <a:buNone/>
            </a:pPr>
            <a:r>
              <a:rPr lang="en-US" sz="1300" b="1" i="1" dirty="0">
                <a:solidFill>
                  <a:schemeClr val="tx2"/>
                </a:solidFill>
              </a:rPr>
              <a:t>l</a:t>
            </a:r>
            <a:endParaRPr lang="en-US" sz="13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6400800" y="1051560"/>
          <a:ext cx="2286000" cy="3511296"/>
        </p:xfrm>
        <a:graphic>
          <a:graphicData uri="http://schemas.openxmlformats.org/drawingml/2006/table">
            <a:tbl>
              <a:tblPr/>
              <a:tblGrid>
                <a:gridCol w="7315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292608">
                <a:tc>
                  <a:txBody>
                    <a:bodyPr/>
                    <a:lstStyle/>
                    <a:p>
                      <a:pPr marL="0" indent="0" algn="ctr">
                        <a:buNone/>
                      </a:pPr>
                      <a:r>
                        <a:rPr lang="en-US" sz="1300" b="1" dirty="0">
                          <a:solidFill>
                            <a:schemeClr val="bg1"/>
                          </a:solidFill>
                        </a:rPr>
                        <a:t>char</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code</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92608">
                <a:tc>
                  <a:txBody>
                    <a:bodyPr/>
                    <a:lstStyle/>
                    <a:p>
                      <a:pPr marL="0" indent="0" algn="ctr">
                        <a:buNone/>
                      </a:pPr>
                      <a:r>
                        <a:rPr lang="en-US" sz="1300" b="1" i="1" dirty="0">
                          <a:solidFill>
                            <a:schemeClr val="tx1"/>
                          </a:solidFill>
                        </a:rPr>
                        <a:t>a</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Courier New" pitchFamily="34" charset="0"/>
                          <a:ea typeface="Courier New" pitchFamily="34" charset="-122"/>
                          <a:cs typeface="Courier New" pitchFamily="34" charset="-120"/>
                        </a:rPr>
                        <a:t>110</a:t>
                      </a:r>
                      <a:endParaRPr lang="en-US" sz="12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292608">
                <a:tc>
                  <a:txBody>
                    <a:bodyPr/>
                    <a:lstStyle/>
                    <a:p>
                      <a:pPr marL="0" indent="0" algn="ctr">
                        <a:buNone/>
                      </a:pPr>
                      <a:r>
                        <a:rPr lang="en-US" sz="1300" b="1" i="1" dirty="0">
                          <a:solidFill>
                            <a:schemeClr val="tx1"/>
                          </a:solidFill>
                        </a:rPr>
                        <a:t>b</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Courier New" pitchFamily="34" charset="0"/>
                          <a:ea typeface="Courier New" pitchFamily="34" charset="-122"/>
                          <a:cs typeface="Courier New" pitchFamily="34" charset="-120"/>
                        </a:rPr>
                        <a:t>01100</a:t>
                      </a:r>
                      <a:endParaRPr lang="en-US" sz="12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292608">
                <a:tc>
                  <a:txBody>
                    <a:bodyPr/>
                    <a:lstStyle/>
                    <a:p>
                      <a:pPr marL="0" indent="0" algn="ctr">
                        <a:buNone/>
                      </a:pPr>
                      <a:r>
                        <a:rPr lang="en-US" sz="1300" b="1" i="1" dirty="0">
                          <a:solidFill>
                            <a:schemeClr val="tx1"/>
                          </a:solidFill>
                        </a:rPr>
                        <a:t>d</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Courier New" pitchFamily="34" charset="0"/>
                          <a:ea typeface="Courier New" pitchFamily="34" charset="-122"/>
                          <a:cs typeface="Courier New" pitchFamily="34" charset="-120"/>
                        </a:rPr>
                        <a:t>1000</a:t>
                      </a:r>
                      <a:endParaRPr lang="en-US" sz="12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292608">
                <a:tc>
                  <a:txBody>
                    <a:bodyPr/>
                    <a:lstStyle/>
                    <a:p>
                      <a:pPr marL="0" indent="0" algn="ctr">
                        <a:buNone/>
                      </a:pPr>
                      <a:r>
                        <a:rPr lang="en-US" sz="1300" b="1" i="1" dirty="0">
                          <a:solidFill>
                            <a:schemeClr val="tx1"/>
                          </a:solidFill>
                        </a:rPr>
                        <a:t>e</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Courier New" pitchFamily="34" charset="0"/>
                          <a:ea typeface="Courier New" pitchFamily="34" charset="-122"/>
                          <a:cs typeface="Courier New" pitchFamily="34" charset="-120"/>
                        </a:rPr>
                        <a:t>01110</a:t>
                      </a:r>
                      <a:endParaRPr lang="en-US" sz="12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292608">
                <a:tc>
                  <a:txBody>
                    <a:bodyPr/>
                    <a:lstStyle/>
                    <a:p>
                      <a:pPr marL="0" indent="0" algn="ctr">
                        <a:buNone/>
                      </a:pPr>
                      <a:r>
                        <a:rPr lang="en-US" sz="1300" b="1" i="1" dirty="0">
                          <a:solidFill>
                            <a:schemeClr val="tx1"/>
                          </a:solidFill>
                        </a:rPr>
                        <a:t>g</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Courier New" pitchFamily="34" charset="0"/>
                          <a:ea typeface="Courier New" pitchFamily="34" charset="-122"/>
                          <a:cs typeface="Courier New" pitchFamily="34" charset="-120"/>
                        </a:rPr>
                        <a:t>01101</a:t>
                      </a:r>
                      <a:endParaRPr lang="en-US" sz="12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292608">
                <a:tc>
                  <a:txBody>
                    <a:bodyPr/>
                    <a:lstStyle/>
                    <a:p>
                      <a:pPr marL="0" indent="0" algn="ctr">
                        <a:buNone/>
                      </a:pPr>
                      <a:r>
                        <a:rPr lang="en-US" sz="1300" b="1" i="1" dirty="0">
                          <a:solidFill>
                            <a:schemeClr val="tx1"/>
                          </a:solidFill>
                        </a:rPr>
                        <a:t>i</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Courier New" pitchFamily="34" charset="0"/>
                          <a:ea typeface="Courier New" pitchFamily="34" charset="-122"/>
                          <a:cs typeface="Courier New" pitchFamily="34" charset="-120"/>
                        </a:rPr>
                        <a:t>1001</a:t>
                      </a:r>
                      <a:endParaRPr lang="en-US" sz="12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292608">
                <a:tc>
                  <a:txBody>
                    <a:bodyPr/>
                    <a:lstStyle/>
                    <a:p>
                      <a:pPr marL="0" indent="0" algn="ctr">
                        <a:buNone/>
                      </a:pPr>
                      <a:r>
                        <a:rPr lang="en-US" sz="1300" b="1" i="1" dirty="0">
                          <a:solidFill>
                            <a:schemeClr val="tx1"/>
                          </a:solidFill>
                        </a:rPr>
                        <a:t>l</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Courier New" pitchFamily="34" charset="0"/>
                          <a:ea typeface="Courier New" pitchFamily="34" charset="-122"/>
                          <a:cs typeface="Courier New" pitchFamily="34" charset="-120"/>
                        </a:rPr>
                        <a:t>111</a:t>
                      </a:r>
                      <a:endParaRPr lang="en-US" sz="12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292608">
                <a:tc>
                  <a:txBody>
                    <a:bodyPr/>
                    <a:lstStyle/>
                    <a:p>
                      <a:pPr marL="0" indent="0" algn="ctr">
                        <a:buNone/>
                      </a:pPr>
                      <a:r>
                        <a:rPr lang="en-US" sz="1300" b="1" i="1" dirty="0">
                          <a:solidFill>
                            <a:schemeClr val="tx1"/>
                          </a:solidFill>
                        </a:rPr>
                        <a:t>m</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Courier New" pitchFamily="34" charset="0"/>
                          <a:ea typeface="Courier New" pitchFamily="34" charset="-122"/>
                          <a:cs typeface="Courier New" pitchFamily="34" charset="-120"/>
                        </a:rPr>
                        <a:t>01111</a:t>
                      </a:r>
                      <a:endParaRPr lang="en-US" sz="12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292608">
                <a:tc>
                  <a:txBody>
                    <a:bodyPr/>
                    <a:lstStyle/>
                    <a:p>
                      <a:pPr marL="0" indent="0" algn="ctr">
                        <a:buNone/>
                      </a:pPr>
                      <a:r>
                        <a:rPr lang="en-US" sz="1300" b="1" i="1" dirty="0">
                          <a:solidFill>
                            <a:schemeClr val="tx1"/>
                          </a:solidFill>
                        </a:rPr>
                        <a:t>n</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Courier New" pitchFamily="34" charset="0"/>
                          <a:ea typeface="Courier New" pitchFamily="34" charset="-122"/>
                          <a:cs typeface="Courier New" pitchFamily="34" charset="-120"/>
                        </a:rPr>
                        <a:t>101</a:t>
                      </a:r>
                      <a:endParaRPr lang="en-US" sz="12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9"/>
                  </a:ext>
                </a:extLst>
              </a:tr>
              <a:tr h="292608">
                <a:tc>
                  <a:txBody>
                    <a:bodyPr/>
                    <a:lstStyle/>
                    <a:p>
                      <a:pPr marL="0" indent="0" algn="ctr">
                        <a:buNone/>
                      </a:pPr>
                      <a:r>
                        <a:rPr lang="en-US" sz="1300" b="1" i="1" dirty="0">
                          <a:solidFill>
                            <a:schemeClr val="tx1"/>
                          </a:solidFill>
                        </a:rPr>
                        <a:t>s</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Courier New" pitchFamily="34" charset="0"/>
                          <a:ea typeface="Courier New" pitchFamily="34" charset="-122"/>
                          <a:cs typeface="Courier New" pitchFamily="34" charset="-120"/>
                        </a:rPr>
                        <a:t>010</a:t>
                      </a:r>
                      <a:endParaRPr lang="en-US" sz="12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10"/>
                  </a:ext>
                </a:extLst>
              </a:tr>
              <a:tr h="292608">
                <a:tc>
                  <a:txBody>
                    <a:bodyPr/>
                    <a:lstStyle/>
                    <a:p>
                      <a:pPr marL="0" indent="0" algn="ctr">
                        <a:buNone/>
                      </a:pPr>
                      <a:r>
                        <a:rPr lang="en-US" sz="1300" b="1" dirty="0">
                          <a:solidFill>
                            <a:schemeClr val="tx1"/>
                          </a:solidFill>
                        </a:rPr>
                        <a:t>sp</a:t>
                      </a:r>
                      <a:endParaRPr lang="en-US" sz="13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latin typeface="Courier New" pitchFamily="34" charset="0"/>
                          <a:ea typeface="Courier New" pitchFamily="34" charset="-122"/>
                          <a:cs typeface="Courier New" pitchFamily="34" charset="-120"/>
                        </a:rPr>
                        <a:t>00</a:t>
                      </a:r>
                      <a:endParaRPr lang="en-US" sz="1200" dirty="0">
                        <a:latin typeface="Courier New" charset="0"/>
                        <a:ea typeface="Courier New" charset="0"/>
                        <a:cs typeface="Courier New" charset="0"/>
                      </a:endParaRPr>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11"/>
                  </a:ext>
                </a:extLst>
              </a:tr>
            </a:tbl>
          </a:graphicData>
        </a:graphic>
      </p:graphicFrame>
      <p:sp>
        <p:nvSpPr>
          <p:cNvPr id="88"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Badge"/>
          <p:cNvSpPr/>
          <p:nvPr/>
        </p:nvSpPr>
        <p:spPr>
          <a:xfrm>
            <a:off x="457200" y="338328"/>
            <a:ext cx="475488" cy="475488"/>
          </a:xfrm>
          <a:prstGeom prst="ellipse">
            <a:avLst/>
          </a:prstGeom>
          <a:solidFill>
            <a:schemeClr val="accent2"/>
          </a:solidFill>
          <a:ln w="12700">
            <a:solidFill>
              <a:schemeClr val="accent2"/>
            </a:solidFill>
            <a:prstDash val="solid"/>
          </a:ln>
        </p:spPr>
        <p:txBody>
          <a:bodyPr/>
          <a:lstStyle/>
          <a:p>
            <a:endParaRPr lang="en-US"/>
          </a:p>
        </p:txBody>
      </p:sp>
      <p:sp>
        <p:nvSpPr>
          <p:cNvPr id="3" name="Badge label"/>
          <p:cNvSpPr txBox="1"/>
          <p:nvPr/>
        </p:nvSpPr>
        <p:spPr>
          <a:xfrm>
            <a:off x="457200" y="338328"/>
            <a:ext cx="475488" cy="475488"/>
          </a:xfrm>
          <a:prstGeom prst="rect">
            <a:avLst/>
          </a:prstGeom>
          <a:noFill/>
          <a:ln/>
        </p:spPr>
        <p:txBody>
          <a:bodyPr wrap="square" lIns="0" tIns="0" rIns="0" bIns="0" rtlCol="0" anchor="ctr"/>
          <a:lstStyle/>
          <a:p>
            <a:pPr marL="0" indent="0" algn="ctr">
              <a:buNone/>
            </a:pPr>
            <a:r>
              <a:rPr lang="en-US" sz="1500" b="1" dirty="0">
                <a:solidFill>
                  <a:schemeClr val="tx2"/>
                </a:solidFill>
              </a:rPr>
              <a:t>84</a:t>
            </a:r>
            <a:endParaRPr lang="en-US" sz="1500" dirty="0"/>
          </a:p>
        </p:txBody>
      </p:sp>
      <p:sp>
        <p:nvSpPr>
          <p:cNvPr id="4" name="Text 0"/>
          <p:cNvSpPr>
            <a:spLocks noGrp="1"/>
          </p:cNvSpPr>
          <p:nvPr>
            <p:ph type="title" idx="100" hasCustomPrompt="1"/>
          </p:nvPr>
        </p:nvSpPr>
        <p:spPr>
          <a:xfrm>
            <a:off x="1097280" y="274320"/>
            <a:ext cx="7589520" cy="603504"/>
          </a:xfrm>
          <a:prstGeom prst="rect">
            <a:avLst/>
          </a:prstGeom>
          <a:noFill/>
          <a:ln/>
        </p:spPr>
        <p:txBody>
          <a:bodyPr wrap="square" lIns="0" tIns="0" rIns="0" bIns="0" rtlCol="0" anchor="ctr"/>
          <a:lstStyle/>
          <a:p>
            <a:pPr marL="0" indent="0" algn="l">
              <a:buNone/>
            </a:pPr>
            <a:r>
              <a:rPr lang="en-US" sz="2800" b="1" dirty="0">
                <a:solidFill>
                  <a:schemeClr val="tx2"/>
                </a:solidFill>
              </a:rPr>
              <a:t>How many bits? 121</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1389888"/>
        </p:xfrm>
        <a:graphic>
          <a:graphicData uri="http://schemas.openxmlformats.org/drawingml/2006/table">
            <a:tbl>
              <a:tblPr/>
              <a:tblGrid>
                <a:gridCol w="749808">
                  <a:extLst>
                    <a:ext uri="{9D8B030D-6E8A-4147-A177-3AD203B41FA5}">
                      <a16:colId xmlns:a16="http://schemas.microsoft.com/office/drawing/2014/main" val="20000"/>
                    </a:ext>
                  </a:extLst>
                </a:gridCol>
                <a:gridCol w="603504">
                  <a:extLst>
                    <a:ext uri="{9D8B030D-6E8A-4147-A177-3AD203B41FA5}">
                      <a16:colId xmlns:a16="http://schemas.microsoft.com/office/drawing/2014/main" val="20001"/>
                    </a:ext>
                  </a:extLst>
                </a:gridCol>
                <a:gridCol w="603504">
                  <a:extLst>
                    <a:ext uri="{9D8B030D-6E8A-4147-A177-3AD203B41FA5}">
                      <a16:colId xmlns:a16="http://schemas.microsoft.com/office/drawing/2014/main" val="20002"/>
                    </a:ext>
                  </a:extLst>
                </a:gridCol>
                <a:gridCol w="603504">
                  <a:extLst>
                    <a:ext uri="{9D8B030D-6E8A-4147-A177-3AD203B41FA5}">
                      <a16:colId xmlns:a16="http://schemas.microsoft.com/office/drawing/2014/main" val="20003"/>
                    </a:ext>
                  </a:extLst>
                </a:gridCol>
                <a:gridCol w="603504">
                  <a:extLst>
                    <a:ext uri="{9D8B030D-6E8A-4147-A177-3AD203B41FA5}">
                      <a16:colId xmlns:a16="http://schemas.microsoft.com/office/drawing/2014/main" val="20004"/>
                    </a:ext>
                  </a:extLst>
                </a:gridCol>
                <a:gridCol w="603504">
                  <a:extLst>
                    <a:ext uri="{9D8B030D-6E8A-4147-A177-3AD203B41FA5}">
                      <a16:colId xmlns:a16="http://schemas.microsoft.com/office/drawing/2014/main" val="20005"/>
                    </a:ext>
                  </a:extLst>
                </a:gridCol>
                <a:gridCol w="603504">
                  <a:extLst>
                    <a:ext uri="{9D8B030D-6E8A-4147-A177-3AD203B41FA5}">
                      <a16:colId xmlns:a16="http://schemas.microsoft.com/office/drawing/2014/main" val="20006"/>
                    </a:ext>
                  </a:extLst>
                </a:gridCol>
                <a:gridCol w="603504">
                  <a:extLst>
                    <a:ext uri="{9D8B030D-6E8A-4147-A177-3AD203B41FA5}">
                      <a16:colId xmlns:a16="http://schemas.microsoft.com/office/drawing/2014/main" val="20007"/>
                    </a:ext>
                  </a:extLst>
                </a:gridCol>
                <a:gridCol w="603504">
                  <a:extLst>
                    <a:ext uri="{9D8B030D-6E8A-4147-A177-3AD203B41FA5}">
                      <a16:colId xmlns:a16="http://schemas.microsoft.com/office/drawing/2014/main" val="20008"/>
                    </a:ext>
                  </a:extLst>
                </a:gridCol>
                <a:gridCol w="603504">
                  <a:extLst>
                    <a:ext uri="{9D8B030D-6E8A-4147-A177-3AD203B41FA5}">
                      <a16:colId xmlns:a16="http://schemas.microsoft.com/office/drawing/2014/main" val="20009"/>
                    </a:ext>
                  </a:extLst>
                </a:gridCol>
                <a:gridCol w="603504">
                  <a:extLst>
                    <a:ext uri="{9D8B030D-6E8A-4147-A177-3AD203B41FA5}">
                      <a16:colId xmlns:a16="http://schemas.microsoft.com/office/drawing/2014/main" val="20010"/>
                    </a:ext>
                  </a:extLst>
                </a:gridCol>
                <a:gridCol w="603504">
                  <a:extLst>
                    <a:ext uri="{9D8B030D-6E8A-4147-A177-3AD203B41FA5}">
                      <a16:colId xmlns:a16="http://schemas.microsoft.com/office/drawing/2014/main" val="20011"/>
                    </a:ext>
                  </a:extLst>
                </a:gridCol>
                <a:gridCol w="841248">
                  <a:extLst>
                    <a:ext uri="{9D8B030D-6E8A-4147-A177-3AD203B41FA5}">
                      <a16:colId xmlns:a16="http://schemas.microsoft.com/office/drawing/2014/main" val="20012"/>
                    </a:ext>
                  </a:extLst>
                </a:gridCol>
              </a:tblGrid>
              <a:tr h="347472">
                <a:tc>
                  <a:txBody>
                    <a:bodyPr/>
                    <a:lstStyle/>
                    <a:p>
                      <a:pPr marL="0" indent="0" algn="ctr">
                        <a:buNone/>
                      </a:pPr>
                      <a:r>
                        <a:rPr lang="en-US" sz="1400" b="1" dirty="0">
                          <a:solidFill>
                            <a:schemeClr val="bg1"/>
                          </a:solidFill>
                        </a:rPr>
                        <a:t>char</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400" b="1" i="1" dirty="0">
                          <a:solidFill>
                            <a:schemeClr val="bg1"/>
                          </a:solidFill>
                        </a:rPr>
                        <a:t>a</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400" b="1" i="1" dirty="0">
                          <a:solidFill>
                            <a:schemeClr val="bg1"/>
                          </a:solidFill>
                        </a:rPr>
                        <a:t>b</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400" b="1" i="1" dirty="0">
                          <a:solidFill>
                            <a:schemeClr val="bg1"/>
                          </a:solidFill>
                        </a:rPr>
                        <a:t>d</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400" b="1" i="1" dirty="0">
                          <a:solidFill>
                            <a:schemeClr val="bg1"/>
                          </a:solidFill>
                        </a:rPr>
                        <a:t>e</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400" b="1" i="1" dirty="0">
                          <a:solidFill>
                            <a:schemeClr val="bg1"/>
                          </a:solidFill>
                        </a:rPr>
                        <a:t>g</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400" b="1" i="1" dirty="0">
                          <a:solidFill>
                            <a:schemeClr val="bg1"/>
                          </a:solidFill>
                        </a:rPr>
                        <a:t>i</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400" b="1" i="1" dirty="0">
                          <a:solidFill>
                            <a:schemeClr val="bg1"/>
                          </a:solidFill>
                        </a:rPr>
                        <a:t>l</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400" b="1" i="1" dirty="0">
                          <a:solidFill>
                            <a:schemeClr val="bg1"/>
                          </a:solidFill>
                        </a:rPr>
                        <a:t>m</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400" b="1" i="1" dirty="0">
                          <a:solidFill>
                            <a:schemeClr val="bg1"/>
                          </a:solidFill>
                        </a:rPr>
                        <a:t>n</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400" b="1" i="1" dirty="0">
                          <a:solidFill>
                            <a:schemeClr val="bg1"/>
                          </a:solidFill>
                        </a:rPr>
                        <a:t>s</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sp</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total</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47472">
                <a:tc>
                  <a:txBody>
                    <a:bodyPr/>
                    <a:lstStyle/>
                    <a:p>
                      <a:pPr marL="0" indent="0" algn="ctr">
                        <a:buNone/>
                      </a:pPr>
                      <a:r>
                        <a:rPr lang="en-US" sz="1400" b="1" dirty="0">
                          <a:solidFill>
                            <a:schemeClr val="tx1"/>
                          </a:solidFill>
                        </a:rPr>
                        <a:t>freq</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tc>
                  <a:txBody>
                    <a:bodyPr/>
                    <a:lstStyle/>
                    <a:p>
                      <a:pPr marL="0" indent="0" algn="ctr">
                        <a:buNone/>
                      </a:pPr>
                      <a:r>
                        <a:rPr lang="en-US" sz="1400" dirty="0">
                          <a:solidFill>
                            <a:schemeClr val="tx1"/>
                          </a:solidFill>
                        </a:rPr>
                        <a:t>6</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1</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3</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2</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1</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3</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6</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1</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5</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3</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6</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tx1"/>
                          </a:solidFill>
                        </a:rPr>
                        <a:t>37</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347472">
                <a:tc>
                  <a:txBody>
                    <a:bodyPr/>
                    <a:lstStyle/>
                    <a:p>
                      <a:pPr marL="0" indent="0" algn="ctr">
                        <a:buNone/>
                      </a:pPr>
                      <a:r>
                        <a:rPr lang="en-US" sz="1400" b="1" dirty="0">
                          <a:solidFill>
                            <a:schemeClr val="tx1"/>
                          </a:solidFill>
                        </a:rPr>
                        <a:t>length</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tc>
                  <a:txBody>
                    <a:bodyPr/>
                    <a:lstStyle/>
                    <a:p>
                      <a:pPr marL="0" indent="0" algn="ctr">
                        <a:buNone/>
                      </a:pPr>
                      <a:r>
                        <a:rPr lang="en-US" sz="1400" dirty="0">
                          <a:solidFill>
                            <a:schemeClr val="tx1"/>
                          </a:solidFill>
                        </a:rPr>
                        <a:t>3</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5</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4</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5</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5</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4</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3</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5</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3</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3</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2</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347472">
                <a:tc>
                  <a:txBody>
                    <a:bodyPr/>
                    <a:lstStyle/>
                    <a:p>
                      <a:pPr marL="0" indent="0" algn="ctr">
                        <a:buNone/>
                      </a:pPr>
                      <a:r>
                        <a:rPr lang="en-US" sz="1400" b="1" dirty="0">
                          <a:solidFill>
                            <a:schemeClr val="tx1"/>
                          </a:solidFill>
                        </a:rPr>
                        <a:t>bits</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tc>
                  <a:txBody>
                    <a:bodyPr/>
                    <a:lstStyle/>
                    <a:p>
                      <a:pPr marL="0" indent="0" algn="ctr">
                        <a:buNone/>
                      </a:pPr>
                      <a:r>
                        <a:rPr lang="en-US" sz="1400" b="1" dirty="0">
                          <a:solidFill>
                            <a:schemeClr val="accent1"/>
                          </a:solidFill>
                        </a:rPr>
                        <a:t>18</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accent1"/>
                          </a:solidFill>
                        </a:rPr>
                        <a:t>5</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accent1"/>
                          </a:solidFill>
                        </a:rPr>
                        <a:t>12</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accent1"/>
                          </a:solidFill>
                        </a:rPr>
                        <a:t>10</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accent1"/>
                          </a:solidFill>
                        </a:rPr>
                        <a:t>5</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accent1"/>
                          </a:solidFill>
                        </a:rPr>
                        <a:t>12</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accent1"/>
                          </a:solidFill>
                        </a:rPr>
                        <a:t>18</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accent1"/>
                          </a:solidFill>
                        </a:rPr>
                        <a:t>5</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accent1"/>
                          </a:solidFill>
                        </a:rPr>
                        <a:t>15</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accent1"/>
                          </a:solidFill>
                        </a:rPr>
                        <a:t>9</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accent1"/>
                          </a:solidFill>
                        </a:rPr>
                        <a:t>12</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tx2"/>
                          </a:solidFill>
                        </a:rPr>
                        <a:t>121</a:t>
                      </a:r>
                      <a:endParaRPr lang="en-US" sz="1400" dirty="0"/>
                    </a:p>
                  </a:txBody>
                  <a:tcPr marL="63500" marR="63500" marT="25400" marB="254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0003"/>
                  </a:ext>
                </a:extLst>
              </a:tr>
            </a:tbl>
          </a:graphicData>
        </a:graphic>
      </p:graphicFrame>
      <p:sp>
        <p:nvSpPr>
          <p:cNvPr id="6" name="Shape 3"/>
          <p:cNvSpPr/>
          <p:nvPr/>
        </p:nvSpPr>
        <p:spPr>
          <a:xfrm>
            <a:off x="457200" y="2743200"/>
            <a:ext cx="2560320" cy="1143000"/>
          </a:xfrm>
          <a:prstGeom prst="roundRect">
            <a:avLst>
              <a:gd name="adj" fmla="val 6400"/>
            </a:avLst>
          </a:prstGeom>
          <a:solidFill>
            <a:schemeClr val="tx2"/>
          </a:solidFill>
          <a:ln w="12700">
            <a:solidFill>
              <a:schemeClr val="tx2"/>
            </a:solidFill>
            <a:prstDash val="solid"/>
          </a:ln>
        </p:spPr>
        <p:txBody>
          <a:bodyPr/>
          <a:lstStyle/>
          <a:p>
            <a:endParaRPr lang="en-US"/>
          </a:p>
        </p:txBody>
      </p:sp>
      <p:sp>
        <p:nvSpPr>
          <p:cNvPr id="7" name="Text 4"/>
          <p:cNvSpPr txBox="1"/>
          <p:nvPr/>
        </p:nvSpPr>
        <p:spPr>
          <a:xfrm>
            <a:off x="640080" y="2788920"/>
            <a:ext cx="2194560" cy="640080"/>
          </a:xfrm>
          <a:prstGeom prst="rect">
            <a:avLst/>
          </a:prstGeom>
          <a:noFill/>
          <a:ln/>
        </p:spPr>
        <p:txBody>
          <a:bodyPr wrap="square" lIns="0" tIns="0" rIns="0" bIns="0" rtlCol="0" anchor="ctr"/>
          <a:lstStyle/>
          <a:p>
            <a:pPr marL="0" indent="0">
              <a:buNone/>
            </a:pPr>
            <a:r>
              <a:rPr lang="en-US" sz="3600" b="1" dirty="0">
                <a:solidFill>
                  <a:schemeClr val="accent2"/>
                </a:solidFill>
                <a:latin typeface="Cambria" pitchFamily="34" charset="0"/>
                <a:ea typeface="Cambria" pitchFamily="34" charset="-122"/>
                <a:cs typeface="Cambria" pitchFamily="34" charset="-120"/>
              </a:rPr>
              <a:t>121</a:t>
            </a:r>
            <a:endParaRPr lang="en-US" sz="3600" dirty="0"/>
          </a:p>
        </p:txBody>
      </p:sp>
      <p:sp>
        <p:nvSpPr>
          <p:cNvPr id="8" name="Text 5"/>
          <p:cNvSpPr txBox="1"/>
          <p:nvPr/>
        </p:nvSpPr>
        <p:spPr>
          <a:xfrm>
            <a:off x="640080" y="3429000"/>
            <a:ext cx="2194560" cy="365760"/>
          </a:xfrm>
          <a:prstGeom prst="rect">
            <a:avLst/>
          </a:prstGeom>
          <a:noFill/>
          <a:ln/>
        </p:spPr>
        <p:txBody>
          <a:bodyPr wrap="square" lIns="0" tIns="0" rIns="0" bIns="0" rtlCol="0" anchor="t"/>
          <a:lstStyle/>
          <a:p>
            <a:pPr marL="0" indent="0">
              <a:buNone/>
            </a:pPr>
            <a:r>
              <a:rPr lang="en-US" sz="1300" dirty="0">
                <a:solidFill>
                  <a:schemeClr val="bg1"/>
                </a:solidFill>
              </a:rPr>
              <a:t>bits with Huffman</a:t>
            </a:r>
            <a:endParaRPr lang="en-US" sz="1300" dirty="0"/>
          </a:p>
        </p:txBody>
      </p:sp>
      <p:sp>
        <p:nvSpPr>
          <p:cNvPr id="9" name="Shape 6"/>
          <p:cNvSpPr/>
          <p:nvPr/>
        </p:nvSpPr>
        <p:spPr>
          <a:xfrm>
            <a:off x="3291840" y="2743200"/>
            <a:ext cx="2560320" cy="1143000"/>
          </a:xfrm>
          <a:prstGeom prst="roundRect">
            <a:avLst>
              <a:gd name="adj" fmla="val 6400"/>
            </a:avLst>
          </a:prstGeom>
          <a:solidFill>
            <a:schemeClr val="bg2"/>
          </a:solidFill>
          <a:ln w="12700">
            <a:solidFill>
              <a:schemeClr val="bg2"/>
            </a:solidFill>
            <a:prstDash val="solid"/>
          </a:ln>
        </p:spPr>
        <p:txBody>
          <a:bodyPr/>
          <a:lstStyle/>
          <a:p>
            <a:endParaRPr lang="en-US"/>
          </a:p>
        </p:txBody>
      </p:sp>
      <p:sp>
        <p:nvSpPr>
          <p:cNvPr id="10" name="Text 7"/>
          <p:cNvSpPr txBox="1"/>
          <p:nvPr/>
        </p:nvSpPr>
        <p:spPr>
          <a:xfrm>
            <a:off x="3474720" y="2788920"/>
            <a:ext cx="2194560" cy="64008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148</a:t>
            </a:r>
            <a:endParaRPr lang="en-US" sz="3600" dirty="0"/>
          </a:p>
        </p:txBody>
      </p:sp>
      <p:sp>
        <p:nvSpPr>
          <p:cNvPr id="11" name="Text 8"/>
          <p:cNvSpPr txBox="1"/>
          <p:nvPr/>
        </p:nvSpPr>
        <p:spPr>
          <a:xfrm>
            <a:off x="3474720" y="3429000"/>
            <a:ext cx="2194560" cy="365760"/>
          </a:xfrm>
          <a:prstGeom prst="rect">
            <a:avLst/>
          </a:prstGeom>
          <a:noFill/>
          <a:ln/>
        </p:spPr>
        <p:txBody>
          <a:bodyPr wrap="square" lIns="0" tIns="0" rIns="0" bIns="0" rtlCol="0" anchor="t"/>
          <a:lstStyle/>
          <a:p>
            <a:pPr marL="0" indent="0">
              <a:buNone/>
            </a:pPr>
            <a:r>
              <a:rPr lang="en-US" sz="1300" dirty="0">
                <a:solidFill>
                  <a:schemeClr val="tx1"/>
                </a:solidFill>
              </a:rPr>
              <a:t>bits with fixed 4-bit codes</a:t>
            </a:r>
            <a:endParaRPr lang="en-US" sz="1300" dirty="0"/>
          </a:p>
        </p:txBody>
      </p:sp>
      <p:sp>
        <p:nvSpPr>
          <p:cNvPr id="12" name="Shape 9"/>
          <p:cNvSpPr/>
          <p:nvPr/>
        </p:nvSpPr>
        <p:spPr>
          <a:xfrm>
            <a:off x="6126480" y="2743200"/>
            <a:ext cx="2560320" cy="1143000"/>
          </a:xfrm>
          <a:prstGeom prst="roundRect">
            <a:avLst>
              <a:gd name="adj" fmla="val 6400"/>
            </a:avLst>
          </a:prstGeom>
          <a:solidFill>
            <a:schemeClr val="bg2"/>
          </a:solidFill>
          <a:ln w="12700">
            <a:solidFill>
              <a:schemeClr val="bg2"/>
            </a:solidFill>
            <a:prstDash val="solid"/>
          </a:ln>
        </p:spPr>
        <p:txBody>
          <a:bodyPr/>
          <a:lstStyle/>
          <a:p>
            <a:endParaRPr lang="en-US"/>
          </a:p>
        </p:txBody>
      </p:sp>
      <p:sp>
        <p:nvSpPr>
          <p:cNvPr id="13" name="Text 10"/>
          <p:cNvSpPr txBox="1"/>
          <p:nvPr/>
        </p:nvSpPr>
        <p:spPr>
          <a:xfrm>
            <a:off x="6309360" y="2788920"/>
            <a:ext cx="2194560" cy="64008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3.27</a:t>
            </a:r>
            <a:endParaRPr lang="en-US" sz="3600" dirty="0"/>
          </a:p>
        </p:txBody>
      </p:sp>
      <p:sp>
        <p:nvSpPr>
          <p:cNvPr id="14" name="Text 11"/>
          <p:cNvSpPr txBox="1"/>
          <p:nvPr/>
        </p:nvSpPr>
        <p:spPr>
          <a:xfrm>
            <a:off x="6309360" y="3429000"/>
            <a:ext cx="2194560" cy="365760"/>
          </a:xfrm>
          <a:prstGeom prst="rect">
            <a:avLst/>
          </a:prstGeom>
          <a:noFill/>
          <a:ln/>
        </p:spPr>
        <p:txBody>
          <a:bodyPr wrap="square" lIns="0" tIns="0" rIns="0" bIns="0" rtlCol="0" anchor="t"/>
          <a:lstStyle/>
          <a:p>
            <a:pPr marL="0" indent="0">
              <a:buNone/>
            </a:pPr>
            <a:r>
              <a:rPr lang="en-US" sz="1300" dirty="0">
                <a:solidFill>
                  <a:schemeClr val="tx1"/>
                </a:solidFill>
              </a:rPr>
              <a:t>bits per character on average</a:t>
            </a:r>
            <a:endParaRPr lang="en-US" sz="1300" dirty="0"/>
          </a:p>
        </p:txBody>
      </p:sp>
      <p:sp>
        <p:nvSpPr>
          <p:cNvPr id="15" name="Text 12"/>
          <p:cNvSpPr txBox="1"/>
          <p:nvPr/>
        </p:nvSpPr>
        <p:spPr>
          <a:xfrm>
            <a:off x="457200" y="4069080"/>
            <a:ext cx="8229600" cy="457200"/>
          </a:xfrm>
          <a:prstGeom prst="rect">
            <a:avLst/>
          </a:prstGeom>
          <a:noFill/>
          <a:ln/>
        </p:spPr>
        <p:txBody>
          <a:bodyPr wrap="square" lIns="0" tIns="0" rIns="0" bIns="0" rtlCol="0" anchor="ctr"/>
          <a:lstStyle/>
          <a:p>
            <a:pPr marL="0" indent="0">
              <a:buNone/>
            </a:pPr>
            <a:r>
              <a:rPr lang="en-US" sz="1400" b="1" dirty="0">
                <a:solidFill>
                  <a:schemeClr val="accent1"/>
                </a:solidFill>
              </a:rPr>
              <a:t>Shortcut: </a:t>
            </a:r>
            <a:r>
              <a:rPr lang="en-US" sz="1400" dirty="0">
                <a:solidFill>
                  <a:schemeClr val="tx1"/>
                </a:solidFill>
              </a:rPr>
              <a:t>the bit count equals the sum of all internal node weights: 2+3+5+6+8+11+12+14+23+37 = 121.</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88720"/>
            <a:ext cx="8046720" cy="1325880"/>
          </a:xfrm>
          <a:prstGeom prst="rect">
            <a:avLst/>
          </a:prstGeom>
          <a:noFill/>
          <a:ln/>
        </p:spPr>
        <p:txBody>
          <a:bodyPr wrap="square" lIns="0" tIns="0" rIns="0" bIns="0" rtlCol="0" anchor="b"/>
          <a:lstStyle/>
          <a:p>
            <a:pPr marL="0" indent="0" algn="l">
              <a:buNone/>
            </a:pPr>
            <a:r>
              <a:rPr lang="en-US" sz="4000" b="1" dirty="0">
                <a:solidFill>
                  <a:schemeClr val="bg1"/>
                </a:solidFill>
              </a:rPr>
              <a:t>Thanks — and good luck with the exam</a:t>
            </a:r>
            <a:endParaRPr lang="en-US" sz="4000" dirty="0"/>
          </a:p>
        </p:txBody>
      </p:sp>
      <p:sp>
        <p:nvSpPr>
          <p:cNvPr id="3" name="Text 0"/>
          <p:cNvSpPr>
            <a:spLocks noGrp="1"/>
          </p:cNvSpPr>
          <p:nvPr>
            <p:ph type="body" idx="101" hasCustomPrompt="1"/>
          </p:nvPr>
        </p:nvSpPr>
        <p:spPr>
          <a:xfrm>
            <a:off x="548640" y="2697480"/>
            <a:ext cx="8046720" cy="1005840"/>
          </a:xfrm>
          <a:prstGeom prst="rect">
            <a:avLst/>
          </a:prstGeom>
          <a:noFill/>
          <a:ln/>
        </p:spPr>
        <p:txBody>
          <a:bodyPr wrap="square" lIns="0" tIns="0" rIns="0" bIns="0" rtlCol="0" anchor="t"/>
          <a:lstStyle/>
          <a:p>
            <a:pPr marL="0" indent="0">
              <a:buNone/>
            </a:pPr>
            <a:r>
              <a:rPr lang="en-US" sz="1800" dirty="0">
                <a:solidFill>
                  <a:schemeClr val="accent2"/>
                </a:solidFill>
              </a:rPr>
              <a:t>Questions about today's exercises, or anything from the semester?</a:t>
            </a:r>
            <a:endParaRPr lang="en-US" sz="1800" dirty="0"/>
          </a:p>
        </p:txBody>
      </p:sp>
    </p:spTree>
  </p:cSld>
  <p:clrMapOvr>
    <a:masterClrMapping/>
  </p:clrMapOvr>
</p:sld>
</file>

<file path=ppt/theme/theme1.xml><?xml version="1.0" encoding="utf-8"?>
<a:theme xmlns:a="http://schemas.openxmlformats.org/drawingml/2006/main" name="COMP90038 Teal Amber">
  <a:themeElements>
    <a:clrScheme name="COMP90038 Teal Amber">
      <a:dk1>
        <a:srgbClr val="1B2A30"/>
      </a:dk1>
      <a:lt1>
        <a:srgbClr val="FFFFFF"/>
      </a:lt1>
      <a:dk2>
        <a:srgbClr val="0E4D5A"/>
      </a:dk2>
      <a:lt2>
        <a:srgbClr val="EAF2F3"/>
      </a:lt2>
      <a:accent1>
        <a:srgbClr val="0E7C86"/>
      </a:accent1>
      <a:accent2>
        <a:srgbClr val="F2A33A"/>
      </a:accent2>
      <a:accent3>
        <a:srgbClr val="C2410C"/>
      </a:accent3>
      <a:accent4>
        <a:srgbClr val="3F7D4E"/>
      </a:accent4>
      <a:accent5>
        <a:srgbClr val="5F7A7F"/>
      </a:accent5>
      <a:accent6>
        <a:srgbClr val="CFE0E2"/>
      </a:accent6>
      <a:hlink>
        <a:srgbClr val="0E7C86"/>
      </a:hlink>
      <a:folHlink>
        <a:srgbClr val="5F7A7F"/>
      </a:folHlink>
    </a:clrScheme>
    <a:fontScheme name="COMP90038 Teal A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2755</TotalTime>
  <Words>4721</Words>
  <Application>Microsoft Macintosh PowerPoint</Application>
  <PresentationFormat>On-screen Show (16:9)</PresentationFormat>
  <Paragraphs>622</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Courier New</vt:lpstr>
      <vt:lpstr>COMP90038 Teal Amber</vt:lpstr>
      <vt:lpstr>Greedy Algorithms, Prim, Dijkstra &amp; Huffman</vt:lpstr>
      <vt:lpstr>Today's roadmap</vt:lpstr>
      <vt:lpstr>Floyd's algorithm with negative weights</vt:lpstr>
      <vt:lpstr>Right graph: the matrices go wrong</vt:lpstr>
      <vt:lpstr>Negative edges OK, negative cycles not</vt:lpstr>
      <vt:lpstr>The greedy idea</vt:lpstr>
      <vt:lpstr>Wiring black and white points</vt:lpstr>
      <vt:lpstr>Shortest wires first is not optimal</vt:lpstr>
      <vt:lpstr>An optimal method: a stack</vt:lpstr>
      <vt:lpstr>Knapsack: greedy by value per weight</vt:lpstr>
      <vt:lpstr>Greedy gets 6, the optimum is 7</vt:lpstr>
      <vt:lpstr>Prim and Dijkstra share a skeleton</vt:lpstr>
      <vt:lpstr>Prim from a: priority-queue trace</vt:lpstr>
      <vt:lpstr>Minimum spanning tree: cost 16</vt:lpstr>
      <vt:lpstr>Dijkstra from e: priority-queue trace</vt:lpstr>
      <vt:lpstr>Shortest-path tree vs MST</vt:lpstr>
      <vt:lpstr>Huffman coding: the input</vt:lpstr>
      <vt:lpstr>The Huffman tree and its codes</vt:lpstr>
      <vt:lpstr>How many bits? 121</vt:lpstr>
      <vt:lpstr>Thanks — and good luck with the exam</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COMP90038 Tutorial Week 12</dc:title>
  <dc:subject>Greedy algorithms, Prim, Dijkstra, Huffman</dc:subject>
  <dc:creator>Kenji</dc:creator>
  <cp:lastModifiedBy>Kejian Cui</cp:lastModifiedBy>
  <cp:revision>8</cp:revision>
  <dcterms:created xsi:type="dcterms:W3CDTF">2026-10-17T23:17:37Z</dcterms:created>
  <dcterms:modified xsi:type="dcterms:W3CDTF">2026-10-21T01:01:52Z</dcterms:modified>
</cp:coreProperties>
</file>